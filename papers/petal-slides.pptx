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7"/>
  </p:notesMasterIdLst>
  <p:sldIdLst>
    <p:sldId id="256" r:id="rId2"/>
    <p:sldId id="265" r:id="rId3"/>
    <p:sldId id="275" r:id="rId4"/>
    <p:sldId id="276" r:id="rId5"/>
    <p:sldId id="284" r:id="rId6"/>
    <p:sldId id="296" r:id="rId7"/>
    <p:sldId id="297" r:id="rId8"/>
    <p:sldId id="294" r:id="rId9"/>
    <p:sldId id="277" r:id="rId10"/>
    <p:sldId id="278" r:id="rId11"/>
    <p:sldId id="279" r:id="rId12"/>
    <p:sldId id="269" r:id="rId13"/>
    <p:sldId id="292" r:id="rId14"/>
    <p:sldId id="298" r:id="rId15"/>
    <p:sldId id="258" r:id="rId16"/>
    <p:sldId id="289" r:id="rId17"/>
    <p:sldId id="290" r:id="rId18"/>
    <p:sldId id="302" r:id="rId19"/>
    <p:sldId id="305" r:id="rId20"/>
    <p:sldId id="293" r:id="rId21"/>
    <p:sldId id="272" r:id="rId22"/>
    <p:sldId id="273" r:id="rId23"/>
    <p:sldId id="295" r:id="rId24"/>
    <p:sldId id="306" r:id="rId25"/>
    <p:sldId id="307" r:id="rId26"/>
  </p:sldIdLst>
  <p:sldSz cx="12192000" cy="6858000"/>
  <p:notesSz cx="6858000" cy="9144000"/>
  <p:defaultTextStyle>
    <a:defPPr>
      <a:defRPr lang="en-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7D3"/>
    <a:srgbClr val="FFCBCF"/>
    <a:srgbClr val="76EEC6"/>
    <a:srgbClr val="EEB4B4"/>
    <a:srgbClr val="941100"/>
    <a:srgbClr val="CDC673"/>
    <a:srgbClr val="EED2EE"/>
    <a:srgbClr val="D2B48C"/>
    <a:srgbClr val="DDA0DD"/>
    <a:srgbClr val="FF6A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67"/>
    <p:restoredTop sz="66327"/>
  </p:normalViewPr>
  <p:slideViewPr>
    <p:cSldViewPr snapToGrid="0">
      <p:cViewPr varScale="1">
        <p:scale>
          <a:sx n="82" d="100"/>
          <a:sy n="82" d="100"/>
        </p:scale>
        <p:origin x="1664" y="176"/>
      </p:cViewPr>
      <p:guideLst/>
    </p:cSldViewPr>
  </p:slideViewPr>
  <p:notesTextViewPr>
    <p:cViewPr>
      <p:scale>
        <a:sx n="140" d="100"/>
        <a:sy n="14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CAD43-2DBA-494B-A9DF-E77C891798E3}" type="datetimeFigureOut">
              <a:rPr lang="en-KR" smtClean="0"/>
              <a:t>2024/10/14</a:t>
            </a:fld>
            <a:endParaRPr lang="en-K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5EB46F-70DB-C64C-B866-F3D3A1CA13E1}" type="slidenum">
              <a:rPr lang="en-KR" smtClean="0"/>
              <a:t>‹#›</a:t>
            </a:fld>
            <a:endParaRPr lang="en-KR"/>
          </a:p>
        </p:txBody>
      </p:sp>
    </p:spTree>
    <p:extLst>
      <p:ext uri="{BB962C8B-B14F-4D97-AF65-F5344CB8AC3E}">
        <p14:creationId xmlns:p14="http://schemas.microsoft.com/office/powerpoint/2010/main" val="2950086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a:t>
            </a:r>
            <a:r>
              <a:rPr lang="en-US" dirty="0" err="1"/>
              <a:t>Juhee</a:t>
            </a:r>
            <a:r>
              <a:rPr lang="en-US" dirty="0"/>
              <a:t> Kim and I am a </a:t>
            </a:r>
            <a:r>
              <a:rPr lang="en-US" dirty="0" err="1"/>
              <a:t>phd</a:t>
            </a:r>
            <a:r>
              <a:rPr lang="en-US" dirty="0"/>
              <a:t> student at</a:t>
            </a:r>
            <a:r>
              <a:rPr lang="ko-KR" altLang="en-US" dirty="0"/>
              <a:t> </a:t>
            </a:r>
            <a:r>
              <a:rPr lang="en-US" dirty="0"/>
              <a:t>Seoul National University. </a:t>
            </a:r>
          </a:p>
          <a:p>
            <a:endParaRPr lang="en-US" dirty="0"/>
          </a:p>
          <a:p>
            <a:r>
              <a:rPr lang="en-US" dirty="0"/>
              <a:t>Today, I am glad to present our work</a:t>
            </a:r>
            <a:r>
              <a:rPr lang="ko-KR" altLang="en-US" dirty="0"/>
              <a:t> </a:t>
            </a:r>
            <a:r>
              <a:rPr lang="en-US" dirty="0"/>
              <a:t>titled </a:t>
            </a:r>
            <a:r>
              <a:rPr lang="en-US" dirty="0" err="1"/>
              <a:t>PeTAL</a:t>
            </a:r>
            <a:r>
              <a:rPr lang="en-US" dirty="0"/>
              <a:t>: Ensuring Access Control Integrity against Data-only</a:t>
            </a:r>
            <a:r>
              <a:rPr lang="ko-KR" altLang="en-US" dirty="0"/>
              <a:t> </a:t>
            </a:r>
            <a:r>
              <a:rPr lang="en-US" dirty="0"/>
              <a:t>Attacks on Linux. </a:t>
            </a:r>
          </a:p>
          <a:p>
            <a:endParaRPr lang="en-US" dirty="0"/>
          </a:p>
          <a:p>
            <a:r>
              <a:rPr lang="en-US" dirty="0"/>
              <a:t>This is a joint work between Seoul National</a:t>
            </a:r>
            <a:r>
              <a:rPr lang="ko-KR" altLang="en-US" dirty="0"/>
              <a:t> </a:t>
            </a:r>
            <a:r>
              <a:rPr lang="en-US" dirty="0"/>
              <a:t>University, Samsung Research, UC Riverside, and Georgia Tech.</a:t>
            </a:r>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1</a:t>
            </a:fld>
            <a:endParaRPr lang="en-KR"/>
          </a:p>
        </p:txBody>
      </p:sp>
    </p:spTree>
    <p:extLst>
      <p:ext uri="{BB962C8B-B14F-4D97-AF65-F5344CB8AC3E}">
        <p14:creationId xmlns:p14="http://schemas.microsoft.com/office/powerpoint/2010/main" val="728605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Linux kernel has been an attractive target for attackers, because it's widely used in various systems.</a:t>
            </a:r>
          </a:p>
          <a:p>
            <a:r>
              <a:rPr lang="en-US" dirty="0"/>
              <a:t> </a:t>
            </a:r>
          </a:p>
          <a:p>
            <a:r>
              <a:rPr lang="en-US" dirty="0"/>
              <a:t>However, due to its complexity and size, and the usage of unsafe</a:t>
            </a:r>
            <a:r>
              <a:rPr lang="ko-KR" altLang="en-US" dirty="0"/>
              <a:t> </a:t>
            </a:r>
            <a:r>
              <a:rPr lang="en-US" dirty="0"/>
              <a:t>C language, the Linux kernel has been vulnerable to memory corruption</a:t>
            </a:r>
            <a:r>
              <a:rPr lang="ko-KR" altLang="en-US" dirty="0"/>
              <a:t> </a:t>
            </a:r>
            <a:r>
              <a:rPr lang="en-US" dirty="0"/>
              <a:t>attacks and more vulnerabilities have been discovered and</a:t>
            </a:r>
            <a:r>
              <a:rPr lang="ko-KR" altLang="en-US" dirty="0"/>
              <a:t> </a:t>
            </a:r>
            <a:r>
              <a:rPr lang="en-US" dirty="0"/>
              <a:t>exploited over the years.</a:t>
            </a:r>
          </a:p>
          <a:p>
            <a:endParaRPr lang="en-US" dirty="0"/>
          </a:p>
          <a:p>
            <a:r>
              <a:rPr lang="en-US" dirty="0"/>
              <a:t>Therefore, we aim to protect the Linux kernel from memory corruption</a:t>
            </a:r>
            <a:r>
              <a:rPr lang="ko-KR" altLang="en-US" dirty="0"/>
              <a:t> </a:t>
            </a:r>
            <a:r>
              <a:rPr lang="en-US" dirty="0"/>
              <a:t>attacks and privilege escalations.</a:t>
            </a:r>
          </a:p>
          <a:p>
            <a:endParaRPr lang="en-US" dirty="0"/>
          </a:p>
        </p:txBody>
      </p:sp>
      <p:sp>
        <p:nvSpPr>
          <p:cNvPr id="4" name="Slide Number Placeholder 3"/>
          <p:cNvSpPr>
            <a:spLocks noGrp="1"/>
          </p:cNvSpPr>
          <p:nvPr>
            <p:ph type="sldNum" sz="quarter" idx="5"/>
          </p:nvPr>
        </p:nvSpPr>
        <p:spPr/>
        <p:txBody>
          <a:bodyPr/>
          <a:lstStyle/>
          <a:p>
            <a:fld id="{AC5EB46F-70DB-C64C-B866-F3D3A1CA13E1}" type="slidenum">
              <a:rPr lang="en-KR" smtClean="0"/>
              <a:t>2</a:t>
            </a:fld>
            <a:endParaRPr lang="en-KR"/>
          </a:p>
        </p:txBody>
      </p:sp>
    </p:spTree>
    <p:extLst>
      <p:ext uri="{BB962C8B-B14F-4D97-AF65-F5344CB8AC3E}">
        <p14:creationId xmlns:p14="http://schemas.microsoft.com/office/powerpoint/2010/main" val="1799575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take a look at a typical flow of kernel privilege</a:t>
            </a:r>
            <a:r>
              <a:rPr lang="ko-KR" altLang="en-US" dirty="0"/>
              <a:t> </a:t>
            </a:r>
            <a:r>
              <a:rPr lang="en-US" dirty="0"/>
              <a:t>escalation attacks. </a:t>
            </a:r>
          </a:p>
          <a:p>
            <a:endParaRPr lang="en-US" dirty="0"/>
          </a:p>
          <a:p>
            <a:r>
              <a:rPr lang="en-US" dirty="0"/>
              <a:t>Initially, the attacker has the lowest privilege in the system.</a:t>
            </a:r>
          </a:p>
          <a:p>
            <a:endParaRPr lang="en-US" dirty="0"/>
          </a:p>
          <a:p>
            <a:r>
              <a:rPr lang="en-US" dirty="0"/>
              <a:t>The kernel enforces access control when the attacker tries to access</a:t>
            </a:r>
            <a:r>
              <a:rPr lang="ko-KR" altLang="en-US" dirty="0"/>
              <a:t> </a:t>
            </a:r>
            <a:r>
              <a:rPr lang="en-US" altLang="ko-KR" dirty="0"/>
              <a:t>a </a:t>
            </a:r>
            <a:r>
              <a:rPr lang="en-US" dirty="0"/>
              <a:t>resource like a file.</a:t>
            </a:r>
          </a:p>
          <a:p>
            <a:endParaRPr lang="en-US" dirty="0"/>
          </a:p>
          <a:p>
            <a:r>
              <a:rPr lang="en-US" dirty="0"/>
              <a:t>With the low privilege, the attacker can</a:t>
            </a:r>
            <a:r>
              <a:rPr lang="ko-KR" altLang="en-US" dirty="0"/>
              <a:t> </a:t>
            </a:r>
            <a:r>
              <a:rPr lang="en-US" dirty="0"/>
              <a:t>access their own files, but not sensitive files such as /etc/shadow,</a:t>
            </a:r>
            <a:r>
              <a:rPr lang="ko-KR" altLang="en-US" dirty="0"/>
              <a:t> </a:t>
            </a:r>
            <a:r>
              <a:rPr lang="en-US" dirty="0"/>
              <a:t>which stores password hashes.</a:t>
            </a:r>
          </a:p>
          <a:p>
            <a:endParaRPr lang="en-US" dirty="0"/>
          </a:p>
          <a:p>
            <a:r>
              <a:rPr lang="en-US" dirty="0"/>
              <a:t>But, the attacker can call vulnerable system calls to trigger</a:t>
            </a:r>
            <a:r>
              <a:rPr lang="ko-KR" altLang="en-US" dirty="0"/>
              <a:t> </a:t>
            </a:r>
            <a:r>
              <a:rPr lang="en-US" dirty="0"/>
              <a:t>kernel memory corruption vulnerabilities, and corrupt some kernel data.</a:t>
            </a:r>
          </a:p>
          <a:p>
            <a:endParaRPr lang="en-US" dirty="0"/>
          </a:p>
          <a:p>
            <a:r>
              <a:rPr lang="en-US" dirty="0"/>
              <a:t>As a result, the kernel's access control becomes compromised,</a:t>
            </a:r>
            <a:r>
              <a:rPr lang="ko-KR" altLang="en-US" dirty="0"/>
              <a:t> </a:t>
            </a:r>
            <a:r>
              <a:rPr lang="en-US" dirty="0"/>
              <a:t>allowing the attacker access any resource, including /etc/shadow. This escalates the attacker's privilege to the highest.</a:t>
            </a:r>
          </a:p>
          <a:p>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3</a:t>
            </a:fld>
            <a:endParaRPr lang="en-KR"/>
          </a:p>
        </p:txBody>
      </p:sp>
    </p:spTree>
    <p:extLst>
      <p:ext uri="{BB962C8B-B14F-4D97-AF65-F5344CB8AC3E}">
        <p14:creationId xmlns:p14="http://schemas.microsoft.com/office/powerpoint/2010/main" val="3407279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prevent these attacks, we need to protect the kernel's access</a:t>
            </a:r>
            <a:r>
              <a:rPr lang="ko-KR" altLang="en-US" dirty="0"/>
              <a:t> </a:t>
            </a:r>
            <a:r>
              <a:rPr lang="en-US" dirty="0"/>
              <a:t>control system.</a:t>
            </a:r>
          </a:p>
          <a:p>
            <a:endParaRPr lang="en-US" dirty="0"/>
          </a:p>
          <a:p>
            <a:r>
              <a:rPr lang="en-US" dirty="0"/>
              <a:t>That is, even with memory corruption vulnerabilities, some access control related data are protected, so that the attacker cannot gain an illegal access to resources.</a:t>
            </a:r>
          </a:p>
          <a:p>
            <a:endParaRPr lang="en-US" dirty="0"/>
          </a:p>
        </p:txBody>
      </p:sp>
      <p:sp>
        <p:nvSpPr>
          <p:cNvPr id="4" name="Slide Number Placeholder 3"/>
          <p:cNvSpPr>
            <a:spLocks noGrp="1"/>
          </p:cNvSpPr>
          <p:nvPr>
            <p:ph type="sldNum" sz="quarter" idx="5"/>
          </p:nvPr>
        </p:nvSpPr>
        <p:spPr/>
        <p:txBody>
          <a:bodyPr/>
          <a:lstStyle/>
          <a:p>
            <a:fld id="{AC5EB46F-70DB-C64C-B866-F3D3A1CA13E1}" type="slidenum">
              <a:rPr lang="en-KR" smtClean="0"/>
              <a:t>4</a:t>
            </a:fld>
            <a:endParaRPr lang="en-KR"/>
          </a:p>
        </p:txBody>
      </p:sp>
    </p:spTree>
    <p:extLst>
      <p:ext uri="{BB962C8B-B14F-4D97-AF65-F5344CB8AC3E}">
        <p14:creationId xmlns:p14="http://schemas.microsoft.com/office/powerpoint/2010/main" val="3658114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PeTAL</a:t>
            </a:r>
            <a:r>
              <a:rPr lang="en-US" dirty="0"/>
              <a:t> tries to protect those data with data-flow integrity, DFI in short.</a:t>
            </a:r>
          </a:p>
          <a:p>
            <a:r>
              <a:rPr lang="en-US" dirty="0"/>
              <a:t>However, DFI is known to be performance heavy.</a:t>
            </a:r>
          </a:p>
          <a:p>
            <a:endParaRPr lang="en-US" dirty="0"/>
          </a:p>
          <a:p>
            <a:r>
              <a:rPr lang="en-US" dirty="0"/>
              <a:t>Therefore, </a:t>
            </a:r>
            <a:r>
              <a:rPr lang="en-US" dirty="0" err="1"/>
              <a:t>PeTAL</a:t>
            </a:r>
            <a:r>
              <a:rPr lang="en-US" dirty="0"/>
              <a:t> selectively protects access control-related data.</a:t>
            </a:r>
          </a:p>
          <a:p>
            <a:r>
              <a:rPr lang="en-US" dirty="0"/>
              <a:t>leveraging hardware extensions, ARM MTE for objects, and ARM PAC for pointers.</a:t>
            </a:r>
          </a:p>
          <a:p>
            <a:endParaRPr lang="en-US" dirty="0"/>
          </a:p>
          <a:p>
            <a:r>
              <a:rPr lang="en-US" dirty="0"/>
              <a:t>The key questions here are: What data should be protected, and how should they be protected?</a:t>
            </a:r>
          </a:p>
          <a:p>
            <a:endParaRPr lang="en-US" dirty="0"/>
          </a:p>
        </p:txBody>
      </p:sp>
      <p:sp>
        <p:nvSpPr>
          <p:cNvPr id="4" name="Slide Number Placeholder 3"/>
          <p:cNvSpPr>
            <a:spLocks noGrp="1"/>
          </p:cNvSpPr>
          <p:nvPr>
            <p:ph type="sldNum" sz="quarter" idx="5"/>
          </p:nvPr>
        </p:nvSpPr>
        <p:spPr/>
        <p:txBody>
          <a:bodyPr/>
          <a:lstStyle/>
          <a:p>
            <a:fld id="{AC5EB46F-70DB-C64C-B866-F3D3A1CA13E1}" type="slidenum">
              <a:rPr lang="en-KR" smtClean="0"/>
              <a:t>5</a:t>
            </a:fld>
            <a:endParaRPr lang="en-KR"/>
          </a:p>
        </p:txBody>
      </p:sp>
    </p:spTree>
    <p:extLst>
      <p:ext uri="{BB962C8B-B14F-4D97-AF65-F5344CB8AC3E}">
        <p14:creationId xmlns:p14="http://schemas.microsoft.com/office/powerpoint/2010/main" val="2255882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these questions, we need to understand the access control system, which consists policy, enforcement, and resource.</a:t>
            </a:r>
          </a:p>
          <a:p>
            <a:endParaRPr lang="en-US" dirty="0"/>
          </a:p>
          <a:p>
            <a:r>
              <a:rPr lang="en-US" dirty="0"/>
              <a:t>Policy defines the allowed access, enforcement is the code responsible for enforcing access control, and resource is the data being protected.</a:t>
            </a:r>
          </a:p>
          <a:p>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6</a:t>
            </a:fld>
            <a:endParaRPr lang="en-KR"/>
          </a:p>
        </p:txBody>
      </p:sp>
    </p:spTree>
    <p:extLst>
      <p:ext uri="{BB962C8B-B14F-4D97-AF65-F5344CB8AC3E}">
        <p14:creationId xmlns:p14="http://schemas.microsoft.com/office/powerpoint/2010/main" val="1889289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Linux kernel, the access control is exercised when a user attempts to access resource.</a:t>
            </a:r>
          </a:p>
          <a:p>
            <a:endParaRPr lang="en-US" dirty="0"/>
          </a:p>
          <a:p>
            <a:r>
              <a:rPr lang="en-US" dirty="0"/>
              <a:t>when a user tries to open </a:t>
            </a:r>
            <a:r>
              <a:rPr lang="en-US" dirty="0" err="1"/>
              <a:t>my_file</a:t>
            </a:r>
            <a:r>
              <a:rPr lang="en-US" dirty="0"/>
              <a:t> with write permission:</a:t>
            </a:r>
          </a:p>
          <a:p>
            <a:endParaRPr lang="en-US" dirty="0"/>
          </a:p>
          <a:p>
            <a:r>
              <a:rPr lang="en-US" dirty="0"/>
              <a:t>Policy required for file access are loaded from cred and inode objects.</a:t>
            </a:r>
          </a:p>
          <a:p>
            <a:endParaRPr lang="en-US" dirty="0"/>
          </a:p>
          <a:p>
            <a:r>
              <a:rPr lang="en-US" dirty="0"/>
              <a:t>Then, the kernel enforces the DAC permission check to evaluate whether the user has permission to access the file.</a:t>
            </a:r>
          </a:p>
          <a:p>
            <a:endParaRPr lang="en-US" dirty="0"/>
          </a:p>
          <a:p>
            <a:r>
              <a:rPr lang="en-US" dirty="0"/>
              <a:t>If the permission check is successful, the kernel grants access by creating a file descriptor and returning it to the user.</a:t>
            </a:r>
          </a:p>
          <a:p>
            <a:endParaRPr lang="en-US" dirty="0"/>
          </a:p>
          <a:p>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7</a:t>
            </a:fld>
            <a:endParaRPr lang="en-KR"/>
          </a:p>
        </p:txBody>
      </p:sp>
    </p:spTree>
    <p:extLst>
      <p:ext uri="{BB962C8B-B14F-4D97-AF65-F5344CB8AC3E}">
        <p14:creationId xmlns:p14="http://schemas.microsoft.com/office/powerpoint/2010/main" val="34530270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user tries to write /etc/shadow, which is writable only by root, the DAC permission check fails, and the kernel returns an error code, denying the access.</a:t>
            </a:r>
          </a:p>
          <a:p>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8</a:t>
            </a:fld>
            <a:endParaRPr lang="en-KR"/>
          </a:p>
        </p:txBody>
      </p:sp>
    </p:spTree>
    <p:extLst>
      <p:ext uri="{BB962C8B-B14F-4D97-AF65-F5344CB8AC3E}">
        <p14:creationId xmlns:p14="http://schemas.microsoft.com/office/powerpoint/2010/main" val="1349889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compromise the access control system, an attacker can corrupt policy by memory corruption. The attacker can overwrite cred or inode objects, or the pointers to these objects.</a:t>
            </a:r>
          </a:p>
          <a:p>
            <a:endParaRPr lang="en-US" dirty="0"/>
          </a:p>
          <a:p>
            <a:r>
              <a:rPr lang="en-US" dirty="0"/>
              <a:t>Once the kernel reads the corrupted policy during the permission check, it grants the file access. As a result, a file descriptor to /etc/shadow is created and returned to the attacker.</a:t>
            </a:r>
          </a:p>
          <a:p>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9</a:t>
            </a:fld>
            <a:endParaRPr lang="en-KR"/>
          </a:p>
        </p:txBody>
      </p:sp>
    </p:spTree>
    <p:extLst>
      <p:ext uri="{BB962C8B-B14F-4D97-AF65-F5344CB8AC3E}">
        <p14:creationId xmlns:p14="http://schemas.microsoft.com/office/powerpoint/2010/main" val="22200261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way is to bypass enforcement and corrupt the resource directly.</a:t>
            </a:r>
          </a:p>
          <a:p>
            <a:endParaRPr lang="en-US" dirty="0"/>
          </a:p>
          <a:p>
            <a:r>
              <a:rPr lang="en-US" dirty="0"/>
              <a:t>By corrupting one of the file descriptor-related data structures, the attacker can illegally gain file descriptor to /etc/shadow.</a:t>
            </a:r>
          </a:p>
          <a:p>
            <a:endParaRPr lang="en-US" dirty="0"/>
          </a:p>
          <a:p>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10</a:t>
            </a:fld>
            <a:endParaRPr lang="en-KR"/>
          </a:p>
        </p:txBody>
      </p:sp>
    </p:spTree>
    <p:extLst>
      <p:ext uri="{BB962C8B-B14F-4D97-AF65-F5344CB8AC3E}">
        <p14:creationId xmlns:p14="http://schemas.microsoft.com/office/powerpoint/2010/main" val="15390191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prevent these attacks, </a:t>
            </a:r>
            <a:r>
              <a:rPr lang="en-US" dirty="0" err="1"/>
              <a:t>PeTAL</a:t>
            </a:r>
            <a:r>
              <a:rPr lang="en-US" dirty="0"/>
              <a:t> introduces a new concept named Access Control Integrity. </a:t>
            </a:r>
          </a:p>
          <a:p>
            <a:r>
              <a:rPr lang="en-US" dirty="0"/>
              <a:t>First, policy integrity ensures that policy is not corrupted.</a:t>
            </a:r>
          </a:p>
          <a:p>
            <a:endParaRPr lang="en-US" dirty="0"/>
          </a:p>
          <a:p>
            <a:r>
              <a:rPr lang="en-US" dirty="0"/>
              <a:t>Second, complete enforcement ensures that the access control is always enforced when accessing resources.</a:t>
            </a:r>
          </a:p>
          <a:p>
            <a:endParaRPr lang="en-US" dirty="0"/>
          </a:p>
          <a:p>
            <a:r>
              <a:rPr lang="en-US" dirty="0" err="1"/>
              <a:t>PeTAL's</a:t>
            </a:r>
            <a:r>
              <a:rPr lang="en-US" dirty="0"/>
              <a:t> access control integrity addresses the question of what should be protected. </a:t>
            </a:r>
          </a:p>
          <a:p>
            <a:endParaRPr lang="en-US" dirty="0"/>
          </a:p>
          <a:p>
            <a:r>
              <a:rPr lang="en-US" dirty="0"/>
              <a:t>To provide policy integrity, policies should be protected.</a:t>
            </a:r>
          </a:p>
          <a:p>
            <a:endParaRPr lang="en-US" dirty="0"/>
          </a:p>
          <a:p>
            <a:r>
              <a:rPr lang="en-US" dirty="0"/>
              <a:t>To ensure complete enforcement, resource should be protected.</a:t>
            </a:r>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11</a:t>
            </a:fld>
            <a:endParaRPr lang="en-KR"/>
          </a:p>
        </p:txBody>
      </p:sp>
    </p:spTree>
    <p:extLst>
      <p:ext uri="{BB962C8B-B14F-4D97-AF65-F5344CB8AC3E}">
        <p14:creationId xmlns:p14="http://schemas.microsoft.com/office/powerpoint/2010/main" val="16359149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how do we collect them?</a:t>
            </a:r>
          </a:p>
          <a:p>
            <a:endParaRPr lang="en-US" dirty="0"/>
          </a:p>
          <a:p>
            <a:r>
              <a:rPr lang="en-US" dirty="0"/>
              <a:t>When a user accesses a resource, the user interacts with the kernel through user interfaces like system calls and pseudo file systems.</a:t>
            </a:r>
          </a:p>
          <a:p>
            <a:endParaRPr lang="en-US" dirty="0"/>
          </a:p>
          <a:p>
            <a:r>
              <a:rPr lang="en-US" dirty="0"/>
              <a:t>The kernel implements user interface handlers to process the user's requests, which involve access control to allow or deny the request.</a:t>
            </a:r>
          </a:p>
          <a:p>
            <a:endParaRPr lang="en-US" dirty="0"/>
          </a:p>
          <a:p>
            <a:r>
              <a:rPr lang="en-US" dirty="0"/>
              <a:t>If the kernel allows the request, the user can access the resource.</a:t>
            </a:r>
          </a:p>
          <a:p>
            <a:endParaRPr lang="en-US" dirty="0"/>
          </a:p>
          <a:p>
            <a:r>
              <a:rPr lang="en-US" dirty="0"/>
              <a:t>If the kernel denies the request, it returns an error code. </a:t>
            </a:r>
          </a:p>
          <a:p>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12</a:t>
            </a:fld>
            <a:endParaRPr lang="en-KR"/>
          </a:p>
        </p:txBody>
      </p:sp>
    </p:spTree>
    <p:extLst>
      <p:ext uri="{BB962C8B-B14F-4D97-AF65-F5344CB8AC3E}">
        <p14:creationId xmlns:p14="http://schemas.microsoft.com/office/powerpoint/2010/main" val="27877321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Internally, the kernel implements permission check as for the access control enforcement.</a:t>
            </a:r>
          </a:p>
          <a:p>
            <a:endParaRPr lang="en-US" dirty="0"/>
          </a:p>
          <a:p>
            <a:r>
              <a:rPr lang="en-US" dirty="0"/>
              <a:t>This permission check is based on policy.</a:t>
            </a:r>
          </a:p>
          <a:p>
            <a:r>
              <a:rPr lang="en-US" dirty="0"/>
              <a:t>Leveraging this observation, </a:t>
            </a:r>
            <a:r>
              <a:rPr lang="en-US" dirty="0" err="1"/>
              <a:t>PeTAL</a:t>
            </a:r>
            <a:r>
              <a:rPr lang="en-US" dirty="0"/>
              <a:t> collects policy used in permission check using static taint analysis.</a:t>
            </a:r>
          </a:p>
          <a:p>
            <a:endParaRPr lang="en-US" dirty="0"/>
          </a:p>
          <a:p>
            <a:r>
              <a:rPr lang="en-US" dirty="0"/>
              <a:t>If the permission check succeeds, the kernel reads or writes the resource on behalf of the user, either by directly transferring the raw data or through</a:t>
            </a:r>
          </a:p>
          <a:p>
            <a:r>
              <a:rPr lang="en-US" dirty="0" err="1"/>
              <a:t>copy_to</a:t>
            </a:r>
            <a:r>
              <a:rPr lang="en-US" dirty="0"/>
              <a:t>/</a:t>
            </a:r>
            <a:r>
              <a:rPr lang="en-US" dirty="0" err="1"/>
              <a:t>from_user</a:t>
            </a:r>
            <a:r>
              <a:rPr lang="en-US" dirty="0"/>
              <a:t> functions. </a:t>
            </a:r>
          </a:p>
          <a:p>
            <a:endParaRPr lang="en-US" dirty="0"/>
          </a:p>
          <a:p>
            <a:r>
              <a:rPr lang="en-US" dirty="0"/>
              <a:t>Here, resource is collected by tracking the data that is read or written through the user interfaces with static taint analysis, particularly those accessed after successful permission checks.</a:t>
            </a:r>
          </a:p>
          <a:p>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13</a:t>
            </a:fld>
            <a:endParaRPr lang="en-KR"/>
          </a:p>
        </p:txBody>
      </p:sp>
    </p:spTree>
    <p:extLst>
      <p:ext uri="{BB962C8B-B14F-4D97-AF65-F5344CB8AC3E}">
        <p14:creationId xmlns:p14="http://schemas.microsoft.com/office/powerpoint/2010/main" val="24799698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have the protection scope, then how should they be protected?</a:t>
            </a:r>
          </a:p>
          <a:p>
            <a:r>
              <a:rPr lang="en-US" dirty="0"/>
              <a:t>As mentioned earlier, </a:t>
            </a:r>
            <a:r>
              <a:rPr lang="en-US" dirty="0" err="1"/>
              <a:t>PeTAL</a:t>
            </a:r>
            <a:r>
              <a:rPr lang="en-US" dirty="0"/>
              <a:t> protects objects using MTE and pointers using PAC.</a:t>
            </a:r>
          </a:p>
        </p:txBody>
      </p:sp>
      <p:sp>
        <p:nvSpPr>
          <p:cNvPr id="4" name="Slide Number Placeholder 3"/>
          <p:cNvSpPr>
            <a:spLocks noGrp="1"/>
          </p:cNvSpPr>
          <p:nvPr>
            <p:ph type="sldNum" sz="quarter" idx="5"/>
          </p:nvPr>
        </p:nvSpPr>
        <p:spPr/>
        <p:txBody>
          <a:bodyPr/>
          <a:lstStyle/>
          <a:p>
            <a:fld id="{AC5EB46F-70DB-C64C-B866-F3D3A1CA13E1}" type="slidenum">
              <a:rPr lang="en-KR" smtClean="0"/>
              <a:t>14</a:t>
            </a:fld>
            <a:endParaRPr lang="en-KR"/>
          </a:p>
        </p:txBody>
      </p:sp>
    </p:spTree>
    <p:extLst>
      <p:ext uri="{BB962C8B-B14F-4D97-AF65-F5344CB8AC3E}">
        <p14:creationId xmlns:p14="http://schemas.microsoft.com/office/powerpoint/2010/main" val="25506304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Tagging Extension, MTE, is hardware memory tagging based memory protection.</a:t>
            </a:r>
          </a:p>
          <a:p>
            <a:r>
              <a:rPr lang="en-US" dirty="0"/>
              <a:t>Physical memory has dedicated tag storage, and the tag is also stored in the pointer top bits.</a:t>
            </a:r>
          </a:p>
          <a:p>
            <a:endParaRPr lang="en-US" dirty="0"/>
          </a:p>
          <a:p>
            <a:r>
              <a:rPr lang="en-US" dirty="0"/>
              <a:t>On a memory access, the CPU checks whether the pointer tag matches the memory tag. If the tags do not match, it raises a tag check fault. </a:t>
            </a:r>
          </a:p>
          <a:p>
            <a:endParaRPr lang="en-KR" dirty="0"/>
          </a:p>
          <a:p>
            <a:r>
              <a:rPr lang="en-KR" dirty="0"/>
              <a:t>Pointer authentication code, protects the pointer by signing and authenticating the pointer.</a:t>
            </a:r>
          </a:p>
          <a:p>
            <a:r>
              <a:rPr lang="en-KR" dirty="0"/>
              <a:t>The PAC signiture is created based on the PAC key in a register, a runtime configurable PAC context, and the pointer value. </a:t>
            </a:r>
          </a:p>
          <a:p>
            <a:r>
              <a:rPr lang="en-KR" dirty="0"/>
              <a:t>The pointer is typically signed when it is stored to memory, and authenticated when it’s loaded. </a:t>
            </a:r>
          </a:p>
          <a:p>
            <a:r>
              <a:rPr lang="en-KR" dirty="0"/>
              <a:t>So if the pointer is corrupted in memory, the PAC signiture mismatches when it is loaded and the pointer authentication failure is raised.</a:t>
            </a:r>
          </a:p>
        </p:txBody>
      </p:sp>
      <p:sp>
        <p:nvSpPr>
          <p:cNvPr id="4" name="Slide Number Placeholder 3"/>
          <p:cNvSpPr>
            <a:spLocks noGrp="1"/>
          </p:cNvSpPr>
          <p:nvPr>
            <p:ph type="sldNum" sz="quarter" idx="5"/>
          </p:nvPr>
        </p:nvSpPr>
        <p:spPr/>
        <p:txBody>
          <a:bodyPr/>
          <a:lstStyle/>
          <a:p>
            <a:fld id="{AC5EB46F-70DB-C64C-B866-F3D3A1CA13E1}" type="slidenum">
              <a:rPr lang="en-KR" smtClean="0"/>
              <a:t>15</a:t>
            </a:fld>
            <a:endParaRPr lang="en-KR"/>
          </a:p>
        </p:txBody>
      </p:sp>
    </p:spTree>
    <p:extLst>
      <p:ext uri="{BB962C8B-B14F-4D97-AF65-F5344CB8AC3E}">
        <p14:creationId xmlns:p14="http://schemas.microsoft.com/office/powerpoint/2010/main" val="13068031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protect objects using MTE, </a:t>
            </a:r>
            <a:r>
              <a:rPr lang="en-US" dirty="0" err="1"/>
              <a:t>PeTAL</a:t>
            </a:r>
            <a:r>
              <a:rPr lang="en-US" dirty="0"/>
              <a:t> divides kernel memory objects into privileged and non-privileged.  Privileged objects contain policy, resource, or pointers to those data. </a:t>
            </a:r>
          </a:p>
          <a:p>
            <a:endParaRPr lang="en-US" dirty="0"/>
          </a:p>
          <a:p>
            <a:r>
              <a:rPr lang="en-US" dirty="0"/>
              <a:t>For them, a random tag from tag 1 to 14 is assigned for each object and pointer,</a:t>
            </a:r>
          </a:p>
          <a:p>
            <a:r>
              <a:rPr lang="en-US" dirty="0"/>
              <a:t>For other non-privileged objects, a fixed tag 0 is assigned and </a:t>
            </a:r>
            <a:r>
              <a:rPr lang="en-US" dirty="0" err="1"/>
              <a:t>PeTAL</a:t>
            </a:r>
            <a:r>
              <a:rPr lang="en-US" dirty="0"/>
              <a:t> enforces tag 0 on memory access. </a:t>
            </a:r>
          </a:p>
          <a:p>
            <a:endParaRPr lang="en-US" dirty="0"/>
          </a:p>
          <a:p>
            <a:r>
              <a:rPr lang="en-US" dirty="0"/>
              <a:t>By enforcing different ranges of tags, </a:t>
            </a:r>
            <a:r>
              <a:rPr lang="en-US" dirty="0" err="1"/>
              <a:t>PeTAL</a:t>
            </a:r>
            <a:r>
              <a:rPr lang="en-US" dirty="0"/>
              <a:t> ensures that privileged and non-privileged objects are isolated from each other, and further isolates privileged objects within themselves.</a:t>
            </a:r>
          </a:p>
          <a:p>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16</a:t>
            </a:fld>
            <a:endParaRPr lang="en-KR"/>
          </a:p>
        </p:txBody>
      </p:sp>
    </p:spTree>
    <p:extLst>
      <p:ext uri="{BB962C8B-B14F-4D97-AF65-F5344CB8AC3E}">
        <p14:creationId xmlns:p14="http://schemas.microsoft.com/office/powerpoint/2010/main" val="27601893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protect pointers with PAC, </a:t>
            </a:r>
            <a:r>
              <a:rPr lang="en-US" dirty="0" err="1"/>
              <a:t>PeTAL</a:t>
            </a:r>
            <a:r>
              <a:rPr lang="en-US" dirty="0"/>
              <a:t> divides pointers into privileged and non-privileged pointers.</a:t>
            </a:r>
          </a:p>
          <a:p>
            <a:r>
              <a:rPr lang="en-US" dirty="0"/>
              <a:t>Privileged pointers are the pointers to the privileged objects</a:t>
            </a:r>
          </a:p>
          <a:p>
            <a:endParaRPr lang="en-US" dirty="0"/>
          </a:p>
          <a:p>
            <a:r>
              <a:rPr lang="en-US" dirty="0" err="1"/>
              <a:t>PeTAL</a:t>
            </a:r>
            <a:r>
              <a:rPr lang="en-US" dirty="0"/>
              <a:t> signs and authenticates these pointers with PAC.</a:t>
            </a:r>
          </a:p>
          <a:p>
            <a:r>
              <a:rPr lang="en-US" dirty="0"/>
              <a:t>It also uses the address the pointer is stored as a PAC context,  binding the pointer to the stored address.</a:t>
            </a:r>
          </a:p>
          <a:p>
            <a:endParaRPr lang="en-US" dirty="0"/>
          </a:p>
          <a:p>
            <a:r>
              <a:rPr lang="en-US" dirty="0"/>
              <a:t>This ensures that when a privileged pointer is corrupted, the PAC authentication failure is raised. </a:t>
            </a:r>
          </a:p>
          <a:p>
            <a:endParaRPr lang="en-US" dirty="0"/>
          </a:p>
          <a:p>
            <a:r>
              <a:rPr lang="en-US" dirty="0" err="1"/>
              <a:t>PeTAL</a:t>
            </a:r>
            <a:r>
              <a:rPr lang="en-US" dirty="0"/>
              <a:t> does not protect other pointers to avoid performance overhead.</a:t>
            </a:r>
          </a:p>
          <a:p>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17</a:t>
            </a:fld>
            <a:endParaRPr lang="en-KR"/>
          </a:p>
        </p:txBody>
      </p:sp>
    </p:spTree>
    <p:extLst>
      <p:ext uri="{BB962C8B-B14F-4D97-AF65-F5344CB8AC3E}">
        <p14:creationId xmlns:p14="http://schemas.microsoft.com/office/powerpoint/2010/main" val="3992925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You might wonder why PETAL uses both MTE and PAC, not either MTE or PAC.</a:t>
            </a:r>
          </a:p>
          <a:p>
            <a:endParaRPr lang="en-KR" dirty="0"/>
          </a:p>
          <a:p>
            <a:r>
              <a:rPr lang="en-KR" dirty="0"/>
              <a:t>The reason is that MTE and PAC complements each other, speicifcally on reuse attacks.</a:t>
            </a:r>
          </a:p>
          <a:p>
            <a:endParaRPr lang="en-KR" dirty="0"/>
          </a:p>
          <a:p>
            <a:r>
              <a:rPr lang="en-KR" dirty="0"/>
              <a:t>First, assume the attacker reuses MTE tag, which means leaking a tagged pointer and corrupting another pointer with the leaked one. When the corrupted pointer is used, no tag check fault would be raised because the pointer has the correct MTE tag.</a:t>
            </a:r>
          </a:p>
          <a:p>
            <a:endParaRPr lang="en-KR" dirty="0"/>
          </a:p>
          <a:p>
            <a:r>
              <a:rPr lang="en-KR" dirty="0"/>
              <a:t>PeTAL prevents this with PAC, by binding the PAC to the pointer's stored address. </a:t>
            </a:r>
          </a:p>
          <a:p>
            <a:r>
              <a:rPr lang="en-KR" dirty="0"/>
              <a:t>If the pointer is illegally leaked and copied to another place, it will cause an authentication failure because the PAC is bound to the original object.</a:t>
            </a:r>
          </a:p>
          <a:p>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18</a:t>
            </a:fld>
            <a:endParaRPr lang="en-KR"/>
          </a:p>
        </p:txBody>
      </p:sp>
    </p:spTree>
    <p:extLst>
      <p:ext uri="{BB962C8B-B14F-4D97-AF65-F5344CB8AC3E}">
        <p14:creationId xmlns:p14="http://schemas.microsoft.com/office/powerpoint/2010/main" val="14153170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KR" sz="2400" dirty="0"/>
              <a:t>Next, assume the attacker reuses PAC in a temporal vulnerability like Use-after-free,</a:t>
            </a:r>
          </a:p>
          <a:p>
            <a:pPr marL="0" indent="0">
              <a:buFont typeface="Arial" panose="020B0604020202020204" pitchFamily="34" charset="0"/>
              <a:buNone/>
            </a:pPr>
            <a:r>
              <a:rPr lang="en-KR" sz="2400" dirty="0"/>
              <a:t>The attacker first leaks the pointer and triggers use after free to corrupt the pointer in the exact same address with the leaked one.</a:t>
            </a:r>
          </a:p>
          <a:p>
            <a:pPr marL="0" indent="0">
              <a:buFont typeface="Arial" panose="020B0604020202020204" pitchFamily="34" charset="0"/>
              <a:buNone/>
            </a:pPr>
            <a:r>
              <a:rPr lang="en-KR" sz="2400" dirty="0"/>
              <a:t>Here, PAC cannot detect the attack because the pointer is correctly bound to the stored address.</a:t>
            </a:r>
          </a:p>
          <a:p>
            <a:pPr marL="0" indent="0">
              <a:buFont typeface="Arial" panose="020B0604020202020204" pitchFamily="34" charset="0"/>
              <a:buNone/>
            </a:pPr>
            <a:endParaRPr lang="en-KR" sz="2400" dirty="0"/>
          </a:p>
          <a:p>
            <a:pPr marL="0" indent="0">
              <a:buFont typeface="Arial" panose="020B0604020202020204" pitchFamily="34" charset="0"/>
              <a:buNone/>
            </a:pPr>
            <a:r>
              <a:rPr lang="en-KR" sz="2400" dirty="0"/>
              <a:t>MTE can detect this, because the object containing the pointer is randomly tagged for new allocation, and triggering use-after-free is likely to trigger tag check fault.</a:t>
            </a:r>
          </a:p>
          <a:p>
            <a:pPr marL="0" indent="0">
              <a:buFont typeface="Arial" panose="020B0604020202020204" pitchFamily="34" charset="0"/>
              <a:buNone/>
            </a:pPr>
            <a:endParaRPr lang="en-KR" sz="2400" dirty="0"/>
          </a:p>
          <a:p>
            <a:pPr marL="0" indent="0">
              <a:buFont typeface="Arial" panose="020B0604020202020204" pitchFamily="34" charset="0"/>
              <a:buNone/>
            </a:pPr>
            <a:endParaRPr lang="en-KR" sz="2400" dirty="0"/>
          </a:p>
          <a:p>
            <a:pPr marL="0" indent="0">
              <a:buFont typeface="Arial" panose="020B0604020202020204" pitchFamily="34" charset="0"/>
              <a:buNone/>
            </a:pPr>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19</a:t>
            </a:fld>
            <a:endParaRPr lang="en-KR"/>
          </a:p>
        </p:txBody>
      </p:sp>
    </p:spTree>
    <p:extLst>
      <p:ext uri="{BB962C8B-B14F-4D97-AF65-F5344CB8AC3E}">
        <p14:creationId xmlns:p14="http://schemas.microsoft.com/office/powerpoint/2010/main" val="39500615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implementation, </a:t>
            </a:r>
            <a:r>
              <a:rPr lang="en-US" dirty="0" err="1"/>
              <a:t>PeTAL</a:t>
            </a:r>
            <a:r>
              <a:rPr lang="en-US" dirty="0"/>
              <a:t> mainly consists of three Clang/LLVM IR passes.</a:t>
            </a:r>
          </a:p>
          <a:p>
            <a:endParaRPr lang="en-US" dirty="0"/>
          </a:p>
          <a:p>
            <a:r>
              <a:rPr lang="en-US" dirty="0"/>
              <a:t>First, a static taint analysis collects policy and resource from the user interfaces, resulting in privileged objects and pointers. </a:t>
            </a:r>
          </a:p>
          <a:p>
            <a:r>
              <a:rPr lang="en-US" dirty="0"/>
              <a:t>They are in the form of struct types or global variable names.</a:t>
            </a:r>
          </a:p>
          <a:p>
            <a:endParaRPr lang="en-US" dirty="0"/>
          </a:p>
          <a:p>
            <a:r>
              <a:rPr lang="en-US" dirty="0"/>
              <a:t>Second, an inter-procedural points-to analysis classifies instructions, whether they are accessing privileged or non-privileged objects or pointers. </a:t>
            </a:r>
          </a:p>
          <a:p>
            <a:endParaRPr lang="en-US" dirty="0"/>
          </a:p>
          <a:p>
            <a:r>
              <a:rPr lang="en-US" dirty="0"/>
              <a:t>Third, the DFI instrumentation pass performs code instrumentation on the Linux kernel to enforce MTE and PAC based on the classification.</a:t>
            </a:r>
          </a:p>
          <a:p>
            <a:endParaRPr lang="en-US" dirty="0"/>
          </a:p>
          <a:p>
            <a:r>
              <a:rPr lang="en-US" dirty="0"/>
              <a:t>The result is a </a:t>
            </a:r>
            <a:r>
              <a:rPr lang="en-US" dirty="0" err="1"/>
              <a:t>PeTAL</a:t>
            </a:r>
            <a:r>
              <a:rPr lang="en-US" dirty="0"/>
              <a:t>-hardened kernel that operates on ARM devices supporting MTE and PAC.</a:t>
            </a:r>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20</a:t>
            </a:fld>
            <a:endParaRPr lang="en-KR"/>
          </a:p>
        </p:txBody>
      </p:sp>
    </p:spTree>
    <p:extLst>
      <p:ext uri="{BB962C8B-B14F-4D97-AF65-F5344CB8AC3E}">
        <p14:creationId xmlns:p14="http://schemas.microsoft.com/office/powerpoint/2010/main" val="42420544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performance evaluation, we used a Samsung Galaxy S22 device, which supports both ARM PAC and MTE.</a:t>
            </a:r>
          </a:p>
          <a:p>
            <a:endParaRPr lang="en-US" dirty="0"/>
          </a:p>
          <a:p>
            <a:r>
              <a:rPr lang="en-US" dirty="0"/>
              <a:t>This device is originally shipped without MTE, but were able to enable it with the assistance of Samsung Electronics. Now Pixel 8 and 9 are available with the MTE support.</a:t>
            </a:r>
          </a:p>
          <a:p>
            <a:endParaRPr lang="en-US" dirty="0"/>
          </a:p>
          <a:p>
            <a:r>
              <a:rPr lang="en-US" dirty="0"/>
              <a:t>For kernel workloads, focusing on system call overheads, </a:t>
            </a:r>
            <a:r>
              <a:rPr lang="en-US" dirty="0" err="1"/>
              <a:t>PeTAL</a:t>
            </a:r>
            <a:r>
              <a:rPr lang="en-US" dirty="0"/>
              <a:t> incurred 18, and 32% overhead on MTE async and sync mode respectively.</a:t>
            </a:r>
          </a:p>
          <a:p>
            <a:endParaRPr lang="en-US" dirty="0"/>
          </a:p>
          <a:p>
            <a:r>
              <a:rPr lang="en-US" dirty="0"/>
              <a:t>For user workloads, </a:t>
            </a:r>
            <a:r>
              <a:rPr lang="en-US" dirty="0" err="1"/>
              <a:t>PeTAL</a:t>
            </a:r>
            <a:r>
              <a:rPr lang="en-US" dirty="0"/>
              <a:t> incurred less than 5% overhead on average.</a:t>
            </a:r>
          </a:p>
          <a:p>
            <a:endParaRPr lang="en-US" dirty="0"/>
          </a:p>
          <a:p>
            <a:r>
              <a:rPr lang="en-US" dirty="0"/>
              <a:t>We also included a comprehensive security evaluation in the paper.</a:t>
            </a:r>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21</a:t>
            </a:fld>
            <a:endParaRPr lang="en-KR"/>
          </a:p>
        </p:txBody>
      </p:sp>
    </p:spTree>
    <p:extLst>
      <p:ext uri="{BB962C8B-B14F-4D97-AF65-F5344CB8AC3E}">
        <p14:creationId xmlns:p14="http://schemas.microsoft.com/office/powerpoint/2010/main" val="41878382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PeTAL</a:t>
            </a:r>
            <a:r>
              <a:rPr lang="en-US" dirty="0"/>
              <a:t> is a new approach to define access control integrity for the Linux kernel.</a:t>
            </a:r>
          </a:p>
          <a:p>
            <a:endParaRPr lang="en-US" dirty="0"/>
          </a:p>
          <a:p>
            <a:r>
              <a:rPr lang="en-US" dirty="0"/>
              <a:t>It proposes a novel way to identify protection targets based on kernel user interfaces.</a:t>
            </a:r>
          </a:p>
          <a:p>
            <a:endParaRPr lang="en-US" dirty="0"/>
          </a:p>
          <a:p>
            <a:r>
              <a:rPr lang="en-US" dirty="0" err="1"/>
              <a:t>PeTAL</a:t>
            </a:r>
            <a:r>
              <a:rPr lang="en-US" dirty="0"/>
              <a:t> provides a DFI solution based on ARM MTE and PAC, demonstrating that it incurs acceptable performance overhead.</a:t>
            </a:r>
          </a:p>
          <a:p>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22</a:t>
            </a:fld>
            <a:endParaRPr lang="en-KR"/>
          </a:p>
        </p:txBody>
      </p:sp>
    </p:spTree>
    <p:extLst>
      <p:ext uri="{BB962C8B-B14F-4D97-AF65-F5344CB8AC3E}">
        <p14:creationId xmlns:p14="http://schemas.microsoft.com/office/powerpoint/2010/main" val="35052477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 am happy to take any questions.</a:t>
            </a:r>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23</a:t>
            </a:fld>
            <a:endParaRPr lang="en-KR"/>
          </a:p>
        </p:txBody>
      </p:sp>
    </p:spTree>
    <p:extLst>
      <p:ext uri="{BB962C8B-B14F-4D97-AF65-F5344CB8AC3E}">
        <p14:creationId xmlns:p14="http://schemas.microsoft.com/office/powerpoint/2010/main" val="29255540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R" dirty="0"/>
          </a:p>
          <a:p>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24</a:t>
            </a:fld>
            <a:endParaRPr lang="en-KR"/>
          </a:p>
        </p:txBody>
      </p:sp>
    </p:spTree>
    <p:extLst>
      <p:ext uri="{BB962C8B-B14F-4D97-AF65-F5344CB8AC3E}">
        <p14:creationId xmlns:p14="http://schemas.microsoft.com/office/powerpoint/2010/main" val="31653346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R" dirty="0"/>
          </a:p>
        </p:txBody>
      </p:sp>
      <p:sp>
        <p:nvSpPr>
          <p:cNvPr id="4" name="Slide Number Placeholder 3"/>
          <p:cNvSpPr>
            <a:spLocks noGrp="1"/>
          </p:cNvSpPr>
          <p:nvPr>
            <p:ph type="sldNum" sz="quarter" idx="5"/>
          </p:nvPr>
        </p:nvSpPr>
        <p:spPr/>
        <p:txBody>
          <a:bodyPr/>
          <a:lstStyle/>
          <a:p>
            <a:fld id="{AC5EB46F-70DB-C64C-B866-F3D3A1CA13E1}" type="slidenum">
              <a:rPr lang="en-KR" smtClean="0"/>
              <a:t>25</a:t>
            </a:fld>
            <a:endParaRPr lang="en-KR"/>
          </a:p>
        </p:txBody>
      </p:sp>
    </p:spTree>
    <p:extLst>
      <p:ext uri="{BB962C8B-B14F-4D97-AF65-F5344CB8AC3E}">
        <p14:creationId xmlns:p14="http://schemas.microsoft.com/office/powerpoint/2010/main" val="27123282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E7FED-8029-AB18-B250-E25EA63468D3}"/>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dirty="0"/>
              <a:t>Click to edit Master title style</a:t>
            </a:r>
            <a:endParaRPr lang="en-KR" dirty="0"/>
          </a:p>
        </p:txBody>
      </p:sp>
      <p:sp>
        <p:nvSpPr>
          <p:cNvPr id="3" name="Subtitle 2">
            <a:extLst>
              <a:ext uri="{FF2B5EF4-FFF2-40B4-BE49-F238E27FC236}">
                <a16:creationId xmlns:a16="http://schemas.microsoft.com/office/drawing/2014/main" id="{B3492F1E-EA6A-BE46-D8D3-1836C681DAD3}"/>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KR"/>
          </a:p>
        </p:txBody>
      </p:sp>
      <p:sp>
        <p:nvSpPr>
          <p:cNvPr id="4" name="Date Placeholder 3">
            <a:extLst>
              <a:ext uri="{FF2B5EF4-FFF2-40B4-BE49-F238E27FC236}">
                <a16:creationId xmlns:a16="http://schemas.microsoft.com/office/drawing/2014/main" id="{B0EDDA1E-F59C-9172-9FCB-4087D0206FDB}"/>
              </a:ext>
            </a:extLst>
          </p:cNvPr>
          <p:cNvSpPr>
            <a:spLocks noGrp="1"/>
          </p:cNvSpPr>
          <p:nvPr>
            <p:ph type="dt" sz="half" idx="10"/>
          </p:nvPr>
        </p:nvSpPr>
        <p:spPr/>
        <p:txBody>
          <a:bodyPr/>
          <a:lstStyle/>
          <a:p>
            <a:fld id="{298DA2C2-D6D8-E44F-B4F0-EC49BE542904}" type="datetime1">
              <a:rPr lang="en-US" smtClean="0"/>
              <a:t>10/14/24</a:t>
            </a:fld>
            <a:endParaRPr lang="en-KR"/>
          </a:p>
        </p:txBody>
      </p:sp>
      <p:sp>
        <p:nvSpPr>
          <p:cNvPr id="5" name="Footer Placeholder 4">
            <a:extLst>
              <a:ext uri="{FF2B5EF4-FFF2-40B4-BE49-F238E27FC236}">
                <a16:creationId xmlns:a16="http://schemas.microsoft.com/office/drawing/2014/main" id="{5400E80F-64B3-3157-CF2F-EBB2E709AA98}"/>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A9CFD886-05E0-CAC8-EF70-88D9D6CC25E2}"/>
              </a:ext>
            </a:extLst>
          </p:cNvPr>
          <p:cNvSpPr>
            <a:spLocks noGrp="1"/>
          </p:cNvSpPr>
          <p:nvPr>
            <p:ph type="sldNum" sz="quarter" idx="12"/>
          </p:nvPr>
        </p:nvSpPr>
        <p:spPr/>
        <p:txBody>
          <a:bodyPr/>
          <a:lstStyle/>
          <a:p>
            <a:fld id="{9ED31AF7-B9C1-7944-AC45-A988640FDEFC}" type="slidenum">
              <a:rPr lang="en-KR" smtClean="0"/>
              <a:t>‹#›</a:t>
            </a:fld>
            <a:endParaRPr lang="en-KR"/>
          </a:p>
        </p:txBody>
      </p:sp>
    </p:spTree>
    <p:extLst>
      <p:ext uri="{BB962C8B-B14F-4D97-AF65-F5344CB8AC3E}">
        <p14:creationId xmlns:p14="http://schemas.microsoft.com/office/powerpoint/2010/main" val="3577851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D1C0A-1A5D-0D3F-7C7C-736A1569E002}"/>
              </a:ext>
            </a:extLst>
          </p:cNvPr>
          <p:cNvSpPr>
            <a:spLocks noGrp="1"/>
          </p:cNvSpPr>
          <p:nvPr>
            <p:ph type="title"/>
          </p:nvPr>
        </p:nvSpPr>
        <p:spPr/>
        <p:txBody>
          <a:bodyPr/>
          <a:lstStyle/>
          <a:p>
            <a:r>
              <a:rPr lang="en-US"/>
              <a:t>Click to edit Master title style</a:t>
            </a:r>
            <a:endParaRPr lang="en-KR"/>
          </a:p>
        </p:txBody>
      </p:sp>
      <p:sp>
        <p:nvSpPr>
          <p:cNvPr id="3" name="Content Placeholder 2">
            <a:extLst>
              <a:ext uri="{FF2B5EF4-FFF2-40B4-BE49-F238E27FC236}">
                <a16:creationId xmlns:a16="http://schemas.microsoft.com/office/drawing/2014/main" id="{8E8CB2B9-E85E-AAD9-29AA-EB06840AC0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AFB22BAB-0978-3309-8952-3F0B0CF10196}"/>
              </a:ext>
            </a:extLst>
          </p:cNvPr>
          <p:cNvSpPr>
            <a:spLocks noGrp="1"/>
          </p:cNvSpPr>
          <p:nvPr>
            <p:ph type="dt" sz="half" idx="10"/>
          </p:nvPr>
        </p:nvSpPr>
        <p:spPr/>
        <p:txBody>
          <a:bodyPr/>
          <a:lstStyle/>
          <a:p>
            <a:fld id="{4D645904-BF6A-5F49-9B1F-8E25440062A3}" type="datetime1">
              <a:rPr lang="en-US" smtClean="0"/>
              <a:t>10/14/24</a:t>
            </a:fld>
            <a:endParaRPr lang="en-KR"/>
          </a:p>
        </p:txBody>
      </p:sp>
      <p:sp>
        <p:nvSpPr>
          <p:cNvPr id="5" name="Footer Placeholder 4">
            <a:extLst>
              <a:ext uri="{FF2B5EF4-FFF2-40B4-BE49-F238E27FC236}">
                <a16:creationId xmlns:a16="http://schemas.microsoft.com/office/drawing/2014/main" id="{9C28CC7E-AAD5-932F-87C2-120DEC7EE289}"/>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69DDFE48-8AC1-2341-32E3-14A028605B75}"/>
              </a:ext>
            </a:extLst>
          </p:cNvPr>
          <p:cNvSpPr>
            <a:spLocks noGrp="1"/>
          </p:cNvSpPr>
          <p:nvPr>
            <p:ph type="sldNum" sz="quarter" idx="12"/>
          </p:nvPr>
        </p:nvSpPr>
        <p:spPr/>
        <p:txBody>
          <a:bodyPr/>
          <a:lstStyle/>
          <a:p>
            <a:fld id="{9ED31AF7-B9C1-7944-AC45-A988640FDEFC}" type="slidenum">
              <a:rPr lang="en-KR" smtClean="0"/>
              <a:t>‹#›</a:t>
            </a:fld>
            <a:endParaRPr lang="en-KR"/>
          </a:p>
        </p:txBody>
      </p:sp>
    </p:spTree>
    <p:extLst>
      <p:ext uri="{BB962C8B-B14F-4D97-AF65-F5344CB8AC3E}">
        <p14:creationId xmlns:p14="http://schemas.microsoft.com/office/powerpoint/2010/main" val="1556252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E48D7-E552-DFFC-689D-4D991C756B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R"/>
          </a:p>
        </p:txBody>
      </p:sp>
      <p:sp>
        <p:nvSpPr>
          <p:cNvPr id="3" name="Text Placeholder 2">
            <a:extLst>
              <a:ext uri="{FF2B5EF4-FFF2-40B4-BE49-F238E27FC236}">
                <a16:creationId xmlns:a16="http://schemas.microsoft.com/office/drawing/2014/main" id="{372A1150-767D-F2AC-28D7-A889DB2044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F66386-DC43-2BDC-A12E-CCE9ED8E5C73}"/>
              </a:ext>
            </a:extLst>
          </p:cNvPr>
          <p:cNvSpPr>
            <a:spLocks noGrp="1"/>
          </p:cNvSpPr>
          <p:nvPr>
            <p:ph type="dt" sz="half" idx="10"/>
          </p:nvPr>
        </p:nvSpPr>
        <p:spPr/>
        <p:txBody>
          <a:bodyPr/>
          <a:lstStyle/>
          <a:p>
            <a:fld id="{7099A4B9-2FE6-7D4B-92BE-E5EA0123012A}" type="datetime1">
              <a:rPr lang="en-US" smtClean="0"/>
              <a:t>10/14/24</a:t>
            </a:fld>
            <a:endParaRPr lang="en-KR"/>
          </a:p>
        </p:txBody>
      </p:sp>
      <p:sp>
        <p:nvSpPr>
          <p:cNvPr id="5" name="Footer Placeholder 4">
            <a:extLst>
              <a:ext uri="{FF2B5EF4-FFF2-40B4-BE49-F238E27FC236}">
                <a16:creationId xmlns:a16="http://schemas.microsoft.com/office/drawing/2014/main" id="{0E23D2D1-8ABA-9318-62DA-54309C89EC28}"/>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A318D2DD-7633-C150-5DC7-11DD479CD665}"/>
              </a:ext>
            </a:extLst>
          </p:cNvPr>
          <p:cNvSpPr>
            <a:spLocks noGrp="1"/>
          </p:cNvSpPr>
          <p:nvPr>
            <p:ph type="sldNum" sz="quarter" idx="12"/>
          </p:nvPr>
        </p:nvSpPr>
        <p:spPr/>
        <p:txBody>
          <a:bodyPr/>
          <a:lstStyle/>
          <a:p>
            <a:fld id="{9ED31AF7-B9C1-7944-AC45-A988640FDEFC}" type="slidenum">
              <a:rPr lang="en-KR" smtClean="0"/>
              <a:t>‹#›</a:t>
            </a:fld>
            <a:endParaRPr lang="en-KR"/>
          </a:p>
        </p:txBody>
      </p:sp>
    </p:spTree>
    <p:extLst>
      <p:ext uri="{BB962C8B-B14F-4D97-AF65-F5344CB8AC3E}">
        <p14:creationId xmlns:p14="http://schemas.microsoft.com/office/powerpoint/2010/main" val="1557554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E907B-ADAF-20C8-777A-28148B4B5ACE}"/>
              </a:ext>
            </a:extLst>
          </p:cNvPr>
          <p:cNvSpPr>
            <a:spLocks noGrp="1"/>
          </p:cNvSpPr>
          <p:nvPr>
            <p:ph type="title"/>
          </p:nvPr>
        </p:nvSpPr>
        <p:spPr/>
        <p:txBody>
          <a:bodyPr/>
          <a:lstStyle/>
          <a:p>
            <a:r>
              <a:rPr lang="en-US"/>
              <a:t>Click to edit Master title style</a:t>
            </a:r>
            <a:endParaRPr lang="en-KR"/>
          </a:p>
        </p:txBody>
      </p:sp>
      <p:sp>
        <p:nvSpPr>
          <p:cNvPr id="3" name="Content Placeholder 2">
            <a:extLst>
              <a:ext uri="{FF2B5EF4-FFF2-40B4-BE49-F238E27FC236}">
                <a16:creationId xmlns:a16="http://schemas.microsoft.com/office/drawing/2014/main" id="{6EFF5D9F-4245-8ABC-6F42-A305D7E2AF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Content Placeholder 3">
            <a:extLst>
              <a:ext uri="{FF2B5EF4-FFF2-40B4-BE49-F238E27FC236}">
                <a16:creationId xmlns:a16="http://schemas.microsoft.com/office/drawing/2014/main" id="{00476BF0-103E-B856-8322-FB0178CB91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5" name="Date Placeholder 4">
            <a:extLst>
              <a:ext uri="{FF2B5EF4-FFF2-40B4-BE49-F238E27FC236}">
                <a16:creationId xmlns:a16="http://schemas.microsoft.com/office/drawing/2014/main" id="{F62AB9C7-A2AA-2A69-76F9-629CA5B6469F}"/>
              </a:ext>
            </a:extLst>
          </p:cNvPr>
          <p:cNvSpPr>
            <a:spLocks noGrp="1"/>
          </p:cNvSpPr>
          <p:nvPr>
            <p:ph type="dt" sz="half" idx="10"/>
          </p:nvPr>
        </p:nvSpPr>
        <p:spPr/>
        <p:txBody>
          <a:bodyPr/>
          <a:lstStyle/>
          <a:p>
            <a:fld id="{891B32DF-1679-944D-822C-D437FBF66C04}" type="datetime1">
              <a:rPr lang="en-US" smtClean="0"/>
              <a:t>10/14/24</a:t>
            </a:fld>
            <a:endParaRPr lang="en-KR"/>
          </a:p>
        </p:txBody>
      </p:sp>
      <p:sp>
        <p:nvSpPr>
          <p:cNvPr id="6" name="Footer Placeholder 5">
            <a:extLst>
              <a:ext uri="{FF2B5EF4-FFF2-40B4-BE49-F238E27FC236}">
                <a16:creationId xmlns:a16="http://schemas.microsoft.com/office/drawing/2014/main" id="{D9214BFC-6263-7C3C-D742-CB1F7A5CC432}"/>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26591A25-5A9E-4D36-916C-CB659315A062}"/>
              </a:ext>
            </a:extLst>
          </p:cNvPr>
          <p:cNvSpPr>
            <a:spLocks noGrp="1"/>
          </p:cNvSpPr>
          <p:nvPr>
            <p:ph type="sldNum" sz="quarter" idx="12"/>
          </p:nvPr>
        </p:nvSpPr>
        <p:spPr/>
        <p:txBody>
          <a:bodyPr/>
          <a:lstStyle/>
          <a:p>
            <a:fld id="{9ED31AF7-B9C1-7944-AC45-A988640FDEFC}" type="slidenum">
              <a:rPr lang="en-KR" smtClean="0"/>
              <a:t>‹#›</a:t>
            </a:fld>
            <a:endParaRPr lang="en-KR"/>
          </a:p>
        </p:txBody>
      </p:sp>
    </p:spTree>
    <p:extLst>
      <p:ext uri="{BB962C8B-B14F-4D97-AF65-F5344CB8AC3E}">
        <p14:creationId xmlns:p14="http://schemas.microsoft.com/office/powerpoint/2010/main" val="1680001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B4BF0-BA5F-4392-A159-EB7825DC493D}"/>
              </a:ext>
            </a:extLst>
          </p:cNvPr>
          <p:cNvSpPr>
            <a:spLocks noGrp="1"/>
          </p:cNvSpPr>
          <p:nvPr>
            <p:ph type="title"/>
          </p:nvPr>
        </p:nvSpPr>
        <p:spPr>
          <a:xfrm>
            <a:off x="839788" y="365125"/>
            <a:ext cx="10515600" cy="1325563"/>
          </a:xfrm>
        </p:spPr>
        <p:txBody>
          <a:bodyPr/>
          <a:lstStyle/>
          <a:p>
            <a:r>
              <a:rPr lang="en-US"/>
              <a:t>Click to edit Master title style</a:t>
            </a:r>
            <a:endParaRPr lang="en-KR"/>
          </a:p>
        </p:txBody>
      </p:sp>
      <p:sp>
        <p:nvSpPr>
          <p:cNvPr id="3" name="Text Placeholder 2">
            <a:extLst>
              <a:ext uri="{FF2B5EF4-FFF2-40B4-BE49-F238E27FC236}">
                <a16:creationId xmlns:a16="http://schemas.microsoft.com/office/drawing/2014/main" id="{B24BC470-AFB5-F6BA-8BD1-484BE98FC8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DDE13D-DEE6-F03C-D208-A6A0A13ACA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5" name="Text Placeholder 4">
            <a:extLst>
              <a:ext uri="{FF2B5EF4-FFF2-40B4-BE49-F238E27FC236}">
                <a16:creationId xmlns:a16="http://schemas.microsoft.com/office/drawing/2014/main" id="{4FDB5D17-3A96-2BF5-8B38-38C0581742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FE2036-2DD4-BAD1-7024-74488E3ACE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7" name="Date Placeholder 6">
            <a:extLst>
              <a:ext uri="{FF2B5EF4-FFF2-40B4-BE49-F238E27FC236}">
                <a16:creationId xmlns:a16="http://schemas.microsoft.com/office/drawing/2014/main" id="{29DF6731-551F-13AD-9B23-37F14DC5D37F}"/>
              </a:ext>
            </a:extLst>
          </p:cNvPr>
          <p:cNvSpPr>
            <a:spLocks noGrp="1"/>
          </p:cNvSpPr>
          <p:nvPr>
            <p:ph type="dt" sz="half" idx="10"/>
          </p:nvPr>
        </p:nvSpPr>
        <p:spPr/>
        <p:txBody>
          <a:bodyPr/>
          <a:lstStyle/>
          <a:p>
            <a:fld id="{CDBFDE18-C209-0A49-8475-78362F6C6DA6}" type="datetime1">
              <a:rPr lang="en-US" smtClean="0"/>
              <a:t>10/14/24</a:t>
            </a:fld>
            <a:endParaRPr lang="en-KR"/>
          </a:p>
        </p:txBody>
      </p:sp>
      <p:sp>
        <p:nvSpPr>
          <p:cNvPr id="8" name="Footer Placeholder 7">
            <a:extLst>
              <a:ext uri="{FF2B5EF4-FFF2-40B4-BE49-F238E27FC236}">
                <a16:creationId xmlns:a16="http://schemas.microsoft.com/office/drawing/2014/main" id="{7F92A250-ED62-EB52-0859-A1137751FCAA}"/>
              </a:ext>
            </a:extLst>
          </p:cNvPr>
          <p:cNvSpPr>
            <a:spLocks noGrp="1"/>
          </p:cNvSpPr>
          <p:nvPr>
            <p:ph type="ftr" sz="quarter" idx="11"/>
          </p:nvPr>
        </p:nvSpPr>
        <p:spPr/>
        <p:txBody>
          <a:bodyPr/>
          <a:lstStyle/>
          <a:p>
            <a:endParaRPr lang="en-KR"/>
          </a:p>
        </p:txBody>
      </p:sp>
      <p:sp>
        <p:nvSpPr>
          <p:cNvPr id="9" name="Slide Number Placeholder 8">
            <a:extLst>
              <a:ext uri="{FF2B5EF4-FFF2-40B4-BE49-F238E27FC236}">
                <a16:creationId xmlns:a16="http://schemas.microsoft.com/office/drawing/2014/main" id="{AE100C17-5A42-0940-C6F8-6E03987BF774}"/>
              </a:ext>
            </a:extLst>
          </p:cNvPr>
          <p:cNvSpPr>
            <a:spLocks noGrp="1"/>
          </p:cNvSpPr>
          <p:nvPr>
            <p:ph type="sldNum" sz="quarter" idx="12"/>
          </p:nvPr>
        </p:nvSpPr>
        <p:spPr/>
        <p:txBody>
          <a:bodyPr/>
          <a:lstStyle/>
          <a:p>
            <a:fld id="{9ED31AF7-B9C1-7944-AC45-A988640FDEFC}" type="slidenum">
              <a:rPr lang="en-KR" smtClean="0"/>
              <a:t>‹#›</a:t>
            </a:fld>
            <a:endParaRPr lang="en-KR"/>
          </a:p>
        </p:txBody>
      </p:sp>
    </p:spTree>
    <p:extLst>
      <p:ext uri="{BB962C8B-B14F-4D97-AF65-F5344CB8AC3E}">
        <p14:creationId xmlns:p14="http://schemas.microsoft.com/office/powerpoint/2010/main" val="3762341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7D45F-CE81-FD0D-6F07-6C038B892059}"/>
              </a:ext>
            </a:extLst>
          </p:cNvPr>
          <p:cNvSpPr>
            <a:spLocks noGrp="1"/>
          </p:cNvSpPr>
          <p:nvPr>
            <p:ph type="title"/>
          </p:nvPr>
        </p:nvSpPr>
        <p:spPr/>
        <p:txBody>
          <a:bodyPr/>
          <a:lstStyle/>
          <a:p>
            <a:r>
              <a:rPr lang="en-US"/>
              <a:t>Click to edit Master title style</a:t>
            </a:r>
            <a:endParaRPr lang="en-KR"/>
          </a:p>
        </p:txBody>
      </p:sp>
      <p:sp>
        <p:nvSpPr>
          <p:cNvPr id="3" name="Date Placeholder 2">
            <a:extLst>
              <a:ext uri="{FF2B5EF4-FFF2-40B4-BE49-F238E27FC236}">
                <a16:creationId xmlns:a16="http://schemas.microsoft.com/office/drawing/2014/main" id="{21E2FFC3-C7B3-BAAF-866D-7EF3BBEB4874}"/>
              </a:ext>
            </a:extLst>
          </p:cNvPr>
          <p:cNvSpPr>
            <a:spLocks noGrp="1"/>
          </p:cNvSpPr>
          <p:nvPr>
            <p:ph type="dt" sz="half" idx="10"/>
          </p:nvPr>
        </p:nvSpPr>
        <p:spPr/>
        <p:txBody>
          <a:bodyPr/>
          <a:lstStyle/>
          <a:p>
            <a:fld id="{2EA56442-B194-3441-BA52-B48F9895A99E}" type="datetime1">
              <a:rPr lang="en-US" smtClean="0"/>
              <a:t>10/14/24</a:t>
            </a:fld>
            <a:endParaRPr lang="en-KR"/>
          </a:p>
        </p:txBody>
      </p:sp>
      <p:sp>
        <p:nvSpPr>
          <p:cNvPr id="4" name="Footer Placeholder 3">
            <a:extLst>
              <a:ext uri="{FF2B5EF4-FFF2-40B4-BE49-F238E27FC236}">
                <a16:creationId xmlns:a16="http://schemas.microsoft.com/office/drawing/2014/main" id="{9431BCAF-A4E0-37A5-086E-1207F9521AE5}"/>
              </a:ext>
            </a:extLst>
          </p:cNvPr>
          <p:cNvSpPr>
            <a:spLocks noGrp="1"/>
          </p:cNvSpPr>
          <p:nvPr>
            <p:ph type="ftr" sz="quarter" idx="11"/>
          </p:nvPr>
        </p:nvSpPr>
        <p:spPr/>
        <p:txBody>
          <a:bodyPr/>
          <a:lstStyle/>
          <a:p>
            <a:endParaRPr lang="en-KR"/>
          </a:p>
        </p:txBody>
      </p:sp>
      <p:sp>
        <p:nvSpPr>
          <p:cNvPr id="5" name="Slide Number Placeholder 4">
            <a:extLst>
              <a:ext uri="{FF2B5EF4-FFF2-40B4-BE49-F238E27FC236}">
                <a16:creationId xmlns:a16="http://schemas.microsoft.com/office/drawing/2014/main" id="{1E0FE0E1-DFDE-C5BD-F19D-73510C2324A2}"/>
              </a:ext>
            </a:extLst>
          </p:cNvPr>
          <p:cNvSpPr>
            <a:spLocks noGrp="1"/>
          </p:cNvSpPr>
          <p:nvPr>
            <p:ph type="sldNum" sz="quarter" idx="12"/>
          </p:nvPr>
        </p:nvSpPr>
        <p:spPr/>
        <p:txBody>
          <a:bodyPr/>
          <a:lstStyle/>
          <a:p>
            <a:fld id="{9ED31AF7-B9C1-7944-AC45-A988640FDEFC}" type="slidenum">
              <a:rPr lang="en-KR" smtClean="0"/>
              <a:t>‹#›</a:t>
            </a:fld>
            <a:endParaRPr lang="en-KR"/>
          </a:p>
        </p:txBody>
      </p:sp>
    </p:spTree>
    <p:extLst>
      <p:ext uri="{BB962C8B-B14F-4D97-AF65-F5344CB8AC3E}">
        <p14:creationId xmlns:p14="http://schemas.microsoft.com/office/powerpoint/2010/main" val="3871508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387575-C3C0-E28D-E597-93A32AA8C87C}"/>
              </a:ext>
            </a:extLst>
          </p:cNvPr>
          <p:cNvSpPr>
            <a:spLocks noGrp="1"/>
          </p:cNvSpPr>
          <p:nvPr>
            <p:ph type="dt" sz="half" idx="10"/>
          </p:nvPr>
        </p:nvSpPr>
        <p:spPr/>
        <p:txBody>
          <a:bodyPr/>
          <a:lstStyle/>
          <a:p>
            <a:fld id="{AE8E462E-ECEB-5348-9648-8B2FFCA60D51}" type="datetime1">
              <a:rPr lang="en-US" smtClean="0"/>
              <a:t>10/14/24</a:t>
            </a:fld>
            <a:endParaRPr lang="en-KR"/>
          </a:p>
        </p:txBody>
      </p:sp>
      <p:sp>
        <p:nvSpPr>
          <p:cNvPr id="3" name="Footer Placeholder 2">
            <a:extLst>
              <a:ext uri="{FF2B5EF4-FFF2-40B4-BE49-F238E27FC236}">
                <a16:creationId xmlns:a16="http://schemas.microsoft.com/office/drawing/2014/main" id="{1962AAF5-5CDB-A5C8-1066-77460E9C7879}"/>
              </a:ext>
            </a:extLst>
          </p:cNvPr>
          <p:cNvSpPr>
            <a:spLocks noGrp="1"/>
          </p:cNvSpPr>
          <p:nvPr>
            <p:ph type="ftr" sz="quarter" idx="11"/>
          </p:nvPr>
        </p:nvSpPr>
        <p:spPr/>
        <p:txBody>
          <a:bodyPr/>
          <a:lstStyle/>
          <a:p>
            <a:endParaRPr lang="en-KR"/>
          </a:p>
        </p:txBody>
      </p:sp>
      <p:sp>
        <p:nvSpPr>
          <p:cNvPr id="4" name="Slide Number Placeholder 3">
            <a:extLst>
              <a:ext uri="{FF2B5EF4-FFF2-40B4-BE49-F238E27FC236}">
                <a16:creationId xmlns:a16="http://schemas.microsoft.com/office/drawing/2014/main" id="{703B70D8-8FB1-9416-0648-62B9E1448A37}"/>
              </a:ext>
            </a:extLst>
          </p:cNvPr>
          <p:cNvSpPr>
            <a:spLocks noGrp="1"/>
          </p:cNvSpPr>
          <p:nvPr>
            <p:ph type="sldNum" sz="quarter" idx="12"/>
          </p:nvPr>
        </p:nvSpPr>
        <p:spPr/>
        <p:txBody>
          <a:bodyPr/>
          <a:lstStyle/>
          <a:p>
            <a:fld id="{9ED31AF7-B9C1-7944-AC45-A988640FDEFC}" type="slidenum">
              <a:rPr lang="en-KR" smtClean="0"/>
              <a:t>‹#›</a:t>
            </a:fld>
            <a:endParaRPr lang="en-KR"/>
          </a:p>
        </p:txBody>
      </p:sp>
    </p:spTree>
    <p:extLst>
      <p:ext uri="{BB962C8B-B14F-4D97-AF65-F5344CB8AC3E}">
        <p14:creationId xmlns:p14="http://schemas.microsoft.com/office/powerpoint/2010/main" val="4243173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59AFB-0F73-054D-9F55-7042EBCFCF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R"/>
          </a:p>
        </p:txBody>
      </p:sp>
      <p:sp>
        <p:nvSpPr>
          <p:cNvPr id="3" name="Content Placeholder 2">
            <a:extLst>
              <a:ext uri="{FF2B5EF4-FFF2-40B4-BE49-F238E27FC236}">
                <a16:creationId xmlns:a16="http://schemas.microsoft.com/office/drawing/2014/main" id="{1096B176-9B3D-28DE-4E5F-52C814CCD3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Text Placeholder 3">
            <a:extLst>
              <a:ext uri="{FF2B5EF4-FFF2-40B4-BE49-F238E27FC236}">
                <a16:creationId xmlns:a16="http://schemas.microsoft.com/office/drawing/2014/main" id="{876507AB-CD7F-899F-5DA1-71D77CA567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C12D51-31CE-343F-4B51-A6E8A3A4E82B}"/>
              </a:ext>
            </a:extLst>
          </p:cNvPr>
          <p:cNvSpPr>
            <a:spLocks noGrp="1"/>
          </p:cNvSpPr>
          <p:nvPr>
            <p:ph type="dt" sz="half" idx="10"/>
          </p:nvPr>
        </p:nvSpPr>
        <p:spPr/>
        <p:txBody>
          <a:bodyPr/>
          <a:lstStyle/>
          <a:p>
            <a:fld id="{9099CFE9-BC1D-A743-9B2D-085663B06DC5}" type="datetime1">
              <a:rPr lang="en-US" smtClean="0"/>
              <a:t>10/14/24</a:t>
            </a:fld>
            <a:endParaRPr lang="en-KR"/>
          </a:p>
        </p:txBody>
      </p:sp>
      <p:sp>
        <p:nvSpPr>
          <p:cNvPr id="6" name="Footer Placeholder 5">
            <a:extLst>
              <a:ext uri="{FF2B5EF4-FFF2-40B4-BE49-F238E27FC236}">
                <a16:creationId xmlns:a16="http://schemas.microsoft.com/office/drawing/2014/main" id="{C1A5ECBF-5214-0BE0-4D25-BE4FA6455FFE}"/>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20944F0C-BBBB-4095-70B8-09487743011E}"/>
              </a:ext>
            </a:extLst>
          </p:cNvPr>
          <p:cNvSpPr>
            <a:spLocks noGrp="1"/>
          </p:cNvSpPr>
          <p:nvPr>
            <p:ph type="sldNum" sz="quarter" idx="12"/>
          </p:nvPr>
        </p:nvSpPr>
        <p:spPr/>
        <p:txBody>
          <a:bodyPr/>
          <a:lstStyle/>
          <a:p>
            <a:fld id="{9ED31AF7-B9C1-7944-AC45-A988640FDEFC}" type="slidenum">
              <a:rPr lang="en-KR" smtClean="0"/>
              <a:t>‹#›</a:t>
            </a:fld>
            <a:endParaRPr lang="en-KR"/>
          </a:p>
        </p:txBody>
      </p:sp>
    </p:spTree>
    <p:extLst>
      <p:ext uri="{BB962C8B-B14F-4D97-AF65-F5344CB8AC3E}">
        <p14:creationId xmlns:p14="http://schemas.microsoft.com/office/powerpoint/2010/main" val="2415201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F60C4-B197-F9D4-753F-D323357A18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R"/>
          </a:p>
        </p:txBody>
      </p:sp>
      <p:sp>
        <p:nvSpPr>
          <p:cNvPr id="3" name="Picture Placeholder 2">
            <a:extLst>
              <a:ext uri="{FF2B5EF4-FFF2-40B4-BE49-F238E27FC236}">
                <a16:creationId xmlns:a16="http://schemas.microsoft.com/office/drawing/2014/main" id="{D696ABFA-66CF-B45D-94B6-FBED94BFA2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R"/>
          </a:p>
        </p:txBody>
      </p:sp>
      <p:sp>
        <p:nvSpPr>
          <p:cNvPr id="4" name="Text Placeholder 3">
            <a:extLst>
              <a:ext uri="{FF2B5EF4-FFF2-40B4-BE49-F238E27FC236}">
                <a16:creationId xmlns:a16="http://schemas.microsoft.com/office/drawing/2014/main" id="{661D9131-0AF1-21B5-F2AC-77BAE5E8EC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88D882-8616-F24A-A352-6652198DFC6A}"/>
              </a:ext>
            </a:extLst>
          </p:cNvPr>
          <p:cNvSpPr>
            <a:spLocks noGrp="1"/>
          </p:cNvSpPr>
          <p:nvPr>
            <p:ph type="dt" sz="half" idx="10"/>
          </p:nvPr>
        </p:nvSpPr>
        <p:spPr/>
        <p:txBody>
          <a:bodyPr/>
          <a:lstStyle/>
          <a:p>
            <a:fld id="{D5EBEDC4-2B3D-A44A-84FF-C20F3AC34B78}" type="datetime1">
              <a:rPr lang="en-US" smtClean="0"/>
              <a:t>10/14/24</a:t>
            </a:fld>
            <a:endParaRPr lang="en-KR"/>
          </a:p>
        </p:txBody>
      </p:sp>
      <p:sp>
        <p:nvSpPr>
          <p:cNvPr id="6" name="Footer Placeholder 5">
            <a:extLst>
              <a:ext uri="{FF2B5EF4-FFF2-40B4-BE49-F238E27FC236}">
                <a16:creationId xmlns:a16="http://schemas.microsoft.com/office/drawing/2014/main" id="{401102CD-6B09-16B3-717D-1419D04CE618}"/>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B6DE4F17-45AB-5A78-E185-01493E4AB8F6}"/>
              </a:ext>
            </a:extLst>
          </p:cNvPr>
          <p:cNvSpPr>
            <a:spLocks noGrp="1"/>
          </p:cNvSpPr>
          <p:nvPr>
            <p:ph type="sldNum" sz="quarter" idx="12"/>
          </p:nvPr>
        </p:nvSpPr>
        <p:spPr/>
        <p:txBody>
          <a:bodyPr/>
          <a:lstStyle/>
          <a:p>
            <a:fld id="{9ED31AF7-B9C1-7944-AC45-A988640FDEFC}" type="slidenum">
              <a:rPr lang="en-KR" smtClean="0"/>
              <a:t>‹#›</a:t>
            </a:fld>
            <a:endParaRPr lang="en-KR"/>
          </a:p>
        </p:txBody>
      </p:sp>
    </p:spTree>
    <p:extLst>
      <p:ext uri="{BB962C8B-B14F-4D97-AF65-F5344CB8AC3E}">
        <p14:creationId xmlns:p14="http://schemas.microsoft.com/office/powerpoint/2010/main" val="1539291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9B570-32C7-56B4-0E61-738E1BFE5EE0}"/>
              </a:ext>
            </a:extLst>
          </p:cNvPr>
          <p:cNvSpPr>
            <a:spLocks noGrp="1"/>
          </p:cNvSpPr>
          <p:nvPr>
            <p:ph type="title"/>
          </p:nvPr>
        </p:nvSpPr>
        <p:spPr/>
        <p:txBody>
          <a:bodyPr/>
          <a:lstStyle/>
          <a:p>
            <a:r>
              <a:rPr lang="en-US"/>
              <a:t>Click to edit Master title style</a:t>
            </a:r>
            <a:endParaRPr lang="en-KR"/>
          </a:p>
        </p:txBody>
      </p:sp>
      <p:sp>
        <p:nvSpPr>
          <p:cNvPr id="3" name="Vertical Text Placeholder 2">
            <a:extLst>
              <a:ext uri="{FF2B5EF4-FFF2-40B4-BE49-F238E27FC236}">
                <a16:creationId xmlns:a16="http://schemas.microsoft.com/office/drawing/2014/main" id="{524B57AF-0A2A-FBD4-51A3-17B79E4707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5E785867-96EF-96E0-C5D8-3150BF7B8920}"/>
              </a:ext>
            </a:extLst>
          </p:cNvPr>
          <p:cNvSpPr>
            <a:spLocks noGrp="1"/>
          </p:cNvSpPr>
          <p:nvPr>
            <p:ph type="dt" sz="half" idx="10"/>
          </p:nvPr>
        </p:nvSpPr>
        <p:spPr/>
        <p:txBody>
          <a:bodyPr/>
          <a:lstStyle/>
          <a:p>
            <a:fld id="{476AA2D5-F834-F24A-936C-66C4F997903E}" type="datetime1">
              <a:rPr lang="en-US" smtClean="0"/>
              <a:t>10/14/24</a:t>
            </a:fld>
            <a:endParaRPr lang="en-KR"/>
          </a:p>
        </p:txBody>
      </p:sp>
      <p:sp>
        <p:nvSpPr>
          <p:cNvPr id="5" name="Footer Placeholder 4">
            <a:extLst>
              <a:ext uri="{FF2B5EF4-FFF2-40B4-BE49-F238E27FC236}">
                <a16:creationId xmlns:a16="http://schemas.microsoft.com/office/drawing/2014/main" id="{BB087186-240F-7998-0E4C-014E631F3D22}"/>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7FE2F794-A906-64AE-8261-B867E04AFAEB}"/>
              </a:ext>
            </a:extLst>
          </p:cNvPr>
          <p:cNvSpPr>
            <a:spLocks noGrp="1"/>
          </p:cNvSpPr>
          <p:nvPr>
            <p:ph type="sldNum" sz="quarter" idx="12"/>
          </p:nvPr>
        </p:nvSpPr>
        <p:spPr/>
        <p:txBody>
          <a:bodyPr/>
          <a:lstStyle/>
          <a:p>
            <a:fld id="{9ED31AF7-B9C1-7944-AC45-A988640FDEFC}" type="slidenum">
              <a:rPr lang="en-KR" smtClean="0"/>
              <a:t>‹#›</a:t>
            </a:fld>
            <a:endParaRPr lang="en-KR"/>
          </a:p>
        </p:txBody>
      </p:sp>
    </p:spTree>
    <p:extLst>
      <p:ext uri="{BB962C8B-B14F-4D97-AF65-F5344CB8AC3E}">
        <p14:creationId xmlns:p14="http://schemas.microsoft.com/office/powerpoint/2010/main" val="421529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802616-DC27-AC3E-ECCB-CB59501BE3D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KR"/>
          </a:p>
        </p:txBody>
      </p:sp>
      <p:sp>
        <p:nvSpPr>
          <p:cNvPr id="3" name="Vertical Text Placeholder 2">
            <a:extLst>
              <a:ext uri="{FF2B5EF4-FFF2-40B4-BE49-F238E27FC236}">
                <a16:creationId xmlns:a16="http://schemas.microsoft.com/office/drawing/2014/main" id="{5B26F2FD-9DB6-07BC-6B69-A25A7C6987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659E75AF-4EDD-EE4F-2124-D67357095202}"/>
              </a:ext>
            </a:extLst>
          </p:cNvPr>
          <p:cNvSpPr>
            <a:spLocks noGrp="1"/>
          </p:cNvSpPr>
          <p:nvPr>
            <p:ph type="dt" sz="half" idx="10"/>
          </p:nvPr>
        </p:nvSpPr>
        <p:spPr/>
        <p:txBody>
          <a:bodyPr/>
          <a:lstStyle/>
          <a:p>
            <a:fld id="{B74FBCF4-882D-B14E-8351-577BB9BF66E0}" type="datetime1">
              <a:rPr lang="en-US" smtClean="0"/>
              <a:t>10/14/24</a:t>
            </a:fld>
            <a:endParaRPr lang="en-KR"/>
          </a:p>
        </p:txBody>
      </p:sp>
      <p:sp>
        <p:nvSpPr>
          <p:cNvPr id="5" name="Footer Placeholder 4">
            <a:extLst>
              <a:ext uri="{FF2B5EF4-FFF2-40B4-BE49-F238E27FC236}">
                <a16:creationId xmlns:a16="http://schemas.microsoft.com/office/drawing/2014/main" id="{2AC16B08-E663-126B-53D4-7A6250EE5FC7}"/>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FC660FBC-3D3B-C7F9-4DBE-BC996A5B7B1C}"/>
              </a:ext>
            </a:extLst>
          </p:cNvPr>
          <p:cNvSpPr>
            <a:spLocks noGrp="1"/>
          </p:cNvSpPr>
          <p:nvPr>
            <p:ph type="sldNum" sz="quarter" idx="12"/>
          </p:nvPr>
        </p:nvSpPr>
        <p:spPr/>
        <p:txBody>
          <a:bodyPr/>
          <a:lstStyle/>
          <a:p>
            <a:fld id="{9ED31AF7-B9C1-7944-AC45-A988640FDEFC}" type="slidenum">
              <a:rPr lang="en-KR" smtClean="0"/>
              <a:t>‹#›</a:t>
            </a:fld>
            <a:endParaRPr lang="en-KR"/>
          </a:p>
        </p:txBody>
      </p:sp>
    </p:spTree>
    <p:extLst>
      <p:ext uri="{BB962C8B-B14F-4D97-AF65-F5344CB8AC3E}">
        <p14:creationId xmlns:p14="http://schemas.microsoft.com/office/powerpoint/2010/main" val="3815939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EE96C7-04E3-3AF6-8522-091D149224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KR" dirty="0"/>
          </a:p>
        </p:txBody>
      </p:sp>
      <p:sp>
        <p:nvSpPr>
          <p:cNvPr id="3" name="Text Placeholder 2">
            <a:extLst>
              <a:ext uri="{FF2B5EF4-FFF2-40B4-BE49-F238E27FC236}">
                <a16:creationId xmlns:a16="http://schemas.microsoft.com/office/drawing/2014/main" id="{04E7FFB7-D731-0BC7-7CFB-D18FFC5206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ED5A8FB1-887D-6917-D921-8041BC1F77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CC0C7F-6293-6E4E-A025-7C7ABE93B11B}" type="datetime1">
              <a:rPr lang="en-US" smtClean="0"/>
              <a:t>10/14/24</a:t>
            </a:fld>
            <a:endParaRPr lang="en-KR"/>
          </a:p>
        </p:txBody>
      </p:sp>
      <p:sp>
        <p:nvSpPr>
          <p:cNvPr id="5" name="Footer Placeholder 4">
            <a:extLst>
              <a:ext uri="{FF2B5EF4-FFF2-40B4-BE49-F238E27FC236}">
                <a16:creationId xmlns:a16="http://schemas.microsoft.com/office/drawing/2014/main" id="{3A5B2B87-20F7-E519-A181-8D00CD14CC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KR"/>
          </a:p>
        </p:txBody>
      </p:sp>
      <p:sp>
        <p:nvSpPr>
          <p:cNvPr id="6" name="Slide Number Placeholder 5">
            <a:extLst>
              <a:ext uri="{FF2B5EF4-FFF2-40B4-BE49-F238E27FC236}">
                <a16:creationId xmlns:a16="http://schemas.microsoft.com/office/drawing/2014/main" id="{71C5C016-A3BB-1B48-BE7A-CBC4B84FD3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D31AF7-B9C1-7944-AC45-A988640FDEFC}" type="slidenum">
              <a:rPr lang="en-KR" smtClean="0"/>
              <a:t>‹#›</a:t>
            </a:fld>
            <a:endParaRPr lang="en-KR"/>
          </a:p>
        </p:txBody>
      </p:sp>
    </p:spTree>
    <p:extLst>
      <p:ext uri="{BB962C8B-B14F-4D97-AF65-F5344CB8AC3E}">
        <p14:creationId xmlns:p14="http://schemas.microsoft.com/office/powerpoint/2010/main" val="3525412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microsoft.com/office/2007/relationships/hdphoto" Target="../media/hdphoto3.wdp"/><Relationship Id="rId5" Type="http://schemas.microsoft.com/office/2007/relationships/hdphoto" Target="../media/hdphoto2.wdp"/><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microsoft.com/office/2007/relationships/hdphoto" Target="../media/hdphoto2.wdp"/><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9.png"/><Relationship Id="rId4" Type="http://schemas.microsoft.com/office/2007/relationships/hdphoto" Target="../media/hdphoto4.wd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microsoft.com/office/2007/relationships/hdphoto" Target="../media/hdphoto6.wdp"/></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microsoft.com/office/2007/relationships/hdphoto" Target="../media/hdphoto7.wdp"/></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8.wdp"/></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microsoft.com/office/2007/relationships/hdphoto" Target="../media/hdphoto7.wdp"/></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microsoft.com/office/2007/relationships/hdphoto" Target="../media/hdphoto7.wdp"/></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microsoft.com/office/2007/relationships/hdphoto" Target="../media/hdphoto7.wdp"/></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797AB-219A-E71A-77CD-787F3AAF449B}"/>
              </a:ext>
            </a:extLst>
          </p:cNvPr>
          <p:cNvSpPr>
            <a:spLocks noGrp="1"/>
          </p:cNvSpPr>
          <p:nvPr>
            <p:ph type="ctrTitle"/>
          </p:nvPr>
        </p:nvSpPr>
        <p:spPr>
          <a:xfrm>
            <a:off x="630621" y="1122363"/>
            <a:ext cx="10930758" cy="2387600"/>
          </a:xfrm>
        </p:spPr>
        <p:txBody>
          <a:bodyPr>
            <a:normAutofit/>
          </a:bodyPr>
          <a:lstStyle/>
          <a:p>
            <a:r>
              <a:rPr lang="en-KR" sz="4400" dirty="0"/>
              <a:t>PeTAL: Ensuring Access Control Integrity against Data-only Attacks on Linux</a:t>
            </a:r>
          </a:p>
        </p:txBody>
      </p:sp>
      <p:sp>
        <p:nvSpPr>
          <p:cNvPr id="3" name="Subtitle 2">
            <a:extLst>
              <a:ext uri="{FF2B5EF4-FFF2-40B4-BE49-F238E27FC236}">
                <a16:creationId xmlns:a16="http://schemas.microsoft.com/office/drawing/2014/main" id="{B91CFB19-D53D-D812-AA0A-9D8D631DD425}"/>
              </a:ext>
            </a:extLst>
          </p:cNvPr>
          <p:cNvSpPr>
            <a:spLocks noGrp="1"/>
          </p:cNvSpPr>
          <p:nvPr>
            <p:ph type="subTitle" idx="1"/>
          </p:nvPr>
        </p:nvSpPr>
        <p:spPr/>
        <p:txBody>
          <a:bodyPr>
            <a:normAutofit/>
          </a:bodyPr>
          <a:lstStyle/>
          <a:p>
            <a:r>
              <a:rPr lang="en-KR" sz="2800" dirty="0"/>
              <a:t>Juhee Kim, Jinbum Park, Yoochan Lee, </a:t>
            </a:r>
          </a:p>
          <a:p>
            <a:r>
              <a:rPr lang="en-KR" sz="2800" dirty="0"/>
              <a:t>Chengyu Song, Taesoo Kim, Byoungyoung Lee</a:t>
            </a:r>
          </a:p>
        </p:txBody>
      </p:sp>
      <p:pic>
        <p:nvPicPr>
          <p:cNvPr id="4" name="Google Shape;64;p14">
            <a:extLst>
              <a:ext uri="{FF2B5EF4-FFF2-40B4-BE49-F238E27FC236}">
                <a16:creationId xmlns:a16="http://schemas.microsoft.com/office/drawing/2014/main" id="{B106AFEA-9D9A-D031-4B83-749E377B0680}"/>
              </a:ext>
            </a:extLst>
          </p:cNvPr>
          <p:cNvPicPr preferRelativeResize="0"/>
          <p:nvPr/>
        </p:nvPicPr>
        <p:blipFill>
          <a:blip r:embed="rId3">
            <a:alphaModFix/>
          </a:blip>
          <a:stretch>
            <a:fillRect/>
          </a:stretch>
        </p:blipFill>
        <p:spPr>
          <a:xfrm>
            <a:off x="1022690" y="5173201"/>
            <a:ext cx="1154489" cy="1124872"/>
          </a:xfrm>
          <a:prstGeom prst="rect">
            <a:avLst/>
          </a:prstGeom>
          <a:noFill/>
          <a:ln>
            <a:noFill/>
          </a:ln>
        </p:spPr>
      </p:pic>
      <p:pic>
        <p:nvPicPr>
          <p:cNvPr id="5" name="Google Shape;66;p14">
            <a:extLst>
              <a:ext uri="{FF2B5EF4-FFF2-40B4-BE49-F238E27FC236}">
                <a16:creationId xmlns:a16="http://schemas.microsoft.com/office/drawing/2014/main" id="{CD911DE1-EE1B-2589-07ED-7C0DC4E06265}"/>
              </a:ext>
            </a:extLst>
          </p:cNvPr>
          <p:cNvPicPr preferRelativeResize="0"/>
          <p:nvPr/>
        </p:nvPicPr>
        <p:blipFill rotWithShape="1">
          <a:blip r:embed="rId4">
            <a:alphaModFix/>
          </a:blip>
          <a:srcRect t="35682" b="36631"/>
          <a:stretch/>
        </p:blipFill>
        <p:spPr>
          <a:xfrm>
            <a:off x="2583753" y="5325530"/>
            <a:ext cx="2962480" cy="820214"/>
          </a:xfrm>
          <a:prstGeom prst="rect">
            <a:avLst/>
          </a:prstGeom>
          <a:noFill/>
          <a:ln>
            <a:noFill/>
          </a:ln>
        </p:spPr>
      </p:pic>
      <p:pic>
        <p:nvPicPr>
          <p:cNvPr id="6" name="Google Shape;65;p14">
            <a:extLst>
              <a:ext uri="{FF2B5EF4-FFF2-40B4-BE49-F238E27FC236}">
                <a16:creationId xmlns:a16="http://schemas.microsoft.com/office/drawing/2014/main" id="{A293C944-D9F0-1711-FEB0-C9B6056A012C}"/>
              </a:ext>
            </a:extLst>
          </p:cNvPr>
          <p:cNvPicPr preferRelativeResize="0"/>
          <p:nvPr/>
        </p:nvPicPr>
        <p:blipFill>
          <a:blip r:embed="rId5">
            <a:alphaModFix/>
          </a:blip>
          <a:stretch>
            <a:fillRect/>
          </a:stretch>
        </p:blipFill>
        <p:spPr>
          <a:xfrm>
            <a:off x="8352491" y="5395321"/>
            <a:ext cx="2821646" cy="680632"/>
          </a:xfrm>
          <a:prstGeom prst="rect">
            <a:avLst/>
          </a:prstGeom>
          <a:noFill/>
          <a:ln>
            <a:noFill/>
          </a:ln>
        </p:spPr>
      </p:pic>
      <p:pic>
        <p:nvPicPr>
          <p:cNvPr id="1030" name="Picture 6">
            <a:extLst>
              <a:ext uri="{FF2B5EF4-FFF2-40B4-BE49-F238E27FC236}">
                <a16:creationId xmlns:a16="http://schemas.microsoft.com/office/drawing/2014/main" id="{CCFD6E04-89C7-059E-0E1C-9F85D6C7DD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2808" y="5404846"/>
            <a:ext cx="2171347" cy="661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9068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C79E4-DDD4-12F9-CACB-D645F7BAB2AE}"/>
              </a:ext>
            </a:extLst>
          </p:cNvPr>
          <p:cNvSpPr>
            <a:spLocks noGrp="1"/>
          </p:cNvSpPr>
          <p:nvPr>
            <p:ph type="title"/>
          </p:nvPr>
        </p:nvSpPr>
        <p:spPr/>
        <p:txBody>
          <a:bodyPr>
            <a:normAutofit/>
          </a:bodyPr>
          <a:lstStyle/>
          <a:p>
            <a:r>
              <a:rPr lang="en-KR" sz="4000" dirty="0"/>
              <a:t>Linux kernel is an attractive attack target</a:t>
            </a:r>
          </a:p>
        </p:txBody>
      </p:sp>
      <p:sp>
        <p:nvSpPr>
          <p:cNvPr id="3" name="Content Placeholder 2">
            <a:extLst>
              <a:ext uri="{FF2B5EF4-FFF2-40B4-BE49-F238E27FC236}">
                <a16:creationId xmlns:a16="http://schemas.microsoft.com/office/drawing/2014/main" id="{A4474B2C-18E9-C2CA-CD28-0021E399DCCA}"/>
              </a:ext>
            </a:extLst>
          </p:cNvPr>
          <p:cNvSpPr>
            <a:spLocks noGrp="1"/>
          </p:cNvSpPr>
          <p:nvPr>
            <p:ph idx="1"/>
          </p:nvPr>
        </p:nvSpPr>
        <p:spPr>
          <a:xfrm>
            <a:off x="838200" y="1690688"/>
            <a:ext cx="10515600" cy="4667250"/>
          </a:xfrm>
        </p:spPr>
        <p:txBody>
          <a:bodyPr>
            <a:normAutofit/>
          </a:bodyPr>
          <a:lstStyle/>
          <a:p>
            <a:r>
              <a:rPr lang="en-KR" dirty="0"/>
              <a:t>Widely used</a:t>
            </a:r>
          </a:p>
          <a:p>
            <a:pPr lvl="1"/>
            <a:r>
              <a:rPr lang="en-KR" dirty="0"/>
              <a:t>Mobile devices, Servers, and IoT devices</a:t>
            </a:r>
          </a:p>
          <a:p>
            <a:r>
              <a:rPr lang="en-KR" dirty="0"/>
              <a:t>Increasing number of vulnerabilities and exploit techniques</a:t>
            </a:r>
          </a:p>
          <a:p>
            <a:pPr lvl="1"/>
            <a:endParaRPr lang="en-KR" dirty="0"/>
          </a:p>
        </p:txBody>
      </p:sp>
      <p:sp>
        <p:nvSpPr>
          <p:cNvPr id="4" name="Slide Number Placeholder 3">
            <a:extLst>
              <a:ext uri="{FF2B5EF4-FFF2-40B4-BE49-F238E27FC236}">
                <a16:creationId xmlns:a16="http://schemas.microsoft.com/office/drawing/2014/main" id="{86F19478-8875-F295-EA6D-02E96D216D72}"/>
              </a:ext>
            </a:extLst>
          </p:cNvPr>
          <p:cNvSpPr>
            <a:spLocks noGrp="1"/>
          </p:cNvSpPr>
          <p:nvPr>
            <p:ph type="sldNum" sz="quarter" idx="12"/>
          </p:nvPr>
        </p:nvSpPr>
        <p:spPr/>
        <p:txBody>
          <a:bodyPr/>
          <a:lstStyle/>
          <a:p>
            <a:fld id="{9ED31AF7-B9C1-7944-AC45-A988640FDEFC}" type="slidenum">
              <a:rPr lang="en-KR" smtClean="0"/>
              <a:t>2</a:t>
            </a:fld>
            <a:endParaRPr lang="en-KR"/>
          </a:p>
        </p:txBody>
      </p:sp>
      <p:pic>
        <p:nvPicPr>
          <p:cNvPr id="5" name="Picture 4">
            <a:extLst>
              <a:ext uri="{FF2B5EF4-FFF2-40B4-BE49-F238E27FC236}">
                <a16:creationId xmlns:a16="http://schemas.microsoft.com/office/drawing/2014/main" id="{83129AB1-0EBB-A044-AFB6-E6DB9ECAC98B}"/>
              </a:ext>
            </a:extLst>
          </p:cNvPr>
          <p:cNvPicPr>
            <a:picLocks noChangeAspect="1"/>
          </p:cNvPicPr>
          <p:nvPr/>
        </p:nvPicPr>
        <p:blipFill>
          <a:blip r:embed="rId3"/>
          <a:stretch>
            <a:fillRect/>
          </a:stretch>
        </p:blipFill>
        <p:spPr>
          <a:xfrm>
            <a:off x="2349064" y="3341226"/>
            <a:ext cx="2305050" cy="3198480"/>
          </a:xfrm>
          <a:prstGeom prst="rect">
            <a:avLst/>
          </a:prstGeom>
        </p:spPr>
      </p:pic>
      <p:sp>
        <p:nvSpPr>
          <p:cNvPr id="6" name="TextBox 5">
            <a:extLst>
              <a:ext uri="{FF2B5EF4-FFF2-40B4-BE49-F238E27FC236}">
                <a16:creationId xmlns:a16="http://schemas.microsoft.com/office/drawing/2014/main" id="{5AD3E1CC-A1DD-59A8-710C-45AD056E6B51}"/>
              </a:ext>
            </a:extLst>
          </p:cNvPr>
          <p:cNvSpPr txBox="1"/>
          <p:nvPr/>
        </p:nvSpPr>
        <p:spPr>
          <a:xfrm>
            <a:off x="2449288" y="6444377"/>
            <a:ext cx="1228221" cy="261610"/>
          </a:xfrm>
          <a:prstGeom prst="rect">
            <a:avLst/>
          </a:prstGeom>
          <a:noFill/>
        </p:spPr>
        <p:txBody>
          <a:bodyPr wrap="none" rtlCol="0">
            <a:spAutoFit/>
          </a:bodyPr>
          <a:lstStyle/>
          <a:p>
            <a:pPr algn="l"/>
            <a:r>
              <a:rPr lang="en-KR" sz="1100" dirty="0">
                <a:latin typeface="Arial" panose="020B0604020202020204" pitchFamily="34" charset="0"/>
                <a:cs typeface="Arial" panose="020B0604020202020204" pitchFamily="34" charset="0"/>
              </a:rPr>
              <a:t>CVEdetails.com </a:t>
            </a:r>
          </a:p>
        </p:txBody>
      </p:sp>
      <p:pic>
        <p:nvPicPr>
          <p:cNvPr id="7" name="Picture 6">
            <a:extLst>
              <a:ext uri="{FF2B5EF4-FFF2-40B4-BE49-F238E27FC236}">
                <a16:creationId xmlns:a16="http://schemas.microsoft.com/office/drawing/2014/main" id="{46DF5B61-A552-BEDD-2367-76C28211A3FF}"/>
              </a:ext>
            </a:extLst>
          </p:cNvPr>
          <p:cNvPicPr>
            <a:picLocks noChangeAspect="1"/>
          </p:cNvPicPr>
          <p:nvPr/>
        </p:nvPicPr>
        <p:blipFill rotWithShape="1">
          <a:blip r:embed="rId4"/>
          <a:srcRect r="35372"/>
          <a:stretch/>
        </p:blipFill>
        <p:spPr>
          <a:xfrm>
            <a:off x="5726788" y="3779521"/>
            <a:ext cx="3824405" cy="1135798"/>
          </a:xfrm>
          <a:prstGeom prst="rect">
            <a:avLst/>
          </a:prstGeom>
        </p:spPr>
      </p:pic>
      <p:pic>
        <p:nvPicPr>
          <p:cNvPr id="8" name="Picture 7">
            <a:extLst>
              <a:ext uri="{FF2B5EF4-FFF2-40B4-BE49-F238E27FC236}">
                <a16:creationId xmlns:a16="http://schemas.microsoft.com/office/drawing/2014/main" id="{E2F5D2D5-5D42-64B9-1E57-855172A459F9}"/>
              </a:ext>
            </a:extLst>
          </p:cNvPr>
          <p:cNvPicPr>
            <a:picLocks noChangeAspect="1"/>
          </p:cNvPicPr>
          <p:nvPr/>
        </p:nvPicPr>
        <p:blipFill>
          <a:blip r:embed="rId5"/>
          <a:stretch>
            <a:fillRect/>
          </a:stretch>
        </p:blipFill>
        <p:spPr>
          <a:xfrm>
            <a:off x="5835276" y="5050863"/>
            <a:ext cx="4282121" cy="1397959"/>
          </a:xfrm>
          <a:prstGeom prst="rect">
            <a:avLst/>
          </a:prstGeom>
        </p:spPr>
      </p:pic>
    </p:spTree>
    <p:extLst>
      <p:ext uri="{BB962C8B-B14F-4D97-AF65-F5344CB8AC3E}">
        <p14:creationId xmlns:p14="http://schemas.microsoft.com/office/powerpoint/2010/main" val="2499740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6BC4EED4-7153-49B0-91B2-8B9CB2B4C0BD}"/>
              </a:ext>
            </a:extLst>
          </p:cNvPr>
          <p:cNvGrpSpPr/>
          <p:nvPr/>
        </p:nvGrpSpPr>
        <p:grpSpPr>
          <a:xfrm>
            <a:off x="4005730" y="1592088"/>
            <a:ext cx="3831345" cy="4913841"/>
            <a:chOff x="4005730" y="1592088"/>
            <a:chExt cx="3831345" cy="4913841"/>
          </a:xfrm>
        </p:grpSpPr>
        <p:sp>
          <p:nvSpPr>
            <p:cNvPr id="161" name="Right Arrow 160">
              <a:extLst>
                <a:ext uri="{FF2B5EF4-FFF2-40B4-BE49-F238E27FC236}">
                  <a16:creationId xmlns:a16="http://schemas.microsoft.com/office/drawing/2014/main" id="{5F09983F-DB74-4FF6-3D5E-FCC0798DEA92}"/>
                </a:ext>
              </a:extLst>
            </p:cNvPr>
            <p:cNvSpPr/>
            <p:nvPr/>
          </p:nvSpPr>
          <p:spPr>
            <a:xfrm>
              <a:off x="4005730" y="2166146"/>
              <a:ext cx="318388" cy="374722"/>
            </a:xfrm>
            <a:prstGeom prst="rightArrow">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4" name="Rounded Rectangle 13">
              <a:extLst>
                <a:ext uri="{FF2B5EF4-FFF2-40B4-BE49-F238E27FC236}">
                  <a16:creationId xmlns:a16="http://schemas.microsoft.com/office/drawing/2014/main" id="{7A04F1E8-633D-8E16-91A4-7E4C4FDDD016}"/>
                </a:ext>
              </a:extLst>
            </p:cNvPr>
            <p:cNvSpPr/>
            <p:nvPr/>
          </p:nvSpPr>
          <p:spPr>
            <a:xfrm>
              <a:off x="4585409" y="3642025"/>
              <a:ext cx="3154122" cy="2863904"/>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p>
          </p:txBody>
        </p:sp>
        <p:sp>
          <p:nvSpPr>
            <p:cNvPr id="16" name="TextBox 15">
              <a:extLst>
                <a:ext uri="{FF2B5EF4-FFF2-40B4-BE49-F238E27FC236}">
                  <a16:creationId xmlns:a16="http://schemas.microsoft.com/office/drawing/2014/main" id="{B78D9F88-F11C-0D6E-88A6-8B7385CEE535}"/>
                </a:ext>
              </a:extLst>
            </p:cNvPr>
            <p:cNvSpPr txBox="1"/>
            <p:nvPr/>
          </p:nvSpPr>
          <p:spPr>
            <a:xfrm>
              <a:off x="4655905" y="3260541"/>
              <a:ext cx="811409" cy="351936"/>
            </a:xfrm>
            <a:prstGeom prst="rect">
              <a:avLst/>
            </a:prstGeom>
            <a:noFill/>
          </p:spPr>
          <p:txBody>
            <a:bodyPr wrap="none" rtlCol="0">
              <a:spAutoFit/>
            </a:bodyPr>
            <a:lstStyle/>
            <a:p>
              <a:pPr algn="ctr"/>
              <a:r>
                <a:rPr lang="en-KR" dirty="0">
                  <a:latin typeface="Arial" panose="020B0604020202020204" pitchFamily="34" charset="0"/>
                  <a:cs typeface="Arial" panose="020B0604020202020204" pitchFamily="34" charset="0"/>
                </a:rPr>
                <a:t>Kernel</a:t>
              </a:r>
            </a:p>
          </p:txBody>
        </p:sp>
        <p:sp>
          <p:nvSpPr>
            <p:cNvPr id="158" name="TextBox 157">
              <a:extLst>
                <a:ext uri="{FF2B5EF4-FFF2-40B4-BE49-F238E27FC236}">
                  <a16:creationId xmlns:a16="http://schemas.microsoft.com/office/drawing/2014/main" id="{C4D60A31-3FAB-BE8E-1135-D1C54F11E09B}"/>
                </a:ext>
              </a:extLst>
            </p:cNvPr>
            <p:cNvSpPr txBox="1"/>
            <p:nvPr/>
          </p:nvSpPr>
          <p:spPr>
            <a:xfrm>
              <a:off x="4546573" y="5725137"/>
              <a:ext cx="3290502" cy="707886"/>
            </a:xfrm>
            <a:prstGeom prst="rect">
              <a:avLst/>
            </a:prstGeom>
            <a:noFill/>
          </p:spPr>
          <p:txBody>
            <a:bodyPr wrap="square" rtlCol="0">
              <a:spAutoFit/>
            </a:bodyPr>
            <a:lstStyle/>
            <a:p>
              <a:pPr algn="ctr"/>
              <a:r>
                <a:rPr lang="en-KR" sz="2000" b="1" dirty="0">
                  <a:latin typeface="Arial" panose="020B0604020202020204" pitchFamily="34" charset="0"/>
                  <a:cs typeface="Arial" panose="020B0604020202020204" pitchFamily="34" charset="0"/>
                </a:rPr>
                <a:t>Access control-related kernel data</a:t>
              </a:r>
            </a:p>
          </p:txBody>
        </p:sp>
        <p:sp>
          <p:nvSpPr>
            <p:cNvPr id="10" name="TextBox 9">
              <a:extLst>
                <a:ext uri="{FF2B5EF4-FFF2-40B4-BE49-F238E27FC236}">
                  <a16:creationId xmlns:a16="http://schemas.microsoft.com/office/drawing/2014/main" id="{E04A283C-C380-746B-929A-1BDFACDDF25B}"/>
                </a:ext>
              </a:extLst>
            </p:cNvPr>
            <p:cNvSpPr txBox="1"/>
            <p:nvPr/>
          </p:nvSpPr>
          <p:spPr>
            <a:xfrm>
              <a:off x="5514088" y="1592088"/>
              <a:ext cx="1031051" cy="369332"/>
            </a:xfrm>
            <a:prstGeom prst="rect">
              <a:avLst/>
            </a:prstGeom>
            <a:noFill/>
          </p:spPr>
          <p:txBody>
            <a:bodyPr wrap="square" rtlCol="0">
              <a:spAutoFit/>
            </a:bodyPr>
            <a:lstStyle/>
            <a:p>
              <a:pPr algn="l"/>
              <a:r>
                <a:rPr lang="en-KR" dirty="0">
                  <a:latin typeface="Arial" panose="020B0604020202020204" pitchFamily="34" charset="0"/>
                  <a:cs typeface="Arial" panose="020B0604020202020204" pitchFamily="34" charset="0"/>
                </a:rPr>
                <a:t>Attacker</a:t>
              </a:r>
            </a:p>
          </p:txBody>
        </p:sp>
        <p:pic>
          <p:nvPicPr>
            <p:cNvPr id="17" name="Picture 16">
              <a:extLst>
                <a:ext uri="{FF2B5EF4-FFF2-40B4-BE49-F238E27FC236}">
                  <a16:creationId xmlns:a16="http://schemas.microsoft.com/office/drawing/2014/main" id="{FCC4391C-530A-D014-6730-B4F4FCCE8425}"/>
                </a:ext>
              </a:extLst>
            </p:cNvPr>
            <p:cNvPicPr>
              <a:picLocks noChangeAspect="1"/>
            </p:cNvPicPr>
            <p:nvPr/>
          </p:nvPicPr>
          <p:blipFill>
            <a:blip r:embed="rId3">
              <a:duotone>
                <a:prstClr val="black"/>
                <a:srgbClr val="FF0000">
                  <a:tint val="45000"/>
                  <a:satMod val="400000"/>
                </a:srgbClr>
              </a:duotone>
              <a:extLst>
                <a:ext uri="{BEBA8EAE-BF5A-486C-A8C5-ECC9F3942E4B}">
                  <a14:imgProps xmlns:a14="http://schemas.microsoft.com/office/drawing/2010/main">
                    <a14:imgLayer r:embed="rId4">
                      <a14:imgEffect>
                        <a14:brightnessContrast bright="20000" contrast="20000"/>
                      </a14:imgEffect>
                    </a14:imgLayer>
                  </a14:imgProps>
                </a:ext>
              </a:extLst>
            </a:blip>
            <a:stretch>
              <a:fillRect/>
            </a:stretch>
          </p:blipFill>
          <p:spPr>
            <a:xfrm>
              <a:off x="5711407" y="2053354"/>
              <a:ext cx="582527" cy="582527"/>
            </a:xfrm>
            <a:prstGeom prst="rect">
              <a:avLst/>
            </a:prstGeom>
          </p:spPr>
        </p:pic>
      </p:grpSp>
      <p:grpSp>
        <p:nvGrpSpPr>
          <p:cNvPr id="22" name="Group 21">
            <a:extLst>
              <a:ext uri="{FF2B5EF4-FFF2-40B4-BE49-F238E27FC236}">
                <a16:creationId xmlns:a16="http://schemas.microsoft.com/office/drawing/2014/main" id="{D79F0DB9-FFD2-6A94-87E1-F7D4B0825407}"/>
              </a:ext>
            </a:extLst>
          </p:cNvPr>
          <p:cNvGrpSpPr/>
          <p:nvPr/>
        </p:nvGrpSpPr>
        <p:grpSpPr>
          <a:xfrm>
            <a:off x="5049759" y="3979072"/>
            <a:ext cx="2471572" cy="1671278"/>
            <a:chOff x="5049759" y="3979072"/>
            <a:chExt cx="2471572" cy="1671278"/>
          </a:xfrm>
        </p:grpSpPr>
        <p:sp>
          <p:nvSpPr>
            <p:cNvPr id="9" name="Rectangle 8">
              <a:extLst>
                <a:ext uri="{FF2B5EF4-FFF2-40B4-BE49-F238E27FC236}">
                  <a16:creationId xmlns:a16="http://schemas.microsoft.com/office/drawing/2014/main" id="{6417585B-F6DC-A9F3-4935-8033FA88D00A}"/>
                </a:ext>
              </a:extLst>
            </p:cNvPr>
            <p:cNvSpPr/>
            <p:nvPr/>
          </p:nvSpPr>
          <p:spPr>
            <a:xfrm>
              <a:off x="5514088" y="4633421"/>
              <a:ext cx="2007243" cy="410298"/>
            </a:xfrm>
            <a:prstGeom prst="rect">
              <a:avLst/>
            </a:prstGeom>
            <a:solidFill>
              <a:schemeClr val="bg1"/>
            </a:solidFill>
            <a:ln w="25400">
              <a:solidFill>
                <a:schemeClr val="tx1"/>
              </a:solidFill>
              <a:extLst>
                <a:ext uri="{C807C97D-BFC1-408E-A445-0C87EB9F89A2}">
                  <ask:lineSketchStyleProps xmlns:ask="http://schemas.microsoft.com/office/drawing/2018/sketchyshapes" sd="3705000160">
                    <a:custGeom>
                      <a:avLst/>
                      <a:gdLst>
                        <a:gd name="connsiteX0" fmla="*/ 0 w 2007243"/>
                        <a:gd name="connsiteY0" fmla="*/ 0 h 410298"/>
                        <a:gd name="connsiteX1" fmla="*/ 689153 w 2007243"/>
                        <a:gd name="connsiteY1" fmla="*/ 0 h 410298"/>
                        <a:gd name="connsiteX2" fmla="*/ 1298017 w 2007243"/>
                        <a:gd name="connsiteY2" fmla="*/ 0 h 410298"/>
                        <a:gd name="connsiteX3" fmla="*/ 2007243 w 2007243"/>
                        <a:gd name="connsiteY3" fmla="*/ 0 h 410298"/>
                        <a:gd name="connsiteX4" fmla="*/ 2007243 w 2007243"/>
                        <a:gd name="connsiteY4" fmla="*/ 410298 h 410298"/>
                        <a:gd name="connsiteX5" fmla="*/ 1378307 w 2007243"/>
                        <a:gd name="connsiteY5" fmla="*/ 410298 h 410298"/>
                        <a:gd name="connsiteX6" fmla="*/ 689153 w 2007243"/>
                        <a:gd name="connsiteY6" fmla="*/ 410298 h 410298"/>
                        <a:gd name="connsiteX7" fmla="*/ 0 w 2007243"/>
                        <a:gd name="connsiteY7" fmla="*/ 410298 h 410298"/>
                        <a:gd name="connsiteX8" fmla="*/ 0 w 2007243"/>
                        <a:gd name="connsiteY8" fmla="*/ 0 h 41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7243" h="410298" fill="none" extrusionOk="0">
                          <a:moveTo>
                            <a:pt x="0" y="0"/>
                          </a:moveTo>
                          <a:cubicBezTo>
                            <a:pt x="222173" y="-27400"/>
                            <a:pt x="541674" y="5620"/>
                            <a:pt x="689153" y="0"/>
                          </a:cubicBezTo>
                          <a:cubicBezTo>
                            <a:pt x="836632" y="-5620"/>
                            <a:pt x="1103159" y="-28200"/>
                            <a:pt x="1298017" y="0"/>
                          </a:cubicBezTo>
                          <a:cubicBezTo>
                            <a:pt x="1492875" y="28200"/>
                            <a:pt x="1832223" y="-28189"/>
                            <a:pt x="2007243" y="0"/>
                          </a:cubicBezTo>
                          <a:cubicBezTo>
                            <a:pt x="1992229" y="111342"/>
                            <a:pt x="2000990" y="284453"/>
                            <a:pt x="2007243" y="410298"/>
                          </a:cubicBezTo>
                          <a:cubicBezTo>
                            <a:pt x="1788315" y="421561"/>
                            <a:pt x="1620631" y="390222"/>
                            <a:pt x="1378307" y="410298"/>
                          </a:cubicBezTo>
                          <a:cubicBezTo>
                            <a:pt x="1135983" y="430374"/>
                            <a:pt x="865211" y="410498"/>
                            <a:pt x="689153" y="410298"/>
                          </a:cubicBezTo>
                          <a:cubicBezTo>
                            <a:pt x="513095" y="410098"/>
                            <a:pt x="305083" y="418448"/>
                            <a:pt x="0" y="410298"/>
                          </a:cubicBezTo>
                          <a:cubicBezTo>
                            <a:pt x="-6603" y="248330"/>
                            <a:pt x="6634" y="110037"/>
                            <a:pt x="0" y="0"/>
                          </a:cubicBezTo>
                          <a:close/>
                        </a:path>
                        <a:path w="2007243" h="410298" stroke="0" extrusionOk="0">
                          <a:moveTo>
                            <a:pt x="0" y="0"/>
                          </a:moveTo>
                          <a:cubicBezTo>
                            <a:pt x="239523" y="-112"/>
                            <a:pt x="460610" y="-18676"/>
                            <a:pt x="628936" y="0"/>
                          </a:cubicBezTo>
                          <a:cubicBezTo>
                            <a:pt x="797262" y="18676"/>
                            <a:pt x="965225" y="30725"/>
                            <a:pt x="1257872" y="0"/>
                          </a:cubicBezTo>
                          <a:cubicBezTo>
                            <a:pt x="1550519" y="-30725"/>
                            <a:pt x="1806089" y="-33181"/>
                            <a:pt x="2007243" y="0"/>
                          </a:cubicBezTo>
                          <a:cubicBezTo>
                            <a:pt x="1993092" y="160176"/>
                            <a:pt x="1997010" y="299913"/>
                            <a:pt x="2007243" y="410298"/>
                          </a:cubicBezTo>
                          <a:cubicBezTo>
                            <a:pt x="1764596" y="436753"/>
                            <a:pt x="1694751" y="405661"/>
                            <a:pt x="1398379" y="410298"/>
                          </a:cubicBezTo>
                          <a:cubicBezTo>
                            <a:pt x="1102007" y="414935"/>
                            <a:pt x="994201" y="401171"/>
                            <a:pt x="689153" y="410298"/>
                          </a:cubicBezTo>
                          <a:cubicBezTo>
                            <a:pt x="384105" y="419425"/>
                            <a:pt x="138226" y="379883"/>
                            <a:pt x="0" y="410298"/>
                          </a:cubicBezTo>
                          <a:cubicBezTo>
                            <a:pt x="4742" y="257345"/>
                            <a:pt x="1600" y="130689"/>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tx1"/>
                  </a:solidFill>
                  <a:latin typeface="Arial" panose="020B0604020202020204" pitchFamily="34" charset="0"/>
                  <a:cs typeface="Arial" panose="020B0604020202020204" pitchFamily="34" charset="0"/>
                </a:rPr>
                <a:t>modprobe_path</a:t>
              </a:r>
            </a:p>
          </p:txBody>
        </p:sp>
        <p:sp>
          <p:nvSpPr>
            <p:cNvPr id="11" name="Rectangle 10">
              <a:extLst>
                <a:ext uri="{FF2B5EF4-FFF2-40B4-BE49-F238E27FC236}">
                  <a16:creationId xmlns:a16="http://schemas.microsoft.com/office/drawing/2014/main" id="{7A468CC1-B0D3-5408-194E-749AFB0B6679}"/>
                </a:ext>
              </a:extLst>
            </p:cNvPr>
            <p:cNvSpPr/>
            <p:nvPr/>
          </p:nvSpPr>
          <p:spPr>
            <a:xfrm>
              <a:off x="5049759" y="3979072"/>
              <a:ext cx="1330398" cy="362336"/>
            </a:xfrm>
            <a:prstGeom prst="rect">
              <a:avLst/>
            </a:prstGeom>
            <a:solidFill>
              <a:schemeClr val="bg1"/>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tx1"/>
                  </a:solidFill>
                  <a:latin typeface="Arial" panose="020B0604020202020204" pitchFamily="34" charset="0"/>
                  <a:cs typeface="Arial" panose="020B0604020202020204" pitchFamily="34" charset="0"/>
                </a:rPr>
                <a:t>struct cred</a:t>
              </a:r>
            </a:p>
          </p:txBody>
        </p:sp>
        <p:sp>
          <p:nvSpPr>
            <p:cNvPr id="21" name="Rectangle 20">
              <a:extLst>
                <a:ext uri="{FF2B5EF4-FFF2-40B4-BE49-F238E27FC236}">
                  <a16:creationId xmlns:a16="http://schemas.microsoft.com/office/drawing/2014/main" id="{45937134-C989-5F3B-7695-B1C7242CFF8B}"/>
                </a:ext>
              </a:extLst>
            </p:cNvPr>
            <p:cNvSpPr/>
            <p:nvPr/>
          </p:nvSpPr>
          <p:spPr>
            <a:xfrm>
              <a:off x="5194749" y="5288014"/>
              <a:ext cx="1330399" cy="362336"/>
            </a:xfrm>
            <a:prstGeom prst="rect">
              <a:avLst/>
            </a:prstGeom>
            <a:solidFill>
              <a:schemeClr val="bg1"/>
            </a:solidFill>
            <a:ln w="25400">
              <a:solidFill>
                <a:schemeClr val="tx1"/>
              </a:solidFill>
              <a:extLst>
                <a:ext uri="{C807C97D-BFC1-408E-A445-0C87EB9F89A2}">
                  <ask:lineSketchStyleProps xmlns:ask="http://schemas.microsoft.com/office/drawing/2018/sketchyshapes" sd="1219033472">
                    <a:custGeom>
                      <a:avLst/>
                      <a:gdLst>
                        <a:gd name="connsiteX0" fmla="*/ 0 w 1330399"/>
                        <a:gd name="connsiteY0" fmla="*/ 0 h 362336"/>
                        <a:gd name="connsiteX1" fmla="*/ 691807 w 1330399"/>
                        <a:gd name="connsiteY1" fmla="*/ 0 h 362336"/>
                        <a:gd name="connsiteX2" fmla="*/ 1330399 w 1330399"/>
                        <a:gd name="connsiteY2" fmla="*/ 0 h 362336"/>
                        <a:gd name="connsiteX3" fmla="*/ 1330399 w 1330399"/>
                        <a:gd name="connsiteY3" fmla="*/ 362336 h 362336"/>
                        <a:gd name="connsiteX4" fmla="*/ 678503 w 1330399"/>
                        <a:gd name="connsiteY4" fmla="*/ 362336 h 362336"/>
                        <a:gd name="connsiteX5" fmla="*/ 0 w 1330399"/>
                        <a:gd name="connsiteY5" fmla="*/ 362336 h 362336"/>
                        <a:gd name="connsiteX6" fmla="*/ 0 w 1330399"/>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9" h="362336" fill="none" extrusionOk="0">
                          <a:moveTo>
                            <a:pt x="0" y="0"/>
                          </a:moveTo>
                          <a:cubicBezTo>
                            <a:pt x="275739" y="33293"/>
                            <a:pt x="516221" y="9407"/>
                            <a:pt x="691807" y="0"/>
                          </a:cubicBezTo>
                          <a:cubicBezTo>
                            <a:pt x="867393" y="-9407"/>
                            <a:pt x="1128064" y="-17291"/>
                            <a:pt x="1330399" y="0"/>
                          </a:cubicBezTo>
                          <a:cubicBezTo>
                            <a:pt x="1348364" y="109906"/>
                            <a:pt x="1316786" y="243289"/>
                            <a:pt x="1330399" y="362336"/>
                          </a:cubicBezTo>
                          <a:cubicBezTo>
                            <a:pt x="1159144" y="372829"/>
                            <a:pt x="879735" y="364747"/>
                            <a:pt x="678503" y="362336"/>
                          </a:cubicBezTo>
                          <a:cubicBezTo>
                            <a:pt x="477271" y="359925"/>
                            <a:pt x="197785" y="328980"/>
                            <a:pt x="0" y="362336"/>
                          </a:cubicBezTo>
                          <a:cubicBezTo>
                            <a:pt x="17394" y="248246"/>
                            <a:pt x="-2627" y="162817"/>
                            <a:pt x="0" y="0"/>
                          </a:cubicBezTo>
                          <a:close/>
                        </a:path>
                        <a:path w="1330399" h="362336" stroke="0" extrusionOk="0">
                          <a:moveTo>
                            <a:pt x="0" y="0"/>
                          </a:moveTo>
                          <a:cubicBezTo>
                            <a:pt x="143700" y="10516"/>
                            <a:pt x="331865" y="-434"/>
                            <a:pt x="651896" y="0"/>
                          </a:cubicBezTo>
                          <a:cubicBezTo>
                            <a:pt x="971927" y="434"/>
                            <a:pt x="1001063" y="2775"/>
                            <a:pt x="1330399" y="0"/>
                          </a:cubicBezTo>
                          <a:cubicBezTo>
                            <a:pt x="1331480" y="157821"/>
                            <a:pt x="1313214" y="234053"/>
                            <a:pt x="1330399" y="362336"/>
                          </a:cubicBezTo>
                          <a:cubicBezTo>
                            <a:pt x="1054807" y="364621"/>
                            <a:pt x="946902" y="355680"/>
                            <a:pt x="665200" y="362336"/>
                          </a:cubicBezTo>
                          <a:cubicBezTo>
                            <a:pt x="383498" y="368992"/>
                            <a:pt x="137718" y="384853"/>
                            <a:pt x="0" y="362336"/>
                          </a:cubicBezTo>
                          <a:cubicBezTo>
                            <a:pt x="5257" y="182137"/>
                            <a:pt x="11973" y="96332"/>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tx1"/>
                  </a:solidFill>
                  <a:latin typeface="Arial" panose="020B0604020202020204" pitchFamily="34" charset="0"/>
                  <a:cs typeface="Arial" panose="020B0604020202020204" pitchFamily="34" charset="0"/>
                </a:rPr>
                <a:t>struct file</a:t>
              </a:r>
            </a:p>
          </p:txBody>
        </p:sp>
      </p:grpSp>
      <p:sp>
        <p:nvSpPr>
          <p:cNvPr id="2" name="Title 1">
            <a:extLst>
              <a:ext uri="{FF2B5EF4-FFF2-40B4-BE49-F238E27FC236}">
                <a16:creationId xmlns:a16="http://schemas.microsoft.com/office/drawing/2014/main" id="{721A19E2-E934-E691-CE03-4BF92146D744}"/>
              </a:ext>
            </a:extLst>
          </p:cNvPr>
          <p:cNvSpPr>
            <a:spLocks noGrp="1"/>
          </p:cNvSpPr>
          <p:nvPr>
            <p:ph type="title"/>
          </p:nvPr>
        </p:nvSpPr>
        <p:spPr/>
        <p:txBody>
          <a:bodyPr>
            <a:normAutofit/>
          </a:bodyPr>
          <a:lstStyle/>
          <a:p>
            <a:r>
              <a:rPr lang="en-KR" sz="4000" dirty="0"/>
              <a:t>Kernel Privilege Escalation Attacks</a:t>
            </a:r>
          </a:p>
        </p:txBody>
      </p:sp>
      <p:sp>
        <p:nvSpPr>
          <p:cNvPr id="4" name="Slide Number Placeholder 3">
            <a:extLst>
              <a:ext uri="{FF2B5EF4-FFF2-40B4-BE49-F238E27FC236}">
                <a16:creationId xmlns:a16="http://schemas.microsoft.com/office/drawing/2014/main" id="{DA2321D8-050F-8390-B2CC-1A0281484437}"/>
              </a:ext>
            </a:extLst>
          </p:cNvPr>
          <p:cNvSpPr>
            <a:spLocks noGrp="1"/>
          </p:cNvSpPr>
          <p:nvPr>
            <p:ph type="sldNum" sz="quarter" idx="12"/>
          </p:nvPr>
        </p:nvSpPr>
        <p:spPr/>
        <p:txBody>
          <a:bodyPr/>
          <a:lstStyle/>
          <a:p>
            <a:fld id="{9ED31AF7-B9C1-7944-AC45-A988640FDEFC}" type="slidenum">
              <a:rPr lang="en-KR" smtClean="0"/>
              <a:t>3</a:t>
            </a:fld>
            <a:endParaRPr lang="en-KR" dirty="0"/>
          </a:p>
        </p:txBody>
      </p:sp>
      <p:sp>
        <p:nvSpPr>
          <p:cNvPr id="75" name="TextBox 74">
            <a:extLst>
              <a:ext uri="{FF2B5EF4-FFF2-40B4-BE49-F238E27FC236}">
                <a16:creationId xmlns:a16="http://schemas.microsoft.com/office/drawing/2014/main" id="{47597278-9AB6-22D5-1D2F-768A493473DB}"/>
              </a:ext>
            </a:extLst>
          </p:cNvPr>
          <p:cNvSpPr txBox="1"/>
          <p:nvPr/>
        </p:nvSpPr>
        <p:spPr>
          <a:xfrm>
            <a:off x="2255840" y="5866627"/>
            <a:ext cx="1548000" cy="322608"/>
          </a:xfrm>
          <a:prstGeom prst="rect">
            <a:avLst/>
          </a:prstGeom>
          <a:noFill/>
        </p:spPr>
        <p:txBody>
          <a:bodyPr wrap="square" rtlCol="0">
            <a:spAutoFit/>
          </a:bodyPr>
          <a:lstStyle/>
          <a:p>
            <a:pPr algn="ctr"/>
            <a:r>
              <a:rPr lang="en-KR" sz="1600" dirty="0">
                <a:latin typeface="Arial" panose="020B0604020202020204" pitchFamily="34" charset="0"/>
                <a:cs typeface="Arial" panose="020B0604020202020204" pitchFamily="34" charset="0"/>
              </a:rPr>
              <a:t>/etc/shadow</a:t>
            </a:r>
          </a:p>
        </p:txBody>
      </p:sp>
      <p:sp>
        <p:nvSpPr>
          <p:cNvPr id="76" name="TextBox 75">
            <a:extLst>
              <a:ext uri="{FF2B5EF4-FFF2-40B4-BE49-F238E27FC236}">
                <a16:creationId xmlns:a16="http://schemas.microsoft.com/office/drawing/2014/main" id="{DF8CA457-CF67-1DED-9F38-C95A4564A4E4}"/>
              </a:ext>
            </a:extLst>
          </p:cNvPr>
          <p:cNvSpPr txBox="1"/>
          <p:nvPr/>
        </p:nvSpPr>
        <p:spPr>
          <a:xfrm>
            <a:off x="899776" y="5405361"/>
            <a:ext cx="917830" cy="396000"/>
          </a:xfrm>
          <a:prstGeom prst="roundRect">
            <a:avLst/>
          </a:prstGeom>
          <a:solidFill>
            <a:schemeClr val="bg1"/>
          </a:solidFill>
          <a:ln w="25400">
            <a:solidFill>
              <a:schemeClr val="tx1"/>
            </a:solidFill>
          </a:ln>
        </p:spPr>
        <p:txBody>
          <a:bodyPr wrap="square" rtlCol="0">
            <a:spAutoFit/>
          </a:bodyPr>
          <a:lstStyle/>
          <a:p>
            <a:pPr algn="ctr"/>
            <a:r>
              <a:rPr lang="en-KR" dirty="0">
                <a:latin typeface="Arial" panose="020B0604020202020204" pitchFamily="34" charset="0"/>
                <a:cs typeface="Arial" panose="020B0604020202020204" pitchFamily="34" charset="0"/>
              </a:rPr>
              <a:t>File</a:t>
            </a:r>
          </a:p>
        </p:txBody>
      </p:sp>
      <p:sp>
        <p:nvSpPr>
          <p:cNvPr id="80" name="TextBox 79">
            <a:extLst>
              <a:ext uri="{FF2B5EF4-FFF2-40B4-BE49-F238E27FC236}">
                <a16:creationId xmlns:a16="http://schemas.microsoft.com/office/drawing/2014/main" id="{7C7A7E51-BD2C-2750-1E64-1FD11995A3B7}"/>
              </a:ext>
            </a:extLst>
          </p:cNvPr>
          <p:cNvSpPr txBox="1"/>
          <p:nvPr/>
        </p:nvSpPr>
        <p:spPr>
          <a:xfrm>
            <a:off x="2570925" y="5405361"/>
            <a:ext cx="917830" cy="396000"/>
          </a:xfrm>
          <a:prstGeom prst="roundRect">
            <a:avLst/>
          </a:prstGeom>
          <a:solidFill>
            <a:schemeClr val="bg1"/>
          </a:solidFill>
          <a:ln w="25400">
            <a:solidFill>
              <a:schemeClr val="tx1"/>
            </a:solidFill>
          </a:ln>
        </p:spPr>
        <p:txBody>
          <a:bodyPr wrap="square" rtlCol="0">
            <a:spAutoFit/>
          </a:bodyPr>
          <a:lstStyle/>
          <a:p>
            <a:pPr algn="ctr"/>
            <a:r>
              <a:rPr lang="en-KR" dirty="0">
                <a:latin typeface="Arial" panose="020B0604020202020204" pitchFamily="34" charset="0"/>
                <a:cs typeface="Arial" panose="020B0604020202020204" pitchFamily="34" charset="0"/>
              </a:rPr>
              <a:t>File</a:t>
            </a:r>
          </a:p>
        </p:txBody>
      </p:sp>
      <p:sp>
        <p:nvSpPr>
          <p:cNvPr id="87" name="TextBox 86">
            <a:extLst>
              <a:ext uri="{FF2B5EF4-FFF2-40B4-BE49-F238E27FC236}">
                <a16:creationId xmlns:a16="http://schemas.microsoft.com/office/drawing/2014/main" id="{95AC69BE-2D25-9DCD-E3D0-45884659A7E4}"/>
              </a:ext>
            </a:extLst>
          </p:cNvPr>
          <p:cNvSpPr txBox="1"/>
          <p:nvPr/>
        </p:nvSpPr>
        <p:spPr>
          <a:xfrm>
            <a:off x="446242" y="5824393"/>
            <a:ext cx="1741694" cy="584775"/>
          </a:xfrm>
          <a:prstGeom prst="rect">
            <a:avLst/>
          </a:prstGeom>
          <a:noFill/>
        </p:spPr>
        <p:txBody>
          <a:bodyPr wrap="square">
            <a:spAutoFit/>
          </a:bodyPr>
          <a:lstStyle/>
          <a:p>
            <a:pPr algn="ctr"/>
            <a:r>
              <a:rPr lang="en-KR" sz="1600" dirty="0">
                <a:latin typeface="Arial" panose="020B0604020202020204" pitchFamily="34" charset="0"/>
                <a:cs typeface="Arial" panose="020B0604020202020204" pitchFamily="34" charset="0"/>
              </a:rPr>
              <a:t>/home/attacker/my_file</a:t>
            </a:r>
          </a:p>
        </p:txBody>
      </p:sp>
      <p:cxnSp>
        <p:nvCxnSpPr>
          <p:cNvPr id="103" name="Straight Arrow Connector 102">
            <a:extLst>
              <a:ext uri="{FF2B5EF4-FFF2-40B4-BE49-F238E27FC236}">
                <a16:creationId xmlns:a16="http://schemas.microsoft.com/office/drawing/2014/main" id="{21923B43-E1E3-60F8-93D7-A6CAE6409405}"/>
              </a:ext>
            </a:extLst>
          </p:cNvPr>
          <p:cNvCxnSpPr>
            <a:cxnSpLocks/>
            <a:endCxn id="76" idx="0"/>
          </p:cNvCxnSpPr>
          <p:nvPr/>
        </p:nvCxnSpPr>
        <p:spPr>
          <a:xfrm flipH="1">
            <a:off x="1358691" y="2751215"/>
            <a:ext cx="692531" cy="2654146"/>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C5C609F1-4F82-541E-3C5F-AE34E7E53F3B}"/>
              </a:ext>
            </a:extLst>
          </p:cNvPr>
          <p:cNvCxnSpPr>
            <a:cxnSpLocks/>
            <a:endCxn id="80" idx="0"/>
          </p:cNvCxnSpPr>
          <p:nvPr/>
        </p:nvCxnSpPr>
        <p:spPr>
          <a:xfrm>
            <a:off x="2051222" y="2751215"/>
            <a:ext cx="978618" cy="2654146"/>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sp>
        <p:nvSpPr>
          <p:cNvPr id="108" name="Rounded Rectangle 107">
            <a:extLst>
              <a:ext uri="{FF2B5EF4-FFF2-40B4-BE49-F238E27FC236}">
                <a16:creationId xmlns:a16="http://schemas.microsoft.com/office/drawing/2014/main" id="{F355BC08-06FC-C025-F293-885FA209595F}"/>
              </a:ext>
            </a:extLst>
          </p:cNvPr>
          <p:cNvSpPr/>
          <p:nvPr/>
        </p:nvSpPr>
        <p:spPr>
          <a:xfrm>
            <a:off x="673612" y="3636158"/>
            <a:ext cx="3006874" cy="795416"/>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000" dirty="0">
                <a:solidFill>
                  <a:schemeClr val="tx1"/>
                </a:solidFill>
                <a:latin typeface="Arial" panose="020B0604020202020204" pitchFamily="34" charset="0"/>
                <a:cs typeface="Arial" panose="020B0604020202020204" pitchFamily="34" charset="0"/>
              </a:rPr>
              <a:t>Access control</a:t>
            </a:r>
          </a:p>
        </p:txBody>
      </p:sp>
      <p:sp>
        <p:nvSpPr>
          <p:cNvPr id="109" name="TextBox 108">
            <a:extLst>
              <a:ext uri="{FF2B5EF4-FFF2-40B4-BE49-F238E27FC236}">
                <a16:creationId xmlns:a16="http://schemas.microsoft.com/office/drawing/2014/main" id="{28679971-33F2-21B5-EE7D-0C456C33DCE3}"/>
              </a:ext>
            </a:extLst>
          </p:cNvPr>
          <p:cNvSpPr txBox="1"/>
          <p:nvPr/>
        </p:nvSpPr>
        <p:spPr>
          <a:xfrm>
            <a:off x="398572" y="3270861"/>
            <a:ext cx="811409" cy="351936"/>
          </a:xfrm>
          <a:prstGeom prst="rect">
            <a:avLst/>
          </a:prstGeom>
          <a:noFill/>
        </p:spPr>
        <p:txBody>
          <a:bodyPr wrap="none" rtlCol="0">
            <a:spAutoFit/>
          </a:bodyPr>
          <a:lstStyle/>
          <a:p>
            <a:pPr algn="ctr"/>
            <a:r>
              <a:rPr lang="en-KR" dirty="0">
                <a:latin typeface="Arial" panose="020B0604020202020204" pitchFamily="34" charset="0"/>
                <a:cs typeface="Arial" panose="020B0604020202020204" pitchFamily="34" charset="0"/>
              </a:rPr>
              <a:t>Kernel</a:t>
            </a:r>
          </a:p>
        </p:txBody>
      </p:sp>
      <p:sp>
        <p:nvSpPr>
          <p:cNvPr id="113" name="Donut 112">
            <a:extLst>
              <a:ext uri="{FF2B5EF4-FFF2-40B4-BE49-F238E27FC236}">
                <a16:creationId xmlns:a16="http://schemas.microsoft.com/office/drawing/2014/main" id="{05E3CD2A-870F-DBC0-4CAD-145A1AEF15F8}"/>
              </a:ext>
            </a:extLst>
          </p:cNvPr>
          <p:cNvSpPr/>
          <p:nvPr/>
        </p:nvSpPr>
        <p:spPr>
          <a:xfrm>
            <a:off x="930631" y="4715931"/>
            <a:ext cx="343044" cy="343044"/>
          </a:xfrm>
          <a:prstGeom prst="donut">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rgbClr val="C00000"/>
              </a:solidFill>
              <a:latin typeface="Arial" panose="020B0604020202020204" pitchFamily="34" charset="0"/>
              <a:cs typeface="Arial" panose="020B0604020202020204" pitchFamily="34" charset="0"/>
            </a:endParaRPr>
          </a:p>
        </p:txBody>
      </p:sp>
      <p:sp>
        <p:nvSpPr>
          <p:cNvPr id="118" name="&quot;No&quot; Symbol 117">
            <a:extLst>
              <a:ext uri="{FF2B5EF4-FFF2-40B4-BE49-F238E27FC236}">
                <a16:creationId xmlns:a16="http://schemas.microsoft.com/office/drawing/2014/main" id="{9B2553FE-C8BB-4F9C-7EE8-772B62B099C4}"/>
              </a:ext>
            </a:extLst>
          </p:cNvPr>
          <p:cNvSpPr/>
          <p:nvPr/>
        </p:nvSpPr>
        <p:spPr>
          <a:xfrm>
            <a:off x="3083471" y="4710372"/>
            <a:ext cx="343044" cy="343044"/>
          </a:xfrm>
          <a:prstGeom prst="noSmoking">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cxnSp>
        <p:nvCxnSpPr>
          <p:cNvPr id="128" name="Straight Arrow Connector 127">
            <a:extLst>
              <a:ext uri="{FF2B5EF4-FFF2-40B4-BE49-F238E27FC236}">
                <a16:creationId xmlns:a16="http://schemas.microsoft.com/office/drawing/2014/main" id="{5E60EDA9-EB90-EEE8-B866-F29E34494C9D}"/>
              </a:ext>
            </a:extLst>
          </p:cNvPr>
          <p:cNvCxnSpPr>
            <a:cxnSpLocks/>
            <a:endCxn id="125" idx="0"/>
          </p:cNvCxnSpPr>
          <p:nvPr/>
        </p:nvCxnSpPr>
        <p:spPr>
          <a:xfrm flipH="1">
            <a:off x="9256264" y="2742326"/>
            <a:ext cx="685735" cy="2654146"/>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7CA01AC7-AF0C-5019-7733-D21FCA80DEFE}"/>
              </a:ext>
            </a:extLst>
          </p:cNvPr>
          <p:cNvCxnSpPr>
            <a:cxnSpLocks/>
            <a:endCxn id="126" idx="0"/>
          </p:cNvCxnSpPr>
          <p:nvPr/>
        </p:nvCxnSpPr>
        <p:spPr>
          <a:xfrm>
            <a:off x="9941999" y="2742326"/>
            <a:ext cx="985414" cy="2654146"/>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33" name="Donut 132">
            <a:extLst>
              <a:ext uri="{FF2B5EF4-FFF2-40B4-BE49-F238E27FC236}">
                <a16:creationId xmlns:a16="http://schemas.microsoft.com/office/drawing/2014/main" id="{EC9D2F80-FFB0-CE25-DA3B-E782E44F6342}"/>
              </a:ext>
            </a:extLst>
          </p:cNvPr>
          <p:cNvSpPr/>
          <p:nvPr/>
        </p:nvSpPr>
        <p:spPr>
          <a:xfrm>
            <a:off x="8828203" y="4707042"/>
            <a:ext cx="343044" cy="343044"/>
          </a:xfrm>
          <a:prstGeom prst="donut">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36" name="Donut 135">
            <a:extLst>
              <a:ext uri="{FF2B5EF4-FFF2-40B4-BE49-F238E27FC236}">
                <a16:creationId xmlns:a16="http://schemas.microsoft.com/office/drawing/2014/main" id="{6C26EEB8-5C63-D725-025F-F3183C6B9149}"/>
              </a:ext>
            </a:extLst>
          </p:cNvPr>
          <p:cNvSpPr/>
          <p:nvPr/>
        </p:nvSpPr>
        <p:spPr>
          <a:xfrm>
            <a:off x="10909691" y="4707042"/>
            <a:ext cx="343044" cy="343044"/>
          </a:xfrm>
          <a:prstGeom prst="donut">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63" name="Right Arrow 162">
            <a:extLst>
              <a:ext uri="{FF2B5EF4-FFF2-40B4-BE49-F238E27FC236}">
                <a16:creationId xmlns:a16="http://schemas.microsoft.com/office/drawing/2014/main" id="{4DDF728B-E3B1-A995-BC2C-4F0251DA7F72}"/>
              </a:ext>
            </a:extLst>
          </p:cNvPr>
          <p:cNvSpPr/>
          <p:nvPr/>
        </p:nvSpPr>
        <p:spPr>
          <a:xfrm>
            <a:off x="7940690" y="2166146"/>
            <a:ext cx="318388" cy="374722"/>
          </a:xfrm>
          <a:prstGeom prst="rightArrow">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7D0C95A2-8585-DA67-C58B-18F343247B35}"/>
              </a:ext>
            </a:extLst>
          </p:cNvPr>
          <p:cNvSpPr txBox="1"/>
          <p:nvPr/>
        </p:nvSpPr>
        <p:spPr>
          <a:xfrm>
            <a:off x="2324108" y="2009017"/>
            <a:ext cx="1272070" cy="707886"/>
          </a:xfrm>
          <a:prstGeom prst="rect">
            <a:avLst/>
          </a:prstGeom>
          <a:noFill/>
        </p:spPr>
        <p:txBody>
          <a:bodyPr wrap="square" rtlCol="0">
            <a:spAutoFit/>
          </a:bodyPr>
          <a:lstStyle/>
          <a:p>
            <a:pPr algn="ctr"/>
            <a:r>
              <a:rPr lang="en-KR" sz="2000" dirty="0">
                <a:latin typeface="Arial" panose="020B0604020202020204" pitchFamily="34" charset="0"/>
                <a:cs typeface="Arial" panose="020B0604020202020204" pitchFamily="34" charset="0"/>
              </a:rPr>
              <a:t>Privilege</a:t>
            </a:r>
          </a:p>
          <a:p>
            <a:pPr algn="ctr"/>
            <a:r>
              <a:rPr lang="en-KR" sz="2000" dirty="0">
                <a:latin typeface="Arial" panose="020B0604020202020204" pitchFamily="34" charset="0"/>
                <a:cs typeface="Arial" panose="020B0604020202020204" pitchFamily="34" charset="0"/>
              </a:rPr>
              <a:t>: </a:t>
            </a:r>
            <a:r>
              <a:rPr lang="en-KR" sz="2000" b="1" dirty="0">
                <a:solidFill>
                  <a:srgbClr val="0070C0"/>
                </a:solidFill>
                <a:latin typeface="Arial" panose="020B0604020202020204" pitchFamily="34" charset="0"/>
                <a:cs typeface="Arial" panose="020B0604020202020204" pitchFamily="34" charset="0"/>
              </a:rPr>
              <a:t>Low</a:t>
            </a:r>
          </a:p>
        </p:txBody>
      </p:sp>
      <p:sp>
        <p:nvSpPr>
          <p:cNvPr id="124" name="TextBox 123">
            <a:extLst>
              <a:ext uri="{FF2B5EF4-FFF2-40B4-BE49-F238E27FC236}">
                <a16:creationId xmlns:a16="http://schemas.microsoft.com/office/drawing/2014/main" id="{3049C6F0-0A33-8D88-C0D1-8A6FE1CF17AE}"/>
              </a:ext>
            </a:extLst>
          </p:cNvPr>
          <p:cNvSpPr txBox="1"/>
          <p:nvPr/>
        </p:nvSpPr>
        <p:spPr>
          <a:xfrm>
            <a:off x="10153413" y="5857738"/>
            <a:ext cx="1548000" cy="322608"/>
          </a:xfrm>
          <a:prstGeom prst="rect">
            <a:avLst/>
          </a:prstGeom>
          <a:noFill/>
        </p:spPr>
        <p:txBody>
          <a:bodyPr wrap="square" rtlCol="0">
            <a:spAutoFit/>
          </a:bodyPr>
          <a:lstStyle/>
          <a:p>
            <a:pPr algn="ctr"/>
            <a:r>
              <a:rPr lang="en-KR" sz="1600" dirty="0">
                <a:latin typeface="Arial" panose="020B0604020202020204" pitchFamily="34" charset="0"/>
                <a:cs typeface="Arial" panose="020B0604020202020204" pitchFamily="34" charset="0"/>
              </a:rPr>
              <a:t>/etc/shadow</a:t>
            </a:r>
          </a:p>
        </p:txBody>
      </p:sp>
      <p:sp>
        <p:nvSpPr>
          <p:cNvPr id="125" name="TextBox 124">
            <a:extLst>
              <a:ext uri="{FF2B5EF4-FFF2-40B4-BE49-F238E27FC236}">
                <a16:creationId xmlns:a16="http://schemas.microsoft.com/office/drawing/2014/main" id="{6F520E5E-3861-7F53-9296-7E51C25D8465}"/>
              </a:ext>
            </a:extLst>
          </p:cNvPr>
          <p:cNvSpPr txBox="1"/>
          <p:nvPr/>
        </p:nvSpPr>
        <p:spPr>
          <a:xfrm>
            <a:off x="8797349" y="5396472"/>
            <a:ext cx="917830" cy="396000"/>
          </a:xfrm>
          <a:prstGeom prst="roundRect">
            <a:avLst/>
          </a:prstGeom>
          <a:solidFill>
            <a:schemeClr val="bg1"/>
          </a:solidFill>
          <a:ln w="25400">
            <a:solidFill>
              <a:schemeClr val="tx1"/>
            </a:solidFill>
          </a:ln>
        </p:spPr>
        <p:txBody>
          <a:bodyPr wrap="square" rtlCol="0">
            <a:spAutoFit/>
          </a:bodyPr>
          <a:lstStyle/>
          <a:p>
            <a:pPr algn="ctr"/>
            <a:r>
              <a:rPr lang="en-KR" dirty="0">
                <a:latin typeface="Arial" panose="020B0604020202020204" pitchFamily="34" charset="0"/>
                <a:cs typeface="Arial" panose="020B0604020202020204" pitchFamily="34" charset="0"/>
              </a:rPr>
              <a:t>File</a:t>
            </a:r>
          </a:p>
        </p:txBody>
      </p:sp>
      <p:sp>
        <p:nvSpPr>
          <p:cNvPr id="126" name="TextBox 125">
            <a:extLst>
              <a:ext uri="{FF2B5EF4-FFF2-40B4-BE49-F238E27FC236}">
                <a16:creationId xmlns:a16="http://schemas.microsoft.com/office/drawing/2014/main" id="{29E44435-A21B-0D01-7EB9-1B843DA9B267}"/>
              </a:ext>
            </a:extLst>
          </p:cNvPr>
          <p:cNvSpPr txBox="1"/>
          <p:nvPr/>
        </p:nvSpPr>
        <p:spPr>
          <a:xfrm>
            <a:off x="10468498" y="5396472"/>
            <a:ext cx="917830" cy="396000"/>
          </a:xfrm>
          <a:prstGeom prst="roundRect">
            <a:avLst/>
          </a:prstGeom>
          <a:solidFill>
            <a:schemeClr val="bg1"/>
          </a:solidFill>
          <a:ln w="25400">
            <a:solidFill>
              <a:schemeClr val="tx1"/>
            </a:solidFill>
          </a:ln>
        </p:spPr>
        <p:txBody>
          <a:bodyPr wrap="square" rtlCol="0">
            <a:spAutoFit/>
          </a:bodyPr>
          <a:lstStyle/>
          <a:p>
            <a:pPr algn="ctr"/>
            <a:r>
              <a:rPr lang="en-KR" dirty="0">
                <a:latin typeface="Arial" panose="020B0604020202020204" pitchFamily="34" charset="0"/>
                <a:cs typeface="Arial" panose="020B0604020202020204" pitchFamily="34" charset="0"/>
              </a:rPr>
              <a:t>File</a:t>
            </a:r>
          </a:p>
        </p:txBody>
      </p:sp>
      <p:sp>
        <p:nvSpPr>
          <p:cNvPr id="127" name="TextBox 126">
            <a:extLst>
              <a:ext uri="{FF2B5EF4-FFF2-40B4-BE49-F238E27FC236}">
                <a16:creationId xmlns:a16="http://schemas.microsoft.com/office/drawing/2014/main" id="{B7D11C33-5A1D-19EA-DED8-B7D7C30FE851}"/>
              </a:ext>
            </a:extLst>
          </p:cNvPr>
          <p:cNvSpPr txBox="1"/>
          <p:nvPr/>
        </p:nvSpPr>
        <p:spPr>
          <a:xfrm>
            <a:off x="8343814" y="5815504"/>
            <a:ext cx="1741694" cy="584775"/>
          </a:xfrm>
          <a:prstGeom prst="rect">
            <a:avLst/>
          </a:prstGeom>
          <a:noFill/>
        </p:spPr>
        <p:txBody>
          <a:bodyPr wrap="square">
            <a:spAutoFit/>
          </a:bodyPr>
          <a:lstStyle/>
          <a:p>
            <a:pPr algn="ctr"/>
            <a:r>
              <a:rPr lang="en-KR" sz="1600" dirty="0">
                <a:latin typeface="Arial" panose="020B0604020202020204" pitchFamily="34" charset="0"/>
                <a:cs typeface="Arial" panose="020B0604020202020204" pitchFamily="34" charset="0"/>
              </a:rPr>
              <a:t>/home/attacker/my_file</a:t>
            </a:r>
          </a:p>
        </p:txBody>
      </p:sp>
      <p:sp>
        <p:nvSpPr>
          <p:cNvPr id="130" name="Rounded Rectangle 129">
            <a:extLst>
              <a:ext uri="{FF2B5EF4-FFF2-40B4-BE49-F238E27FC236}">
                <a16:creationId xmlns:a16="http://schemas.microsoft.com/office/drawing/2014/main" id="{545EFD52-C0C4-491B-CEBC-E0843F95A2AF}"/>
              </a:ext>
            </a:extLst>
          </p:cNvPr>
          <p:cNvSpPr/>
          <p:nvPr/>
        </p:nvSpPr>
        <p:spPr>
          <a:xfrm>
            <a:off x="8571184" y="3627269"/>
            <a:ext cx="3006874" cy="795416"/>
          </a:xfrm>
          <a:prstGeom prst="roundRect">
            <a:avLst/>
          </a:prstGeom>
          <a:solidFill>
            <a:srgbClr val="FFCBCF"/>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000" dirty="0">
                <a:solidFill>
                  <a:schemeClr val="tx1"/>
                </a:solidFill>
                <a:latin typeface="Arial" panose="020B0604020202020204" pitchFamily="34" charset="0"/>
                <a:cs typeface="Arial" panose="020B0604020202020204" pitchFamily="34" charset="0"/>
              </a:rPr>
              <a:t>Access control</a:t>
            </a:r>
          </a:p>
        </p:txBody>
      </p:sp>
      <p:sp>
        <p:nvSpPr>
          <p:cNvPr id="131" name="TextBox 130">
            <a:extLst>
              <a:ext uri="{FF2B5EF4-FFF2-40B4-BE49-F238E27FC236}">
                <a16:creationId xmlns:a16="http://schemas.microsoft.com/office/drawing/2014/main" id="{0E7B49B4-9ACD-A292-8080-6BAA0776952C}"/>
              </a:ext>
            </a:extLst>
          </p:cNvPr>
          <p:cNvSpPr txBox="1"/>
          <p:nvPr/>
        </p:nvSpPr>
        <p:spPr>
          <a:xfrm>
            <a:off x="8296144" y="3261972"/>
            <a:ext cx="811409" cy="351936"/>
          </a:xfrm>
          <a:prstGeom prst="rect">
            <a:avLst/>
          </a:prstGeom>
          <a:noFill/>
        </p:spPr>
        <p:txBody>
          <a:bodyPr wrap="none" rtlCol="0">
            <a:spAutoFit/>
          </a:bodyPr>
          <a:lstStyle/>
          <a:p>
            <a:pPr algn="ctr"/>
            <a:r>
              <a:rPr lang="en-KR" dirty="0">
                <a:latin typeface="Arial" panose="020B0604020202020204" pitchFamily="34" charset="0"/>
                <a:cs typeface="Arial" panose="020B0604020202020204" pitchFamily="34" charset="0"/>
              </a:rPr>
              <a:t>Kernel</a:t>
            </a:r>
          </a:p>
        </p:txBody>
      </p:sp>
      <p:pic>
        <p:nvPicPr>
          <p:cNvPr id="12" name="Picture 11">
            <a:extLst>
              <a:ext uri="{FF2B5EF4-FFF2-40B4-BE49-F238E27FC236}">
                <a16:creationId xmlns:a16="http://schemas.microsoft.com/office/drawing/2014/main" id="{35D10670-632E-5D83-1570-F433F9543B61}"/>
              </a:ext>
            </a:extLst>
          </p:cNvPr>
          <p:cNvPicPr>
            <a:picLocks noChangeAspect="1"/>
          </p:cNvPicPr>
          <p:nvPr/>
        </p:nvPicPr>
        <p:blipFill>
          <a:blip r:embed="rId3">
            <a:duotone>
              <a:prstClr val="black"/>
              <a:srgbClr val="FF0000">
                <a:tint val="45000"/>
                <a:satMod val="400000"/>
              </a:srgbClr>
            </a:duotone>
            <a:extLst>
              <a:ext uri="{BEBA8EAE-BF5A-486C-A8C5-ECC9F3942E4B}">
                <a14:imgProps xmlns:a14="http://schemas.microsoft.com/office/drawing/2010/main">
                  <a14:imgLayer r:embed="rId5">
                    <a14:imgEffect>
                      <a14:brightnessContrast bright="20000" contrast="20000"/>
                    </a14:imgEffect>
                  </a14:imgLayer>
                </a14:imgProps>
              </a:ext>
            </a:extLst>
          </a:blip>
          <a:stretch>
            <a:fillRect/>
          </a:stretch>
        </p:blipFill>
        <p:spPr>
          <a:xfrm>
            <a:off x="9651933" y="2053354"/>
            <a:ext cx="582527" cy="582527"/>
          </a:xfrm>
          <a:prstGeom prst="rect">
            <a:avLst/>
          </a:prstGeom>
        </p:spPr>
      </p:pic>
      <p:sp>
        <p:nvSpPr>
          <p:cNvPr id="13" name="TextBox 12">
            <a:extLst>
              <a:ext uri="{FF2B5EF4-FFF2-40B4-BE49-F238E27FC236}">
                <a16:creationId xmlns:a16="http://schemas.microsoft.com/office/drawing/2014/main" id="{BF17208A-E88B-05E2-B8F9-B0A0704778E7}"/>
              </a:ext>
            </a:extLst>
          </p:cNvPr>
          <p:cNvSpPr txBox="1"/>
          <p:nvPr/>
        </p:nvSpPr>
        <p:spPr>
          <a:xfrm>
            <a:off x="9401455" y="1592088"/>
            <a:ext cx="1031051" cy="369332"/>
          </a:xfrm>
          <a:prstGeom prst="rect">
            <a:avLst/>
          </a:prstGeom>
          <a:noFill/>
        </p:spPr>
        <p:txBody>
          <a:bodyPr wrap="square" rtlCol="0">
            <a:spAutoFit/>
          </a:bodyPr>
          <a:lstStyle/>
          <a:p>
            <a:pPr algn="l"/>
            <a:r>
              <a:rPr lang="en-KR" dirty="0">
                <a:latin typeface="Arial" panose="020B0604020202020204" pitchFamily="34" charset="0"/>
                <a:cs typeface="Arial" panose="020B0604020202020204" pitchFamily="34" charset="0"/>
              </a:rPr>
              <a:t>Attacker</a:t>
            </a:r>
          </a:p>
        </p:txBody>
      </p:sp>
      <p:sp>
        <p:nvSpPr>
          <p:cNvPr id="15" name="TextBox 14">
            <a:extLst>
              <a:ext uri="{FF2B5EF4-FFF2-40B4-BE49-F238E27FC236}">
                <a16:creationId xmlns:a16="http://schemas.microsoft.com/office/drawing/2014/main" id="{52965452-8824-2911-8722-8A8653792372}"/>
              </a:ext>
            </a:extLst>
          </p:cNvPr>
          <p:cNvSpPr txBox="1"/>
          <p:nvPr/>
        </p:nvSpPr>
        <p:spPr>
          <a:xfrm>
            <a:off x="10234460" y="2018117"/>
            <a:ext cx="1272070" cy="707886"/>
          </a:xfrm>
          <a:prstGeom prst="rect">
            <a:avLst/>
          </a:prstGeom>
          <a:noFill/>
        </p:spPr>
        <p:txBody>
          <a:bodyPr wrap="square" rtlCol="0">
            <a:spAutoFit/>
          </a:bodyPr>
          <a:lstStyle/>
          <a:p>
            <a:pPr algn="ctr"/>
            <a:r>
              <a:rPr lang="en-KR" sz="2000" dirty="0">
                <a:latin typeface="Arial" panose="020B0604020202020204" pitchFamily="34" charset="0"/>
                <a:cs typeface="Arial" panose="020B0604020202020204" pitchFamily="34" charset="0"/>
              </a:rPr>
              <a:t>Privilege</a:t>
            </a:r>
          </a:p>
          <a:p>
            <a:pPr algn="ctr"/>
            <a:r>
              <a:rPr lang="en-KR" sz="2000" dirty="0">
                <a:latin typeface="Arial" panose="020B0604020202020204" pitchFamily="34" charset="0"/>
                <a:cs typeface="Arial" panose="020B0604020202020204" pitchFamily="34" charset="0"/>
              </a:rPr>
              <a:t>: </a:t>
            </a:r>
            <a:r>
              <a:rPr lang="en-KR" sz="2000" b="1" dirty="0">
                <a:solidFill>
                  <a:srgbClr val="C00000"/>
                </a:solidFill>
                <a:latin typeface="Arial" panose="020B0604020202020204" pitchFamily="34" charset="0"/>
                <a:cs typeface="Arial" panose="020B0604020202020204" pitchFamily="34" charset="0"/>
              </a:rPr>
              <a:t>High</a:t>
            </a:r>
          </a:p>
        </p:txBody>
      </p:sp>
      <p:pic>
        <p:nvPicPr>
          <p:cNvPr id="19" name="Picture 18">
            <a:extLst>
              <a:ext uri="{FF2B5EF4-FFF2-40B4-BE49-F238E27FC236}">
                <a16:creationId xmlns:a16="http://schemas.microsoft.com/office/drawing/2014/main" id="{E48CB438-BDA6-74D6-F8C8-5FEF16E4F511}"/>
              </a:ext>
            </a:extLst>
          </p:cNvPr>
          <p:cNvPicPr>
            <a:picLocks noChangeAspect="1"/>
          </p:cNvPicPr>
          <p:nvPr/>
        </p:nvPicPr>
        <p:blipFill>
          <a:blip r:embed="rId3">
            <a:duotone>
              <a:prstClr val="black"/>
              <a:srgbClr val="FF0000">
                <a:tint val="45000"/>
                <a:satMod val="400000"/>
              </a:srgbClr>
            </a:duotone>
            <a:extLst>
              <a:ext uri="{BEBA8EAE-BF5A-486C-A8C5-ECC9F3942E4B}">
                <a14:imgProps xmlns:a14="http://schemas.microsoft.com/office/drawing/2010/main">
                  <a14:imgLayer r:embed="rId6">
                    <a14:imgEffect>
                      <a14:brightnessContrast bright="20000" contrast="20000"/>
                    </a14:imgEffect>
                  </a14:imgLayer>
                </a14:imgProps>
              </a:ext>
            </a:extLst>
          </a:blip>
          <a:stretch>
            <a:fillRect/>
          </a:stretch>
        </p:blipFill>
        <p:spPr>
          <a:xfrm>
            <a:off x="1759958" y="2053354"/>
            <a:ext cx="582527" cy="582527"/>
          </a:xfrm>
          <a:prstGeom prst="rect">
            <a:avLst/>
          </a:prstGeom>
        </p:spPr>
      </p:pic>
      <p:sp>
        <p:nvSpPr>
          <p:cNvPr id="3" name="Explosion 1 2">
            <a:extLst>
              <a:ext uri="{FF2B5EF4-FFF2-40B4-BE49-F238E27FC236}">
                <a16:creationId xmlns:a16="http://schemas.microsoft.com/office/drawing/2014/main" id="{F0583500-3014-7CDF-F2CC-8EE0C168E0BC}"/>
              </a:ext>
            </a:extLst>
          </p:cNvPr>
          <p:cNvSpPr/>
          <p:nvPr/>
        </p:nvSpPr>
        <p:spPr>
          <a:xfrm>
            <a:off x="8271423" y="3622797"/>
            <a:ext cx="503589" cy="514051"/>
          </a:xfrm>
          <a:prstGeom prst="irregularSeal1">
            <a:avLst/>
          </a:prstGeom>
          <a:solidFill>
            <a:srgbClr val="FFCBCF"/>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grpSp>
        <p:nvGrpSpPr>
          <p:cNvPr id="35" name="Group 34">
            <a:extLst>
              <a:ext uri="{FF2B5EF4-FFF2-40B4-BE49-F238E27FC236}">
                <a16:creationId xmlns:a16="http://schemas.microsoft.com/office/drawing/2014/main" id="{BDF6AC4B-73C7-8D6B-189A-1BF24718AE23}"/>
              </a:ext>
            </a:extLst>
          </p:cNvPr>
          <p:cNvGrpSpPr/>
          <p:nvPr/>
        </p:nvGrpSpPr>
        <p:grpSpPr>
          <a:xfrm>
            <a:off x="4885529" y="2742326"/>
            <a:ext cx="2951546" cy="2908024"/>
            <a:chOff x="4885529" y="2742326"/>
            <a:chExt cx="2951546" cy="2908024"/>
          </a:xfrm>
        </p:grpSpPr>
        <p:cxnSp>
          <p:nvCxnSpPr>
            <p:cNvPr id="18" name="Straight Arrow Connector 17">
              <a:extLst>
                <a:ext uri="{FF2B5EF4-FFF2-40B4-BE49-F238E27FC236}">
                  <a16:creationId xmlns:a16="http://schemas.microsoft.com/office/drawing/2014/main" id="{FE24046D-4112-BA5F-D60D-14D628D6E710}"/>
                </a:ext>
              </a:extLst>
            </p:cNvPr>
            <p:cNvCxnSpPr>
              <a:cxnSpLocks/>
            </p:cNvCxnSpPr>
            <p:nvPr/>
          </p:nvCxnSpPr>
          <p:spPr>
            <a:xfrm flipH="1">
              <a:off x="6009287" y="2742326"/>
              <a:ext cx="3613" cy="899699"/>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C156E22-E864-C0B7-259C-E2A6E30CF278}"/>
                </a:ext>
              </a:extLst>
            </p:cNvPr>
            <p:cNvSpPr txBox="1"/>
            <p:nvPr/>
          </p:nvSpPr>
          <p:spPr>
            <a:xfrm>
              <a:off x="6087216" y="2807740"/>
              <a:ext cx="1740465" cy="707886"/>
            </a:xfrm>
            <a:prstGeom prst="rect">
              <a:avLst/>
            </a:prstGeom>
            <a:noFill/>
          </p:spPr>
          <p:txBody>
            <a:bodyPr wrap="square" rtlCol="0">
              <a:spAutoFit/>
            </a:bodyPr>
            <a:lstStyle/>
            <a:p>
              <a:pPr algn="l"/>
              <a:r>
                <a:rPr lang="en-KR" sz="2000" b="1" dirty="0">
                  <a:solidFill>
                    <a:srgbClr val="C00000"/>
                  </a:solidFill>
                  <a:latin typeface="Arial" panose="020B0604020202020204" pitchFamily="34" charset="0"/>
                  <a:cs typeface="Arial" panose="020B0604020202020204" pitchFamily="34" charset="0"/>
                </a:rPr>
                <a:t>Vulnerable SYSCALLs</a:t>
              </a:r>
            </a:p>
          </p:txBody>
        </p:sp>
        <p:sp>
          <p:nvSpPr>
            <p:cNvPr id="28" name="Rectangle 27">
              <a:extLst>
                <a:ext uri="{FF2B5EF4-FFF2-40B4-BE49-F238E27FC236}">
                  <a16:creationId xmlns:a16="http://schemas.microsoft.com/office/drawing/2014/main" id="{F31B1E35-66DB-F30D-3D06-5C9E63A69FB6}"/>
                </a:ext>
              </a:extLst>
            </p:cNvPr>
            <p:cNvSpPr/>
            <p:nvPr/>
          </p:nvSpPr>
          <p:spPr>
            <a:xfrm>
              <a:off x="5517222" y="4633421"/>
              <a:ext cx="2007243" cy="410298"/>
            </a:xfrm>
            <a:custGeom>
              <a:avLst/>
              <a:gdLst>
                <a:gd name="connsiteX0" fmla="*/ 0 w 2007243"/>
                <a:gd name="connsiteY0" fmla="*/ 0 h 410298"/>
                <a:gd name="connsiteX1" fmla="*/ 689153 w 2007243"/>
                <a:gd name="connsiteY1" fmla="*/ 0 h 410298"/>
                <a:gd name="connsiteX2" fmla="*/ 1298017 w 2007243"/>
                <a:gd name="connsiteY2" fmla="*/ 0 h 410298"/>
                <a:gd name="connsiteX3" fmla="*/ 2007243 w 2007243"/>
                <a:gd name="connsiteY3" fmla="*/ 0 h 410298"/>
                <a:gd name="connsiteX4" fmla="*/ 2007243 w 2007243"/>
                <a:gd name="connsiteY4" fmla="*/ 410298 h 410298"/>
                <a:gd name="connsiteX5" fmla="*/ 1378307 w 2007243"/>
                <a:gd name="connsiteY5" fmla="*/ 410298 h 410298"/>
                <a:gd name="connsiteX6" fmla="*/ 689153 w 2007243"/>
                <a:gd name="connsiteY6" fmla="*/ 410298 h 410298"/>
                <a:gd name="connsiteX7" fmla="*/ 0 w 2007243"/>
                <a:gd name="connsiteY7" fmla="*/ 410298 h 410298"/>
                <a:gd name="connsiteX8" fmla="*/ 0 w 2007243"/>
                <a:gd name="connsiteY8" fmla="*/ 0 h 41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7243" h="410298" fill="none" extrusionOk="0">
                  <a:moveTo>
                    <a:pt x="0" y="0"/>
                  </a:moveTo>
                  <a:cubicBezTo>
                    <a:pt x="222173" y="-27400"/>
                    <a:pt x="541674" y="5620"/>
                    <a:pt x="689153" y="0"/>
                  </a:cubicBezTo>
                  <a:cubicBezTo>
                    <a:pt x="836632" y="-5620"/>
                    <a:pt x="1103159" y="-28200"/>
                    <a:pt x="1298017" y="0"/>
                  </a:cubicBezTo>
                  <a:cubicBezTo>
                    <a:pt x="1492875" y="28200"/>
                    <a:pt x="1832223" y="-28189"/>
                    <a:pt x="2007243" y="0"/>
                  </a:cubicBezTo>
                  <a:cubicBezTo>
                    <a:pt x="1992229" y="111342"/>
                    <a:pt x="2000990" y="284453"/>
                    <a:pt x="2007243" y="410298"/>
                  </a:cubicBezTo>
                  <a:cubicBezTo>
                    <a:pt x="1788315" y="421561"/>
                    <a:pt x="1620631" y="390222"/>
                    <a:pt x="1378307" y="410298"/>
                  </a:cubicBezTo>
                  <a:cubicBezTo>
                    <a:pt x="1135983" y="430374"/>
                    <a:pt x="865211" y="410498"/>
                    <a:pt x="689153" y="410298"/>
                  </a:cubicBezTo>
                  <a:cubicBezTo>
                    <a:pt x="513095" y="410098"/>
                    <a:pt x="305083" y="418448"/>
                    <a:pt x="0" y="410298"/>
                  </a:cubicBezTo>
                  <a:cubicBezTo>
                    <a:pt x="-6603" y="248330"/>
                    <a:pt x="6634" y="110037"/>
                    <a:pt x="0" y="0"/>
                  </a:cubicBezTo>
                  <a:close/>
                </a:path>
                <a:path w="2007243" h="410298" stroke="0" extrusionOk="0">
                  <a:moveTo>
                    <a:pt x="0" y="0"/>
                  </a:moveTo>
                  <a:cubicBezTo>
                    <a:pt x="239523" y="-112"/>
                    <a:pt x="460610" y="-18676"/>
                    <a:pt x="628936" y="0"/>
                  </a:cubicBezTo>
                  <a:cubicBezTo>
                    <a:pt x="797262" y="18676"/>
                    <a:pt x="965225" y="30725"/>
                    <a:pt x="1257872" y="0"/>
                  </a:cubicBezTo>
                  <a:cubicBezTo>
                    <a:pt x="1550519" y="-30725"/>
                    <a:pt x="1806089" y="-33181"/>
                    <a:pt x="2007243" y="0"/>
                  </a:cubicBezTo>
                  <a:cubicBezTo>
                    <a:pt x="1993092" y="160176"/>
                    <a:pt x="1997010" y="299913"/>
                    <a:pt x="2007243" y="410298"/>
                  </a:cubicBezTo>
                  <a:cubicBezTo>
                    <a:pt x="1764596" y="436753"/>
                    <a:pt x="1694751" y="405661"/>
                    <a:pt x="1398379" y="410298"/>
                  </a:cubicBezTo>
                  <a:cubicBezTo>
                    <a:pt x="1102007" y="414935"/>
                    <a:pt x="994201" y="401171"/>
                    <a:pt x="689153" y="410298"/>
                  </a:cubicBezTo>
                  <a:cubicBezTo>
                    <a:pt x="384105" y="419425"/>
                    <a:pt x="138226" y="379883"/>
                    <a:pt x="0" y="410298"/>
                  </a:cubicBezTo>
                  <a:cubicBezTo>
                    <a:pt x="4742" y="257345"/>
                    <a:pt x="1600" y="130689"/>
                    <a:pt x="0" y="0"/>
                  </a:cubicBezTo>
                  <a:close/>
                </a:path>
              </a:pathLst>
            </a:custGeom>
            <a:solidFill>
              <a:srgbClr val="FFCBCF"/>
            </a:solidFill>
            <a:ln w="25400">
              <a:solidFill>
                <a:schemeClr val="tx1"/>
              </a:solidFill>
              <a:extLst>
                <a:ext uri="{C807C97D-BFC1-408E-A445-0C87EB9F89A2}">
                  <ask:lineSketchStyleProps xmlns:ask="http://schemas.microsoft.com/office/drawing/2018/sketchyshapes" sd="3705000160">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tx1"/>
                  </a:solidFill>
                  <a:latin typeface="Arial" panose="020B0604020202020204" pitchFamily="34" charset="0"/>
                  <a:cs typeface="Arial" panose="020B0604020202020204" pitchFamily="34" charset="0"/>
                </a:rPr>
                <a:t>modprobe_path</a:t>
              </a:r>
            </a:p>
          </p:txBody>
        </p:sp>
        <p:sp>
          <p:nvSpPr>
            <p:cNvPr id="25" name="Rectangle 24">
              <a:extLst>
                <a:ext uri="{FF2B5EF4-FFF2-40B4-BE49-F238E27FC236}">
                  <a16:creationId xmlns:a16="http://schemas.microsoft.com/office/drawing/2014/main" id="{A7D1120B-6585-43EA-902F-73CC77DB797B}"/>
                </a:ext>
              </a:extLst>
            </p:cNvPr>
            <p:cNvSpPr/>
            <p:nvPr/>
          </p:nvSpPr>
          <p:spPr>
            <a:xfrm>
              <a:off x="5052893" y="3979072"/>
              <a:ext cx="1330398" cy="362336"/>
            </a:xfrm>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olidFill>
              <a:srgbClr val="FFCBCF"/>
            </a:solidFill>
            <a:ln w="25400">
              <a:solidFill>
                <a:schemeClr val="tx1"/>
              </a:solidFill>
              <a:extLst>
                <a:ext uri="{C807C97D-BFC1-408E-A445-0C87EB9F89A2}">
                  <ask:lineSketchStyleProps xmlns:ask="http://schemas.microsoft.com/office/drawing/2018/sketchyshapes" sd="395084079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tx1"/>
                  </a:solidFill>
                  <a:latin typeface="Arial" panose="020B0604020202020204" pitchFamily="34" charset="0"/>
                  <a:cs typeface="Arial" panose="020B0604020202020204" pitchFamily="34" charset="0"/>
                </a:rPr>
                <a:t>struct cred</a:t>
              </a:r>
            </a:p>
          </p:txBody>
        </p:sp>
        <p:sp>
          <p:nvSpPr>
            <p:cNvPr id="26" name="Rectangle 25">
              <a:extLst>
                <a:ext uri="{FF2B5EF4-FFF2-40B4-BE49-F238E27FC236}">
                  <a16:creationId xmlns:a16="http://schemas.microsoft.com/office/drawing/2014/main" id="{32504725-E8F1-6A06-8579-BEBF7B562392}"/>
                </a:ext>
              </a:extLst>
            </p:cNvPr>
            <p:cNvSpPr/>
            <p:nvPr/>
          </p:nvSpPr>
          <p:spPr>
            <a:xfrm>
              <a:off x="5197883" y="5288014"/>
              <a:ext cx="1330399" cy="362336"/>
            </a:xfrm>
            <a:custGeom>
              <a:avLst/>
              <a:gdLst>
                <a:gd name="connsiteX0" fmla="*/ 0 w 1330399"/>
                <a:gd name="connsiteY0" fmla="*/ 0 h 362336"/>
                <a:gd name="connsiteX1" fmla="*/ 691807 w 1330399"/>
                <a:gd name="connsiteY1" fmla="*/ 0 h 362336"/>
                <a:gd name="connsiteX2" fmla="*/ 1330399 w 1330399"/>
                <a:gd name="connsiteY2" fmla="*/ 0 h 362336"/>
                <a:gd name="connsiteX3" fmla="*/ 1330399 w 1330399"/>
                <a:gd name="connsiteY3" fmla="*/ 362336 h 362336"/>
                <a:gd name="connsiteX4" fmla="*/ 678503 w 1330399"/>
                <a:gd name="connsiteY4" fmla="*/ 362336 h 362336"/>
                <a:gd name="connsiteX5" fmla="*/ 0 w 1330399"/>
                <a:gd name="connsiteY5" fmla="*/ 362336 h 362336"/>
                <a:gd name="connsiteX6" fmla="*/ 0 w 1330399"/>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9" h="362336" fill="none" extrusionOk="0">
                  <a:moveTo>
                    <a:pt x="0" y="0"/>
                  </a:moveTo>
                  <a:cubicBezTo>
                    <a:pt x="275739" y="33293"/>
                    <a:pt x="516221" y="9407"/>
                    <a:pt x="691807" y="0"/>
                  </a:cubicBezTo>
                  <a:cubicBezTo>
                    <a:pt x="867393" y="-9407"/>
                    <a:pt x="1128064" y="-17291"/>
                    <a:pt x="1330399" y="0"/>
                  </a:cubicBezTo>
                  <a:cubicBezTo>
                    <a:pt x="1348364" y="109906"/>
                    <a:pt x="1316786" y="243289"/>
                    <a:pt x="1330399" y="362336"/>
                  </a:cubicBezTo>
                  <a:cubicBezTo>
                    <a:pt x="1159144" y="372829"/>
                    <a:pt x="879735" y="364747"/>
                    <a:pt x="678503" y="362336"/>
                  </a:cubicBezTo>
                  <a:cubicBezTo>
                    <a:pt x="477271" y="359925"/>
                    <a:pt x="197785" y="328980"/>
                    <a:pt x="0" y="362336"/>
                  </a:cubicBezTo>
                  <a:cubicBezTo>
                    <a:pt x="17394" y="248246"/>
                    <a:pt x="-2627" y="162817"/>
                    <a:pt x="0" y="0"/>
                  </a:cubicBezTo>
                  <a:close/>
                </a:path>
                <a:path w="1330399" h="362336" stroke="0" extrusionOk="0">
                  <a:moveTo>
                    <a:pt x="0" y="0"/>
                  </a:moveTo>
                  <a:cubicBezTo>
                    <a:pt x="143700" y="10516"/>
                    <a:pt x="331865" y="-434"/>
                    <a:pt x="651896" y="0"/>
                  </a:cubicBezTo>
                  <a:cubicBezTo>
                    <a:pt x="971927" y="434"/>
                    <a:pt x="1001063" y="2775"/>
                    <a:pt x="1330399" y="0"/>
                  </a:cubicBezTo>
                  <a:cubicBezTo>
                    <a:pt x="1331480" y="157821"/>
                    <a:pt x="1313214" y="234053"/>
                    <a:pt x="1330399" y="362336"/>
                  </a:cubicBezTo>
                  <a:cubicBezTo>
                    <a:pt x="1054807" y="364621"/>
                    <a:pt x="946902" y="355680"/>
                    <a:pt x="665200" y="362336"/>
                  </a:cubicBezTo>
                  <a:cubicBezTo>
                    <a:pt x="383498" y="368992"/>
                    <a:pt x="137718" y="384853"/>
                    <a:pt x="0" y="362336"/>
                  </a:cubicBezTo>
                  <a:cubicBezTo>
                    <a:pt x="5257" y="182137"/>
                    <a:pt x="11973" y="96332"/>
                    <a:pt x="0" y="0"/>
                  </a:cubicBezTo>
                  <a:close/>
                </a:path>
              </a:pathLst>
            </a:custGeom>
            <a:solidFill>
              <a:srgbClr val="FFCBCF"/>
            </a:solidFill>
            <a:ln w="25400">
              <a:solidFill>
                <a:schemeClr val="tx1"/>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tx1"/>
                  </a:solidFill>
                  <a:latin typeface="Arial" panose="020B0604020202020204" pitchFamily="34" charset="0"/>
                  <a:cs typeface="Arial" panose="020B0604020202020204" pitchFamily="34" charset="0"/>
                </a:rPr>
                <a:t>struct file</a:t>
              </a:r>
            </a:p>
          </p:txBody>
        </p:sp>
        <p:sp>
          <p:nvSpPr>
            <p:cNvPr id="32" name="Explosion 1 31">
              <a:extLst>
                <a:ext uri="{FF2B5EF4-FFF2-40B4-BE49-F238E27FC236}">
                  <a16:creationId xmlns:a16="http://schemas.microsoft.com/office/drawing/2014/main" id="{EC5B9AB1-479B-20A2-4270-C0D66359AA77}"/>
                </a:ext>
              </a:extLst>
            </p:cNvPr>
            <p:cNvSpPr/>
            <p:nvPr/>
          </p:nvSpPr>
          <p:spPr>
            <a:xfrm>
              <a:off x="4885529" y="3794097"/>
              <a:ext cx="354962" cy="362336"/>
            </a:xfrm>
            <a:prstGeom prst="irregularSeal1">
              <a:avLst/>
            </a:prstGeom>
            <a:solidFill>
              <a:srgbClr val="FFCBC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33" name="Explosion 1 32">
              <a:extLst>
                <a:ext uri="{FF2B5EF4-FFF2-40B4-BE49-F238E27FC236}">
                  <a16:creationId xmlns:a16="http://schemas.microsoft.com/office/drawing/2014/main" id="{3276B544-B097-7CEC-6D0B-5E0A8599398D}"/>
                </a:ext>
              </a:extLst>
            </p:cNvPr>
            <p:cNvSpPr/>
            <p:nvPr/>
          </p:nvSpPr>
          <p:spPr>
            <a:xfrm>
              <a:off x="5345557" y="4461562"/>
              <a:ext cx="354962" cy="362336"/>
            </a:xfrm>
            <a:prstGeom prst="irregularSeal1">
              <a:avLst/>
            </a:prstGeom>
            <a:solidFill>
              <a:srgbClr val="FFCBC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34" name="Explosion 1 33">
              <a:extLst>
                <a:ext uri="{FF2B5EF4-FFF2-40B4-BE49-F238E27FC236}">
                  <a16:creationId xmlns:a16="http://schemas.microsoft.com/office/drawing/2014/main" id="{BE27B885-7424-C0EC-DA01-BADEE0FC671F}"/>
                </a:ext>
              </a:extLst>
            </p:cNvPr>
            <p:cNvSpPr/>
            <p:nvPr/>
          </p:nvSpPr>
          <p:spPr>
            <a:xfrm>
              <a:off x="5064744" y="5110581"/>
              <a:ext cx="354962" cy="362336"/>
            </a:xfrm>
            <a:prstGeom prst="irregularSeal1">
              <a:avLst/>
            </a:prstGeom>
            <a:solidFill>
              <a:srgbClr val="FFCBC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5C399552-0D2B-02F2-073C-A161A0485B3F}"/>
                </a:ext>
              </a:extLst>
            </p:cNvPr>
            <p:cNvSpPr txBox="1"/>
            <p:nvPr/>
          </p:nvSpPr>
          <p:spPr>
            <a:xfrm>
              <a:off x="6226899" y="3815231"/>
              <a:ext cx="1610176" cy="646331"/>
            </a:xfrm>
            <a:prstGeom prst="rect">
              <a:avLst/>
            </a:prstGeom>
            <a:noFill/>
          </p:spPr>
          <p:txBody>
            <a:bodyPr wrap="square" rtlCol="0">
              <a:spAutoFit/>
            </a:bodyPr>
            <a:lstStyle/>
            <a:p>
              <a:pPr algn="ctr"/>
              <a:r>
                <a:rPr lang="en-KR" i="1" dirty="0">
                  <a:solidFill>
                    <a:srgbClr val="C00000"/>
                  </a:solidFill>
                  <a:latin typeface="Arial" panose="020B0604020202020204" pitchFamily="34" charset="0"/>
                  <a:cs typeface="Arial" panose="020B0604020202020204" pitchFamily="34" charset="0"/>
                </a:rPr>
                <a:t>Memory Corruption</a:t>
              </a:r>
            </a:p>
          </p:txBody>
        </p:sp>
      </p:grpSp>
      <p:sp>
        <p:nvSpPr>
          <p:cNvPr id="36" name="TextBox 35">
            <a:extLst>
              <a:ext uri="{FF2B5EF4-FFF2-40B4-BE49-F238E27FC236}">
                <a16:creationId xmlns:a16="http://schemas.microsoft.com/office/drawing/2014/main" id="{0F815A42-B73E-88F2-2115-CEA601C0F826}"/>
              </a:ext>
            </a:extLst>
          </p:cNvPr>
          <p:cNvSpPr txBox="1"/>
          <p:nvPr/>
        </p:nvSpPr>
        <p:spPr>
          <a:xfrm>
            <a:off x="1595954" y="1592088"/>
            <a:ext cx="1031051" cy="369332"/>
          </a:xfrm>
          <a:prstGeom prst="rect">
            <a:avLst/>
          </a:prstGeom>
          <a:noFill/>
        </p:spPr>
        <p:txBody>
          <a:bodyPr wrap="none" rtlCol="0">
            <a:spAutoFit/>
          </a:bodyPr>
          <a:lstStyle/>
          <a:p>
            <a:pPr algn="l"/>
            <a:r>
              <a:rPr lang="en-KR" dirty="0">
                <a:latin typeface="Arial" panose="020B0604020202020204" pitchFamily="34" charset="0"/>
                <a:cs typeface="Arial" panose="020B0604020202020204" pitchFamily="34" charset="0"/>
              </a:rPr>
              <a:t>Attacker</a:t>
            </a:r>
          </a:p>
        </p:txBody>
      </p:sp>
    </p:spTree>
    <p:extLst>
      <p:ext uri="{BB962C8B-B14F-4D97-AF65-F5344CB8AC3E}">
        <p14:creationId xmlns:p14="http://schemas.microsoft.com/office/powerpoint/2010/main" val="2190984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mph" presetSubtype="2" fill="hold" nodeType="clickEffect">
                                  <p:stCondLst>
                                    <p:cond delay="0"/>
                                  </p:stCondLst>
                                  <p:childTnLst>
                                    <p:animClr clrSpc="rgb" dir="cw">
                                      <p:cBhvr>
                                        <p:cTn id="26" dur="10" fill="hold"/>
                                        <p:tgtEl>
                                          <p:spTgt spid="76"/>
                                        </p:tgtEl>
                                        <p:attrNameLst>
                                          <p:attrName>fillcolor</p:attrName>
                                        </p:attrNameLst>
                                      </p:cBhvr>
                                      <p:to>
                                        <a:srgbClr val="FFCBCF"/>
                                      </p:to>
                                    </p:animClr>
                                    <p:set>
                                      <p:cBhvr>
                                        <p:cTn id="27" dur="10" fill="hold"/>
                                        <p:tgtEl>
                                          <p:spTgt spid="76"/>
                                        </p:tgtEl>
                                        <p:attrNameLst>
                                          <p:attrName>fill.type</p:attrName>
                                        </p:attrNameLst>
                                      </p:cBhvr>
                                      <p:to>
                                        <p:strVal val="solid"/>
                                      </p:to>
                                    </p:set>
                                    <p:set>
                                      <p:cBhvr>
                                        <p:cTn id="28" dur="10" fill="hold"/>
                                        <p:tgtEl>
                                          <p:spTgt spid="76"/>
                                        </p:tgtEl>
                                        <p:attrNameLst>
                                          <p:attrName>fill.on</p:attrName>
                                        </p:attrNameLst>
                                      </p:cBhvr>
                                      <p:to>
                                        <p:strVal val="true"/>
                                      </p:to>
                                    </p:set>
                                  </p:childTnLst>
                                </p:cTn>
                              </p:par>
                              <p:par>
                                <p:cTn id="29" presetID="1" presetClass="entr" presetSubtype="0" fill="hold" nodeType="withEffect">
                                  <p:stCondLst>
                                    <p:cond delay="0"/>
                                  </p:stCondLst>
                                  <p:childTnLst>
                                    <p:set>
                                      <p:cBhvr>
                                        <p:cTn id="30" dur="1" fill="hold">
                                          <p:stCondLst>
                                            <p:cond delay="0"/>
                                          </p:stCondLst>
                                        </p:cTn>
                                        <p:tgtEl>
                                          <p:spTgt spid="10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2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2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3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6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mph" presetSubtype="2" fill="hold" nodeType="clickEffect">
                                  <p:stCondLst>
                                    <p:cond delay="0"/>
                                  </p:stCondLst>
                                  <p:childTnLst>
                                    <p:animClr clrSpc="rgb" dir="cw">
                                      <p:cBhvr>
                                        <p:cTn id="76" dur="10" fill="hold"/>
                                        <p:tgtEl>
                                          <p:spTgt spid="125"/>
                                        </p:tgtEl>
                                        <p:attrNameLst>
                                          <p:attrName>fillcolor</p:attrName>
                                        </p:attrNameLst>
                                      </p:cBhvr>
                                      <p:to>
                                        <a:srgbClr val="FFCBCF"/>
                                      </p:to>
                                    </p:animClr>
                                    <p:set>
                                      <p:cBhvr>
                                        <p:cTn id="77" dur="10" fill="hold"/>
                                        <p:tgtEl>
                                          <p:spTgt spid="125"/>
                                        </p:tgtEl>
                                        <p:attrNameLst>
                                          <p:attrName>fill.type</p:attrName>
                                        </p:attrNameLst>
                                      </p:cBhvr>
                                      <p:to>
                                        <p:strVal val="solid"/>
                                      </p:to>
                                    </p:set>
                                    <p:set>
                                      <p:cBhvr>
                                        <p:cTn id="78" dur="10" fill="hold"/>
                                        <p:tgtEl>
                                          <p:spTgt spid="125"/>
                                        </p:tgtEl>
                                        <p:attrNameLst>
                                          <p:attrName>fill.on</p:attrName>
                                        </p:attrNameLst>
                                      </p:cBhvr>
                                      <p:to>
                                        <p:strVal val="true"/>
                                      </p:to>
                                    </p:set>
                                  </p:childTnLst>
                                </p:cTn>
                              </p:par>
                              <p:par>
                                <p:cTn id="79" presetID="1" presetClass="entr" presetSubtype="0" fill="hold" grpId="0" nodeType="withEffect">
                                  <p:stCondLst>
                                    <p:cond delay="0"/>
                                  </p:stCondLst>
                                  <p:childTnLst>
                                    <p:set>
                                      <p:cBhvr>
                                        <p:cTn id="80" dur="1" fill="hold">
                                          <p:stCondLst>
                                            <p:cond delay="0"/>
                                          </p:stCondLst>
                                        </p:cTn>
                                        <p:tgtEl>
                                          <p:spTgt spid="13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2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mph" presetSubtype="2" fill="hold" nodeType="clickEffect">
                                  <p:stCondLst>
                                    <p:cond delay="0"/>
                                  </p:stCondLst>
                                  <p:childTnLst>
                                    <p:animClr clrSpc="rgb" dir="cw">
                                      <p:cBhvr>
                                        <p:cTn id="86" dur="10" fill="hold"/>
                                        <p:tgtEl>
                                          <p:spTgt spid="126"/>
                                        </p:tgtEl>
                                        <p:attrNameLst>
                                          <p:attrName>fillcolor</p:attrName>
                                        </p:attrNameLst>
                                      </p:cBhvr>
                                      <p:to>
                                        <a:srgbClr val="FFCBCF"/>
                                      </p:to>
                                    </p:animClr>
                                    <p:set>
                                      <p:cBhvr>
                                        <p:cTn id="87" dur="10" fill="hold"/>
                                        <p:tgtEl>
                                          <p:spTgt spid="126"/>
                                        </p:tgtEl>
                                        <p:attrNameLst>
                                          <p:attrName>fill.type</p:attrName>
                                        </p:attrNameLst>
                                      </p:cBhvr>
                                      <p:to>
                                        <p:strVal val="solid"/>
                                      </p:to>
                                    </p:set>
                                    <p:set>
                                      <p:cBhvr>
                                        <p:cTn id="88" dur="10" fill="hold"/>
                                        <p:tgtEl>
                                          <p:spTgt spid="126"/>
                                        </p:tgtEl>
                                        <p:attrNameLst>
                                          <p:attrName>fill.on</p:attrName>
                                        </p:attrNameLst>
                                      </p:cBhvr>
                                      <p:to>
                                        <p:strVal val="true"/>
                                      </p:to>
                                    </p:set>
                                  </p:childTnLst>
                                </p:cTn>
                              </p:par>
                              <p:par>
                                <p:cTn id="89" presetID="1" presetClass="entr" presetSubtype="0" fill="hold" nodeType="withEffect">
                                  <p:stCondLst>
                                    <p:cond delay="0"/>
                                  </p:stCondLst>
                                  <p:childTnLst>
                                    <p:set>
                                      <p:cBhvr>
                                        <p:cTn id="90" dur="1" fill="hold">
                                          <p:stCondLst>
                                            <p:cond delay="0"/>
                                          </p:stCondLst>
                                        </p:cTn>
                                        <p:tgtEl>
                                          <p:spTgt spid="12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6" grpId="0" animBg="1"/>
      <p:bldP spid="80" grpId="0" animBg="1"/>
      <p:bldP spid="87" grpId="0"/>
      <p:bldP spid="108" grpId="0" animBg="1"/>
      <p:bldP spid="109" grpId="0"/>
      <p:bldP spid="113" grpId="0" animBg="1"/>
      <p:bldP spid="118" grpId="0" animBg="1"/>
      <p:bldP spid="133" grpId="0" animBg="1"/>
      <p:bldP spid="136" grpId="0" animBg="1"/>
      <p:bldP spid="163" grpId="0" animBg="1"/>
      <p:bldP spid="8" grpId="0"/>
      <p:bldP spid="124" grpId="0"/>
      <p:bldP spid="125" grpId="0" animBg="1"/>
      <p:bldP spid="126" grpId="0" animBg="1"/>
      <p:bldP spid="127" grpId="0"/>
      <p:bldP spid="130" grpId="0" animBg="1"/>
      <p:bldP spid="131" grpId="0"/>
      <p:bldP spid="13" grpId="0"/>
      <p:bldP spid="15" grpId="0"/>
      <p:bldP spid="3" grpId="0" animBg="1"/>
      <p:bldP spid="3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A19E2-E934-E691-CE03-4BF92146D744}"/>
              </a:ext>
            </a:extLst>
          </p:cNvPr>
          <p:cNvSpPr>
            <a:spLocks noGrp="1"/>
          </p:cNvSpPr>
          <p:nvPr>
            <p:ph type="title"/>
          </p:nvPr>
        </p:nvSpPr>
        <p:spPr/>
        <p:txBody>
          <a:bodyPr>
            <a:normAutofit/>
          </a:bodyPr>
          <a:lstStyle/>
          <a:p>
            <a:r>
              <a:rPr lang="en-KR" sz="4000" dirty="0"/>
              <a:t>Protecting Access Control to Prevent Attacks</a:t>
            </a:r>
          </a:p>
        </p:txBody>
      </p:sp>
      <p:sp>
        <p:nvSpPr>
          <p:cNvPr id="4" name="Slide Number Placeholder 3">
            <a:extLst>
              <a:ext uri="{FF2B5EF4-FFF2-40B4-BE49-F238E27FC236}">
                <a16:creationId xmlns:a16="http://schemas.microsoft.com/office/drawing/2014/main" id="{DA2321D8-050F-8390-B2CC-1A0281484437}"/>
              </a:ext>
            </a:extLst>
          </p:cNvPr>
          <p:cNvSpPr>
            <a:spLocks noGrp="1"/>
          </p:cNvSpPr>
          <p:nvPr>
            <p:ph type="sldNum" sz="quarter" idx="12"/>
          </p:nvPr>
        </p:nvSpPr>
        <p:spPr/>
        <p:txBody>
          <a:bodyPr/>
          <a:lstStyle/>
          <a:p>
            <a:fld id="{9ED31AF7-B9C1-7944-AC45-A988640FDEFC}" type="slidenum">
              <a:rPr lang="en-KR" smtClean="0"/>
              <a:t>4</a:t>
            </a:fld>
            <a:endParaRPr lang="en-KR" dirty="0"/>
          </a:p>
        </p:txBody>
      </p:sp>
      <p:sp>
        <p:nvSpPr>
          <p:cNvPr id="23" name="TextBox 22">
            <a:extLst>
              <a:ext uri="{FF2B5EF4-FFF2-40B4-BE49-F238E27FC236}">
                <a16:creationId xmlns:a16="http://schemas.microsoft.com/office/drawing/2014/main" id="{236DA7BE-F1DD-F8BA-B904-469A33B9E05C}"/>
              </a:ext>
            </a:extLst>
          </p:cNvPr>
          <p:cNvSpPr txBox="1"/>
          <p:nvPr/>
        </p:nvSpPr>
        <p:spPr>
          <a:xfrm>
            <a:off x="899776" y="5405361"/>
            <a:ext cx="917830" cy="396000"/>
          </a:xfrm>
          <a:prstGeom prst="roundRect">
            <a:avLst/>
          </a:prstGeom>
          <a:solidFill>
            <a:srgbClr val="FFCBCF"/>
          </a:solidFill>
          <a:ln w="25400">
            <a:solidFill>
              <a:schemeClr val="tx1"/>
            </a:solidFill>
          </a:ln>
        </p:spPr>
        <p:txBody>
          <a:bodyPr wrap="square" rtlCol="0">
            <a:spAutoFit/>
          </a:bodyPr>
          <a:lstStyle/>
          <a:p>
            <a:pPr algn="ctr"/>
            <a:r>
              <a:rPr lang="en-KR" dirty="0">
                <a:latin typeface="Arial" panose="020B0604020202020204" pitchFamily="34" charset="0"/>
                <a:cs typeface="Arial" panose="020B0604020202020204" pitchFamily="34" charset="0"/>
              </a:rPr>
              <a:t>File</a:t>
            </a:r>
          </a:p>
        </p:txBody>
      </p:sp>
      <p:sp>
        <p:nvSpPr>
          <p:cNvPr id="24" name="TextBox 23">
            <a:extLst>
              <a:ext uri="{FF2B5EF4-FFF2-40B4-BE49-F238E27FC236}">
                <a16:creationId xmlns:a16="http://schemas.microsoft.com/office/drawing/2014/main" id="{442CE536-4943-0907-A75A-C847B12DA52B}"/>
              </a:ext>
            </a:extLst>
          </p:cNvPr>
          <p:cNvSpPr txBox="1"/>
          <p:nvPr/>
        </p:nvSpPr>
        <p:spPr>
          <a:xfrm>
            <a:off x="2570925" y="5405361"/>
            <a:ext cx="917830" cy="396000"/>
          </a:xfrm>
          <a:prstGeom prst="roundRect">
            <a:avLst/>
          </a:prstGeom>
          <a:solidFill>
            <a:schemeClr val="bg1"/>
          </a:solidFill>
          <a:ln w="25400">
            <a:solidFill>
              <a:schemeClr val="tx1"/>
            </a:solidFill>
          </a:ln>
        </p:spPr>
        <p:txBody>
          <a:bodyPr wrap="square" rtlCol="0">
            <a:spAutoFit/>
          </a:bodyPr>
          <a:lstStyle/>
          <a:p>
            <a:pPr algn="ctr"/>
            <a:r>
              <a:rPr lang="en-KR" dirty="0">
                <a:latin typeface="Arial" panose="020B0604020202020204" pitchFamily="34" charset="0"/>
                <a:cs typeface="Arial" panose="020B0604020202020204" pitchFamily="34" charset="0"/>
              </a:rPr>
              <a:t>File</a:t>
            </a:r>
          </a:p>
        </p:txBody>
      </p:sp>
      <p:sp>
        <p:nvSpPr>
          <p:cNvPr id="27" name="TextBox 26">
            <a:extLst>
              <a:ext uri="{FF2B5EF4-FFF2-40B4-BE49-F238E27FC236}">
                <a16:creationId xmlns:a16="http://schemas.microsoft.com/office/drawing/2014/main" id="{05A76A84-FEDC-2F21-54DA-09DB502230C1}"/>
              </a:ext>
            </a:extLst>
          </p:cNvPr>
          <p:cNvSpPr txBox="1"/>
          <p:nvPr/>
        </p:nvSpPr>
        <p:spPr>
          <a:xfrm>
            <a:off x="446242" y="5824393"/>
            <a:ext cx="1741694" cy="584775"/>
          </a:xfrm>
          <a:prstGeom prst="rect">
            <a:avLst/>
          </a:prstGeom>
          <a:noFill/>
        </p:spPr>
        <p:txBody>
          <a:bodyPr wrap="square">
            <a:spAutoFit/>
          </a:bodyPr>
          <a:lstStyle/>
          <a:p>
            <a:pPr algn="ctr"/>
            <a:r>
              <a:rPr lang="en-KR" sz="1600" dirty="0">
                <a:latin typeface="Arial" panose="020B0604020202020204" pitchFamily="34" charset="0"/>
                <a:cs typeface="Arial" panose="020B0604020202020204" pitchFamily="34" charset="0"/>
              </a:rPr>
              <a:t>/home/attacker/my_file</a:t>
            </a:r>
          </a:p>
        </p:txBody>
      </p:sp>
      <p:cxnSp>
        <p:nvCxnSpPr>
          <p:cNvPr id="29" name="Straight Arrow Connector 28">
            <a:extLst>
              <a:ext uri="{FF2B5EF4-FFF2-40B4-BE49-F238E27FC236}">
                <a16:creationId xmlns:a16="http://schemas.microsoft.com/office/drawing/2014/main" id="{7AE92A54-E1B4-F6AD-4DD4-26130A6A3337}"/>
              </a:ext>
            </a:extLst>
          </p:cNvPr>
          <p:cNvCxnSpPr>
            <a:cxnSpLocks/>
            <a:endCxn id="23" idx="0"/>
          </p:cNvCxnSpPr>
          <p:nvPr/>
        </p:nvCxnSpPr>
        <p:spPr>
          <a:xfrm flipH="1">
            <a:off x="1358691" y="2751215"/>
            <a:ext cx="692531" cy="2654146"/>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21ED546-46D5-572F-9AFB-878D28A32048}"/>
              </a:ext>
            </a:extLst>
          </p:cNvPr>
          <p:cNvCxnSpPr>
            <a:cxnSpLocks/>
            <a:endCxn id="24" idx="0"/>
          </p:cNvCxnSpPr>
          <p:nvPr/>
        </p:nvCxnSpPr>
        <p:spPr>
          <a:xfrm>
            <a:off x="2051222" y="2751215"/>
            <a:ext cx="978618" cy="2654146"/>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Rounded Rectangle 30">
            <a:extLst>
              <a:ext uri="{FF2B5EF4-FFF2-40B4-BE49-F238E27FC236}">
                <a16:creationId xmlns:a16="http://schemas.microsoft.com/office/drawing/2014/main" id="{66644F5D-0904-0691-FA40-97DB211C1E15}"/>
              </a:ext>
            </a:extLst>
          </p:cNvPr>
          <p:cNvSpPr/>
          <p:nvPr/>
        </p:nvSpPr>
        <p:spPr>
          <a:xfrm>
            <a:off x="673612" y="3636158"/>
            <a:ext cx="3006874" cy="795416"/>
          </a:xfrm>
          <a:prstGeom prst="roundRect">
            <a:avLst/>
          </a:prstGeom>
          <a:solidFill>
            <a:schemeClr val="accent5">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000" dirty="0">
                <a:solidFill>
                  <a:schemeClr val="tx1"/>
                </a:solidFill>
                <a:latin typeface="Arial" panose="020B0604020202020204" pitchFamily="34" charset="0"/>
                <a:cs typeface="Arial" panose="020B0604020202020204" pitchFamily="34" charset="0"/>
              </a:rPr>
              <a:t>Access control</a:t>
            </a:r>
          </a:p>
        </p:txBody>
      </p:sp>
      <p:sp>
        <p:nvSpPr>
          <p:cNvPr id="32" name="TextBox 31">
            <a:extLst>
              <a:ext uri="{FF2B5EF4-FFF2-40B4-BE49-F238E27FC236}">
                <a16:creationId xmlns:a16="http://schemas.microsoft.com/office/drawing/2014/main" id="{2B8F4104-4876-BBD2-57C2-EF68833F0DF8}"/>
              </a:ext>
            </a:extLst>
          </p:cNvPr>
          <p:cNvSpPr txBox="1"/>
          <p:nvPr/>
        </p:nvSpPr>
        <p:spPr>
          <a:xfrm>
            <a:off x="547053" y="3270861"/>
            <a:ext cx="811409" cy="351936"/>
          </a:xfrm>
          <a:prstGeom prst="rect">
            <a:avLst/>
          </a:prstGeom>
          <a:noFill/>
        </p:spPr>
        <p:txBody>
          <a:bodyPr wrap="none" rtlCol="0">
            <a:spAutoFit/>
          </a:bodyPr>
          <a:lstStyle/>
          <a:p>
            <a:pPr algn="ctr"/>
            <a:r>
              <a:rPr lang="en-KR" dirty="0">
                <a:latin typeface="Arial" panose="020B0604020202020204" pitchFamily="34" charset="0"/>
                <a:cs typeface="Arial" panose="020B0604020202020204" pitchFamily="34" charset="0"/>
              </a:rPr>
              <a:t>Kernel</a:t>
            </a:r>
          </a:p>
        </p:txBody>
      </p:sp>
      <p:sp>
        <p:nvSpPr>
          <p:cNvPr id="33" name="Donut 32">
            <a:extLst>
              <a:ext uri="{FF2B5EF4-FFF2-40B4-BE49-F238E27FC236}">
                <a16:creationId xmlns:a16="http://schemas.microsoft.com/office/drawing/2014/main" id="{F51DC599-A712-C045-90D3-DC8A21C69635}"/>
              </a:ext>
            </a:extLst>
          </p:cNvPr>
          <p:cNvSpPr/>
          <p:nvPr/>
        </p:nvSpPr>
        <p:spPr>
          <a:xfrm>
            <a:off x="930631" y="4715931"/>
            <a:ext cx="343044" cy="343044"/>
          </a:xfrm>
          <a:prstGeom prst="donut">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rgbClr val="C00000"/>
              </a:solidFill>
              <a:latin typeface="Arial" panose="020B0604020202020204" pitchFamily="34" charset="0"/>
              <a:cs typeface="Arial" panose="020B0604020202020204" pitchFamily="34" charset="0"/>
            </a:endParaRPr>
          </a:p>
        </p:txBody>
      </p:sp>
      <p:sp>
        <p:nvSpPr>
          <p:cNvPr id="34" name="&quot;No&quot; Symbol 33">
            <a:extLst>
              <a:ext uri="{FF2B5EF4-FFF2-40B4-BE49-F238E27FC236}">
                <a16:creationId xmlns:a16="http://schemas.microsoft.com/office/drawing/2014/main" id="{E82A21FF-05D6-F15F-A764-E66AB3A5599A}"/>
              </a:ext>
            </a:extLst>
          </p:cNvPr>
          <p:cNvSpPr/>
          <p:nvPr/>
        </p:nvSpPr>
        <p:spPr>
          <a:xfrm>
            <a:off x="3083471" y="4710372"/>
            <a:ext cx="343044" cy="343044"/>
          </a:xfrm>
          <a:prstGeom prst="noSmoking">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1CA9F688-5865-6C35-0C23-AFD0537B417A}"/>
              </a:ext>
            </a:extLst>
          </p:cNvPr>
          <p:cNvSpPr txBox="1"/>
          <p:nvPr/>
        </p:nvSpPr>
        <p:spPr>
          <a:xfrm>
            <a:off x="1595954" y="1592088"/>
            <a:ext cx="1031051" cy="369332"/>
          </a:xfrm>
          <a:prstGeom prst="rect">
            <a:avLst/>
          </a:prstGeom>
          <a:noFill/>
        </p:spPr>
        <p:txBody>
          <a:bodyPr wrap="none" rtlCol="0">
            <a:spAutoFit/>
          </a:bodyPr>
          <a:lstStyle/>
          <a:p>
            <a:pPr algn="l"/>
            <a:r>
              <a:rPr lang="en-KR" dirty="0">
                <a:latin typeface="Arial" panose="020B0604020202020204" pitchFamily="34" charset="0"/>
                <a:cs typeface="Arial" panose="020B0604020202020204" pitchFamily="34" charset="0"/>
              </a:rPr>
              <a:t>Attacker</a:t>
            </a:r>
          </a:p>
        </p:txBody>
      </p:sp>
      <p:sp>
        <p:nvSpPr>
          <p:cNvPr id="36" name="TextBox 35">
            <a:extLst>
              <a:ext uri="{FF2B5EF4-FFF2-40B4-BE49-F238E27FC236}">
                <a16:creationId xmlns:a16="http://schemas.microsoft.com/office/drawing/2014/main" id="{93B34FEE-69B2-2FBA-AA4F-0B9245D4A52F}"/>
              </a:ext>
            </a:extLst>
          </p:cNvPr>
          <p:cNvSpPr txBox="1"/>
          <p:nvPr/>
        </p:nvSpPr>
        <p:spPr>
          <a:xfrm>
            <a:off x="2324108" y="2009017"/>
            <a:ext cx="1272070" cy="707886"/>
          </a:xfrm>
          <a:prstGeom prst="rect">
            <a:avLst/>
          </a:prstGeom>
          <a:noFill/>
        </p:spPr>
        <p:txBody>
          <a:bodyPr wrap="square" rtlCol="0">
            <a:spAutoFit/>
          </a:bodyPr>
          <a:lstStyle/>
          <a:p>
            <a:pPr algn="ctr"/>
            <a:r>
              <a:rPr lang="en-KR" sz="2000" dirty="0">
                <a:latin typeface="Arial" panose="020B0604020202020204" pitchFamily="34" charset="0"/>
                <a:cs typeface="Arial" panose="020B0604020202020204" pitchFamily="34" charset="0"/>
              </a:rPr>
              <a:t>Privilege</a:t>
            </a:r>
          </a:p>
          <a:p>
            <a:pPr algn="ctr"/>
            <a:r>
              <a:rPr lang="en-KR" sz="2000" dirty="0">
                <a:latin typeface="Arial" panose="020B0604020202020204" pitchFamily="34" charset="0"/>
                <a:cs typeface="Arial" panose="020B0604020202020204" pitchFamily="34" charset="0"/>
              </a:rPr>
              <a:t>: </a:t>
            </a:r>
            <a:r>
              <a:rPr lang="en-KR" sz="2000" b="1" dirty="0">
                <a:solidFill>
                  <a:srgbClr val="0070C0"/>
                </a:solidFill>
                <a:latin typeface="Arial" panose="020B0604020202020204" pitchFamily="34" charset="0"/>
                <a:cs typeface="Arial" panose="020B0604020202020204" pitchFamily="34" charset="0"/>
              </a:rPr>
              <a:t>Low</a:t>
            </a:r>
          </a:p>
        </p:txBody>
      </p:sp>
      <p:pic>
        <p:nvPicPr>
          <p:cNvPr id="37" name="Picture 36">
            <a:extLst>
              <a:ext uri="{FF2B5EF4-FFF2-40B4-BE49-F238E27FC236}">
                <a16:creationId xmlns:a16="http://schemas.microsoft.com/office/drawing/2014/main" id="{256CD401-BE4A-B107-603C-92C956678AE7}"/>
              </a:ext>
            </a:extLst>
          </p:cNvPr>
          <p:cNvPicPr>
            <a:picLocks noChangeAspect="1"/>
          </p:cNvPicPr>
          <p:nvPr/>
        </p:nvPicPr>
        <p:blipFill>
          <a:blip r:embed="rId3">
            <a:duotone>
              <a:prstClr val="black"/>
              <a:srgbClr val="FF0000">
                <a:tint val="45000"/>
                <a:satMod val="400000"/>
              </a:srgbClr>
            </a:duotone>
            <a:extLst>
              <a:ext uri="{BEBA8EAE-BF5A-486C-A8C5-ECC9F3942E4B}">
                <a14:imgProps xmlns:a14="http://schemas.microsoft.com/office/drawing/2010/main">
                  <a14:imgLayer r:embed="rId4">
                    <a14:imgEffect>
                      <a14:brightnessContrast bright="20000" contrast="20000"/>
                    </a14:imgEffect>
                  </a14:imgLayer>
                </a14:imgProps>
              </a:ext>
            </a:extLst>
          </a:blip>
          <a:stretch>
            <a:fillRect/>
          </a:stretch>
        </p:blipFill>
        <p:spPr>
          <a:xfrm>
            <a:off x="1759958" y="2053354"/>
            <a:ext cx="582527" cy="582527"/>
          </a:xfrm>
          <a:prstGeom prst="rect">
            <a:avLst/>
          </a:prstGeom>
        </p:spPr>
      </p:pic>
      <p:grpSp>
        <p:nvGrpSpPr>
          <p:cNvPr id="149" name="Group 148">
            <a:extLst>
              <a:ext uri="{FF2B5EF4-FFF2-40B4-BE49-F238E27FC236}">
                <a16:creationId xmlns:a16="http://schemas.microsoft.com/office/drawing/2014/main" id="{5FD1BE7C-E4E5-60C1-9608-282D7949631E}"/>
              </a:ext>
            </a:extLst>
          </p:cNvPr>
          <p:cNvGrpSpPr/>
          <p:nvPr/>
        </p:nvGrpSpPr>
        <p:grpSpPr>
          <a:xfrm>
            <a:off x="4005730" y="1592088"/>
            <a:ext cx="3733801" cy="4900787"/>
            <a:chOff x="4005730" y="1592088"/>
            <a:chExt cx="3733801" cy="4900787"/>
          </a:xfrm>
        </p:grpSpPr>
        <p:sp>
          <p:nvSpPr>
            <p:cNvPr id="16" name="TextBox 15">
              <a:extLst>
                <a:ext uri="{FF2B5EF4-FFF2-40B4-BE49-F238E27FC236}">
                  <a16:creationId xmlns:a16="http://schemas.microsoft.com/office/drawing/2014/main" id="{B78D9F88-F11C-0D6E-88A6-8B7385CEE535}"/>
                </a:ext>
              </a:extLst>
            </p:cNvPr>
            <p:cNvSpPr txBox="1"/>
            <p:nvPr/>
          </p:nvSpPr>
          <p:spPr>
            <a:xfrm>
              <a:off x="4655905" y="3260541"/>
              <a:ext cx="811409" cy="351936"/>
            </a:xfrm>
            <a:prstGeom prst="rect">
              <a:avLst/>
            </a:prstGeom>
            <a:noFill/>
          </p:spPr>
          <p:txBody>
            <a:bodyPr wrap="none" rtlCol="0">
              <a:spAutoFit/>
            </a:bodyPr>
            <a:lstStyle/>
            <a:p>
              <a:pPr algn="ctr"/>
              <a:r>
                <a:rPr lang="en-KR" dirty="0">
                  <a:latin typeface="Arial" panose="020B0604020202020204" pitchFamily="34" charset="0"/>
                  <a:cs typeface="Arial" panose="020B0604020202020204" pitchFamily="34" charset="0"/>
                </a:rPr>
                <a:t>Kernel</a:t>
              </a:r>
            </a:p>
          </p:txBody>
        </p:sp>
        <p:cxnSp>
          <p:nvCxnSpPr>
            <p:cNvPr id="18" name="Straight Arrow Connector 17">
              <a:extLst>
                <a:ext uri="{FF2B5EF4-FFF2-40B4-BE49-F238E27FC236}">
                  <a16:creationId xmlns:a16="http://schemas.microsoft.com/office/drawing/2014/main" id="{FE24046D-4112-BA5F-D60D-14D628D6E710}"/>
                </a:ext>
              </a:extLst>
            </p:cNvPr>
            <p:cNvCxnSpPr>
              <a:cxnSpLocks/>
            </p:cNvCxnSpPr>
            <p:nvPr/>
          </p:nvCxnSpPr>
          <p:spPr>
            <a:xfrm flipH="1">
              <a:off x="6007819" y="2742326"/>
              <a:ext cx="3918" cy="899699"/>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A7D1120B-6585-43EA-902F-73CC77DB797B}"/>
                </a:ext>
              </a:extLst>
            </p:cNvPr>
            <p:cNvSpPr/>
            <p:nvPr/>
          </p:nvSpPr>
          <p:spPr>
            <a:xfrm>
              <a:off x="5181264" y="3979072"/>
              <a:ext cx="1330398" cy="362336"/>
            </a:xfrm>
            <a:prstGeom prst="rect">
              <a:avLst/>
            </a:prstGeom>
            <a:solidFill>
              <a:schemeClr val="accent5">
                <a:lumMod val="20000"/>
                <a:lumOff val="8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tx1"/>
                  </a:solidFill>
                  <a:latin typeface="Arial" panose="020B0604020202020204" pitchFamily="34" charset="0"/>
                  <a:cs typeface="Arial" panose="020B0604020202020204" pitchFamily="34" charset="0"/>
                </a:rPr>
                <a:t>struct cred</a:t>
              </a:r>
            </a:p>
          </p:txBody>
        </p:sp>
        <p:sp>
          <p:nvSpPr>
            <p:cNvPr id="26" name="Rectangle 25">
              <a:extLst>
                <a:ext uri="{FF2B5EF4-FFF2-40B4-BE49-F238E27FC236}">
                  <a16:creationId xmlns:a16="http://schemas.microsoft.com/office/drawing/2014/main" id="{32504725-E8F1-6A06-8579-BEBF7B562392}"/>
                </a:ext>
              </a:extLst>
            </p:cNvPr>
            <p:cNvSpPr/>
            <p:nvPr/>
          </p:nvSpPr>
          <p:spPr>
            <a:xfrm>
              <a:off x="5194749" y="5288014"/>
              <a:ext cx="1330399" cy="362336"/>
            </a:xfrm>
            <a:prstGeom prst="rect">
              <a:avLst/>
            </a:prstGeom>
            <a:solidFill>
              <a:schemeClr val="accent5">
                <a:lumMod val="20000"/>
                <a:lumOff val="80000"/>
              </a:schemeClr>
            </a:solidFill>
            <a:ln w="25400">
              <a:solidFill>
                <a:schemeClr val="tx1"/>
              </a:solidFill>
              <a:extLst>
                <a:ext uri="{C807C97D-BFC1-408E-A445-0C87EB9F89A2}">
                  <ask:lineSketchStyleProps xmlns:ask="http://schemas.microsoft.com/office/drawing/2018/sketchyshapes" sd="1219033472">
                    <a:custGeom>
                      <a:avLst/>
                      <a:gdLst>
                        <a:gd name="connsiteX0" fmla="*/ 0 w 1330399"/>
                        <a:gd name="connsiteY0" fmla="*/ 0 h 362336"/>
                        <a:gd name="connsiteX1" fmla="*/ 691807 w 1330399"/>
                        <a:gd name="connsiteY1" fmla="*/ 0 h 362336"/>
                        <a:gd name="connsiteX2" fmla="*/ 1330399 w 1330399"/>
                        <a:gd name="connsiteY2" fmla="*/ 0 h 362336"/>
                        <a:gd name="connsiteX3" fmla="*/ 1330399 w 1330399"/>
                        <a:gd name="connsiteY3" fmla="*/ 362336 h 362336"/>
                        <a:gd name="connsiteX4" fmla="*/ 678503 w 1330399"/>
                        <a:gd name="connsiteY4" fmla="*/ 362336 h 362336"/>
                        <a:gd name="connsiteX5" fmla="*/ 0 w 1330399"/>
                        <a:gd name="connsiteY5" fmla="*/ 362336 h 362336"/>
                        <a:gd name="connsiteX6" fmla="*/ 0 w 1330399"/>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9" h="362336" fill="none" extrusionOk="0">
                          <a:moveTo>
                            <a:pt x="0" y="0"/>
                          </a:moveTo>
                          <a:cubicBezTo>
                            <a:pt x="275739" y="33293"/>
                            <a:pt x="516221" y="9407"/>
                            <a:pt x="691807" y="0"/>
                          </a:cubicBezTo>
                          <a:cubicBezTo>
                            <a:pt x="867393" y="-9407"/>
                            <a:pt x="1128064" y="-17291"/>
                            <a:pt x="1330399" y="0"/>
                          </a:cubicBezTo>
                          <a:cubicBezTo>
                            <a:pt x="1348364" y="109906"/>
                            <a:pt x="1316786" y="243289"/>
                            <a:pt x="1330399" y="362336"/>
                          </a:cubicBezTo>
                          <a:cubicBezTo>
                            <a:pt x="1159144" y="372829"/>
                            <a:pt x="879735" y="364747"/>
                            <a:pt x="678503" y="362336"/>
                          </a:cubicBezTo>
                          <a:cubicBezTo>
                            <a:pt x="477271" y="359925"/>
                            <a:pt x="197785" y="328980"/>
                            <a:pt x="0" y="362336"/>
                          </a:cubicBezTo>
                          <a:cubicBezTo>
                            <a:pt x="17394" y="248246"/>
                            <a:pt x="-2627" y="162817"/>
                            <a:pt x="0" y="0"/>
                          </a:cubicBezTo>
                          <a:close/>
                        </a:path>
                        <a:path w="1330399" h="362336" stroke="0" extrusionOk="0">
                          <a:moveTo>
                            <a:pt x="0" y="0"/>
                          </a:moveTo>
                          <a:cubicBezTo>
                            <a:pt x="143700" y="10516"/>
                            <a:pt x="331865" y="-434"/>
                            <a:pt x="651896" y="0"/>
                          </a:cubicBezTo>
                          <a:cubicBezTo>
                            <a:pt x="971927" y="434"/>
                            <a:pt x="1001063" y="2775"/>
                            <a:pt x="1330399" y="0"/>
                          </a:cubicBezTo>
                          <a:cubicBezTo>
                            <a:pt x="1331480" y="157821"/>
                            <a:pt x="1313214" y="234053"/>
                            <a:pt x="1330399" y="362336"/>
                          </a:cubicBezTo>
                          <a:cubicBezTo>
                            <a:pt x="1054807" y="364621"/>
                            <a:pt x="946902" y="355680"/>
                            <a:pt x="665200" y="362336"/>
                          </a:cubicBezTo>
                          <a:cubicBezTo>
                            <a:pt x="383498" y="368992"/>
                            <a:pt x="137718" y="384853"/>
                            <a:pt x="0" y="362336"/>
                          </a:cubicBezTo>
                          <a:cubicBezTo>
                            <a:pt x="5257" y="182137"/>
                            <a:pt x="11973" y="96332"/>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tx1"/>
                  </a:solidFill>
                  <a:latin typeface="Arial" panose="020B0604020202020204" pitchFamily="34" charset="0"/>
                  <a:cs typeface="Arial" panose="020B0604020202020204" pitchFamily="34" charset="0"/>
                </a:rPr>
                <a:t>struct file</a:t>
              </a:r>
            </a:p>
          </p:txBody>
        </p:sp>
        <p:sp>
          <p:nvSpPr>
            <p:cNvPr id="28" name="Rectangle 27">
              <a:extLst>
                <a:ext uri="{FF2B5EF4-FFF2-40B4-BE49-F238E27FC236}">
                  <a16:creationId xmlns:a16="http://schemas.microsoft.com/office/drawing/2014/main" id="{F31B1E35-66DB-F30D-3D06-5C9E63A69FB6}"/>
                </a:ext>
              </a:extLst>
            </p:cNvPr>
            <p:cNvSpPr/>
            <p:nvPr/>
          </p:nvSpPr>
          <p:spPr>
            <a:xfrm>
              <a:off x="5514088" y="4633421"/>
              <a:ext cx="2007243" cy="410298"/>
            </a:xfrm>
            <a:prstGeom prst="rect">
              <a:avLst/>
            </a:prstGeom>
            <a:solidFill>
              <a:schemeClr val="accent5">
                <a:lumMod val="20000"/>
                <a:lumOff val="80000"/>
              </a:schemeClr>
            </a:solidFill>
            <a:ln w="25400">
              <a:solidFill>
                <a:schemeClr val="tx1"/>
              </a:solidFill>
              <a:extLst>
                <a:ext uri="{C807C97D-BFC1-408E-A445-0C87EB9F89A2}">
                  <ask:lineSketchStyleProps xmlns:ask="http://schemas.microsoft.com/office/drawing/2018/sketchyshapes" sd="3705000160">
                    <a:custGeom>
                      <a:avLst/>
                      <a:gdLst>
                        <a:gd name="connsiteX0" fmla="*/ 0 w 2007243"/>
                        <a:gd name="connsiteY0" fmla="*/ 0 h 410298"/>
                        <a:gd name="connsiteX1" fmla="*/ 689153 w 2007243"/>
                        <a:gd name="connsiteY1" fmla="*/ 0 h 410298"/>
                        <a:gd name="connsiteX2" fmla="*/ 1298017 w 2007243"/>
                        <a:gd name="connsiteY2" fmla="*/ 0 h 410298"/>
                        <a:gd name="connsiteX3" fmla="*/ 2007243 w 2007243"/>
                        <a:gd name="connsiteY3" fmla="*/ 0 h 410298"/>
                        <a:gd name="connsiteX4" fmla="*/ 2007243 w 2007243"/>
                        <a:gd name="connsiteY4" fmla="*/ 410298 h 410298"/>
                        <a:gd name="connsiteX5" fmla="*/ 1378307 w 2007243"/>
                        <a:gd name="connsiteY5" fmla="*/ 410298 h 410298"/>
                        <a:gd name="connsiteX6" fmla="*/ 689153 w 2007243"/>
                        <a:gd name="connsiteY6" fmla="*/ 410298 h 410298"/>
                        <a:gd name="connsiteX7" fmla="*/ 0 w 2007243"/>
                        <a:gd name="connsiteY7" fmla="*/ 410298 h 410298"/>
                        <a:gd name="connsiteX8" fmla="*/ 0 w 2007243"/>
                        <a:gd name="connsiteY8" fmla="*/ 0 h 41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7243" h="410298" fill="none" extrusionOk="0">
                          <a:moveTo>
                            <a:pt x="0" y="0"/>
                          </a:moveTo>
                          <a:cubicBezTo>
                            <a:pt x="222173" y="-27400"/>
                            <a:pt x="541674" y="5620"/>
                            <a:pt x="689153" y="0"/>
                          </a:cubicBezTo>
                          <a:cubicBezTo>
                            <a:pt x="836632" y="-5620"/>
                            <a:pt x="1103159" y="-28200"/>
                            <a:pt x="1298017" y="0"/>
                          </a:cubicBezTo>
                          <a:cubicBezTo>
                            <a:pt x="1492875" y="28200"/>
                            <a:pt x="1832223" y="-28189"/>
                            <a:pt x="2007243" y="0"/>
                          </a:cubicBezTo>
                          <a:cubicBezTo>
                            <a:pt x="1992229" y="111342"/>
                            <a:pt x="2000990" y="284453"/>
                            <a:pt x="2007243" y="410298"/>
                          </a:cubicBezTo>
                          <a:cubicBezTo>
                            <a:pt x="1788315" y="421561"/>
                            <a:pt x="1620631" y="390222"/>
                            <a:pt x="1378307" y="410298"/>
                          </a:cubicBezTo>
                          <a:cubicBezTo>
                            <a:pt x="1135983" y="430374"/>
                            <a:pt x="865211" y="410498"/>
                            <a:pt x="689153" y="410298"/>
                          </a:cubicBezTo>
                          <a:cubicBezTo>
                            <a:pt x="513095" y="410098"/>
                            <a:pt x="305083" y="418448"/>
                            <a:pt x="0" y="410298"/>
                          </a:cubicBezTo>
                          <a:cubicBezTo>
                            <a:pt x="-6603" y="248330"/>
                            <a:pt x="6634" y="110037"/>
                            <a:pt x="0" y="0"/>
                          </a:cubicBezTo>
                          <a:close/>
                        </a:path>
                        <a:path w="2007243" h="410298" stroke="0" extrusionOk="0">
                          <a:moveTo>
                            <a:pt x="0" y="0"/>
                          </a:moveTo>
                          <a:cubicBezTo>
                            <a:pt x="239523" y="-112"/>
                            <a:pt x="460610" y="-18676"/>
                            <a:pt x="628936" y="0"/>
                          </a:cubicBezTo>
                          <a:cubicBezTo>
                            <a:pt x="797262" y="18676"/>
                            <a:pt x="965225" y="30725"/>
                            <a:pt x="1257872" y="0"/>
                          </a:cubicBezTo>
                          <a:cubicBezTo>
                            <a:pt x="1550519" y="-30725"/>
                            <a:pt x="1806089" y="-33181"/>
                            <a:pt x="2007243" y="0"/>
                          </a:cubicBezTo>
                          <a:cubicBezTo>
                            <a:pt x="1993092" y="160176"/>
                            <a:pt x="1997010" y="299913"/>
                            <a:pt x="2007243" y="410298"/>
                          </a:cubicBezTo>
                          <a:cubicBezTo>
                            <a:pt x="1764596" y="436753"/>
                            <a:pt x="1694751" y="405661"/>
                            <a:pt x="1398379" y="410298"/>
                          </a:cubicBezTo>
                          <a:cubicBezTo>
                            <a:pt x="1102007" y="414935"/>
                            <a:pt x="994201" y="401171"/>
                            <a:pt x="689153" y="410298"/>
                          </a:cubicBezTo>
                          <a:cubicBezTo>
                            <a:pt x="384105" y="419425"/>
                            <a:pt x="138226" y="379883"/>
                            <a:pt x="0" y="410298"/>
                          </a:cubicBezTo>
                          <a:cubicBezTo>
                            <a:pt x="4742" y="257345"/>
                            <a:pt x="1600" y="130689"/>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tx1"/>
                  </a:solidFill>
                  <a:latin typeface="Arial" panose="020B0604020202020204" pitchFamily="34" charset="0"/>
                  <a:cs typeface="Arial" panose="020B0604020202020204" pitchFamily="34" charset="0"/>
                </a:rPr>
                <a:t>modprobe_path</a:t>
              </a:r>
            </a:p>
          </p:txBody>
        </p:sp>
        <p:sp>
          <p:nvSpPr>
            <p:cNvPr id="158" name="TextBox 157">
              <a:extLst>
                <a:ext uri="{FF2B5EF4-FFF2-40B4-BE49-F238E27FC236}">
                  <a16:creationId xmlns:a16="http://schemas.microsoft.com/office/drawing/2014/main" id="{C4D60A31-3FAB-BE8E-1135-D1C54F11E09B}"/>
                </a:ext>
              </a:extLst>
            </p:cNvPr>
            <p:cNvSpPr txBox="1"/>
            <p:nvPr/>
          </p:nvSpPr>
          <p:spPr>
            <a:xfrm>
              <a:off x="4565108" y="5695920"/>
              <a:ext cx="3174222" cy="707886"/>
            </a:xfrm>
            <a:prstGeom prst="rect">
              <a:avLst/>
            </a:prstGeom>
            <a:noFill/>
          </p:spPr>
          <p:txBody>
            <a:bodyPr wrap="square" rtlCol="0">
              <a:spAutoFit/>
            </a:bodyPr>
            <a:lstStyle/>
            <a:p>
              <a:pPr algn="ctr"/>
              <a:r>
                <a:rPr lang="en-KR" sz="2000" b="1" dirty="0">
                  <a:solidFill>
                    <a:schemeClr val="accent1"/>
                  </a:solidFill>
                  <a:latin typeface="Arial" panose="020B0604020202020204" pitchFamily="34" charset="0"/>
                  <a:cs typeface="Arial" panose="020B0604020202020204" pitchFamily="34" charset="0"/>
                </a:rPr>
                <a:t>Access control-related kernel data</a:t>
              </a:r>
            </a:p>
          </p:txBody>
        </p:sp>
        <p:pic>
          <p:nvPicPr>
            <p:cNvPr id="6" name="Google Shape;273;p26">
              <a:extLst>
                <a:ext uri="{FF2B5EF4-FFF2-40B4-BE49-F238E27FC236}">
                  <a16:creationId xmlns:a16="http://schemas.microsoft.com/office/drawing/2014/main" id="{BFDD6BB4-B68A-9234-966E-D7CD454B61A3}"/>
                </a:ext>
              </a:extLst>
            </p:cNvPr>
            <p:cNvPicPr preferRelativeResize="0"/>
            <p:nvPr/>
          </p:nvPicPr>
          <p:blipFill>
            <a:blip r:embed="rId5">
              <a:alphaModFix/>
            </a:blip>
            <a:stretch>
              <a:fillRect/>
            </a:stretch>
          </p:blipFill>
          <p:spPr>
            <a:xfrm>
              <a:off x="4889455" y="3753904"/>
              <a:ext cx="420788" cy="420788"/>
            </a:xfrm>
            <a:prstGeom prst="rect">
              <a:avLst/>
            </a:prstGeom>
            <a:solidFill>
              <a:schemeClr val="bg1"/>
            </a:solidFill>
            <a:ln>
              <a:noFill/>
            </a:ln>
          </p:spPr>
        </p:pic>
        <p:pic>
          <p:nvPicPr>
            <p:cNvPr id="7" name="Google Shape;273;p26">
              <a:extLst>
                <a:ext uri="{FF2B5EF4-FFF2-40B4-BE49-F238E27FC236}">
                  <a16:creationId xmlns:a16="http://schemas.microsoft.com/office/drawing/2014/main" id="{40CB44B4-EBDE-F4E7-B0C1-C992299B17AB}"/>
                </a:ext>
              </a:extLst>
            </p:cNvPr>
            <p:cNvPicPr preferRelativeResize="0"/>
            <p:nvPr/>
          </p:nvPicPr>
          <p:blipFill>
            <a:blip r:embed="rId5">
              <a:alphaModFix/>
            </a:blip>
            <a:stretch>
              <a:fillRect/>
            </a:stretch>
          </p:blipFill>
          <p:spPr>
            <a:xfrm>
              <a:off x="5256920" y="4391672"/>
              <a:ext cx="420788" cy="420788"/>
            </a:xfrm>
            <a:prstGeom prst="rect">
              <a:avLst/>
            </a:prstGeom>
            <a:solidFill>
              <a:schemeClr val="bg1"/>
            </a:solidFill>
            <a:ln>
              <a:noFill/>
            </a:ln>
          </p:spPr>
        </p:pic>
        <p:pic>
          <p:nvPicPr>
            <p:cNvPr id="8" name="Google Shape;273;p26">
              <a:extLst>
                <a:ext uri="{FF2B5EF4-FFF2-40B4-BE49-F238E27FC236}">
                  <a16:creationId xmlns:a16="http://schemas.microsoft.com/office/drawing/2014/main" id="{61CE2A8B-3849-0486-8625-7635FB56D965}"/>
                </a:ext>
              </a:extLst>
            </p:cNvPr>
            <p:cNvPicPr preferRelativeResize="0"/>
            <p:nvPr/>
          </p:nvPicPr>
          <p:blipFill>
            <a:blip r:embed="rId5">
              <a:alphaModFix/>
            </a:blip>
            <a:stretch>
              <a:fillRect/>
            </a:stretch>
          </p:blipFill>
          <p:spPr>
            <a:xfrm>
              <a:off x="4945193" y="4987418"/>
              <a:ext cx="420788" cy="420788"/>
            </a:xfrm>
            <a:prstGeom prst="rect">
              <a:avLst/>
            </a:prstGeom>
            <a:solidFill>
              <a:schemeClr val="bg1"/>
            </a:solidFill>
            <a:ln>
              <a:noFill/>
            </a:ln>
          </p:spPr>
        </p:pic>
        <p:sp>
          <p:nvSpPr>
            <p:cNvPr id="13" name="TextBox 12">
              <a:extLst>
                <a:ext uri="{FF2B5EF4-FFF2-40B4-BE49-F238E27FC236}">
                  <a16:creationId xmlns:a16="http://schemas.microsoft.com/office/drawing/2014/main" id="{2ECFF72F-C5A2-7A9F-E475-18C13811E302}"/>
                </a:ext>
              </a:extLst>
            </p:cNvPr>
            <p:cNvSpPr txBox="1"/>
            <p:nvPr/>
          </p:nvSpPr>
          <p:spPr>
            <a:xfrm>
              <a:off x="6096000" y="2859278"/>
              <a:ext cx="1611716" cy="707886"/>
            </a:xfrm>
            <a:prstGeom prst="rect">
              <a:avLst/>
            </a:prstGeom>
            <a:noFill/>
          </p:spPr>
          <p:txBody>
            <a:bodyPr wrap="square" rtlCol="0">
              <a:spAutoFit/>
            </a:bodyPr>
            <a:lstStyle/>
            <a:p>
              <a:pPr algn="l"/>
              <a:r>
                <a:rPr lang="en-KR" sz="2000" b="1" dirty="0">
                  <a:solidFill>
                    <a:srgbClr val="C00000"/>
                  </a:solidFill>
                  <a:latin typeface="Arial" panose="020B0604020202020204" pitchFamily="34" charset="0"/>
                  <a:cs typeface="Arial" panose="020B0604020202020204" pitchFamily="34" charset="0"/>
                </a:rPr>
                <a:t>Vulnerable SYSCALLs</a:t>
              </a:r>
            </a:p>
          </p:txBody>
        </p:sp>
        <p:sp>
          <p:nvSpPr>
            <p:cNvPr id="17" name="Rounded Rectangle 16">
              <a:extLst>
                <a:ext uri="{FF2B5EF4-FFF2-40B4-BE49-F238E27FC236}">
                  <a16:creationId xmlns:a16="http://schemas.microsoft.com/office/drawing/2014/main" id="{9865CADE-86AF-F81C-F634-A2F256D78754}"/>
                </a:ext>
              </a:extLst>
            </p:cNvPr>
            <p:cNvSpPr/>
            <p:nvPr/>
          </p:nvSpPr>
          <p:spPr>
            <a:xfrm>
              <a:off x="4585409" y="3642025"/>
              <a:ext cx="3154122" cy="2850850"/>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p>
          </p:txBody>
        </p:sp>
        <p:sp>
          <p:nvSpPr>
            <p:cNvPr id="38" name="Right Arrow 37">
              <a:extLst>
                <a:ext uri="{FF2B5EF4-FFF2-40B4-BE49-F238E27FC236}">
                  <a16:creationId xmlns:a16="http://schemas.microsoft.com/office/drawing/2014/main" id="{CD8F8201-67B0-EB42-9B7C-CD43DE4E06FC}"/>
                </a:ext>
              </a:extLst>
            </p:cNvPr>
            <p:cNvSpPr/>
            <p:nvPr/>
          </p:nvSpPr>
          <p:spPr>
            <a:xfrm>
              <a:off x="4005730" y="2166146"/>
              <a:ext cx="318388" cy="374722"/>
            </a:xfrm>
            <a:prstGeom prst="rightArrow">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2587DD59-CF2C-DD8E-2DC5-2DCB55BE5B38}"/>
                </a:ext>
              </a:extLst>
            </p:cNvPr>
            <p:cNvSpPr txBox="1"/>
            <p:nvPr/>
          </p:nvSpPr>
          <p:spPr>
            <a:xfrm>
              <a:off x="5518114" y="1592088"/>
              <a:ext cx="1031051" cy="369332"/>
            </a:xfrm>
            <a:prstGeom prst="rect">
              <a:avLst/>
            </a:prstGeom>
            <a:noFill/>
          </p:spPr>
          <p:txBody>
            <a:bodyPr wrap="square" rtlCol="0">
              <a:spAutoFit/>
            </a:bodyPr>
            <a:lstStyle/>
            <a:p>
              <a:pPr algn="l"/>
              <a:r>
                <a:rPr lang="en-KR" dirty="0">
                  <a:latin typeface="Arial" panose="020B0604020202020204" pitchFamily="34" charset="0"/>
                  <a:cs typeface="Arial" panose="020B0604020202020204" pitchFamily="34" charset="0"/>
                </a:rPr>
                <a:t>Attacker</a:t>
              </a:r>
            </a:p>
          </p:txBody>
        </p:sp>
        <p:pic>
          <p:nvPicPr>
            <p:cNvPr id="41" name="Picture 40">
              <a:extLst>
                <a:ext uri="{FF2B5EF4-FFF2-40B4-BE49-F238E27FC236}">
                  <a16:creationId xmlns:a16="http://schemas.microsoft.com/office/drawing/2014/main" id="{ADF5A0A4-2C9C-EF5B-B2B3-F1487BF8D4B4}"/>
                </a:ext>
              </a:extLst>
            </p:cNvPr>
            <p:cNvPicPr>
              <a:picLocks noChangeAspect="1"/>
            </p:cNvPicPr>
            <p:nvPr/>
          </p:nvPicPr>
          <p:blipFill>
            <a:blip r:embed="rId3">
              <a:duotone>
                <a:prstClr val="black"/>
                <a:srgbClr val="FF0000">
                  <a:tint val="45000"/>
                  <a:satMod val="400000"/>
                </a:srgbClr>
              </a:duotone>
              <a:extLst>
                <a:ext uri="{BEBA8EAE-BF5A-486C-A8C5-ECC9F3942E4B}">
                  <a14:imgProps xmlns:a14="http://schemas.microsoft.com/office/drawing/2010/main">
                    <a14:imgLayer r:embed="rId6">
                      <a14:imgEffect>
                        <a14:brightnessContrast bright="20000" contrast="20000"/>
                      </a14:imgEffect>
                    </a14:imgLayer>
                  </a14:imgProps>
                </a:ext>
              </a:extLst>
            </a:blip>
            <a:stretch>
              <a:fillRect/>
            </a:stretch>
          </p:blipFill>
          <p:spPr>
            <a:xfrm>
              <a:off x="5711407" y="2053354"/>
              <a:ext cx="582527" cy="582527"/>
            </a:xfrm>
            <a:prstGeom prst="rect">
              <a:avLst/>
            </a:prstGeom>
          </p:spPr>
        </p:pic>
      </p:grpSp>
      <p:sp>
        <p:nvSpPr>
          <p:cNvPr id="43" name="TextBox 42">
            <a:extLst>
              <a:ext uri="{FF2B5EF4-FFF2-40B4-BE49-F238E27FC236}">
                <a16:creationId xmlns:a16="http://schemas.microsoft.com/office/drawing/2014/main" id="{3183EB9B-AB1B-4EE4-32F3-ADBA7C7EC51E}"/>
              </a:ext>
            </a:extLst>
          </p:cNvPr>
          <p:cNvSpPr txBox="1"/>
          <p:nvPr/>
        </p:nvSpPr>
        <p:spPr>
          <a:xfrm>
            <a:off x="2255840" y="5866627"/>
            <a:ext cx="1548000" cy="322608"/>
          </a:xfrm>
          <a:prstGeom prst="rect">
            <a:avLst/>
          </a:prstGeom>
          <a:noFill/>
        </p:spPr>
        <p:txBody>
          <a:bodyPr wrap="square" rtlCol="0">
            <a:spAutoFit/>
          </a:bodyPr>
          <a:lstStyle/>
          <a:p>
            <a:pPr algn="ctr"/>
            <a:r>
              <a:rPr lang="en-KR" sz="1600" dirty="0">
                <a:latin typeface="Arial" panose="020B0604020202020204" pitchFamily="34" charset="0"/>
                <a:cs typeface="Arial" panose="020B0604020202020204" pitchFamily="34" charset="0"/>
              </a:rPr>
              <a:t>/etc/shadow</a:t>
            </a:r>
          </a:p>
        </p:txBody>
      </p:sp>
      <p:grpSp>
        <p:nvGrpSpPr>
          <p:cNvPr id="145" name="Group 144">
            <a:extLst>
              <a:ext uri="{FF2B5EF4-FFF2-40B4-BE49-F238E27FC236}">
                <a16:creationId xmlns:a16="http://schemas.microsoft.com/office/drawing/2014/main" id="{B4CD66D4-E250-83EB-F0C9-4312A7E02A25}"/>
              </a:ext>
            </a:extLst>
          </p:cNvPr>
          <p:cNvGrpSpPr/>
          <p:nvPr/>
        </p:nvGrpSpPr>
        <p:grpSpPr>
          <a:xfrm>
            <a:off x="7940689" y="1592088"/>
            <a:ext cx="3565841" cy="1133915"/>
            <a:chOff x="7940689" y="1592088"/>
            <a:chExt cx="3565841" cy="1133915"/>
          </a:xfrm>
        </p:grpSpPr>
        <p:sp>
          <p:nvSpPr>
            <p:cNvPr id="9" name="Right Arrow 8">
              <a:extLst>
                <a:ext uri="{FF2B5EF4-FFF2-40B4-BE49-F238E27FC236}">
                  <a16:creationId xmlns:a16="http://schemas.microsoft.com/office/drawing/2014/main" id="{2995FF4E-F576-2BCE-7D58-16AA34F21784}"/>
                </a:ext>
              </a:extLst>
            </p:cNvPr>
            <p:cNvSpPr/>
            <p:nvPr/>
          </p:nvSpPr>
          <p:spPr>
            <a:xfrm>
              <a:off x="7940689" y="2166146"/>
              <a:ext cx="355455" cy="374722"/>
            </a:xfrm>
            <a:prstGeom prst="rightArrow">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866B3AC0-492F-791F-D5AE-E58ACB7D7FAC}"/>
                </a:ext>
              </a:extLst>
            </p:cNvPr>
            <p:cNvPicPr>
              <a:picLocks noChangeAspect="1"/>
            </p:cNvPicPr>
            <p:nvPr/>
          </p:nvPicPr>
          <p:blipFill>
            <a:blip r:embed="rId3">
              <a:duotone>
                <a:prstClr val="black"/>
                <a:srgbClr val="FF0000">
                  <a:tint val="45000"/>
                  <a:satMod val="400000"/>
                </a:srgbClr>
              </a:duotone>
              <a:extLst>
                <a:ext uri="{BEBA8EAE-BF5A-486C-A8C5-ECC9F3942E4B}">
                  <a14:imgProps xmlns:a14="http://schemas.microsoft.com/office/drawing/2010/main">
                    <a14:imgLayer r:embed="rId7">
                      <a14:imgEffect>
                        <a14:brightnessContrast bright="20000" contrast="20000"/>
                      </a14:imgEffect>
                    </a14:imgLayer>
                  </a14:imgProps>
                </a:ext>
              </a:extLst>
            </a:blip>
            <a:stretch>
              <a:fillRect/>
            </a:stretch>
          </p:blipFill>
          <p:spPr>
            <a:xfrm>
              <a:off x="9651933" y="2053354"/>
              <a:ext cx="582527" cy="582527"/>
            </a:xfrm>
            <a:prstGeom prst="rect">
              <a:avLst/>
            </a:prstGeom>
          </p:spPr>
        </p:pic>
        <p:sp>
          <p:nvSpPr>
            <p:cNvPr id="11" name="TextBox 10">
              <a:extLst>
                <a:ext uri="{FF2B5EF4-FFF2-40B4-BE49-F238E27FC236}">
                  <a16:creationId xmlns:a16="http://schemas.microsoft.com/office/drawing/2014/main" id="{01D13C79-B3A3-84A0-BE54-F2497490EB06}"/>
                </a:ext>
              </a:extLst>
            </p:cNvPr>
            <p:cNvSpPr txBox="1"/>
            <p:nvPr/>
          </p:nvSpPr>
          <p:spPr>
            <a:xfrm>
              <a:off x="9401455" y="1592088"/>
              <a:ext cx="1031051" cy="369332"/>
            </a:xfrm>
            <a:prstGeom prst="rect">
              <a:avLst/>
            </a:prstGeom>
            <a:noFill/>
          </p:spPr>
          <p:txBody>
            <a:bodyPr wrap="square" rtlCol="0">
              <a:spAutoFit/>
            </a:bodyPr>
            <a:lstStyle/>
            <a:p>
              <a:pPr algn="l"/>
              <a:r>
                <a:rPr lang="en-KR" dirty="0">
                  <a:latin typeface="Arial" panose="020B0604020202020204" pitchFamily="34" charset="0"/>
                  <a:cs typeface="Arial" panose="020B0604020202020204" pitchFamily="34" charset="0"/>
                </a:rPr>
                <a:t>Attacker</a:t>
              </a:r>
            </a:p>
          </p:txBody>
        </p:sp>
        <p:sp>
          <p:nvSpPr>
            <p:cNvPr id="12" name="TextBox 11">
              <a:extLst>
                <a:ext uri="{FF2B5EF4-FFF2-40B4-BE49-F238E27FC236}">
                  <a16:creationId xmlns:a16="http://schemas.microsoft.com/office/drawing/2014/main" id="{2D3A9E7A-E99F-D2EE-8DE0-406C7A8A9E8D}"/>
                </a:ext>
              </a:extLst>
            </p:cNvPr>
            <p:cNvSpPr txBox="1"/>
            <p:nvPr/>
          </p:nvSpPr>
          <p:spPr>
            <a:xfrm>
              <a:off x="10234460" y="2018117"/>
              <a:ext cx="1272070" cy="707886"/>
            </a:xfrm>
            <a:prstGeom prst="rect">
              <a:avLst/>
            </a:prstGeom>
            <a:noFill/>
          </p:spPr>
          <p:txBody>
            <a:bodyPr wrap="square" rtlCol="0">
              <a:spAutoFit/>
            </a:bodyPr>
            <a:lstStyle/>
            <a:p>
              <a:pPr algn="ctr"/>
              <a:r>
                <a:rPr lang="en-KR" sz="2000" dirty="0">
                  <a:latin typeface="Arial" panose="020B0604020202020204" pitchFamily="34" charset="0"/>
                  <a:cs typeface="Arial" panose="020B0604020202020204" pitchFamily="34" charset="0"/>
                </a:rPr>
                <a:t>Privilege</a:t>
              </a:r>
            </a:p>
            <a:p>
              <a:pPr algn="ctr"/>
              <a:r>
                <a:rPr lang="en-KR" sz="2000" dirty="0">
                  <a:latin typeface="Arial" panose="020B0604020202020204" pitchFamily="34" charset="0"/>
                  <a:cs typeface="Arial" panose="020B0604020202020204" pitchFamily="34" charset="0"/>
                </a:rPr>
                <a:t>:</a:t>
              </a:r>
              <a:r>
                <a:rPr lang="en-KR" sz="2000" dirty="0">
                  <a:solidFill>
                    <a:srgbClr val="0070C0"/>
                  </a:solidFill>
                  <a:latin typeface="Arial" panose="020B0604020202020204" pitchFamily="34" charset="0"/>
                  <a:cs typeface="Arial" panose="020B0604020202020204" pitchFamily="34" charset="0"/>
                </a:rPr>
                <a:t> </a:t>
              </a:r>
              <a:r>
                <a:rPr lang="en-KR" sz="2000" b="1" dirty="0">
                  <a:solidFill>
                    <a:srgbClr val="0070C0"/>
                  </a:solidFill>
                  <a:latin typeface="Arial" panose="020B0604020202020204" pitchFamily="34" charset="0"/>
                  <a:cs typeface="Arial" panose="020B0604020202020204" pitchFamily="34" charset="0"/>
                </a:rPr>
                <a:t>Low</a:t>
              </a:r>
            </a:p>
          </p:txBody>
        </p:sp>
      </p:grpSp>
      <p:pic>
        <p:nvPicPr>
          <p:cNvPr id="48" name="Google Shape;273;p26">
            <a:extLst>
              <a:ext uri="{FF2B5EF4-FFF2-40B4-BE49-F238E27FC236}">
                <a16:creationId xmlns:a16="http://schemas.microsoft.com/office/drawing/2014/main" id="{468FBF4C-E1E7-D747-BE7B-57CF653E71CC}"/>
              </a:ext>
            </a:extLst>
          </p:cNvPr>
          <p:cNvPicPr preferRelativeResize="0"/>
          <p:nvPr/>
        </p:nvPicPr>
        <p:blipFill>
          <a:blip r:embed="rId5">
            <a:alphaModFix/>
          </a:blip>
          <a:stretch>
            <a:fillRect/>
          </a:stretch>
        </p:blipFill>
        <p:spPr>
          <a:xfrm>
            <a:off x="388863" y="3604189"/>
            <a:ext cx="420788" cy="420788"/>
          </a:xfrm>
          <a:prstGeom prst="rect">
            <a:avLst/>
          </a:prstGeom>
          <a:solidFill>
            <a:schemeClr val="bg1"/>
          </a:solidFill>
          <a:ln>
            <a:noFill/>
          </a:ln>
        </p:spPr>
      </p:pic>
      <p:grpSp>
        <p:nvGrpSpPr>
          <p:cNvPr id="157" name="Group 156">
            <a:extLst>
              <a:ext uri="{FF2B5EF4-FFF2-40B4-BE49-F238E27FC236}">
                <a16:creationId xmlns:a16="http://schemas.microsoft.com/office/drawing/2014/main" id="{3FA80EB4-0818-0856-BE98-6EC3530B6964}"/>
              </a:ext>
            </a:extLst>
          </p:cNvPr>
          <p:cNvGrpSpPr/>
          <p:nvPr/>
        </p:nvGrpSpPr>
        <p:grpSpPr>
          <a:xfrm>
            <a:off x="8296144" y="2742326"/>
            <a:ext cx="3405269" cy="3657953"/>
            <a:chOff x="8296144" y="2742326"/>
            <a:chExt cx="3405269" cy="3657953"/>
          </a:xfrm>
        </p:grpSpPr>
        <p:cxnSp>
          <p:nvCxnSpPr>
            <p:cNvPr id="133" name="Straight Arrow Connector 132">
              <a:extLst>
                <a:ext uri="{FF2B5EF4-FFF2-40B4-BE49-F238E27FC236}">
                  <a16:creationId xmlns:a16="http://schemas.microsoft.com/office/drawing/2014/main" id="{854B8413-76F5-BCC5-EE08-6D29CC1B0265}"/>
                </a:ext>
              </a:extLst>
            </p:cNvPr>
            <p:cNvCxnSpPr>
              <a:cxnSpLocks/>
              <a:endCxn id="138" idx="0"/>
            </p:cNvCxnSpPr>
            <p:nvPr/>
          </p:nvCxnSpPr>
          <p:spPr>
            <a:xfrm flipH="1">
              <a:off x="9256264" y="2742326"/>
              <a:ext cx="685735" cy="2654146"/>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35" name="Donut 134">
              <a:extLst>
                <a:ext uri="{FF2B5EF4-FFF2-40B4-BE49-F238E27FC236}">
                  <a16:creationId xmlns:a16="http://schemas.microsoft.com/office/drawing/2014/main" id="{783A0245-70CF-E638-F279-21B9C2025735}"/>
                </a:ext>
              </a:extLst>
            </p:cNvPr>
            <p:cNvSpPr/>
            <p:nvPr/>
          </p:nvSpPr>
          <p:spPr>
            <a:xfrm>
              <a:off x="8828203" y="4707042"/>
              <a:ext cx="343044" cy="343044"/>
            </a:xfrm>
            <a:prstGeom prst="donut">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37" name="TextBox 136">
              <a:extLst>
                <a:ext uri="{FF2B5EF4-FFF2-40B4-BE49-F238E27FC236}">
                  <a16:creationId xmlns:a16="http://schemas.microsoft.com/office/drawing/2014/main" id="{C2EB4BD9-1D3F-8784-0C81-4972779E3F77}"/>
                </a:ext>
              </a:extLst>
            </p:cNvPr>
            <p:cNvSpPr txBox="1"/>
            <p:nvPr/>
          </p:nvSpPr>
          <p:spPr>
            <a:xfrm>
              <a:off x="10153413" y="5857738"/>
              <a:ext cx="1548000" cy="322608"/>
            </a:xfrm>
            <a:prstGeom prst="rect">
              <a:avLst/>
            </a:prstGeom>
            <a:noFill/>
          </p:spPr>
          <p:txBody>
            <a:bodyPr wrap="square" rtlCol="0">
              <a:spAutoFit/>
            </a:bodyPr>
            <a:lstStyle/>
            <a:p>
              <a:pPr algn="ctr"/>
              <a:r>
                <a:rPr lang="en-KR" sz="1600" dirty="0">
                  <a:latin typeface="Arial" panose="020B0604020202020204" pitchFamily="34" charset="0"/>
                  <a:cs typeface="Arial" panose="020B0604020202020204" pitchFamily="34" charset="0"/>
                </a:rPr>
                <a:t>/etc/shadow</a:t>
              </a:r>
            </a:p>
          </p:txBody>
        </p:sp>
        <p:sp>
          <p:nvSpPr>
            <p:cNvPr id="138" name="TextBox 137">
              <a:extLst>
                <a:ext uri="{FF2B5EF4-FFF2-40B4-BE49-F238E27FC236}">
                  <a16:creationId xmlns:a16="http://schemas.microsoft.com/office/drawing/2014/main" id="{755663EB-1F22-680E-B686-6EC5C4BC84C7}"/>
                </a:ext>
              </a:extLst>
            </p:cNvPr>
            <p:cNvSpPr txBox="1"/>
            <p:nvPr/>
          </p:nvSpPr>
          <p:spPr>
            <a:xfrm>
              <a:off x="8797349" y="5396472"/>
              <a:ext cx="917830" cy="396000"/>
            </a:xfrm>
            <a:prstGeom prst="roundRect">
              <a:avLst/>
            </a:prstGeom>
            <a:solidFill>
              <a:srgbClr val="FFCBCF"/>
            </a:solidFill>
            <a:ln w="25400">
              <a:solidFill>
                <a:schemeClr val="tx1"/>
              </a:solidFill>
            </a:ln>
          </p:spPr>
          <p:txBody>
            <a:bodyPr wrap="square" rtlCol="0">
              <a:spAutoFit/>
            </a:bodyPr>
            <a:lstStyle/>
            <a:p>
              <a:pPr algn="ctr"/>
              <a:r>
                <a:rPr lang="en-KR" dirty="0">
                  <a:latin typeface="Arial" panose="020B0604020202020204" pitchFamily="34" charset="0"/>
                  <a:cs typeface="Arial" panose="020B0604020202020204" pitchFamily="34" charset="0"/>
                </a:rPr>
                <a:t>File</a:t>
              </a:r>
            </a:p>
          </p:txBody>
        </p:sp>
        <p:sp>
          <p:nvSpPr>
            <p:cNvPr id="139" name="TextBox 138">
              <a:extLst>
                <a:ext uri="{FF2B5EF4-FFF2-40B4-BE49-F238E27FC236}">
                  <a16:creationId xmlns:a16="http://schemas.microsoft.com/office/drawing/2014/main" id="{265799F0-4552-D136-0CA2-4DE488A403B4}"/>
                </a:ext>
              </a:extLst>
            </p:cNvPr>
            <p:cNvSpPr txBox="1"/>
            <p:nvPr/>
          </p:nvSpPr>
          <p:spPr>
            <a:xfrm>
              <a:off x="10468498" y="5396472"/>
              <a:ext cx="917830" cy="396000"/>
            </a:xfrm>
            <a:prstGeom prst="roundRect">
              <a:avLst/>
            </a:prstGeom>
            <a:solidFill>
              <a:schemeClr val="bg1"/>
            </a:solidFill>
            <a:ln w="25400">
              <a:solidFill>
                <a:schemeClr val="tx1"/>
              </a:solidFill>
            </a:ln>
          </p:spPr>
          <p:txBody>
            <a:bodyPr wrap="square" rtlCol="0">
              <a:spAutoFit/>
            </a:bodyPr>
            <a:lstStyle/>
            <a:p>
              <a:pPr algn="ctr"/>
              <a:r>
                <a:rPr lang="en-KR" dirty="0">
                  <a:latin typeface="Arial" panose="020B0604020202020204" pitchFamily="34" charset="0"/>
                  <a:cs typeface="Arial" panose="020B0604020202020204" pitchFamily="34" charset="0"/>
                </a:rPr>
                <a:t>File</a:t>
              </a:r>
            </a:p>
          </p:txBody>
        </p:sp>
        <p:sp>
          <p:nvSpPr>
            <p:cNvPr id="140" name="TextBox 139">
              <a:extLst>
                <a:ext uri="{FF2B5EF4-FFF2-40B4-BE49-F238E27FC236}">
                  <a16:creationId xmlns:a16="http://schemas.microsoft.com/office/drawing/2014/main" id="{4D9FB455-9B35-2649-2E80-1240E17B83A9}"/>
                </a:ext>
              </a:extLst>
            </p:cNvPr>
            <p:cNvSpPr txBox="1"/>
            <p:nvPr/>
          </p:nvSpPr>
          <p:spPr>
            <a:xfrm>
              <a:off x="8343814" y="5815504"/>
              <a:ext cx="1741694" cy="584775"/>
            </a:xfrm>
            <a:prstGeom prst="rect">
              <a:avLst/>
            </a:prstGeom>
            <a:noFill/>
          </p:spPr>
          <p:txBody>
            <a:bodyPr wrap="square">
              <a:spAutoFit/>
            </a:bodyPr>
            <a:lstStyle/>
            <a:p>
              <a:pPr algn="ctr"/>
              <a:r>
                <a:rPr lang="en-KR" sz="1600" dirty="0">
                  <a:latin typeface="Arial" panose="020B0604020202020204" pitchFamily="34" charset="0"/>
                  <a:cs typeface="Arial" panose="020B0604020202020204" pitchFamily="34" charset="0"/>
                </a:rPr>
                <a:t>/home/attacker/my_file</a:t>
              </a:r>
            </a:p>
          </p:txBody>
        </p:sp>
        <p:sp>
          <p:nvSpPr>
            <p:cNvPr id="142" name="TextBox 141">
              <a:extLst>
                <a:ext uri="{FF2B5EF4-FFF2-40B4-BE49-F238E27FC236}">
                  <a16:creationId xmlns:a16="http://schemas.microsoft.com/office/drawing/2014/main" id="{58F1FF80-480F-53E3-421C-80F9EB3DDE23}"/>
                </a:ext>
              </a:extLst>
            </p:cNvPr>
            <p:cNvSpPr txBox="1"/>
            <p:nvPr/>
          </p:nvSpPr>
          <p:spPr>
            <a:xfrm>
              <a:off x="8296144" y="3261972"/>
              <a:ext cx="811409" cy="351936"/>
            </a:xfrm>
            <a:prstGeom prst="rect">
              <a:avLst/>
            </a:prstGeom>
            <a:noFill/>
          </p:spPr>
          <p:txBody>
            <a:bodyPr wrap="none" rtlCol="0">
              <a:spAutoFit/>
            </a:bodyPr>
            <a:lstStyle/>
            <a:p>
              <a:pPr algn="ctr"/>
              <a:r>
                <a:rPr lang="en-KR" dirty="0">
                  <a:latin typeface="Arial" panose="020B0604020202020204" pitchFamily="34" charset="0"/>
                  <a:cs typeface="Arial" panose="020B0604020202020204" pitchFamily="34" charset="0"/>
                </a:rPr>
                <a:t>Kernel</a:t>
              </a:r>
            </a:p>
          </p:txBody>
        </p:sp>
        <p:cxnSp>
          <p:nvCxnSpPr>
            <p:cNvPr id="151" name="Straight Arrow Connector 150">
              <a:extLst>
                <a:ext uri="{FF2B5EF4-FFF2-40B4-BE49-F238E27FC236}">
                  <a16:creationId xmlns:a16="http://schemas.microsoft.com/office/drawing/2014/main" id="{C30C1565-EF28-D1FA-6F96-C245A0A38C8B}"/>
                </a:ext>
              </a:extLst>
            </p:cNvPr>
            <p:cNvCxnSpPr>
              <a:cxnSpLocks/>
            </p:cNvCxnSpPr>
            <p:nvPr/>
          </p:nvCxnSpPr>
          <p:spPr>
            <a:xfrm>
              <a:off x="9965042" y="2751215"/>
              <a:ext cx="978618" cy="2654146"/>
            </a:xfrm>
            <a:prstGeom prst="straightConnector1">
              <a:avLst/>
            </a:prstGeom>
            <a:ln w="254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sp>
          <p:nvSpPr>
            <p:cNvPr id="152" name="&quot;No&quot; Symbol 151">
              <a:extLst>
                <a:ext uri="{FF2B5EF4-FFF2-40B4-BE49-F238E27FC236}">
                  <a16:creationId xmlns:a16="http://schemas.microsoft.com/office/drawing/2014/main" id="{9AA7E944-91D0-DB50-F49D-8D85E783AD04}"/>
                </a:ext>
              </a:extLst>
            </p:cNvPr>
            <p:cNvSpPr/>
            <p:nvPr/>
          </p:nvSpPr>
          <p:spPr>
            <a:xfrm>
              <a:off x="10997291" y="4710372"/>
              <a:ext cx="343044" cy="343044"/>
            </a:xfrm>
            <a:prstGeom prst="noSmoking">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53" name="Rounded Rectangle 152">
              <a:extLst>
                <a:ext uri="{FF2B5EF4-FFF2-40B4-BE49-F238E27FC236}">
                  <a16:creationId xmlns:a16="http://schemas.microsoft.com/office/drawing/2014/main" id="{44D2EA17-EA33-C164-A4F4-4E62E5DF70AE}"/>
                </a:ext>
              </a:extLst>
            </p:cNvPr>
            <p:cNvSpPr/>
            <p:nvPr/>
          </p:nvSpPr>
          <p:spPr>
            <a:xfrm>
              <a:off x="8571184" y="3627269"/>
              <a:ext cx="3006874" cy="795416"/>
            </a:xfrm>
            <a:prstGeom prst="roundRect">
              <a:avLst/>
            </a:prstGeom>
            <a:solidFill>
              <a:schemeClr val="accent5">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000" dirty="0">
                  <a:solidFill>
                    <a:schemeClr val="tx1"/>
                  </a:solidFill>
                  <a:latin typeface="Arial" panose="020B0604020202020204" pitchFamily="34" charset="0"/>
                  <a:cs typeface="Arial" panose="020B0604020202020204" pitchFamily="34" charset="0"/>
                </a:rPr>
                <a:t>Access control</a:t>
              </a:r>
            </a:p>
          </p:txBody>
        </p:sp>
        <p:pic>
          <p:nvPicPr>
            <p:cNvPr id="154" name="Google Shape;273;p26">
              <a:extLst>
                <a:ext uri="{FF2B5EF4-FFF2-40B4-BE49-F238E27FC236}">
                  <a16:creationId xmlns:a16="http://schemas.microsoft.com/office/drawing/2014/main" id="{4CDDA4C7-E2E3-560D-37C1-F9104A961DDB}"/>
                </a:ext>
              </a:extLst>
            </p:cNvPr>
            <p:cNvPicPr preferRelativeResize="0"/>
            <p:nvPr/>
          </p:nvPicPr>
          <p:blipFill>
            <a:blip r:embed="rId5">
              <a:alphaModFix/>
            </a:blip>
            <a:stretch>
              <a:fillRect/>
            </a:stretch>
          </p:blipFill>
          <p:spPr>
            <a:xfrm>
              <a:off x="8314795" y="3540689"/>
              <a:ext cx="420788" cy="420788"/>
            </a:xfrm>
            <a:prstGeom prst="rect">
              <a:avLst/>
            </a:prstGeom>
            <a:solidFill>
              <a:schemeClr val="bg1"/>
            </a:solidFill>
            <a:ln>
              <a:noFill/>
            </a:ln>
          </p:spPr>
        </p:pic>
      </p:grpSp>
    </p:spTree>
    <p:extLst>
      <p:ext uri="{BB962C8B-B14F-4D97-AF65-F5344CB8AC3E}">
        <p14:creationId xmlns:p14="http://schemas.microsoft.com/office/powerpoint/2010/main" val="3950898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A96E2-3AAA-E0BD-5801-9195D84E9C6A}"/>
              </a:ext>
            </a:extLst>
          </p:cNvPr>
          <p:cNvSpPr>
            <a:spLocks noGrp="1"/>
          </p:cNvSpPr>
          <p:nvPr>
            <p:ph type="title"/>
          </p:nvPr>
        </p:nvSpPr>
        <p:spPr/>
        <p:txBody>
          <a:bodyPr>
            <a:normAutofit/>
          </a:bodyPr>
          <a:lstStyle/>
          <a:p>
            <a:r>
              <a:rPr lang="en-KR" sz="4000" dirty="0"/>
              <a:t>PeTAL’s Data Flow Integrity</a:t>
            </a:r>
          </a:p>
        </p:txBody>
      </p:sp>
      <p:sp>
        <p:nvSpPr>
          <p:cNvPr id="3" name="Content Placeholder 2">
            <a:extLst>
              <a:ext uri="{FF2B5EF4-FFF2-40B4-BE49-F238E27FC236}">
                <a16:creationId xmlns:a16="http://schemas.microsoft.com/office/drawing/2014/main" id="{095E9311-5C98-2468-59E4-25BF94D598A8}"/>
              </a:ext>
            </a:extLst>
          </p:cNvPr>
          <p:cNvSpPr>
            <a:spLocks noGrp="1"/>
          </p:cNvSpPr>
          <p:nvPr>
            <p:ph idx="1"/>
          </p:nvPr>
        </p:nvSpPr>
        <p:spPr>
          <a:xfrm>
            <a:off x="838200" y="1621117"/>
            <a:ext cx="10515600" cy="1625785"/>
          </a:xfrm>
        </p:spPr>
        <p:txBody>
          <a:bodyPr>
            <a:normAutofit/>
          </a:bodyPr>
          <a:lstStyle/>
          <a:p>
            <a:pPr marL="0" indent="0">
              <a:buNone/>
            </a:pPr>
            <a:r>
              <a:rPr lang="en-KR" sz="2400" dirty="0"/>
              <a:t>DFI is known to be performance-heavy</a:t>
            </a:r>
          </a:p>
          <a:p>
            <a:r>
              <a:rPr lang="en-KR" sz="2400" b="1" dirty="0">
                <a:sym typeface="Wingdings" pitchFamily="2" charset="2"/>
              </a:rPr>
              <a:t>Selectively</a:t>
            </a:r>
            <a:r>
              <a:rPr lang="en-KR" sz="2400" dirty="0">
                <a:sym typeface="Wingdings" pitchFamily="2" charset="2"/>
              </a:rPr>
              <a:t> protect </a:t>
            </a:r>
            <a:r>
              <a:rPr lang="en-KR" sz="2400" b="1" i="1" dirty="0">
                <a:solidFill>
                  <a:schemeClr val="accent5">
                    <a:lumMod val="75000"/>
                  </a:schemeClr>
                </a:solidFill>
                <a:sym typeface="Wingdings" pitchFamily="2" charset="2"/>
              </a:rPr>
              <a:t>access control-related data</a:t>
            </a:r>
          </a:p>
          <a:p>
            <a:r>
              <a:rPr lang="en-KR" sz="2400" dirty="0">
                <a:sym typeface="Wingdings" pitchFamily="2" charset="2"/>
              </a:rPr>
              <a:t>Leverage </a:t>
            </a:r>
            <a:r>
              <a:rPr lang="en-KR" sz="2400" b="1" dirty="0">
                <a:sym typeface="Wingdings" pitchFamily="2" charset="2"/>
              </a:rPr>
              <a:t>hardware extensions </a:t>
            </a:r>
            <a:r>
              <a:rPr lang="en-KR" sz="2400" dirty="0">
                <a:sym typeface="Wingdings" pitchFamily="2" charset="2"/>
              </a:rPr>
              <a:t>: </a:t>
            </a:r>
            <a:r>
              <a:rPr lang="en-KR" sz="2400" b="1" dirty="0">
                <a:sym typeface="Wingdings" pitchFamily="2" charset="2"/>
              </a:rPr>
              <a:t>ARM </a:t>
            </a:r>
            <a:r>
              <a:rPr lang="en-KR" sz="2400" b="1" dirty="0">
                <a:solidFill>
                  <a:schemeClr val="accent2"/>
                </a:solidFill>
                <a:sym typeface="Wingdings" pitchFamily="2" charset="2"/>
              </a:rPr>
              <a:t>MTE</a:t>
            </a:r>
            <a:r>
              <a:rPr lang="en-KR" sz="2400" dirty="0">
                <a:sym typeface="Wingdings" pitchFamily="2" charset="2"/>
              </a:rPr>
              <a:t> for objects, </a:t>
            </a:r>
            <a:r>
              <a:rPr lang="en-KR" sz="2400" b="1" dirty="0">
                <a:solidFill>
                  <a:schemeClr val="accent6">
                    <a:lumMod val="75000"/>
                  </a:schemeClr>
                </a:solidFill>
                <a:sym typeface="Wingdings" pitchFamily="2" charset="2"/>
              </a:rPr>
              <a:t>PAC</a:t>
            </a:r>
            <a:r>
              <a:rPr lang="en-KR" sz="2400" b="1" dirty="0">
                <a:sym typeface="Wingdings" pitchFamily="2" charset="2"/>
              </a:rPr>
              <a:t> </a:t>
            </a:r>
            <a:r>
              <a:rPr lang="en-KR" sz="2400" dirty="0">
                <a:sym typeface="Wingdings" pitchFamily="2" charset="2"/>
              </a:rPr>
              <a:t>for pointers</a:t>
            </a:r>
          </a:p>
        </p:txBody>
      </p:sp>
      <p:sp>
        <p:nvSpPr>
          <p:cNvPr id="4" name="Slide Number Placeholder 3">
            <a:extLst>
              <a:ext uri="{FF2B5EF4-FFF2-40B4-BE49-F238E27FC236}">
                <a16:creationId xmlns:a16="http://schemas.microsoft.com/office/drawing/2014/main" id="{F7549B64-CE18-1961-E9BC-8BCA2D2D9970}"/>
              </a:ext>
            </a:extLst>
          </p:cNvPr>
          <p:cNvSpPr>
            <a:spLocks noGrp="1"/>
          </p:cNvSpPr>
          <p:nvPr>
            <p:ph type="sldNum" sz="quarter" idx="12"/>
          </p:nvPr>
        </p:nvSpPr>
        <p:spPr/>
        <p:txBody>
          <a:bodyPr/>
          <a:lstStyle/>
          <a:p>
            <a:fld id="{9ED31AF7-B9C1-7944-AC45-A988640FDEFC}" type="slidenum">
              <a:rPr lang="en-KR" smtClean="0"/>
              <a:t>5</a:t>
            </a:fld>
            <a:endParaRPr lang="en-KR" dirty="0"/>
          </a:p>
        </p:txBody>
      </p:sp>
      <p:sp>
        <p:nvSpPr>
          <p:cNvPr id="28" name="Rounded Rectangle 27">
            <a:extLst>
              <a:ext uri="{FF2B5EF4-FFF2-40B4-BE49-F238E27FC236}">
                <a16:creationId xmlns:a16="http://schemas.microsoft.com/office/drawing/2014/main" id="{113D75CC-AAD5-73A8-7C9C-2AB09EFF1EDF}"/>
              </a:ext>
            </a:extLst>
          </p:cNvPr>
          <p:cNvSpPr/>
          <p:nvPr/>
        </p:nvSpPr>
        <p:spPr>
          <a:xfrm>
            <a:off x="838200" y="3391525"/>
            <a:ext cx="7419682" cy="3219138"/>
          </a:xfrm>
          <a:prstGeom prst="roundRect">
            <a:avLst>
              <a:gd name="adj" fmla="val 5417"/>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grpSp>
        <p:nvGrpSpPr>
          <p:cNvPr id="13" name="Group 12">
            <a:extLst>
              <a:ext uri="{FF2B5EF4-FFF2-40B4-BE49-F238E27FC236}">
                <a16:creationId xmlns:a16="http://schemas.microsoft.com/office/drawing/2014/main" id="{73438FD4-11B6-597C-05AB-77F15D9A5018}"/>
              </a:ext>
            </a:extLst>
          </p:cNvPr>
          <p:cNvGrpSpPr/>
          <p:nvPr/>
        </p:nvGrpSpPr>
        <p:grpSpPr>
          <a:xfrm>
            <a:off x="8573795" y="4242301"/>
            <a:ext cx="1003197" cy="269076"/>
            <a:chOff x="10810238" y="5046048"/>
            <a:chExt cx="1003197" cy="269076"/>
          </a:xfrm>
        </p:grpSpPr>
        <p:sp>
          <p:nvSpPr>
            <p:cNvPr id="75" name="Rounded Rectangle 74">
              <a:extLst>
                <a:ext uri="{FF2B5EF4-FFF2-40B4-BE49-F238E27FC236}">
                  <a16:creationId xmlns:a16="http://schemas.microsoft.com/office/drawing/2014/main" id="{5C7AFF43-B272-DFFC-5AFF-3DF0C8DF0056}"/>
                </a:ext>
              </a:extLst>
            </p:cNvPr>
            <p:cNvSpPr/>
            <p:nvPr/>
          </p:nvSpPr>
          <p:spPr>
            <a:xfrm>
              <a:off x="10810238" y="5046048"/>
              <a:ext cx="269076" cy="269076"/>
            </a:xfrm>
            <a:prstGeom prst="roundRect">
              <a:avLst/>
            </a:prstGeom>
            <a:solidFill>
              <a:schemeClr val="accent6">
                <a:lumMod val="40000"/>
                <a:lumOff val="60000"/>
              </a:schemeClr>
            </a:solidFill>
            <a:ln w="22225"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P</a:t>
              </a:r>
            </a:p>
          </p:txBody>
        </p:sp>
        <p:sp>
          <p:nvSpPr>
            <p:cNvPr id="83" name="TextBox 82">
              <a:extLst>
                <a:ext uri="{FF2B5EF4-FFF2-40B4-BE49-F238E27FC236}">
                  <a16:creationId xmlns:a16="http://schemas.microsoft.com/office/drawing/2014/main" id="{0D8A155C-04B6-283E-FEEC-E54B5DEF8BF0}"/>
                </a:ext>
              </a:extLst>
            </p:cNvPr>
            <p:cNvSpPr txBox="1"/>
            <p:nvPr/>
          </p:nvSpPr>
          <p:spPr>
            <a:xfrm>
              <a:off x="11204596" y="5057475"/>
              <a:ext cx="608839" cy="246221"/>
            </a:xfrm>
            <a:prstGeom prst="rect">
              <a:avLst/>
            </a:prstGeom>
            <a:noFill/>
          </p:spPr>
          <p:txBody>
            <a:bodyPr wrap="square" lIns="0" tIns="0" rIns="0" bIns="0" rtlCol="0">
              <a:spAutoFit/>
            </a:bodyPr>
            <a:lstStyle/>
            <a:p>
              <a:r>
                <a:rPr lang="en-KR" sz="1600" dirty="0">
                  <a:latin typeface="Arial" panose="020B0604020202020204" pitchFamily="34" charset="0"/>
                  <a:cs typeface="Arial" panose="020B0604020202020204" pitchFamily="34" charset="0"/>
                </a:rPr>
                <a:t>PAC</a:t>
              </a:r>
            </a:p>
          </p:txBody>
        </p:sp>
      </p:grpSp>
      <p:grpSp>
        <p:nvGrpSpPr>
          <p:cNvPr id="12" name="Group 11">
            <a:extLst>
              <a:ext uri="{FF2B5EF4-FFF2-40B4-BE49-F238E27FC236}">
                <a16:creationId xmlns:a16="http://schemas.microsoft.com/office/drawing/2014/main" id="{36800CF3-5DD4-65FB-7F39-68902B7B28AF}"/>
              </a:ext>
            </a:extLst>
          </p:cNvPr>
          <p:cNvGrpSpPr/>
          <p:nvPr/>
        </p:nvGrpSpPr>
        <p:grpSpPr>
          <a:xfrm>
            <a:off x="8573795" y="3741735"/>
            <a:ext cx="925169" cy="269076"/>
            <a:chOff x="10810238" y="5627901"/>
            <a:chExt cx="925169" cy="269076"/>
          </a:xfrm>
        </p:grpSpPr>
        <p:sp>
          <p:nvSpPr>
            <p:cNvPr id="82" name="Rounded Rectangle 81">
              <a:extLst>
                <a:ext uri="{FF2B5EF4-FFF2-40B4-BE49-F238E27FC236}">
                  <a16:creationId xmlns:a16="http://schemas.microsoft.com/office/drawing/2014/main" id="{8B9619B7-2BBC-4F4D-7CD4-41A237D3B151}"/>
                </a:ext>
              </a:extLst>
            </p:cNvPr>
            <p:cNvSpPr/>
            <p:nvPr/>
          </p:nvSpPr>
          <p:spPr>
            <a:xfrm>
              <a:off x="10810238" y="5627901"/>
              <a:ext cx="269076" cy="269076"/>
            </a:xfrm>
            <a:prstGeom prst="roundRect">
              <a:avLst/>
            </a:prstGeom>
            <a:solidFill>
              <a:schemeClr val="accent2">
                <a:lumMod val="60000"/>
                <a:lumOff val="40000"/>
              </a:schemeClr>
            </a:solidFill>
            <a:ln w="22225"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T</a:t>
              </a:r>
            </a:p>
          </p:txBody>
        </p:sp>
        <p:sp>
          <p:nvSpPr>
            <p:cNvPr id="84" name="TextBox 83">
              <a:extLst>
                <a:ext uri="{FF2B5EF4-FFF2-40B4-BE49-F238E27FC236}">
                  <a16:creationId xmlns:a16="http://schemas.microsoft.com/office/drawing/2014/main" id="{A8622CAE-D8E3-0EBD-AA0F-FE2DB332D0E5}"/>
                </a:ext>
              </a:extLst>
            </p:cNvPr>
            <p:cNvSpPr txBox="1"/>
            <p:nvPr/>
          </p:nvSpPr>
          <p:spPr>
            <a:xfrm>
              <a:off x="11204596" y="5639328"/>
              <a:ext cx="530811" cy="246221"/>
            </a:xfrm>
            <a:prstGeom prst="rect">
              <a:avLst/>
            </a:prstGeom>
            <a:noFill/>
          </p:spPr>
          <p:txBody>
            <a:bodyPr wrap="square" lIns="0" tIns="0" rIns="0" bIns="0" rtlCol="0">
              <a:spAutoFit/>
            </a:bodyPr>
            <a:lstStyle/>
            <a:p>
              <a:r>
                <a:rPr lang="en-KR" sz="1600" dirty="0">
                  <a:latin typeface="Arial" panose="020B0604020202020204" pitchFamily="34" charset="0"/>
                  <a:cs typeface="Arial" panose="020B0604020202020204" pitchFamily="34" charset="0"/>
                </a:rPr>
                <a:t>MTE</a:t>
              </a:r>
            </a:p>
          </p:txBody>
        </p:sp>
      </p:grpSp>
      <p:grpSp>
        <p:nvGrpSpPr>
          <p:cNvPr id="132" name="Group 131">
            <a:extLst>
              <a:ext uri="{FF2B5EF4-FFF2-40B4-BE49-F238E27FC236}">
                <a16:creationId xmlns:a16="http://schemas.microsoft.com/office/drawing/2014/main" id="{8DCF169B-7259-C912-E07F-D63F9B468375}"/>
              </a:ext>
            </a:extLst>
          </p:cNvPr>
          <p:cNvGrpSpPr>
            <a:grpSpLocks noChangeAspect="1"/>
          </p:cNvGrpSpPr>
          <p:nvPr/>
        </p:nvGrpSpPr>
        <p:grpSpPr>
          <a:xfrm>
            <a:off x="2356613" y="4377349"/>
            <a:ext cx="5498029" cy="1338628"/>
            <a:chOff x="2356613" y="4377349"/>
            <a:chExt cx="5498029" cy="1338628"/>
          </a:xfrm>
        </p:grpSpPr>
        <p:cxnSp>
          <p:nvCxnSpPr>
            <p:cNvPr id="40" name="Straight Arrow Connector 39">
              <a:extLst>
                <a:ext uri="{FF2B5EF4-FFF2-40B4-BE49-F238E27FC236}">
                  <a16:creationId xmlns:a16="http://schemas.microsoft.com/office/drawing/2014/main" id="{7C9921F5-7D61-36DE-882A-A9381C549FFD}"/>
                </a:ext>
              </a:extLst>
            </p:cNvPr>
            <p:cNvCxnSpPr>
              <a:cxnSpLocks/>
            </p:cNvCxnSpPr>
            <p:nvPr/>
          </p:nvCxnSpPr>
          <p:spPr>
            <a:xfrm>
              <a:off x="6716591" y="4646853"/>
              <a:ext cx="510312" cy="0"/>
            </a:xfrm>
            <a:prstGeom prst="straightConnector1">
              <a:avLst/>
            </a:prstGeom>
            <a:ln w="1905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9A04392-0B6E-E586-43E2-99C58B61DB1B}"/>
                </a:ext>
              </a:extLst>
            </p:cNvPr>
            <p:cNvCxnSpPr>
              <a:cxnSpLocks/>
            </p:cNvCxnSpPr>
            <p:nvPr/>
          </p:nvCxnSpPr>
          <p:spPr>
            <a:xfrm flipV="1">
              <a:off x="3322165" y="4402945"/>
              <a:ext cx="393199" cy="295446"/>
            </a:xfrm>
            <a:prstGeom prst="straightConnector1">
              <a:avLst/>
            </a:prstGeom>
            <a:ln w="1905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B4275E8-975F-FA8D-8F4C-5AA2DC85DB84}"/>
                </a:ext>
              </a:extLst>
            </p:cNvPr>
            <p:cNvCxnSpPr>
              <a:cxnSpLocks/>
            </p:cNvCxnSpPr>
            <p:nvPr/>
          </p:nvCxnSpPr>
          <p:spPr>
            <a:xfrm>
              <a:off x="2356613" y="4537376"/>
              <a:ext cx="226223" cy="1"/>
            </a:xfrm>
            <a:prstGeom prst="straightConnector1">
              <a:avLst/>
            </a:prstGeom>
            <a:ln w="1905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6AB3864-8DF8-AEF0-53B3-F1BBC2A65B7A}"/>
                </a:ext>
              </a:extLst>
            </p:cNvPr>
            <p:cNvCxnSpPr>
              <a:cxnSpLocks/>
            </p:cNvCxnSpPr>
            <p:nvPr/>
          </p:nvCxnSpPr>
          <p:spPr>
            <a:xfrm flipV="1">
              <a:off x="4296477" y="5296992"/>
              <a:ext cx="289704" cy="172453"/>
            </a:xfrm>
            <a:prstGeom prst="straightConnector1">
              <a:avLst/>
            </a:prstGeom>
            <a:ln w="1905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A9F835DC-D7EA-E540-797C-A04BA6183B7B}"/>
                </a:ext>
              </a:extLst>
            </p:cNvPr>
            <p:cNvCxnSpPr>
              <a:cxnSpLocks/>
            </p:cNvCxnSpPr>
            <p:nvPr/>
          </p:nvCxnSpPr>
          <p:spPr>
            <a:xfrm flipV="1">
              <a:off x="5176525" y="5048329"/>
              <a:ext cx="279176" cy="450714"/>
            </a:xfrm>
            <a:prstGeom prst="straightConnector1">
              <a:avLst/>
            </a:prstGeom>
            <a:ln w="1905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8A86FC9E-43AB-8FCD-5BD4-BBA9E59453C1}"/>
                </a:ext>
              </a:extLst>
            </p:cNvPr>
            <p:cNvCxnSpPr>
              <a:cxnSpLocks/>
            </p:cNvCxnSpPr>
            <p:nvPr/>
          </p:nvCxnSpPr>
          <p:spPr>
            <a:xfrm>
              <a:off x="3322165" y="4870909"/>
              <a:ext cx="364135" cy="459161"/>
            </a:xfrm>
            <a:prstGeom prst="straightConnector1">
              <a:avLst/>
            </a:prstGeom>
            <a:ln w="1905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4" name="Rounded Rectangle 43">
              <a:extLst>
                <a:ext uri="{FF2B5EF4-FFF2-40B4-BE49-F238E27FC236}">
                  <a16:creationId xmlns:a16="http://schemas.microsoft.com/office/drawing/2014/main" id="{A7BD19FA-8796-79FC-B606-49B519A0EABC}"/>
                </a:ext>
              </a:extLst>
            </p:cNvPr>
            <p:cNvSpPr/>
            <p:nvPr/>
          </p:nvSpPr>
          <p:spPr>
            <a:xfrm>
              <a:off x="2595792" y="4481559"/>
              <a:ext cx="728070" cy="612272"/>
            </a:xfrm>
            <a:prstGeom prst="roundRect">
              <a:avLst/>
            </a:prstGeom>
            <a:no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sp>
          <p:nvSpPr>
            <p:cNvPr id="49" name="Rounded Rectangle 48">
              <a:extLst>
                <a:ext uri="{FF2B5EF4-FFF2-40B4-BE49-F238E27FC236}">
                  <a16:creationId xmlns:a16="http://schemas.microsoft.com/office/drawing/2014/main" id="{0475A2D9-518C-89C5-F6F1-A526543DEA42}"/>
                </a:ext>
              </a:extLst>
            </p:cNvPr>
            <p:cNvSpPr/>
            <p:nvPr/>
          </p:nvSpPr>
          <p:spPr>
            <a:xfrm>
              <a:off x="3656522" y="5266473"/>
              <a:ext cx="640267" cy="449504"/>
            </a:xfrm>
            <a:prstGeom prst="roundRect">
              <a:avLst/>
            </a:prstGeom>
            <a:no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dirty="0">
                <a:latin typeface="Arial" panose="020B0604020202020204" pitchFamily="34" charset="0"/>
                <a:cs typeface="Arial" panose="020B0604020202020204" pitchFamily="34" charset="0"/>
              </a:endParaRPr>
            </a:p>
          </p:txBody>
        </p:sp>
        <p:sp>
          <p:nvSpPr>
            <p:cNvPr id="52" name="Rounded Rectangle 51">
              <a:extLst>
                <a:ext uri="{FF2B5EF4-FFF2-40B4-BE49-F238E27FC236}">
                  <a16:creationId xmlns:a16="http://schemas.microsoft.com/office/drawing/2014/main" id="{216A77C6-8FA3-B0A2-BB1B-3047E3AEC34E}"/>
                </a:ext>
              </a:extLst>
            </p:cNvPr>
            <p:cNvSpPr/>
            <p:nvPr/>
          </p:nvSpPr>
          <p:spPr>
            <a:xfrm>
              <a:off x="4568881" y="5284413"/>
              <a:ext cx="614728" cy="373548"/>
            </a:xfrm>
            <a:prstGeom prst="roundRect">
              <a:avLst/>
            </a:prstGeom>
            <a:no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dirty="0">
                <a:latin typeface="Arial" panose="020B0604020202020204" pitchFamily="34" charset="0"/>
                <a:cs typeface="Arial" panose="020B0604020202020204" pitchFamily="34" charset="0"/>
              </a:endParaRPr>
            </a:p>
          </p:txBody>
        </p:sp>
        <p:sp>
          <p:nvSpPr>
            <p:cNvPr id="59" name="Rounded Rectangle 58">
              <a:extLst>
                <a:ext uri="{FF2B5EF4-FFF2-40B4-BE49-F238E27FC236}">
                  <a16:creationId xmlns:a16="http://schemas.microsoft.com/office/drawing/2014/main" id="{304CDDF6-4240-0DFD-1F73-34B4989C7086}"/>
                </a:ext>
              </a:extLst>
            </p:cNvPr>
            <p:cNvSpPr/>
            <p:nvPr/>
          </p:nvSpPr>
          <p:spPr>
            <a:xfrm>
              <a:off x="7169986" y="4636554"/>
              <a:ext cx="684656" cy="588043"/>
            </a:xfrm>
            <a:prstGeom prst="roundRect">
              <a:avLst/>
            </a:prstGeom>
            <a:no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dirty="0">
                <a:latin typeface="Arial" panose="020B0604020202020204" pitchFamily="34" charset="0"/>
                <a:cs typeface="Arial" panose="020B0604020202020204" pitchFamily="34" charset="0"/>
              </a:endParaRPr>
            </a:p>
          </p:txBody>
        </p:sp>
        <p:sp>
          <p:nvSpPr>
            <p:cNvPr id="63" name="Rounded Rectangle 62">
              <a:extLst>
                <a:ext uri="{FF2B5EF4-FFF2-40B4-BE49-F238E27FC236}">
                  <a16:creationId xmlns:a16="http://schemas.microsoft.com/office/drawing/2014/main" id="{1BF68401-1FE7-181F-8E98-D00435703061}"/>
                </a:ext>
              </a:extLst>
            </p:cNvPr>
            <p:cNvSpPr/>
            <p:nvPr/>
          </p:nvSpPr>
          <p:spPr>
            <a:xfrm>
              <a:off x="3689629" y="4377349"/>
              <a:ext cx="595941" cy="423259"/>
            </a:xfrm>
            <a:prstGeom prst="roundRect">
              <a:avLst/>
            </a:prstGeom>
            <a:no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sp>
          <p:nvSpPr>
            <p:cNvPr id="66" name="Rounded Rectangle 65">
              <a:extLst>
                <a:ext uri="{FF2B5EF4-FFF2-40B4-BE49-F238E27FC236}">
                  <a16:creationId xmlns:a16="http://schemas.microsoft.com/office/drawing/2014/main" id="{8D5643BF-3BA2-7E93-BB21-1758C3EA84D7}"/>
                </a:ext>
              </a:extLst>
            </p:cNvPr>
            <p:cNvSpPr/>
            <p:nvPr/>
          </p:nvSpPr>
          <p:spPr>
            <a:xfrm>
              <a:off x="5446920" y="4996917"/>
              <a:ext cx="684656" cy="523633"/>
            </a:xfrm>
            <a:prstGeom prst="roundRect">
              <a:avLst/>
            </a:prstGeom>
            <a:no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grpSp>
      <p:grpSp>
        <p:nvGrpSpPr>
          <p:cNvPr id="133" name="Group 132">
            <a:extLst>
              <a:ext uri="{FF2B5EF4-FFF2-40B4-BE49-F238E27FC236}">
                <a16:creationId xmlns:a16="http://schemas.microsoft.com/office/drawing/2014/main" id="{9984FFD7-0A1B-19B2-8F5A-BBE3A6BDB90B}"/>
              </a:ext>
            </a:extLst>
          </p:cNvPr>
          <p:cNvGrpSpPr/>
          <p:nvPr/>
        </p:nvGrpSpPr>
        <p:grpSpPr>
          <a:xfrm>
            <a:off x="951867" y="3572981"/>
            <a:ext cx="6751414" cy="2783369"/>
            <a:chOff x="911288" y="3547598"/>
            <a:chExt cx="6751414" cy="2783369"/>
          </a:xfrm>
        </p:grpSpPr>
        <p:grpSp>
          <p:nvGrpSpPr>
            <p:cNvPr id="123" name="Group 122">
              <a:extLst>
                <a:ext uri="{FF2B5EF4-FFF2-40B4-BE49-F238E27FC236}">
                  <a16:creationId xmlns:a16="http://schemas.microsoft.com/office/drawing/2014/main" id="{8FFB8500-38CB-33A2-048B-339B4E4FB67F}"/>
                </a:ext>
              </a:extLst>
            </p:cNvPr>
            <p:cNvGrpSpPr/>
            <p:nvPr/>
          </p:nvGrpSpPr>
          <p:grpSpPr>
            <a:xfrm>
              <a:off x="911288" y="5599793"/>
              <a:ext cx="2848324" cy="670272"/>
              <a:chOff x="885509" y="5499843"/>
              <a:chExt cx="3189235" cy="750496"/>
            </a:xfrm>
          </p:grpSpPr>
          <p:sp>
            <p:nvSpPr>
              <p:cNvPr id="23" name="Parallelogram 22">
                <a:extLst>
                  <a:ext uri="{FF2B5EF4-FFF2-40B4-BE49-F238E27FC236}">
                    <a16:creationId xmlns:a16="http://schemas.microsoft.com/office/drawing/2014/main" id="{18283729-1DA2-1125-006C-59BB2893C5B6}"/>
                  </a:ext>
                </a:extLst>
              </p:cNvPr>
              <p:cNvSpPr/>
              <p:nvPr/>
            </p:nvSpPr>
            <p:spPr>
              <a:xfrm>
                <a:off x="885509" y="5499843"/>
                <a:ext cx="640267" cy="189148"/>
              </a:xfrm>
              <a:prstGeom prst="parallelogram">
                <a:avLst>
                  <a:gd name="adj" fmla="val 0"/>
                </a:avLst>
              </a:prstGeom>
              <a:noFill/>
              <a:ln w="19050" cap="rnd" cmpd="sng">
                <a:solidFill>
                  <a:schemeClr val="tx1">
                    <a:lumMod val="50000"/>
                    <a:lumOff val="50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1400" dirty="0">
                  <a:solidFill>
                    <a:schemeClr val="tx1"/>
                  </a:solidFill>
                  <a:latin typeface="Arial" panose="020B0604020202020204" pitchFamily="34" charset="0"/>
                  <a:cs typeface="Arial" panose="020B0604020202020204" pitchFamily="34" charset="0"/>
                </a:endParaRPr>
              </a:p>
            </p:txBody>
          </p:sp>
          <p:cxnSp>
            <p:nvCxnSpPr>
              <p:cNvPr id="24" name="Straight Arrow Connector 23">
                <a:extLst>
                  <a:ext uri="{FF2B5EF4-FFF2-40B4-BE49-F238E27FC236}">
                    <a16:creationId xmlns:a16="http://schemas.microsoft.com/office/drawing/2014/main" id="{CFAA559B-B708-53BA-6B26-2AA5CF850E86}"/>
                  </a:ext>
                </a:extLst>
              </p:cNvPr>
              <p:cNvCxnSpPr>
                <a:cxnSpLocks/>
                <a:stCxn id="23" idx="2"/>
              </p:cNvCxnSpPr>
              <p:nvPr/>
            </p:nvCxnSpPr>
            <p:spPr>
              <a:xfrm>
                <a:off x="1525776" y="5594418"/>
                <a:ext cx="243910" cy="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Rounded Rectangle 24">
                <a:extLst>
                  <a:ext uri="{FF2B5EF4-FFF2-40B4-BE49-F238E27FC236}">
                    <a16:creationId xmlns:a16="http://schemas.microsoft.com/office/drawing/2014/main" id="{9E71E1FB-45A0-AA5B-BB0B-1B9C0E3E7F16}"/>
                  </a:ext>
                </a:extLst>
              </p:cNvPr>
              <p:cNvSpPr/>
              <p:nvPr/>
            </p:nvSpPr>
            <p:spPr>
              <a:xfrm>
                <a:off x="1763259" y="5538600"/>
                <a:ext cx="691729" cy="499728"/>
              </a:xfrm>
              <a:prstGeom prst="roundRect">
                <a:avLst/>
              </a:prstGeom>
              <a:noFill/>
              <a:ln w="19050" cap="rnd" cmpd="sng">
                <a:solidFill>
                  <a:schemeClr val="tx1">
                    <a:lumMod val="50000"/>
                    <a:lumOff val="50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71D0A843-BB98-C5EB-8ED3-CE7E25251E14}"/>
                  </a:ext>
                </a:extLst>
              </p:cNvPr>
              <p:cNvSpPr/>
              <p:nvPr/>
            </p:nvSpPr>
            <p:spPr>
              <a:xfrm>
                <a:off x="1763259" y="5681908"/>
                <a:ext cx="691729" cy="174159"/>
              </a:xfrm>
              <a:prstGeom prst="rect">
                <a:avLst/>
              </a:prstGeom>
              <a:noFill/>
              <a:ln w="19050" cap="rnd" cmpd="sng">
                <a:solidFill>
                  <a:schemeClr val="tx1">
                    <a:lumMod val="50000"/>
                    <a:lumOff val="50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1400" dirty="0">
                  <a:solidFill>
                    <a:schemeClr val="tx1"/>
                  </a:solidFill>
                  <a:latin typeface="Arial" panose="020B0604020202020204" pitchFamily="34" charset="0"/>
                  <a:cs typeface="Arial" panose="020B0604020202020204" pitchFamily="34" charset="0"/>
                </a:endParaRPr>
              </a:p>
            </p:txBody>
          </p:sp>
          <p:sp>
            <p:nvSpPr>
              <p:cNvPr id="34" name="Rounded Rectangle 33">
                <a:extLst>
                  <a:ext uri="{FF2B5EF4-FFF2-40B4-BE49-F238E27FC236}">
                    <a16:creationId xmlns:a16="http://schemas.microsoft.com/office/drawing/2014/main" id="{57EB1BDE-E086-D3C5-ACA2-F7CF24E66ECD}"/>
                  </a:ext>
                </a:extLst>
              </p:cNvPr>
              <p:cNvSpPr/>
              <p:nvPr/>
            </p:nvSpPr>
            <p:spPr>
              <a:xfrm>
                <a:off x="2671054" y="5802498"/>
                <a:ext cx="644940" cy="447841"/>
              </a:xfrm>
              <a:prstGeom prst="roundRect">
                <a:avLst/>
              </a:prstGeom>
              <a:noFill/>
              <a:ln w="19050" cap="rnd" cmpd="sng">
                <a:solidFill>
                  <a:schemeClr val="tx1">
                    <a:lumMod val="50000"/>
                    <a:lumOff val="50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B85C6D29-EFE8-A997-AD18-BBB375606DA1}"/>
                  </a:ext>
                </a:extLst>
              </p:cNvPr>
              <p:cNvSpPr/>
              <p:nvPr/>
            </p:nvSpPr>
            <p:spPr>
              <a:xfrm>
                <a:off x="2671054" y="5967066"/>
                <a:ext cx="644940" cy="146434"/>
              </a:xfrm>
              <a:prstGeom prst="rect">
                <a:avLst/>
              </a:prstGeom>
              <a:noFill/>
              <a:ln w="19050" cap="rnd" cmpd="sng">
                <a:solidFill>
                  <a:schemeClr val="tx1">
                    <a:lumMod val="50000"/>
                    <a:lumOff val="50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1400" dirty="0">
                  <a:solidFill>
                    <a:schemeClr val="tx1"/>
                  </a:solidFill>
                  <a:latin typeface="Arial" panose="020B0604020202020204" pitchFamily="34" charset="0"/>
                  <a:cs typeface="Arial" panose="020B0604020202020204" pitchFamily="34" charset="0"/>
                </a:endParaRPr>
              </a:p>
            </p:txBody>
          </p:sp>
          <p:cxnSp>
            <p:nvCxnSpPr>
              <p:cNvPr id="38" name="Straight Arrow Connector 37">
                <a:extLst>
                  <a:ext uri="{FF2B5EF4-FFF2-40B4-BE49-F238E27FC236}">
                    <a16:creationId xmlns:a16="http://schemas.microsoft.com/office/drawing/2014/main" id="{33B819D0-2EB3-8108-F25D-891C50033D28}"/>
                  </a:ext>
                </a:extLst>
              </p:cNvPr>
              <p:cNvCxnSpPr>
                <a:cxnSpLocks/>
                <a:stCxn id="27" idx="3"/>
              </p:cNvCxnSpPr>
              <p:nvPr/>
            </p:nvCxnSpPr>
            <p:spPr>
              <a:xfrm>
                <a:off x="2454987" y="5768984"/>
                <a:ext cx="214369" cy="87079"/>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0" name="Rounded Rectangle 49">
                <a:extLst>
                  <a:ext uri="{FF2B5EF4-FFF2-40B4-BE49-F238E27FC236}">
                    <a16:creationId xmlns:a16="http://schemas.microsoft.com/office/drawing/2014/main" id="{B4274143-D466-3226-DB8C-FF50B42E6FF9}"/>
                  </a:ext>
                </a:extLst>
              </p:cNvPr>
              <p:cNvSpPr/>
              <p:nvPr/>
            </p:nvSpPr>
            <p:spPr>
              <a:xfrm>
                <a:off x="3526593" y="5830235"/>
                <a:ext cx="548151" cy="272648"/>
              </a:xfrm>
              <a:prstGeom prst="roundRect">
                <a:avLst/>
              </a:prstGeom>
              <a:noFill/>
              <a:ln w="19050" cap="rnd" cmpd="sng">
                <a:solidFill>
                  <a:schemeClr val="tx1">
                    <a:lumMod val="50000"/>
                    <a:lumOff val="50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cxnSp>
            <p:nvCxnSpPr>
              <p:cNvPr id="54" name="Straight Arrow Connector 53">
                <a:extLst>
                  <a:ext uri="{FF2B5EF4-FFF2-40B4-BE49-F238E27FC236}">
                    <a16:creationId xmlns:a16="http://schemas.microsoft.com/office/drawing/2014/main" id="{6E39CA3B-1512-CD9E-66FD-E7A9967B5841}"/>
                  </a:ext>
                </a:extLst>
              </p:cNvPr>
              <p:cNvCxnSpPr>
                <a:cxnSpLocks/>
                <a:stCxn id="35" idx="3"/>
              </p:cNvCxnSpPr>
              <p:nvPr/>
            </p:nvCxnSpPr>
            <p:spPr>
              <a:xfrm flipV="1">
                <a:off x="3315994" y="5830226"/>
                <a:ext cx="217761" cy="210057"/>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0" name="Group 129">
              <a:extLst>
                <a:ext uri="{FF2B5EF4-FFF2-40B4-BE49-F238E27FC236}">
                  <a16:creationId xmlns:a16="http://schemas.microsoft.com/office/drawing/2014/main" id="{12C9E99D-31E4-F21E-D2F3-36A88FECC009}"/>
                </a:ext>
              </a:extLst>
            </p:cNvPr>
            <p:cNvGrpSpPr/>
            <p:nvPr/>
          </p:nvGrpSpPr>
          <p:grpSpPr>
            <a:xfrm>
              <a:off x="1314810" y="3643244"/>
              <a:ext cx="2177016" cy="440369"/>
              <a:chOff x="1314810" y="3643244"/>
              <a:chExt cx="2177016" cy="440369"/>
            </a:xfrm>
          </p:grpSpPr>
          <p:sp>
            <p:nvSpPr>
              <p:cNvPr id="88" name="Parallelogram 87">
                <a:extLst>
                  <a:ext uri="{FF2B5EF4-FFF2-40B4-BE49-F238E27FC236}">
                    <a16:creationId xmlns:a16="http://schemas.microsoft.com/office/drawing/2014/main" id="{62025E8B-2B17-FBB9-127D-411EB0FDFD0B}"/>
                  </a:ext>
                </a:extLst>
              </p:cNvPr>
              <p:cNvSpPr/>
              <p:nvPr/>
            </p:nvSpPr>
            <p:spPr>
              <a:xfrm>
                <a:off x="1314810" y="3643244"/>
                <a:ext cx="520013" cy="186141"/>
              </a:xfrm>
              <a:prstGeom prst="parallelogram">
                <a:avLst>
                  <a:gd name="adj" fmla="val 0"/>
                </a:avLst>
              </a:prstGeom>
              <a:noFill/>
              <a:ln w="19050" cap="rnd" cmpd="sng">
                <a:solidFill>
                  <a:schemeClr val="tx1">
                    <a:lumMod val="50000"/>
                    <a:lumOff val="50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1400" dirty="0">
                  <a:solidFill>
                    <a:schemeClr val="tx1"/>
                  </a:solidFill>
                  <a:latin typeface="Arial" panose="020B0604020202020204" pitchFamily="34" charset="0"/>
                  <a:cs typeface="Arial" panose="020B0604020202020204" pitchFamily="34" charset="0"/>
                </a:endParaRPr>
              </a:p>
            </p:txBody>
          </p:sp>
          <p:cxnSp>
            <p:nvCxnSpPr>
              <p:cNvPr id="92" name="Straight Arrow Connector 91">
                <a:extLst>
                  <a:ext uri="{FF2B5EF4-FFF2-40B4-BE49-F238E27FC236}">
                    <a16:creationId xmlns:a16="http://schemas.microsoft.com/office/drawing/2014/main" id="{78CA3B85-A3F9-03A5-092F-D4E01282AF2B}"/>
                  </a:ext>
                </a:extLst>
              </p:cNvPr>
              <p:cNvCxnSpPr>
                <a:cxnSpLocks/>
                <a:stCxn id="88" idx="2"/>
              </p:cNvCxnSpPr>
              <p:nvPr/>
            </p:nvCxnSpPr>
            <p:spPr>
              <a:xfrm>
                <a:off x="1834823" y="3736315"/>
                <a:ext cx="346477" cy="1504"/>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3" name="Rounded Rectangle 92">
                <a:extLst>
                  <a:ext uri="{FF2B5EF4-FFF2-40B4-BE49-F238E27FC236}">
                    <a16:creationId xmlns:a16="http://schemas.microsoft.com/office/drawing/2014/main" id="{AA318156-D75C-72EA-ADA7-BA1548DA1E22}"/>
                  </a:ext>
                </a:extLst>
              </p:cNvPr>
              <p:cNvSpPr/>
              <p:nvPr/>
            </p:nvSpPr>
            <p:spPr>
              <a:xfrm>
                <a:off x="2192560" y="3682002"/>
                <a:ext cx="460203" cy="401611"/>
              </a:xfrm>
              <a:prstGeom prst="roundRect">
                <a:avLst/>
              </a:prstGeom>
              <a:noFill/>
              <a:ln w="19050" cap="rnd" cmpd="sng">
                <a:solidFill>
                  <a:schemeClr val="tx1">
                    <a:lumMod val="50000"/>
                    <a:lumOff val="50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sp>
            <p:nvSpPr>
              <p:cNvPr id="94" name="TextBox 93">
                <a:extLst>
                  <a:ext uri="{FF2B5EF4-FFF2-40B4-BE49-F238E27FC236}">
                    <a16:creationId xmlns:a16="http://schemas.microsoft.com/office/drawing/2014/main" id="{F1AECEEB-B0AF-7E74-F4D0-F31A02AC414F}"/>
                  </a:ext>
                </a:extLst>
              </p:cNvPr>
              <p:cNvSpPr txBox="1"/>
              <p:nvPr/>
            </p:nvSpPr>
            <p:spPr>
              <a:xfrm>
                <a:off x="2192560" y="3813921"/>
                <a:ext cx="460203" cy="160175"/>
              </a:xfrm>
              <a:prstGeom prst="rect">
                <a:avLst/>
              </a:prstGeom>
              <a:noFill/>
              <a:ln w="19050">
                <a:solidFill>
                  <a:schemeClr val="tx1">
                    <a:lumMod val="50000"/>
                    <a:lumOff val="50000"/>
                  </a:schemeClr>
                </a:solidFill>
              </a:ln>
            </p:spPr>
            <p:txBody>
              <a:bodyPr wrap="square" lIns="0" tIns="0" rIns="0" bIns="0" rtlCol="0">
                <a:spAutoFit/>
              </a:bodyPr>
              <a:lstStyle/>
              <a:p>
                <a:pPr algn="ctr"/>
                <a:endParaRPr lang="en-KR" sz="1400" dirty="0">
                  <a:latin typeface="Arial" panose="020B0604020202020204" pitchFamily="34" charset="0"/>
                  <a:cs typeface="Arial" panose="020B0604020202020204" pitchFamily="34" charset="0"/>
                </a:endParaRPr>
              </a:p>
            </p:txBody>
          </p:sp>
          <p:sp>
            <p:nvSpPr>
              <p:cNvPr id="97" name="Rounded Rectangle 96">
                <a:extLst>
                  <a:ext uri="{FF2B5EF4-FFF2-40B4-BE49-F238E27FC236}">
                    <a16:creationId xmlns:a16="http://schemas.microsoft.com/office/drawing/2014/main" id="{EB3A0867-F067-76BF-D86C-B5C4F7B5AC4F}"/>
                  </a:ext>
                </a:extLst>
              </p:cNvPr>
              <p:cNvSpPr/>
              <p:nvPr/>
            </p:nvSpPr>
            <p:spPr>
              <a:xfrm>
                <a:off x="3031623" y="3792869"/>
                <a:ext cx="460203" cy="239847"/>
              </a:xfrm>
              <a:prstGeom prst="roundRect">
                <a:avLst/>
              </a:prstGeom>
              <a:noFill/>
              <a:ln w="19050" cap="rnd" cmpd="sng">
                <a:solidFill>
                  <a:schemeClr val="tx1">
                    <a:lumMod val="50000"/>
                    <a:lumOff val="50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cxnSp>
            <p:nvCxnSpPr>
              <p:cNvPr id="98" name="Straight Arrow Connector 97">
                <a:extLst>
                  <a:ext uri="{FF2B5EF4-FFF2-40B4-BE49-F238E27FC236}">
                    <a16:creationId xmlns:a16="http://schemas.microsoft.com/office/drawing/2014/main" id="{B0C36F52-46DE-4EEF-EAD3-0970AE63CE9E}"/>
                  </a:ext>
                </a:extLst>
              </p:cNvPr>
              <p:cNvCxnSpPr>
                <a:cxnSpLocks/>
                <a:stCxn id="94" idx="3"/>
              </p:cNvCxnSpPr>
              <p:nvPr/>
            </p:nvCxnSpPr>
            <p:spPr>
              <a:xfrm flipV="1">
                <a:off x="2652763" y="3798593"/>
                <a:ext cx="392475" cy="95416"/>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1" name="Group 130">
              <a:extLst>
                <a:ext uri="{FF2B5EF4-FFF2-40B4-BE49-F238E27FC236}">
                  <a16:creationId xmlns:a16="http://schemas.microsoft.com/office/drawing/2014/main" id="{273FF1A6-9D71-06EF-46BA-DB155324ED08}"/>
                </a:ext>
              </a:extLst>
            </p:cNvPr>
            <p:cNvGrpSpPr/>
            <p:nvPr/>
          </p:nvGrpSpPr>
          <p:grpSpPr>
            <a:xfrm>
              <a:off x="5379263" y="5884111"/>
              <a:ext cx="2283439" cy="446856"/>
              <a:chOff x="5379263" y="5884111"/>
              <a:chExt cx="2283439" cy="446856"/>
            </a:xfrm>
          </p:grpSpPr>
          <p:sp>
            <p:nvSpPr>
              <p:cNvPr id="102" name="Parallelogram 101">
                <a:extLst>
                  <a:ext uri="{FF2B5EF4-FFF2-40B4-BE49-F238E27FC236}">
                    <a16:creationId xmlns:a16="http://schemas.microsoft.com/office/drawing/2014/main" id="{1AF5BE66-5493-9DEE-A951-643548E29E98}"/>
                  </a:ext>
                </a:extLst>
              </p:cNvPr>
              <p:cNvSpPr/>
              <p:nvPr/>
            </p:nvSpPr>
            <p:spPr>
              <a:xfrm>
                <a:off x="5379263" y="5884111"/>
                <a:ext cx="640267" cy="189148"/>
              </a:xfrm>
              <a:prstGeom prst="parallelogram">
                <a:avLst>
                  <a:gd name="adj" fmla="val 0"/>
                </a:avLst>
              </a:prstGeom>
              <a:noFill/>
              <a:ln w="19050" cap="rnd" cmpd="sng">
                <a:solidFill>
                  <a:schemeClr val="tx1">
                    <a:lumMod val="50000"/>
                    <a:lumOff val="50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1400" dirty="0">
                  <a:solidFill>
                    <a:schemeClr val="tx1"/>
                  </a:solidFill>
                  <a:latin typeface="Arial" panose="020B0604020202020204" pitchFamily="34" charset="0"/>
                  <a:cs typeface="Arial" panose="020B0604020202020204" pitchFamily="34" charset="0"/>
                </a:endParaRPr>
              </a:p>
            </p:txBody>
          </p:sp>
          <p:cxnSp>
            <p:nvCxnSpPr>
              <p:cNvPr id="103" name="Straight Arrow Connector 102">
                <a:extLst>
                  <a:ext uri="{FF2B5EF4-FFF2-40B4-BE49-F238E27FC236}">
                    <a16:creationId xmlns:a16="http://schemas.microsoft.com/office/drawing/2014/main" id="{C80D4B02-A28E-C495-E1C8-058D3B0E8EEB}"/>
                  </a:ext>
                </a:extLst>
              </p:cNvPr>
              <p:cNvCxnSpPr>
                <a:cxnSpLocks/>
                <a:stCxn id="102" idx="2"/>
              </p:cNvCxnSpPr>
              <p:nvPr/>
            </p:nvCxnSpPr>
            <p:spPr>
              <a:xfrm>
                <a:off x="6019530" y="5978685"/>
                <a:ext cx="226223" cy="1"/>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4" name="Rounded Rectangle 103">
                <a:extLst>
                  <a:ext uri="{FF2B5EF4-FFF2-40B4-BE49-F238E27FC236}">
                    <a16:creationId xmlns:a16="http://schemas.microsoft.com/office/drawing/2014/main" id="{57DDF448-1633-D41C-158F-2DBAD1EE2539}"/>
                  </a:ext>
                </a:extLst>
              </p:cNvPr>
              <p:cNvSpPr/>
              <p:nvPr/>
            </p:nvSpPr>
            <p:spPr>
              <a:xfrm>
                <a:off x="6257013" y="5922869"/>
                <a:ext cx="566626" cy="408098"/>
              </a:xfrm>
              <a:prstGeom prst="roundRect">
                <a:avLst/>
              </a:prstGeom>
              <a:noFill/>
              <a:ln w="19050" cap="rnd" cmpd="sng">
                <a:solidFill>
                  <a:schemeClr val="tx1">
                    <a:lumMod val="50000"/>
                    <a:lumOff val="50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sp>
            <p:nvSpPr>
              <p:cNvPr id="105" name="TextBox 104">
                <a:extLst>
                  <a:ext uri="{FF2B5EF4-FFF2-40B4-BE49-F238E27FC236}">
                    <a16:creationId xmlns:a16="http://schemas.microsoft.com/office/drawing/2014/main" id="{C01EA63B-AFD0-C2D0-0683-3ED6476AF513}"/>
                  </a:ext>
                </a:extLst>
              </p:cNvPr>
              <p:cNvSpPr txBox="1"/>
              <p:nvPr/>
            </p:nvSpPr>
            <p:spPr>
              <a:xfrm>
                <a:off x="6257013" y="6054788"/>
                <a:ext cx="566626" cy="162762"/>
              </a:xfrm>
              <a:prstGeom prst="rect">
                <a:avLst/>
              </a:prstGeom>
              <a:noFill/>
              <a:ln w="19050">
                <a:solidFill>
                  <a:schemeClr val="tx1">
                    <a:lumMod val="50000"/>
                    <a:lumOff val="50000"/>
                  </a:schemeClr>
                </a:solidFill>
              </a:ln>
            </p:spPr>
            <p:txBody>
              <a:bodyPr wrap="square" lIns="0" tIns="0" rIns="0" bIns="0" rtlCol="0">
                <a:spAutoFit/>
              </a:bodyPr>
              <a:lstStyle/>
              <a:p>
                <a:pPr algn="ctr"/>
                <a:endParaRPr lang="en-KR" sz="1400" dirty="0">
                  <a:latin typeface="Arial" panose="020B0604020202020204" pitchFamily="34" charset="0"/>
                  <a:cs typeface="Arial" panose="020B0604020202020204" pitchFamily="34" charset="0"/>
                </a:endParaRPr>
              </a:p>
            </p:txBody>
          </p:sp>
          <p:sp>
            <p:nvSpPr>
              <p:cNvPr id="106" name="Rounded Rectangle 105">
                <a:extLst>
                  <a:ext uri="{FF2B5EF4-FFF2-40B4-BE49-F238E27FC236}">
                    <a16:creationId xmlns:a16="http://schemas.microsoft.com/office/drawing/2014/main" id="{D8B1589D-FCF4-9FDE-4075-D5AB276B8383}"/>
                  </a:ext>
                </a:extLst>
              </p:cNvPr>
              <p:cNvSpPr/>
              <p:nvPr/>
            </p:nvSpPr>
            <p:spPr>
              <a:xfrm>
                <a:off x="7096076" y="6033736"/>
                <a:ext cx="566626" cy="243721"/>
              </a:xfrm>
              <a:prstGeom prst="roundRect">
                <a:avLst/>
              </a:prstGeom>
              <a:noFill/>
              <a:ln w="19050" cap="rnd" cmpd="sng">
                <a:solidFill>
                  <a:schemeClr val="tx1">
                    <a:lumMod val="50000"/>
                    <a:lumOff val="50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cxnSp>
            <p:nvCxnSpPr>
              <p:cNvPr id="107" name="Straight Arrow Connector 106">
                <a:extLst>
                  <a:ext uri="{FF2B5EF4-FFF2-40B4-BE49-F238E27FC236}">
                    <a16:creationId xmlns:a16="http://schemas.microsoft.com/office/drawing/2014/main" id="{B5E88827-EC41-1940-9A6C-AEE28D8FB4B8}"/>
                  </a:ext>
                </a:extLst>
              </p:cNvPr>
              <p:cNvCxnSpPr>
                <a:cxnSpLocks/>
                <a:stCxn id="105" idx="3"/>
              </p:cNvCxnSpPr>
              <p:nvPr/>
            </p:nvCxnSpPr>
            <p:spPr>
              <a:xfrm flipV="1">
                <a:off x="6823639" y="6039460"/>
                <a:ext cx="286052" cy="96709"/>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2" name="Group 121">
              <a:extLst>
                <a:ext uri="{FF2B5EF4-FFF2-40B4-BE49-F238E27FC236}">
                  <a16:creationId xmlns:a16="http://schemas.microsoft.com/office/drawing/2014/main" id="{123EDAA5-0F39-A2A0-D39D-60CC26645DF5}"/>
                </a:ext>
              </a:extLst>
            </p:cNvPr>
            <p:cNvGrpSpPr/>
            <p:nvPr/>
          </p:nvGrpSpPr>
          <p:grpSpPr>
            <a:xfrm>
              <a:off x="4278735" y="3547598"/>
              <a:ext cx="2830956" cy="729354"/>
              <a:chOff x="4459558" y="2632701"/>
              <a:chExt cx="3189232" cy="821661"/>
            </a:xfrm>
          </p:grpSpPr>
          <p:sp>
            <p:nvSpPr>
              <p:cNvPr id="111" name="Parallelogram 110">
                <a:extLst>
                  <a:ext uri="{FF2B5EF4-FFF2-40B4-BE49-F238E27FC236}">
                    <a16:creationId xmlns:a16="http://schemas.microsoft.com/office/drawing/2014/main" id="{EB89B68F-BDD4-009B-BDFD-B2AB3AC85268}"/>
                  </a:ext>
                </a:extLst>
              </p:cNvPr>
              <p:cNvSpPr/>
              <p:nvPr/>
            </p:nvSpPr>
            <p:spPr>
              <a:xfrm>
                <a:off x="4459558" y="2632701"/>
                <a:ext cx="640267" cy="189148"/>
              </a:xfrm>
              <a:prstGeom prst="parallelogram">
                <a:avLst>
                  <a:gd name="adj" fmla="val 0"/>
                </a:avLst>
              </a:prstGeom>
              <a:noFill/>
              <a:ln w="19050" cap="rnd" cmpd="sng">
                <a:solidFill>
                  <a:schemeClr val="tx1">
                    <a:lumMod val="50000"/>
                    <a:lumOff val="50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1400" dirty="0">
                  <a:solidFill>
                    <a:schemeClr val="tx1"/>
                  </a:solidFill>
                  <a:latin typeface="Arial" panose="020B0604020202020204" pitchFamily="34" charset="0"/>
                  <a:cs typeface="Arial" panose="020B0604020202020204" pitchFamily="34" charset="0"/>
                </a:endParaRPr>
              </a:p>
            </p:txBody>
          </p:sp>
          <p:cxnSp>
            <p:nvCxnSpPr>
              <p:cNvPr id="112" name="Straight Arrow Connector 111">
                <a:extLst>
                  <a:ext uri="{FF2B5EF4-FFF2-40B4-BE49-F238E27FC236}">
                    <a16:creationId xmlns:a16="http://schemas.microsoft.com/office/drawing/2014/main" id="{037C556B-A937-E901-0A46-DEE1387811A9}"/>
                  </a:ext>
                </a:extLst>
              </p:cNvPr>
              <p:cNvCxnSpPr>
                <a:cxnSpLocks/>
                <a:stCxn id="111" idx="2"/>
              </p:cNvCxnSpPr>
              <p:nvPr/>
            </p:nvCxnSpPr>
            <p:spPr>
              <a:xfrm>
                <a:off x="5099824" y="2727276"/>
                <a:ext cx="243910" cy="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3" name="Rounded Rectangle 112">
                <a:extLst>
                  <a:ext uri="{FF2B5EF4-FFF2-40B4-BE49-F238E27FC236}">
                    <a16:creationId xmlns:a16="http://schemas.microsoft.com/office/drawing/2014/main" id="{C4834A6B-41D1-3051-A40A-B00BC6EF1BC5}"/>
                  </a:ext>
                </a:extLst>
              </p:cNvPr>
              <p:cNvSpPr/>
              <p:nvPr/>
            </p:nvSpPr>
            <p:spPr>
              <a:xfrm>
                <a:off x="5339002" y="2671459"/>
                <a:ext cx="689453" cy="507756"/>
              </a:xfrm>
              <a:prstGeom prst="roundRect">
                <a:avLst/>
              </a:prstGeom>
              <a:noFill/>
              <a:ln w="19050" cap="rnd" cmpd="sng">
                <a:solidFill>
                  <a:schemeClr val="tx1">
                    <a:lumMod val="50000"/>
                    <a:lumOff val="50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sp>
            <p:nvSpPr>
              <p:cNvPr id="115" name="Rectangle 114">
                <a:extLst>
                  <a:ext uri="{FF2B5EF4-FFF2-40B4-BE49-F238E27FC236}">
                    <a16:creationId xmlns:a16="http://schemas.microsoft.com/office/drawing/2014/main" id="{1CE55E86-C1CD-52B3-C019-ECA4B6E7194D}"/>
                  </a:ext>
                </a:extLst>
              </p:cNvPr>
              <p:cNvSpPr/>
              <p:nvPr/>
            </p:nvSpPr>
            <p:spPr>
              <a:xfrm>
                <a:off x="5339002" y="2865328"/>
                <a:ext cx="689453" cy="152145"/>
              </a:xfrm>
              <a:prstGeom prst="rect">
                <a:avLst/>
              </a:prstGeom>
              <a:noFill/>
              <a:ln w="19050" cap="rnd" cmpd="sng">
                <a:solidFill>
                  <a:schemeClr val="tx1">
                    <a:lumMod val="50000"/>
                    <a:lumOff val="50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1400" dirty="0">
                  <a:solidFill>
                    <a:schemeClr val="tx1"/>
                  </a:solidFill>
                  <a:latin typeface="Arial" panose="020B0604020202020204" pitchFamily="34" charset="0"/>
                  <a:cs typeface="Arial" panose="020B0604020202020204" pitchFamily="34" charset="0"/>
                </a:endParaRPr>
              </a:p>
            </p:txBody>
          </p:sp>
          <p:sp>
            <p:nvSpPr>
              <p:cNvPr id="117" name="Rounded Rectangle 116">
                <a:extLst>
                  <a:ext uri="{FF2B5EF4-FFF2-40B4-BE49-F238E27FC236}">
                    <a16:creationId xmlns:a16="http://schemas.microsoft.com/office/drawing/2014/main" id="{6956E1A3-FBA7-B2ED-D4CB-615F6EB963E3}"/>
                  </a:ext>
                </a:extLst>
              </p:cNvPr>
              <p:cNvSpPr/>
              <p:nvPr/>
            </p:nvSpPr>
            <p:spPr>
              <a:xfrm>
                <a:off x="6245101" y="3006523"/>
                <a:ext cx="661464" cy="447839"/>
              </a:xfrm>
              <a:prstGeom prst="roundRect">
                <a:avLst/>
              </a:prstGeom>
              <a:noFill/>
              <a:ln w="19050" cap="rnd" cmpd="sng">
                <a:solidFill>
                  <a:schemeClr val="tx1">
                    <a:lumMod val="50000"/>
                    <a:lumOff val="50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sp>
            <p:nvSpPr>
              <p:cNvPr id="118" name="Rectangle 117">
                <a:extLst>
                  <a:ext uri="{FF2B5EF4-FFF2-40B4-BE49-F238E27FC236}">
                    <a16:creationId xmlns:a16="http://schemas.microsoft.com/office/drawing/2014/main" id="{03566849-F769-9578-C33C-C058D199B355}"/>
                  </a:ext>
                </a:extLst>
              </p:cNvPr>
              <p:cNvSpPr/>
              <p:nvPr/>
            </p:nvSpPr>
            <p:spPr>
              <a:xfrm>
                <a:off x="6248433" y="3171098"/>
                <a:ext cx="651600" cy="146435"/>
              </a:xfrm>
              <a:prstGeom prst="rect">
                <a:avLst/>
              </a:prstGeom>
              <a:noFill/>
              <a:ln w="19050" cap="rnd" cmpd="sng">
                <a:solidFill>
                  <a:schemeClr val="tx1">
                    <a:lumMod val="50000"/>
                    <a:lumOff val="50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1400" dirty="0">
                  <a:solidFill>
                    <a:schemeClr val="tx1"/>
                  </a:solidFill>
                  <a:latin typeface="Arial" panose="020B0604020202020204" pitchFamily="34" charset="0"/>
                  <a:cs typeface="Arial" panose="020B0604020202020204" pitchFamily="34" charset="0"/>
                </a:endParaRPr>
              </a:p>
            </p:txBody>
          </p:sp>
          <p:cxnSp>
            <p:nvCxnSpPr>
              <p:cNvPr id="119" name="Straight Arrow Connector 118">
                <a:extLst>
                  <a:ext uri="{FF2B5EF4-FFF2-40B4-BE49-F238E27FC236}">
                    <a16:creationId xmlns:a16="http://schemas.microsoft.com/office/drawing/2014/main" id="{7D56CF99-2642-EBB9-F654-49666AD490CF}"/>
                  </a:ext>
                </a:extLst>
              </p:cNvPr>
              <p:cNvCxnSpPr>
                <a:cxnSpLocks/>
                <a:stCxn id="115" idx="3"/>
              </p:cNvCxnSpPr>
              <p:nvPr/>
            </p:nvCxnSpPr>
            <p:spPr>
              <a:xfrm>
                <a:off x="6028456" y="2941400"/>
                <a:ext cx="223393" cy="98086"/>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0" name="Rounded Rectangle 119">
                <a:extLst>
                  <a:ext uri="{FF2B5EF4-FFF2-40B4-BE49-F238E27FC236}">
                    <a16:creationId xmlns:a16="http://schemas.microsoft.com/office/drawing/2014/main" id="{1C55CF4D-D8BD-90B2-7E92-7D8550E83773}"/>
                  </a:ext>
                </a:extLst>
              </p:cNvPr>
              <p:cNvSpPr/>
              <p:nvPr/>
            </p:nvSpPr>
            <p:spPr>
              <a:xfrm>
                <a:off x="7100639" y="3015611"/>
                <a:ext cx="548151" cy="272649"/>
              </a:xfrm>
              <a:prstGeom prst="roundRect">
                <a:avLst/>
              </a:prstGeom>
              <a:noFill/>
              <a:ln w="19050" cap="rnd" cmpd="sng">
                <a:solidFill>
                  <a:schemeClr val="tx1">
                    <a:lumMod val="50000"/>
                    <a:lumOff val="50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cxnSp>
            <p:nvCxnSpPr>
              <p:cNvPr id="121" name="Straight Arrow Connector 120">
                <a:extLst>
                  <a:ext uri="{FF2B5EF4-FFF2-40B4-BE49-F238E27FC236}">
                    <a16:creationId xmlns:a16="http://schemas.microsoft.com/office/drawing/2014/main" id="{FD8C6874-9C3F-7E75-52F9-8BC4D1937479}"/>
                  </a:ext>
                </a:extLst>
              </p:cNvPr>
              <p:cNvCxnSpPr>
                <a:cxnSpLocks/>
                <a:stCxn id="118" idx="3"/>
              </p:cNvCxnSpPr>
              <p:nvPr/>
            </p:nvCxnSpPr>
            <p:spPr>
              <a:xfrm flipV="1">
                <a:off x="6900036" y="3015602"/>
                <a:ext cx="220900" cy="228704"/>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59" name="Group 158">
            <a:extLst>
              <a:ext uri="{FF2B5EF4-FFF2-40B4-BE49-F238E27FC236}">
                <a16:creationId xmlns:a16="http://schemas.microsoft.com/office/drawing/2014/main" id="{59E28F7D-31AA-11F8-52AE-5E7F0C94BA5B}"/>
              </a:ext>
            </a:extLst>
          </p:cNvPr>
          <p:cNvGrpSpPr>
            <a:grpSpLocks noChangeAspect="1"/>
          </p:cNvGrpSpPr>
          <p:nvPr/>
        </p:nvGrpSpPr>
        <p:grpSpPr>
          <a:xfrm>
            <a:off x="2593657" y="4377970"/>
            <a:ext cx="5258850" cy="1338628"/>
            <a:chOff x="2748192" y="4529749"/>
            <a:chExt cx="5258850" cy="1338628"/>
          </a:xfrm>
          <a:solidFill>
            <a:schemeClr val="accent2">
              <a:lumMod val="40000"/>
              <a:lumOff val="60000"/>
            </a:schemeClr>
          </a:solidFill>
        </p:grpSpPr>
        <p:sp>
          <p:nvSpPr>
            <p:cNvPr id="153" name="Rounded Rectangle 152">
              <a:extLst>
                <a:ext uri="{FF2B5EF4-FFF2-40B4-BE49-F238E27FC236}">
                  <a16:creationId xmlns:a16="http://schemas.microsoft.com/office/drawing/2014/main" id="{486AFD81-4031-58AF-0B13-945937ED4355}"/>
                </a:ext>
              </a:extLst>
            </p:cNvPr>
            <p:cNvSpPr/>
            <p:nvPr/>
          </p:nvSpPr>
          <p:spPr>
            <a:xfrm>
              <a:off x="2748192" y="4633959"/>
              <a:ext cx="728070" cy="612272"/>
            </a:xfrm>
            <a:prstGeom prst="roundRect">
              <a:avLst/>
            </a:prstGeom>
            <a:grp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sp>
          <p:nvSpPr>
            <p:cNvPr id="154" name="Rounded Rectangle 153">
              <a:extLst>
                <a:ext uri="{FF2B5EF4-FFF2-40B4-BE49-F238E27FC236}">
                  <a16:creationId xmlns:a16="http://schemas.microsoft.com/office/drawing/2014/main" id="{F6E35492-7C7A-5AB2-6E5C-A8DEC6756730}"/>
                </a:ext>
              </a:extLst>
            </p:cNvPr>
            <p:cNvSpPr/>
            <p:nvPr/>
          </p:nvSpPr>
          <p:spPr>
            <a:xfrm>
              <a:off x="3808922" y="5418873"/>
              <a:ext cx="640267" cy="449504"/>
            </a:xfrm>
            <a:prstGeom prst="roundRect">
              <a:avLst/>
            </a:prstGeom>
            <a:grp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dirty="0">
                <a:latin typeface="Arial" panose="020B0604020202020204" pitchFamily="34" charset="0"/>
                <a:cs typeface="Arial" panose="020B0604020202020204" pitchFamily="34" charset="0"/>
              </a:endParaRPr>
            </a:p>
          </p:txBody>
        </p:sp>
        <p:sp>
          <p:nvSpPr>
            <p:cNvPr id="155" name="Rounded Rectangle 154">
              <a:extLst>
                <a:ext uri="{FF2B5EF4-FFF2-40B4-BE49-F238E27FC236}">
                  <a16:creationId xmlns:a16="http://schemas.microsoft.com/office/drawing/2014/main" id="{AF71E60D-F464-BCA9-D6F0-C1C84F2A8E90}"/>
                </a:ext>
              </a:extLst>
            </p:cNvPr>
            <p:cNvSpPr/>
            <p:nvPr/>
          </p:nvSpPr>
          <p:spPr>
            <a:xfrm>
              <a:off x="4721281" y="5436813"/>
              <a:ext cx="614728" cy="373548"/>
            </a:xfrm>
            <a:prstGeom prst="roundRect">
              <a:avLst/>
            </a:prstGeom>
            <a:grp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dirty="0">
                <a:latin typeface="Arial" panose="020B0604020202020204" pitchFamily="34" charset="0"/>
                <a:cs typeface="Arial" panose="020B0604020202020204" pitchFamily="34" charset="0"/>
              </a:endParaRPr>
            </a:p>
          </p:txBody>
        </p:sp>
        <p:sp>
          <p:nvSpPr>
            <p:cNvPr id="156" name="Rounded Rectangle 155">
              <a:extLst>
                <a:ext uri="{FF2B5EF4-FFF2-40B4-BE49-F238E27FC236}">
                  <a16:creationId xmlns:a16="http://schemas.microsoft.com/office/drawing/2014/main" id="{BF82E672-2516-851D-B526-3E07EA7F00F3}"/>
                </a:ext>
              </a:extLst>
            </p:cNvPr>
            <p:cNvSpPr/>
            <p:nvPr/>
          </p:nvSpPr>
          <p:spPr>
            <a:xfrm>
              <a:off x="7322386" y="4788954"/>
              <a:ext cx="684656" cy="588043"/>
            </a:xfrm>
            <a:prstGeom prst="roundRect">
              <a:avLst/>
            </a:prstGeom>
            <a:grp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dirty="0">
                <a:latin typeface="Arial" panose="020B0604020202020204" pitchFamily="34" charset="0"/>
                <a:cs typeface="Arial" panose="020B0604020202020204" pitchFamily="34" charset="0"/>
              </a:endParaRPr>
            </a:p>
          </p:txBody>
        </p:sp>
        <p:sp>
          <p:nvSpPr>
            <p:cNvPr id="157" name="Rounded Rectangle 156">
              <a:extLst>
                <a:ext uri="{FF2B5EF4-FFF2-40B4-BE49-F238E27FC236}">
                  <a16:creationId xmlns:a16="http://schemas.microsoft.com/office/drawing/2014/main" id="{2984B24E-46E9-3144-3602-03FEA15CEB8B}"/>
                </a:ext>
              </a:extLst>
            </p:cNvPr>
            <p:cNvSpPr/>
            <p:nvPr/>
          </p:nvSpPr>
          <p:spPr>
            <a:xfrm>
              <a:off x="3842029" y="4529749"/>
              <a:ext cx="595941" cy="423259"/>
            </a:xfrm>
            <a:prstGeom prst="roundRect">
              <a:avLst/>
            </a:prstGeom>
            <a:grp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sp>
          <p:nvSpPr>
            <p:cNvPr id="158" name="Rounded Rectangle 157">
              <a:extLst>
                <a:ext uri="{FF2B5EF4-FFF2-40B4-BE49-F238E27FC236}">
                  <a16:creationId xmlns:a16="http://schemas.microsoft.com/office/drawing/2014/main" id="{84092A92-393C-C3B2-23C5-BA1BA150FB03}"/>
                </a:ext>
              </a:extLst>
            </p:cNvPr>
            <p:cNvSpPr/>
            <p:nvPr/>
          </p:nvSpPr>
          <p:spPr>
            <a:xfrm>
              <a:off x="5599320" y="5149317"/>
              <a:ext cx="684656" cy="523633"/>
            </a:xfrm>
            <a:prstGeom prst="roundRect">
              <a:avLst/>
            </a:prstGeom>
            <a:grp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grpSp>
      <p:grpSp>
        <p:nvGrpSpPr>
          <p:cNvPr id="134" name="Group 133">
            <a:extLst>
              <a:ext uri="{FF2B5EF4-FFF2-40B4-BE49-F238E27FC236}">
                <a16:creationId xmlns:a16="http://schemas.microsoft.com/office/drawing/2014/main" id="{8C6899BD-B150-81FD-9287-CFD7D1772EF4}"/>
              </a:ext>
            </a:extLst>
          </p:cNvPr>
          <p:cNvGrpSpPr>
            <a:grpSpLocks noChangeAspect="1"/>
          </p:cNvGrpSpPr>
          <p:nvPr/>
        </p:nvGrpSpPr>
        <p:grpSpPr>
          <a:xfrm>
            <a:off x="1664884" y="4442802"/>
            <a:ext cx="5051707" cy="1134188"/>
            <a:chOff x="1664884" y="4442802"/>
            <a:chExt cx="5051707" cy="1134188"/>
          </a:xfrm>
          <a:noFill/>
        </p:grpSpPr>
        <p:sp>
          <p:nvSpPr>
            <p:cNvPr id="135" name="Parallelogram 134">
              <a:extLst>
                <a:ext uri="{FF2B5EF4-FFF2-40B4-BE49-F238E27FC236}">
                  <a16:creationId xmlns:a16="http://schemas.microsoft.com/office/drawing/2014/main" id="{05DB6704-B60B-00E1-1DDD-D99D49CC1370}"/>
                </a:ext>
              </a:extLst>
            </p:cNvPr>
            <p:cNvSpPr/>
            <p:nvPr/>
          </p:nvSpPr>
          <p:spPr>
            <a:xfrm>
              <a:off x="1664884" y="4442802"/>
              <a:ext cx="691729" cy="189148"/>
            </a:xfrm>
            <a:prstGeom prst="parallelogram">
              <a:avLst>
                <a:gd name="adj" fmla="val 0"/>
              </a:avLst>
            </a:prstGeom>
            <a:grp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1400" dirty="0">
                <a:solidFill>
                  <a:schemeClr val="tx1"/>
                </a:solidFill>
                <a:latin typeface="Arial" panose="020B0604020202020204" pitchFamily="34" charset="0"/>
                <a:cs typeface="Arial" panose="020B0604020202020204" pitchFamily="34" charset="0"/>
              </a:endParaRPr>
            </a:p>
          </p:txBody>
        </p:sp>
        <p:sp>
          <p:nvSpPr>
            <p:cNvPr id="136" name="TextBox 135">
              <a:extLst>
                <a:ext uri="{FF2B5EF4-FFF2-40B4-BE49-F238E27FC236}">
                  <a16:creationId xmlns:a16="http://schemas.microsoft.com/office/drawing/2014/main" id="{3D1D1904-1F0C-56E8-5295-FFA7772EF9DB}"/>
                </a:ext>
              </a:extLst>
            </p:cNvPr>
            <p:cNvSpPr txBox="1"/>
            <p:nvPr/>
          </p:nvSpPr>
          <p:spPr>
            <a:xfrm>
              <a:off x="2594095" y="4613478"/>
              <a:ext cx="728070" cy="169825"/>
            </a:xfrm>
            <a:prstGeom prst="rect">
              <a:avLst/>
            </a:prstGeom>
            <a:grpFill/>
            <a:ln w="19050">
              <a:solidFill>
                <a:schemeClr val="accent5">
                  <a:lumMod val="75000"/>
                </a:schemeClr>
              </a:solidFill>
            </a:ln>
          </p:spPr>
          <p:txBody>
            <a:bodyPr wrap="square" lIns="0" tIns="0" rIns="0" bIns="0" rtlCol="0">
              <a:spAutoFit/>
            </a:bodyPr>
            <a:lstStyle/>
            <a:p>
              <a:pPr algn="ctr"/>
              <a:endParaRPr lang="en-KR" sz="1400" dirty="0">
                <a:latin typeface="Arial" panose="020B0604020202020204" pitchFamily="34" charset="0"/>
                <a:cs typeface="Arial" panose="020B0604020202020204" pitchFamily="34" charset="0"/>
              </a:endParaRPr>
            </a:p>
          </p:txBody>
        </p:sp>
        <p:sp>
          <p:nvSpPr>
            <p:cNvPr id="137" name="Parallelogram 136">
              <a:extLst>
                <a:ext uri="{FF2B5EF4-FFF2-40B4-BE49-F238E27FC236}">
                  <a16:creationId xmlns:a16="http://schemas.microsoft.com/office/drawing/2014/main" id="{11C453E1-9F93-B644-F398-1D7919F49331}"/>
                </a:ext>
              </a:extLst>
            </p:cNvPr>
            <p:cNvSpPr/>
            <p:nvPr/>
          </p:nvSpPr>
          <p:spPr>
            <a:xfrm>
              <a:off x="6080770" y="4550796"/>
              <a:ext cx="635821" cy="192113"/>
            </a:xfrm>
            <a:prstGeom prst="parallelogram">
              <a:avLst>
                <a:gd name="adj" fmla="val 0"/>
              </a:avLst>
            </a:prstGeom>
            <a:grp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1400" dirty="0">
                <a:solidFill>
                  <a:schemeClr val="tx1"/>
                </a:solidFill>
                <a:latin typeface="Arial" panose="020B0604020202020204" pitchFamily="34" charset="0"/>
                <a:cs typeface="Arial" panose="020B0604020202020204" pitchFamily="34" charset="0"/>
              </a:endParaRPr>
            </a:p>
          </p:txBody>
        </p:sp>
        <p:sp>
          <p:nvSpPr>
            <p:cNvPr id="138" name="Rectangle 137">
              <a:extLst>
                <a:ext uri="{FF2B5EF4-FFF2-40B4-BE49-F238E27FC236}">
                  <a16:creationId xmlns:a16="http://schemas.microsoft.com/office/drawing/2014/main" id="{8745CA21-44CD-9946-948F-491DB3418724}"/>
                </a:ext>
              </a:extLst>
            </p:cNvPr>
            <p:cNvSpPr/>
            <p:nvPr/>
          </p:nvSpPr>
          <p:spPr>
            <a:xfrm>
              <a:off x="3662686" y="5378795"/>
              <a:ext cx="633791" cy="181300"/>
            </a:xfrm>
            <a:prstGeom prst="rect">
              <a:avLst/>
            </a:prstGeom>
            <a:grp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1400" dirty="0">
                <a:solidFill>
                  <a:schemeClr val="tx1"/>
                </a:solidFill>
                <a:latin typeface="Arial" panose="020B0604020202020204" pitchFamily="34" charset="0"/>
                <a:cs typeface="Arial" panose="020B0604020202020204" pitchFamily="34" charset="0"/>
              </a:endParaRPr>
            </a:p>
          </p:txBody>
        </p:sp>
        <p:sp>
          <p:nvSpPr>
            <p:cNvPr id="139" name="Rectangle 138">
              <a:extLst>
                <a:ext uri="{FF2B5EF4-FFF2-40B4-BE49-F238E27FC236}">
                  <a16:creationId xmlns:a16="http://schemas.microsoft.com/office/drawing/2014/main" id="{918D7A8E-FDA5-CD36-5896-43EFB742EC2B}"/>
                </a:ext>
              </a:extLst>
            </p:cNvPr>
            <p:cNvSpPr/>
            <p:nvPr/>
          </p:nvSpPr>
          <p:spPr>
            <a:xfrm>
              <a:off x="4561797" y="5421095"/>
              <a:ext cx="614728" cy="155895"/>
            </a:xfrm>
            <a:prstGeom prst="rect">
              <a:avLst/>
            </a:prstGeom>
            <a:grp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1400" dirty="0">
                <a:solidFill>
                  <a:schemeClr val="tx1"/>
                </a:solidFill>
                <a:latin typeface="Arial" panose="020B0604020202020204" pitchFamily="34" charset="0"/>
                <a:cs typeface="Arial" panose="020B0604020202020204" pitchFamily="34" charset="0"/>
              </a:endParaRPr>
            </a:p>
          </p:txBody>
        </p:sp>
        <p:sp>
          <p:nvSpPr>
            <p:cNvPr id="140" name="Rectangle 139">
              <a:extLst>
                <a:ext uri="{FF2B5EF4-FFF2-40B4-BE49-F238E27FC236}">
                  <a16:creationId xmlns:a16="http://schemas.microsoft.com/office/drawing/2014/main" id="{71B8027F-3951-87E7-6A1F-B1914ADFB69E}"/>
                </a:ext>
              </a:extLst>
            </p:cNvPr>
            <p:cNvSpPr/>
            <p:nvPr/>
          </p:nvSpPr>
          <p:spPr>
            <a:xfrm>
              <a:off x="2594095" y="4780051"/>
              <a:ext cx="728070" cy="181715"/>
            </a:xfrm>
            <a:prstGeom prst="rect">
              <a:avLst/>
            </a:prstGeom>
            <a:grp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1400" dirty="0">
                <a:solidFill>
                  <a:schemeClr val="tx1"/>
                </a:solidFill>
                <a:latin typeface="Arial" panose="020B0604020202020204" pitchFamily="34" charset="0"/>
                <a:cs typeface="Arial" panose="020B0604020202020204" pitchFamily="34" charset="0"/>
              </a:endParaRPr>
            </a:p>
          </p:txBody>
        </p:sp>
      </p:grpSp>
      <p:grpSp>
        <p:nvGrpSpPr>
          <p:cNvPr id="141" name="Group 140">
            <a:extLst>
              <a:ext uri="{FF2B5EF4-FFF2-40B4-BE49-F238E27FC236}">
                <a16:creationId xmlns:a16="http://schemas.microsoft.com/office/drawing/2014/main" id="{7D3CE81B-7FD9-EA3C-2839-2143C789F461}"/>
              </a:ext>
            </a:extLst>
          </p:cNvPr>
          <p:cNvGrpSpPr>
            <a:grpSpLocks noChangeAspect="1"/>
          </p:cNvGrpSpPr>
          <p:nvPr/>
        </p:nvGrpSpPr>
        <p:grpSpPr>
          <a:xfrm>
            <a:off x="1665019" y="4445802"/>
            <a:ext cx="5051707" cy="1134188"/>
            <a:chOff x="1664884" y="4442802"/>
            <a:chExt cx="5051707" cy="1134188"/>
          </a:xfrm>
          <a:solidFill>
            <a:schemeClr val="accent6">
              <a:lumMod val="40000"/>
              <a:lumOff val="60000"/>
            </a:schemeClr>
          </a:solidFill>
        </p:grpSpPr>
        <p:sp>
          <p:nvSpPr>
            <p:cNvPr id="142" name="Parallelogram 141">
              <a:extLst>
                <a:ext uri="{FF2B5EF4-FFF2-40B4-BE49-F238E27FC236}">
                  <a16:creationId xmlns:a16="http://schemas.microsoft.com/office/drawing/2014/main" id="{131C3B98-F039-FF86-43E3-2F0064F20002}"/>
                </a:ext>
              </a:extLst>
            </p:cNvPr>
            <p:cNvSpPr/>
            <p:nvPr/>
          </p:nvSpPr>
          <p:spPr>
            <a:xfrm>
              <a:off x="1664884" y="4442802"/>
              <a:ext cx="691729" cy="189148"/>
            </a:xfrm>
            <a:prstGeom prst="parallelogram">
              <a:avLst>
                <a:gd name="adj" fmla="val 0"/>
              </a:avLst>
            </a:prstGeom>
            <a:grp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1400" dirty="0">
                <a:solidFill>
                  <a:schemeClr val="tx1"/>
                </a:solidFill>
                <a:latin typeface="Arial" panose="020B0604020202020204" pitchFamily="34" charset="0"/>
                <a:cs typeface="Arial" panose="020B0604020202020204" pitchFamily="34" charset="0"/>
              </a:endParaRPr>
            </a:p>
          </p:txBody>
        </p:sp>
        <p:sp>
          <p:nvSpPr>
            <p:cNvPr id="143" name="TextBox 142">
              <a:extLst>
                <a:ext uri="{FF2B5EF4-FFF2-40B4-BE49-F238E27FC236}">
                  <a16:creationId xmlns:a16="http://schemas.microsoft.com/office/drawing/2014/main" id="{3A4A1B0A-9AC4-E818-23ED-402C4D3548EF}"/>
                </a:ext>
              </a:extLst>
            </p:cNvPr>
            <p:cNvSpPr txBox="1"/>
            <p:nvPr/>
          </p:nvSpPr>
          <p:spPr>
            <a:xfrm>
              <a:off x="2594095" y="4613478"/>
              <a:ext cx="728070" cy="169825"/>
            </a:xfrm>
            <a:prstGeom prst="rect">
              <a:avLst/>
            </a:prstGeom>
            <a:grpFill/>
            <a:ln w="19050">
              <a:solidFill>
                <a:schemeClr val="accent5">
                  <a:lumMod val="75000"/>
                </a:schemeClr>
              </a:solidFill>
            </a:ln>
          </p:spPr>
          <p:txBody>
            <a:bodyPr wrap="square" lIns="0" tIns="0" rIns="0" bIns="0" rtlCol="0">
              <a:spAutoFit/>
            </a:bodyPr>
            <a:lstStyle/>
            <a:p>
              <a:pPr algn="ctr"/>
              <a:endParaRPr lang="en-KR" sz="1400" dirty="0">
                <a:latin typeface="Arial" panose="020B0604020202020204" pitchFamily="34" charset="0"/>
                <a:cs typeface="Arial" panose="020B0604020202020204" pitchFamily="34" charset="0"/>
              </a:endParaRPr>
            </a:p>
          </p:txBody>
        </p:sp>
        <p:sp>
          <p:nvSpPr>
            <p:cNvPr id="144" name="Parallelogram 143">
              <a:extLst>
                <a:ext uri="{FF2B5EF4-FFF2-40B4-BE49-F238E27FC236}">
                  <a16:creationId xmlns:a16="http://schemas.microsoft.com/office/drawing/2014/main" id="{BF4FA27B-66A4-84A3-1078-E2436DD1FF80}"/>
                </a:ext>
              </a:extLst>
            </p:cNvPr>
            <p:cNvSpPr/>
            <p:nvPr/>
          </p:nvSpPr>
          <p:spPr>
            <a:xfrm>
              <a:off x="6080770" y="4550796"/>
              <a:ext cx="635821" cy="192113"/>
            </a:xfrm>
            <a:prstGeom prst="parallelogram">
              <a:avLst>
                <a:gd name="adj" fmla="val 0"/>
              </a:avLst>
            </a:prstGeom>
            <a:grp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1400" dirty="0">
                <a:solidFill>
                  <a:schemeClr val="tx1"/>
                </a:solidFill>
                <a:latin typeface="Arial" panose="020B0604020202020204" pitchFamily="34" charset="0"/>
                <a:cs typeface="Arial" panose="020B0604020202020204" pitchFamily="34" charset="0"/>
              </a:endParaRPr>
            </a:p>
          </p:txBody>
        </p:sp>
        <p:sp>
          <p:nvSpPr>
            <p:cNvPr id="145" name="Rectangle 144">
              <a:extLst>
                <a:ext uri="{FF2B5EF4-FFF2-40B4-BE49-F238E27FC236}">
                  <a16:creationId xmlns:a16="http://schemas.microsoft.com/office/drawing/2014/main" id="{4B06363C-80F5-04F5-6C05-CE36A07BCF01}"/>
                </a:ext>
              </a:extLst>
            </p:cNvPr>
            <p:cNvSpPr/>
            <p:nvPr/>
          </p:nvSpPr>
          <p:spPr>
            <a:xfrm>
              <a:off x="3662686" y="5378795"/>
              <a:ext cx="633791" cy="181300"/>
            </a:xfrm>
            <a:prstGeom prst="rect">
              <a:avLst/>
            </a:prstGeom>
            <a:grp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1400" dirty="0">
                <a:solidFill>
                  <a:schemeClr val="tx1"/>
                </a:solidFill>
                <a:latin typeface="Arial" panose="020B0604020202020204" pitchFamily="34" charset="0"/>
                <a:cs typeface="Arial" panose="020B0604020202020204" pitchFamily="34" charset="0"/>
              </a:endParaRPr>
            </a:p>
          </p:txBody>
        </p:sp>
        <p:sp>
          <p:nvSpPr>
            <p:cNvPr id="146" name="Rectangle 145">
              <a:extLst>
                <a:ext uri="{FF2B5EF4-FFF2-40B4-BE49-F238E27FC236}">
                  <a16:creationId xmlns:a16="http://schemas.microsoft.com/office/drawing/2014/main" id="{E1DEDF57-DE0E-00AE-AFA9-B2FD39405B93}"/>
                </a:ext>
              </a:extLst>
            </p:cNvPr>
            <p:cNvSpPr/>
            <p:nvPr/>
          </p:nvSpPr>
          <p:spPr>
            <a:xfrm>
              <a:off x="4561797" y="5421095"/>
              <a:ext cx="614728" cy="155895"/>
            </a:xfrm>
            <a:prstGeom prst="rect">
              <a:avLst/>
            </a:prstGeom>
            <a:grp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1400" dirty="0">
                <a:solidFill>
                  <a:schemeClr val="tx1"/>
                </a:solidFill>
                <a:latin typeface="Arial" panose="020B0604020202020204" pitchFamily="34" charset="0"/>
                <a:cs typeface="Arial" panose="020B0604020202020204" pitchFamily="34" charset="0"/>
              </a:endParaRPr>
            </a:p>
          </p:txBody>
        </p:sp>
        <p:sp>
          <p:nvSpPr>
            <p:cNvPr id="147" name="Rectangle 146">
              <a:extLst>
                <a:ext uri="{FF2B5EF4-FFF2-40B4-BE49-F238E27FC236}">
                  <a16:creationId xmlns:a16="http://schemas.microsoft.com/office/drawing/2014/main" id="{524897A6-5D57-C80A-0827-69A0B0A9A7EF}"/>
                </a:ext>
              </a:extLst>
            </p:cNvPr>
            <p:cNvSpPr/>
            <p:nvPr/>
          </p:nvSpPr>
          <p:spPr>
            <a:xfrm>
              <a:off x="2594095" y="4780051"/>
              <a:ext cx="728070" cy="181715"/>
            </a:xfrm>
            <a:prstGeom prst="rect">
              <a:avLst/>
            </a:prstGeom>
            <a:grpFill/>
            <a:ln w="19050" cap="rnd" cmpd="sng">
              <a:solidFill>
                <a:schemeClr val="accent5">
                  <a:lumMod val="75000"/>
                </a:schemeClr>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1400" dirty="0">
                <a:solidFill>
                  <a:schemeClr val="tx1"/>
                </a:solidFill>
                <a:latin typeface="Arial" panose="020B0604020202020204" pitchFamily="34" charset="0"/>
                <a:cs typeface="Arial" panose="020B0604020202020204" pitchFamily="34" charset="0"/>
              </a:endParaRPr>
            </a:p>
          </p:txBody>
        </p:sp>
      </p:grpSp>
      <p:grpSp>
        <p:nvGrpSpPr>
          <p:cNvPr id="14" name="Group 13">
            <a:extLst>
              <a:ext uri="{FF2B5EF4-FFF2-40B4-BE49-F238E27FC236}">
                <a16:creationId xmlns:a16="http://schemas.microsoft.com/office/drawing/2014/main" id="{C0A04831-CFAE-9C4C-6D16-8356F80C505B}"/>
              </a:ext>
            </a:extLst>
          </p:cNvPr>
          <p:cNvGrpSpPr>
            <a:grpSpLocks noChangeAspect="1"/>
          </p:cNvGrpSpPr>
          <p:nvPr/>
        </p:nvGrpSpPr>
        <p:grpSpPr>
          <a:xfrm>
            <a:off x="1600747" y="4346136"/>
            <a:ext cx="4590966" cy="1200439"/>
            <a:chOff x="1540063" y="4524850"/>
            <a:chExt cx="6148574" cy="1511906"/>
          </a:xfrm>
        </p:grpSpPr>
        <p:sp>
          <p:nvSpPr>
            <p:cNvPr id="76" name="Rounded Rectangle 75">
              <a:extLst>
                <a:ext uri="{FF2B5EF4-FFF2-40B4-BE49-F238E27FC236}">
                  <a16:creationId xmlns:a16="http://schemas.microsoft.com/office/drawing/2014/main" id="{9DF1DADF-C293-5324-4D68-83AD760CFA9D}"/>
                </a:ext>
              </a:extLst>
            </p:cNvPr>
            <p:cNvSpPr/>
            <p:nvPr/>
          </p:nvSpPr>
          <p:spPr>
            <a:xfrm>
              <a:off x="7436637" y="4676393"/>
              <a:ext cx="252000" cy="251999"/>
            </a:xfrm>
            <a:prstGeom prst="roundRect">
              <a:avLst/>
            </a:prstGeom>
            <a:solidFill>
              <a:schemeClr val="accent6">
                <a:lumMod val="40000"/>
                <a:lumOff val="6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P</a:t>
              </a:r>
            </a:p>
          </p:txBody>
        </p:sp>
        <p:sp>
          <p:nvSpPr>
            <p:cNvPr id="77" name="Rounded Rectangle 76">
              <a:extLst>
                <a:ext uri="{FF2B5EF4-FFF2-40B4-BE49-F238E27FC236}">
                  <a16:creationId xmlns:a16="http://schemas.microsoft.com/office/drawing/2014/main" id="{E1F07F97-0FFF-C23C-748D-88C8B2188326}"/>
                </a:ext>
              </a:extLst>
            </p:cNvPr>
            <p:cNvSpPr/>
            <p:nvPr/>
          </p:nvSpPr>
          <p:spPr>
            <a:xfrm>
              <a:off x="1540063" y="4524850"/>
              <a:ext cx="252000" cy="251999"/>
            </a:xfrm>
            <a:prstGeom prst="roundRect">
              <a:avLst/>
            </a:prstGeom>
            <a:solidFill>
              <a:schemeClr val="accent6">
                <a:lumMod val="40000"/>
                <a:lumOff val="6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P</a:t>
              </a:r>
            </a:p>
          </p:txBody>
        </p:sp>
        <p:sp>
          <p:nvSpPr>
            <p:cNvPr id="78" name="Rounded Rectangle 77">
              <a:extLst>
                <a:ext uri="{FF2B5EF4-FFF2-40B4-BE49-F238E27FC236}">
                  <a16:creationId xmlns:a16="http://schemas.microsoft.com/office/drawing/2014/main" id="{0FC64514-7521-4824-000E-D68DC8348D57}"/>
                </a:ext>
              </a:extLst>
            </p:cNvPr>
            <p:cNvSpPr/>
            <p:nvPr/>
          </p:nvSpPr>
          <p:spPr>
            <a:xfrm>
              <a:off x="2710875" y="4787556"/>
              <a:ext cx="230528" cy="230529"/>
            </a:xfrm>
            <a:prstGeom prst="roundRect">
              <a:avLst/>
            </a:prstGeom>
            <a:solidFill>
              <a:schemeClr val="accent6">
                <a:lumMod val="40000"/>
                <a:lumOff val="6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P</a:t>
              </a:r>
            </a:p>
          </p:txBody>
        </p:sp>
        <p:sp>
          <p:nvSpPr>
            <p:cNvPr id="79" name="Rounded Rectangle 78">
              <a:extLst>
                <a:ext uri="{FF2B5EF4-FFF2-40B4-BE49-F238E27FC236}">
                  <a16:creationId xmlns:a16="http://schemas.microsoft.com/office/drawing/2014/main" id="{70C21D2D-210E-B054-917C-0CC477B92561}"/>
                </a:ext>
              </a:extLst>
            </p:cNvPr>
            <p:cNvSpPr/>
            <p:nvPr/>
          </p:nvSpPr>
          <p:spPr>
            <a:xfrm>
              <a:off x="2710875" y="5043883"/>
              <a:ext cx="230528" cy="230529"/>
            </a:xfrm>
            <a:prstGeom prst="roundRect">
              <a:avLst/>
            </a:prstGeom>
            <a:solidFill>
              <a:schemeClr val="accent6">
                <a:lumMod val="40000"/>
                <a:lumOff val="6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P</a:t>
              </a:r>
            </a:p>
          </p:txBody>
        </p:sp>
        <p:sp>
          <p:nvSpPr>
            <p:cNvPr id="80" name="Rounded Rectangle 79">
              <a:extLst>
                <a:ext uri="{FF2B5EF4-FFF2-40B4-BE49-F238E27FC236}">
                  <a16:creationId xmlns:a16="http://schemas.microsoft.com/office/drawing/2014/main" id="{099046A7-3E7B-336E-6EF7-89A47C92FCA1}"/>
                </a:ext>
              </a:extLst>
            </p:cNvPr>
            <p:cNvSpPr/>
            <p:nvPr/>
          </p:nvSpPr>
          <p:spPr>
            <a:xfrm>
              <a:off x="4200594" y="5751003"/>
              <a:ext cx="252001" cy="251999"/>
            </a:xfrm>
            <a:prstGeom prst="roundRect">
              <a:avLst/>
            </a:prstGeom>
            <a:solidFill>
              <a:schemeClr val="accent6">
                <a:lumMod val="40000"/>
                <a:lumOff val="6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P</a:t>
              </a:r>
            </a:p>
          </p:txBody>
        </p:sp>
        <p:sp>
          <p:nvSpPr>
            <p:cNvPr id="81" name="Rounded Rectangle 80">
              <a:extLst>
                <a:ext uri="{FF2B5EF4-FFF2-40B4-BE49-F238E27FC236}">
                  <a16:creationId xmlns:a16="http://schemas.microsoft.com/office/drawing/2014/main" id="{30C83607-E5BA-F2BF-258D-BFB109B2A2D0}"/>
                </a:ext>
              </a:extLst>
            </p:cNvPr>
            <p:cNvSpPr/>
            <p:nvPr/>
          </p:nvSpPr>
          <p:spPr>
            <a:xfrm>
              <a:off x="5338605" y="5784757"/>
              <a:ext cx="252001" cy="251999"/>
            </a:xfrm>
            <a:prstGeom prst="roundRect">
              <a:avLst/>
            </a:prstGeom>
            <a:solidFill>
              <a:schemeClr val="accent6">
                <a:lumMod val="40000"/>
                <a:lumOff val="6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P</a:t>
              </a:r>
            </a:p>
          </p:txBody>
        </p:sp>
      </p:grpSp>
      <p:grpSp>
        <p:nvGrpSpPr>
          <p:cNvPr id="11" name="Group 10">
            <a:extLst>
              <a:ext uri="{FF2B5EF4-FFF2-40B4-BE49-F238E27FC236}">
                <a16:creationId xmlns:a16="http://schemas.microsoft.com/office/drawing/2014/main" id="{82458575-4EB2-F7F9-A253-417A81810551}"/>
              </a:ext>
            </a:extLst>
          </p:cNvPr>
          <p:cNvGrpSpPr>
            <a:grpSpLocks noChangeAspect="1"/>
          </p:cNvGrpSpPr>
          <p:nvPr/>
        </p:nvGrpSpPr>
        <p:grpSpPr>
          <a:xfrm>
            <a:off x="3187974" y="4296279"/>
            <a:ext cx="4766109" cy="1059397"/>
            <a:chOff x="3290546" y="4462052"/>
            <a:chExt cx="6383124" cy="1334268"/>
          </a:xfrm>
          <a:solidFill>
            <a:schemeClr val="accent2">
              <a:lumMod val="60000"/>
              <a:lumOff val="40000"/>
            </a:schemeClr>
          </a:solidFill>
        </p:grpSpPr>
        <p:sp>
          <p:nvSpPr>
            <p:cNvPr id="85" name="Rounded Rectangle 84">
              <a:extLst>
                <a:ext uri="{FF2B5EF4-FFF2-40B4-BE49-F238E27FC236}">
                  <a16:creationId xmlns:a16="http://schemas.microsoft.com/office/drawing/2014/main" id="{87F39159-6287-0A62-DA56-2654F74622DD}"/>
                </a:ext>
              </a:extLst>
            </p:cNvPr>
            <p:cNvSpPr/>
            <p:nvPr/>
          </p:nvSpPr>
          <p:spPr>
            <a:xfrm>
              <a:off x="9421671" y="4813720"/>
              <a:ext cx="251999" cy="251999"/>
            </a:xfrm>
            <a:prstGeom prst="roundRect">
              <a:avLst/>
            </a:prstGeom>
            <a:grp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T</a:t>
              </a:r>
            </a:p>
          </p:txBody>
        </p:sp>
        <p:sp>
          <p:nvSpPr>
            <p:cNvPr id="86" name="Rounded Rectangle 85">
              <a:extLst>
                <a:ext uri="{FF2B5EF4-FFF2-40B4-BE49-F238E27FC236}">
                  <a16:creationId xmlns:a16="http://schemas.microsoft.com/office/drawing/2014/main" id="{5DB2FCD0-39E3-A59D-524E-1023066391A5}"/>
                </a:ext>
              </a:extLst>
            </p:cNvPr>
            <p:cNvSpPr/>
            <p:nvPr/>
          </p:nvSpPr>
          <p:spPr>
            <a:xfrm>
              <a:off x="4596712" y="4462052"/>
              <a:ext cx="251999" cy="251999"/>
            </a:xfrm>
            <a:prstGeom prst="roundRect">
              <a:avLst/>
            </a:prstGeom>
            <a:grp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T</a:t>
              </a:r>
            </a:p>
          </p:txBody>
        </p:sp>
        <p:sp>
          <p:nvSpPr>
            <p:cNvPr id="87" name="Rounded Rectangle 86">
              <a:extLst>
                <a:ext uri="{FF2B5EF4-FFF2-40B4-BE49-F238E27FC236}">
                  <a16:creationId xmlns:a16="http://schemas.microsoft.com/office/drawing/2014/main" id="{B4DB0D19-417C-41F7-29EC-04A1B15F64A1}"/>
                </a:ext>
              </a:extLst>
            </p:cNvPr>
            <p:cNvSpPr/>
            <p:nvPr/>
          </p:nvSpPr>
          <p:spPr>
            <a:xfrm>
              <a:off x="7074481" y="5253937"/>
              <a:ext cx="251999" cy="251999"/>
            </a:xfrm>
            <a:prstGeom prst="roundRect">
              <a:avLst/>
            </a:prstGeom>
            <a:grp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T</a:t>
              </a:r>
            </a:p>
          </p:txBody>
        </p:sp>
        <p:sp>
          <p:nvSpPr>
            <p:cNvPr id="89" name="Rounded Rectangle 88">
              <a:extLst>
                <a:ext uri="{FF2B5EF4-FFF2-40B4-BE49-F238E27FC236}">
                  <a16:creationId xmlns:a16="http://schemas.microsoft.com/office/drawing/2014/main" id="{55CFAE20-579F-2AED-2D28-E728770BBFD4}"/>
                </a:ext>
              </a:extLst>
            </p:cNvPr>
            <p:cNvSpPr/>
            <p:nvPr/>
          </p:nvSpPr>
          <p:spPr>
            <a:xfrm>
              <a:off x="5807176" y="5544321"/>
              <a:ext cx="251999" cy="251999"/>
            </a:xfrm>
            <a:prstGeom prst="roundRect">
              <a:avLst/>
            </a:prstGeom>
            <a:grp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T</a:t>
              </a:r>
            </a:p>
          </p:txBody>
        </p:sp>
        <p:sp>
          <p:nvSpPr>
            <p:cNvPr id="90" name="Rounded Rectangle 89">
              <a:extLst>
                <a:ext uri="{FF2B5EF4-FFF2-40B4-BE49-F238E27FC236}">
                  <a16:creationId xmlns:a16="http://schemas.microsoft.com/office/drawing/2014/main" id="{02EEB09F-B7CB-3CE0-41CB-A658F1AB6FEC}"/>
                </a:ext>
              </a:extLst>
            </p:cNvPr>
            <p:cNvSpPr/>
            <p:nvPr/>
          </p:nvSpPr>
          <p:spPr>
            <a:xfrm>
              <a:off x="4630549" y="5522001"/>
              <a:ext cx="251999" cy="251999"/>
            </a:xfrm>
            <a:prstGeom prst="roundRect">
              <a:avLst/>
            </a:prstGeom>
            <a:grp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T</a:t>
              </a:r>
            </a:p>
          </p:txBody>
        </p:sp>
        <p:sp>
          <p:nvSpPr>
            <p:cNvPr id="91" name="Rounded Rectangle 90">
              <a:extLst>
                <a:ext uri="{FF2B5EF4-FFF2-40B4-BE49-F238E27FC236}">
                  <a16:creationId xmlns:a16="http://schemas.microsoft.com/office/drawing/2014/main" id="{6FEDAFF1-A1F7-BEBF-E675-DFB5872F895B}"/>
                </a:ext>
              </a:extLst>
            </p:cNvPr>
            <p:cNvSpPr/>
            <p:nvPr/>
          </p:nvSpPr>
          <p:spPr>
            <a:xfrm>
              <a:off x="3290546" y="4596394"/>
              <a:ext cx="251999" cy="251999"/>
            </a:xfrm>
            <a:prstGeom prst="roundRect">
              <a:avLst/>
            </a:prstGeom>
            <a:grp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T</a:t>
              </a:r>
            </a:p>
          </p:txBody>
        </p:sp>
      </p:grpSp>
      <p:sp>
        <p:nvSpPr>
          <p:cNvPr id="162" name="TextBox 161">
            <a:extLst>
              <a:ext uri="{FF2B5EF4-FFF2-40B4-BE49-F238E27FC236}">
                <a16:creationId xmlns:a16="http://schemas.microsoft.com/office/drawing/2014/main" id="{ED1EDEE0-8EBB-0AAB-5A66-2393E33C41D7}"/>
              </a:ext>
            </a:extLst>
          </p:cNvPr>
          <p:cNvSpPr txBox="1"/>
          <p:nvPr/>
        </p:nvSpPr>
        <p:spPr>
          <a:xfrm>
            <a:off x="7863548" y="4949082"/>
            <a:ext cx="4304362" cy="1323439"/>
          </a:xfrm>
          <a:prstGeom prst="rect">
            <a:avLst/>
          </a:prstGeom>
          <a:solidFill>
            <a:schemeClr val="bg1"/>
          </a:solidFill>
        </p:spPr>
        <p:txBody>
          <a:bodyPr wrap="square" rtlCol="0">
            <a:spAutoFit/>
          </a:bodyPr>
          <a:lstStyle/>
          <a:p>
            <a:pPr algn="l"/>
            <a:r>
              <a:rPr lang="en-KR" sz="2000" b="1" i="1" dirty="0">
                <a:latin typeface="Arial" panose="020B0604020202020204" pitchFamily="34" charset="0"/>
                <a:cs typeface="Arial" panose="020B0604020202020204" pitchFamily="34" charset="0"/>
              </a:rPr>
              <a:t>Key questions:</a:t>
            </a:r>
          </a:p>
          <a:p>
            <a:pPr algn="l"/>
            <a:endParaRPr lang="en-KR" sz="2000" b="1" i="1" dirty="0">
              <a:latin typeface="Arial" panose="020B0604020202020204" pitchFamily="34" charset="0"/>
              <a:cs typeface="Arial" panose="020B0604020202020204" pitchFamily="34" charset="0"/>
            </a:endParaRPr>
          </a:p>
          <a:p>
            <a:pPr algn="l"/>
            <a:r>
              <a:rPr lang="en-KR" sz="2000" b="1" i="1" dirty="0">
                <a:latin typeface="Arial" panose="020B0604020202020204" pitchFamily="34" charset="0"/>
                <a:cs typeface="Arial" panose="020B0604020202020204" pitchFamily="34" charset="0"/>
              </a:rPr>
              <a:t>1. What should be protected?</a:t>
            </a:r>
          </a:p>
          <a:p>
            <a:pPr algn="l"/>
            <a:r>
              <a:rPr lang="en-KR" sz="2000" b="1" i="1" dirty="0">
                <a:latin typeface="Arial" panose="020B0604020202020204" pitchFamily="34" charset="0"/>
                <a:cs typeface="Arial" panose="020B0604020202020204" pitchFamily="34" charset="0"/>
              </a:rPr>
              <a:t>2. How should they be protected?</a:t>
            </a:r>
          </a:p>
        </p:txBody>
      </p:sp>
      <p:sp>
        <p:nvSpPr>
          <p:cNvPr id="169" name="TextBox 168">
            <a:extLst>
              <a:ext uri="{FF2B5EF4-FFF2-40B4-BE49-F238E27FC236}">
                <a16:creationId xmlns:a16="http://schemas.microsoft.com/office/drawing/2014/main" id="{C99FE7C5-6444-8DAA-C7BB-B4CA427897CB}"/>
              </a:ext>
            </a:extLst>
          </p:cNvPr>
          <p:cNvSpPr txBox="1"/>
          <p:nvPr/>
        </p:nvSpPr>
        <p:spPr>
          <a:xfrm>
            <a:off x="3681371" y="6190483"/>
            <a:ext cx="1646605" cy="369332"/>
          </a:xfrm>
          <a:prstGeom prst="rect">
            <a:avLst/>
          </a:prstGeom>
          <a:noFill/>
        </p:spPr>
        <p:txBody>
          <a:bodyPr wrap="none" rtlCol="0">
            <a:spAutoFit/>
          </a:bodyPr>
          <a:lstStyle/>
          <a:p>
            <a:pPr algn="l"/>
            <a:r>
              <a:rPr lang="en-KR" dirty="0">
                <a:latin typeface="Arial" panose="020B0604020202020204" pitchFamily="34" charset="0"/>
                <a:cs typeface="Arial" panose="020B0604020202020204" pitchFamily="34" charset="0"/>
              </a:rPr>
              <a:t>Kernel objects</a:t>
            </a:r>
          </a:p>
        </p:txBody>
      </p:sp>
    </p:spTree>
    <p:extLst>
      <p:ext uri="{BB962C8B-B14F-4D97-AF65-F5344CB8AC3E}">
        <p14:creationId xmlns:p14="http://schemas.microsoft.com/office/powerpoint/2010/main" val="1503795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162" grpId="0" animBg="1"/>
      <p:bldP spid="16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F1DB3-F016-DA66-4763-A5AF8466D3D2}"/>
              </a:ext>
            </a:extLst>
          </p:cNvPr>
          <p:cNvSpPr>
            <a:spLocks noGrp="1"/>
          </p:cNvSpPr>
          <p:nvPr>
            <p:ph type="title"/>
          </p:nvPr>
        </p:nvSpPr>
        <p:spPr/>
        <p:txBody>
          <a:bodyPr>
            <a:normAutofit/>
          </a:bodyPr>
          <a:lstStyle/>
          <a:p>
            <a:r>
              <a:rPr lang="en-KR" sz="4000" dirty="0"/>
              <a:t>Access Control System</a:t>
            </a:r>
          </a:p>
        </p:txBody>
      </p:sp>
      <p:sp>
        <p:nvSpPr>
          <p:cNvPr id="6" name="Slide Number Placeholder 5">
            <a:extLst>
              <a:ext uri="{FF2B5EF4-FFF2-40B4-BE49-F238E27FC236}">
                <a16:creationId xmlns:a16="http://schemas.microsoft.com/office/drawing/2014/main" id="{02B7C138-CDB9-20BC-7949-41CB010A557F}"/>
              </a:ext>
            </a:extLst>
          </p:cNvPr>
          <p:cNvSpPr>
            <a:spLocks noGrp="1"/>
          </p:cNvSpPr>
          <p:nvPr>
            <p:ph type="sldNum" sz="quarter" idx="12"/>
          </p:nvPr>
        </p:nvSpPr>
        <p:spPr/>
        <p:txBody>
          <a:bodyPr/>
          <a:lstStyle/>
          <a:p>
            <a:fld id="{9ED31AF7-B9C1-7944-AC45-A988640FDEFC}" type="slidenum">
              <a:rPr lang="en-KR" smtClean="0"/>
              <a:t>6</a:t>
            </a:fld>
            <a:endParaRPr lang="en-KR"/>
          </a:p>
        </p:txBody>
      </p:sp>
      <p:sp>
        <p:nvSpPr>
          <p:cNvPr id="10" name="Rounded Rectangle 9">
            <a:extLst>
              <a:ext uri="{FF2B5EF4-FFF2-40B4-BE49-F238E27FC236}">
                <a16:creationId xmlns:a16="http://schemas.microsoft.com/office/drawing/2014/main" id="{D452F299-CA68-358E-71BA-B1E7DC9C45A8}"/>
              </a:ext>
            </a:extLst>
          </p:cNvPr>
          <p:cNvSpPr/>
          <p:nvPr/>
        </p:nvSpPr>
        <p:spPr>
          <a:xfrm>
            <a:off x="1199927" y="2874094"/>
            <a:ext cx="3896730" cy="865174"/>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b="1" dirty="0">
                <a:solidFill>
                  <a:schemeClr val="accent4">
                    <a:lumMod val="75000"/>
                  </a:schemeClr>
                </a:solidFill>
                <a:latin typeface="Arial" panose="020B0604020202020204" pitchFamily="34" charset="0"/>
                <a:cs typeface="Arial" panose="020B0604020202020204" pitchFamily="34" charset="0"/>
              </a:rPr>
              <a:t>Policy</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 Data defining the allowed access</a:t>
            </a:r>
          </a:p>
        </p:txBody>
      </p:sp>
      <p:sp>
        <p:nvSpPr>
          <p:cNvPr id="11" name="Rounded Rectangle 10">
            <a:extLst>
              <a:ext uri="{FF2B5EF4-FFF2-40B4-BE49-F238E27FC236}">
                <a16:creationId xmlns:a16="http://schemas.microsoft.com/office/drawing/2014/main" id="{2901C28C-69DA-C18C-E54A-7620FCBA2B4C}"/>
              </a:ext>
            </a:extLst>
          </p:cNvPr>
          <p:cNvSpPr/>
          <p:nvPr/>
        </p:nvSpPr>
        <p:spPr>
          <a:xfrm>
            <a:off x="1199927" y="4119098"/>
            <a:ext cx="3896730" cy="867600"/>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b="1" dirty="0">
                <a:solidFill>
                  <a:schemeClr val="accent6">
                    <a:lumMod val="75000"/>
                  </a:schemeClr>
                </a:solidFill>
                <a:latin typeface="Arial" panose="020B0604020202020204" pitchFamily="34" charset="0"/>
                <a:cs typeface="Arial" panose="020B0604020202020204" pitchFamily="34" charset="0"/>
              </a:rPr>
              <a:t>Enforcement</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 Code enforcing the access control</a:t>
            </a:r>
          </a:p>
        </p:txBody>
      </p:sp>
      <p:sp>
        <p:nvSpPr>
          <p:cNvPr id="12" name="Rounded Rectangle 11">
            <a:extLst>
              <a:ext uri="{FF2B5EF4-FFF2-40B4-BE49-F238E27FC236}">
                <a16:creationId xmlns:a16="http://schemas.microsoft.com/office/drawing/2014/main" id="{B4B428DB-CEC4-815B-6ED5-7586B2AF258B}"/>
              </a:ext>
            </a:extLst>
          </p:cNvPr>
          <p:cNvSpPr/>
          <p:nvPr/>
        </p:nvSpPr>
        <p:spPr>
          <a:xfrm>
            <a:off x="1201987" y="5286950"/>
            <a:ext cx="3896730" cy="865174"/>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accent1"/>
                </a:solidFill>
                <a:latin typeface="Arial" panose="020B0604020202020204" pitchFamily="34" charset="0"/>
                <a:cs typeface="Arial" panose="020B0604020202020204" pitchFamily="34" charset="0"/>
              </a:rPr>
              <a:t>Resource</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D</a:t>
            </a:r>
            <a:r>
              <a:rPr lang="en-KR" dirty="0">
                <a:solidFill>
                  <a:schemeClr val="tx1"/>
                </a:solidFill>
                <a:latin typeface="Arial" panose="020B0604020202020204" pitchFamily="34" charset="0"/>
                <a:cs typeface="Arial" panose="020B0604020202020204" pitchFamily="34" charset="0"/>
              </a:rPr>
              <a:t>ata being protected</a:t>
            </a:r>
          </a:p>
        </p:txBody>
      </p:sp>
    </p:spTree>
    <p:extLst>
      <p:ext uri="{BB962C8B-B14F-4D97-AF65-F5344CB8AC3E}">
        <p14:creationId xmlns:p14="http://schemas.microsoft.com/office/powerpoint/2010/main" val="310897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ounded Rectangle 100">
            <a:extLst>
              <a:ext uri="{FF2B5EF4-FFF2-40B4-BE49-F238E27FC236}">
                <a16:creationId xmlns:a16="http://schemas.microsoft.com/office/drawing/2014/main" id="{8B8CA6D9-23B1-A29F-A1E1-91D8765BF498}"/>
              </a:ext>
            </a:extLst>
          </p:cNvPr>
          <p:cNvSpPr/>
          <p:nvPr/>
        </p:nvSpPr>
        <p:spPr>
          <a:xfrm>
            <a:off x="752354" y="2249945"/>
            <a:ext cx="10385038" cy="4315448"/>
          </a:xfrm>
          <a:prstGeom prst="roundRect">
            <a:avLst>
              <a:gd name="adj" fmla="val 5417"/>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F97F1DB3-F016-DA66-4763-A5AF8466D3D2}"/>
              </a:ext>
            </a:extLst>
          </p:cNvPr>
          <p:cNvSpPr>
            <a:spLocks noGrp="1"/>
          </p:cNvSpPr>
          <p:nvPr>
            <p:ph type="title"/>
          </p:nvPr>
        </p:nvSpPr>
        <p:spPr/>
        <p:txBody>
          <a:bodyPr>
            <a:normAutofit/>
          </a:bodyPr>
          <a:lstStyle/>
          <a:p>
            <a:r>
              <a:rPr lang="en-KR" sz="4000" dirty="0"/>
              <a:t>Access Control System in the Linux Kernel</a:t>
            </a:r>
          </a:p>
        </p:txBody>
      </p:sp>
      <p:sp>
        <p:nvSpPr>
          <p:cNvPr id="6" name="Slide Number Placeholder 5">
            <a:extLst>
              <a:ext uri="{FF2B5EF4-FFF2-40B4-BE49-F238E27FC236}">
                <a16:creationId xmlns:a16="http://schemas.microsoft.com/office/drawing/2014/main" id="{02B7C138-CDB9-20BC-7949-41CB010A557F}"/>
              </a:ext>
            </a:extLst>
          </p:cNvPr>
          <p:cNvSpPr>
            <a:spLocks noGrp="1"/>
          </p:cNvSpPr>
          <p:nvPr>
            <p:ph type="sldNum" sz="quarter" idx="12"/>
          </p:nvPr>
        </p:nvSpPr>
        <p:spPr/>
        <p:txBody>
          <a:bodyPr/>
          <a:lstStyle/>
          <a:p>
            <a:fld id="{9ED31AF7-B9C1-7944-AC45-A988640FDEFC}" type="slidenum">
              <a:rPr lang="en-KR" smtClean="0"/>
              <a:t>7</a:t>
            </a:fld>
            <a:endParaRPr lang="en-KR"/>
          </a:p>
        </p:txBody>
      </p:sp>
      <p:sp>
        <p:nvSpPr>
          <p:cNvPr id="5" name="TextBox 4">
            <a:extLst>
              <a:ext uri="{FF2B5EF4-FFF2-40B4-BE49-F238E27FC236}">
                <a16:creationId xmlns:a16="http://schemas.microsoft.com/office/drawing/2014/main" id="{E5BD9478-22F5-D67C-78FD-18636B2A2C8C}"/>
              </a:ext>
            </a:extLst>
          </p:cNvPr>
          <p:cNvSpPr txBox="1"/>
          <p:nvPr/>
        </p:nvSpPr>
        <p:spPr>
          <a:xfrm>
            <a:off x="654317" y="1770261"/>
            <a:ext cx="1670222" cy="400110"/>
          </a:xfrm>
          <a:prstGeom prst="rect">
            <a:avLst/>
          </a:prstGeom>
          <a:noFill/>
        </p:spPr>
        <p:txBody>
          <a:bodyPr wrap="square" rtlCol="0">
            <a:spAutoFit/>
          </a:bodyPr>
          <a:lstStyle/>
          <a:p>
            <a:pPr algn="ctr"/>
            <a:r>
              <a:rPr lang="en-KR" sz="2000" dirty="0">
                <a:latin typeface="Arial" panose="020B0604020202020204" pitchFamily="34" charset="0"/>
                <a:cs typeface="Arial" panose="020B0604020202020204" pitchFamily="34" charset="0"/>
              </a:rPr>
              <a:t>Kernel</a:t>
            </a:r>
          </a:p>
        </p:txBody>
      </p:sp>
      <p:pic>
        <p:nvPicPr>
          <p:cNvPr id="14" name="Picture 13">
            <a:extLst>
              <a:ext uri="{FF2B5EF4-FFF2-40B4-BE49-F238E27FC236}">
                <a16:creationId xmlns:a16="http://schemas.microsoft.com/office/drawing/2014/main" id="{FA352BBE-37B4-BD87-EF8C-A25F0CB6F818}"/>
              </a:ext>
            </a:extLst>
          </p:cNvPr>
          <p:cNvPicPr>
            <a:picLocks noChangeAspect="1"/>
          </p:cNvPicPr>
          <p:nvPr/>
        </p:nvPicPr>
        <p:blipFill>
          <a:blip r:embed="rId3">
            <a:grayscl/>
            <a:extLst>
              <a:ext uri="{BEBA8EAE-BF5A-486C-A8C5-ECC9F3942E4B}">
                <a14:imgProps xmlns:a14="http://schemas.microsoft.com/office/drawing/2010/main">
                  <a14:imgLayer r:embed="rId4">
                    <a14:imgEffect>
                      <a14:brightnessContrast bright="20000" contrast="20000"/>
                    </a14:imgEffect>
                  </a14:imgLayer>
                </a14:imgProps>
              </a:ext>
            </a:extLst>
          </a:blip>
          <a:stretch>
            <a:fillRect/>
          </a:stretch>
        </p:blipFill>
        <p:spPr>
          <a:xfrm>
            <a:off x="5094000" y="1494000"/>
            <a:ext cx="582527" cy="582527"/>
          </a:xfrm>
          <a:prstGeom prst="rect">
            <a:avLst/>
          </a:prstGeom>
        </p:spPr>
      </p:pic>
      <p:sp>
        <p:nvSpPr>
          <p:cNvPr id="88" name="TextBox 87">
            <a:extLst>
              <a:ext uri="{FF2B5EF4-FFF2-40B4-BE49-F238E27FC236}">
                <a16:creationId xmlns:a16="http://schemas.microsoft.com/office/drawing/2014/main" id="{A47F050A-026B-78E3-E21F-ED26E2C6EA0B}"/>
              </a:ext>
            </a:extLst>
          </p:cNvPr>
          <p:cNvSpPr txBox="1"/>
          <p:nvPr/>
        </p:nvSpPr>
        <p:spPr>
          <a:xfrm>
            <a:off x="5755171" y="1743772"/>
            <a:ext cx="3890809" cy="369332"/>
          </a:xfrm>
          <a:prstGeom prst="rect">
            <a:avLst/>
          </a:prstGeom>
          <a:noFill/>
        </p:spPr>
        <p:txBody>
          <a:bodyPr wrap="none" rtlCol="0">
            <a:spAutoFit/>
          </a:bodyPr>
          <a:lstStyle/>
          <a:p>
            <a:pPr algn="l"/>
            <a:r>
              <a:rPr lang="en-KR" dirty="0">
                <a:latin typeface="Arial" panose="020B0604020202020204" pitchFamily="34" charset="0"/>
                <a:cs typeface="Arial" panose="020B0604020202020204" pitchFamily="34" charset="0"/>
              </a:rPr>
              <a:t>open(‘/home/attacker/my_file’, write)</a:t>
            </a:r>
          </a:p>
        </p:txBody>
      </p:sp>
      <p:sp>
        <p:nvSpPr>
          <p:cNvPr id="89" name="TextBox 88">
            <a:extLst>
              <a:ext uri="{FF2B5EF4-FFF2-40B4-BE49-F238E27FC236}">
                <a16:creationId xmlns:a16="http://schemas.microsoft.com/office/drawing/2014/main" id="{F519F666-E502-BE27-3C02-48E4E25AB374}"/>
              </a:ext>
            </a:extLst>
          </p:cNvPr>
          <p:cNvSpPr txBox="1"/>
          <p:nvPr/>
        </p:nvSpPr>
        <p:spPr>
          <a:xfrm>
            <a:off x="5357792" y="3973308"/>
            <a:ext cx="4891083" cy="369332"/>
          </a:xfrm>
          <a:prstGeom prst="rect">
            <a:avLst/>
          </a:prstGeom>
          <a:noFill/>
        </p:spPr>
        <p:txBody>
          <a:bodyPr wrap="none" rtlCol="0">
            <a:spAutoFit/>
          </a:bodyPr>
          <a:lstStyle/>
          <a:p>
            <a:pPr algn="l"/>
            <a:r>
              <a:rPr lang="en-KR" b="1" dirty="0">
                <a:solidFill>
                  <a:schemeClr val="accent6">
                    <a:lumMod val="75000"/>
                  </a:schemeClr>
                </a:solidFill>
                <a:latin typeface="Arial" panose="020B0604020202020204" pitchFamily="34" charset="0"/>
                <a:cs typeface="Arial" panose="020B0604020202020204" pitchFamily="34" charset="0"/>
              </a:rPr>
              <a:t>DAC permission check (cred, inode, mode)</a:t>
            </a:r>
          </a:p>
        </p:txBody>
      </p:sp>
      <p:grpSp>
        <p:nvGrpSpPr>
          <p:cNvPr id="7" name="Group 6">
            <a:extLst>
              <a:ext uri="{FF2B5EF4-FFF2-40B4-BE49-F238E27FC236}">
                <a16:creationId xmlns:a16="http://schemas.microsoft.com/office/drawing/2014/main" id="{FFD26415-63DD-EC6E-EDE9-B0A91D5DFCAA}"/>
              </a:ext>
            </a:extLst>
          </p:cNvPr>
          <p:cNvGrpSpPr/>
          <p:nvPr/>
        </p:nvGrpSpPr>
        <p:grpSpPr>
          <a:xfrm>
            <a:off x="6262385" y="2264599"/>
            <a:ext cx="4173604" cy="1325935"/>
            <a:chOff x="6262385" y="2264599"/>
            <a:chExt cx="4173604" cy="1325935"/>
          </a:xfrm>
        </p:grpSpPr>
        <p:sp>
          <p:nvSpPr>
            <p:cNvPr id="15" name="Rectangle 14">
              <a:extLst>
                <a:ext uri="{FF2B5EF4-FFF2-40B4-BE49-F238E27FC236}">
                  <a16:creationId xmlns:a16="http://schemas.microsoft.com/office/drawing/2014/main" id="{E5266FF6-BDC0-125E-98C5-7BF5ACDE6F99}"/>
                </a:ext>
              </a:extLst>
            </p:cNvPr>
            <p:cNvSpPr/>
            <p:nvPr/>
          </p:nvSpPr>
          <p:spPr>
            <a:xfrm>
              <a:off x="6289339" y="2828798"/>
              <a:ext cx="960832" cy="609050"/>
            </a:xfrm>
            <a:prstGeom prst="rect">
              <a:avLst/>
            </a:prstGeom>
            <a:solidFill>
              <a:schemeClr val="bg1"/>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9298AF9E-93C1-DA87-5686-A732F1DC24E9}"/>
                </a:ext>
              </a:extLst>
            </p:cNvPr>
            <p:cNvSpPr/>
            <p:nvPr/>
          </p:nvSpPr>
          <p:spPr>
            <a:xfrm>
              <a:off x="7726165" y="3049123"/>
              <a:ext cx="1056981" cy="540212"/>
            </a:xfrm>
            <a:prstGeom prst="rect">
              <a:avLst/>
            </a:prstGeom>
            <a:solidFill>
              <a:schemeClr val="accent4">
                <a:lumMod val="40000"/>
                <a:lumOff val="6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uid: attacker</a:t>
              </a:r>
            </a:p>
          </p:txBody>
        </p:sp>
        <p:sp>
          <p:nvSpPr>
            <p:cNvPr id="18" name="TextBox 17">
              <a:extLst>
                <a:ext uri="{FF2B5EF4-FFF2-40B4-BE49-F238E27FC236}">
                  <a16:creationId xmlns:a16="http://schemas.microsoft.com/office/drawing/2014/main" id="{9CA93FAE-90A5-7D9E-A2B3-160A89833841}"/>
                </a:ext>
              </a:extLst>
            </p:cNvPr>
            <p:cNvSpPr txBox="1"/>
            <p:nvPr/>
          </p:nvSpPr>
          <p:spPr>
            <a:xfrm>
              <a:off x="6262385" y="2264599"/>
              <a:ext cx="1047941" cy="523220"/>
            </a:xfrm>
            <a:prstGeom prst="rect">
              <a:avLst/>
            </a:prstGeom>
            <a:noFill/>
          </p:spPr>
          <p:txBody>
            <a:bodyPr wrap="square">
              <a:spAutoFit/>
            </a:bodyPr>
            <a:lstStyle/>
            <a:p>
              <a:pPr algn="ctr"/>
              <a:r>
                <a:rPr lang="en-KR" sz="1400" dirty="0">
                  <a:solidFill>
                    <a:schemeClr val="tx1"/>
                  </a:solidFill>
                  <a:latin typeface="Arial" panose="020B0604020202020204" pitchFamily="34" charset="0"/>
                  <a:cs typeface="Arial" panose="020B0604020202020204" pitchFamily="34" charset="0"/>
                </a:rPr>
                <a:t>struct task_struct</a:t>
              </a:r>
            </a:p>
          </p:txBody>
        </p:sp>
        <p:sp>
          <p:nvSpPr>
            <p:cNvPr id="69" name="Rectangle 68">
              <a:extLst>
                <a:ext uri="{FF2B5EF4-FFF2-40B4-BE49-F238E27FC236}">
                  <a16:creationId xmlns:a16="http://schemas.microsoft.com/office/drawing/2014/main" id="{CD97D1FF-18DF-3893-FD37-E5A434FBE40D}"/>
                </a:ext>
              </a:extLst>
            </p:cNvPr>
            <p:cNvSpPr/>
            <p:nvPr/>
          </p:nvSpPr>
          <p:spPr>
            <a:xfrm>
              <a:off x="6289339" y="2983890"/>
              <a:ext cx="960832" cy="289169"/>
            </a:xfrm>
            <a:prstGeom prst="rect">
              <a:avLst/>
            </a:prstGeom>
            <a:solidFill>
              <a:schemeClr val="accent4">
                <a:lumMod val="40000"/>
                <a:lumOff val="6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cred</a:t>
              </a:r>
            </a:p>
          </p:txBody>
        </p:sp>
        <p:cxnSp>
          <p:nvCxnSpPr>
            <p:cNvPr id="71" name="Straight Arrow Connector 70">
              <a:extLst>
                <a:ext uri="{FF2B5EF4-FFF2-40B4-BE49-F238E27FC236}">
                  <a16:creationId xmlns:a16="http://schemas.microsoft.com/office/drawing/2014/main" id="{BAF27F31-8A3D-8859-593B-AD67C121417A}"/>
                </a:ext>
              </a:extLst>
            </p:cNvPr>
            <p:cNvCxnSpPr>
              <a:cxnSpLocks/>
            </p:cNvCxnSpPr>
            <p:nvPr/>
          </p:nvCxnSpPr>
          <p:spPr>
            <a:xfrm>
              <a:off x="7250171" y="3128475"/>
              <a:ext cx="47599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D678567C-21AC-B5E0-635D-5585E25B71B5}"/>
                </a:ext>
              </a:extLst>
            </p:cNvPr>
            <p:cNvSpPr txBox="1"/>
            <p:nvPr/>
          </p:nvSpPr>
          <p:spPr>
            <a:xfrm>
              <a:off x="7752676" y="2695812"/>
              <a:ext cx="1042334" cy="307777"/>
            </a:xfrm>
            <a:prstGeom prst="rect">
              <a:avLst/>
            </a:prstGeom>
            <a:noFill/>
          </p:spPr>
          <p:txBody>
            <a:bodyPr wrap="square" rtlCol="0">
              <a:spAutoFit/>
            </a:bodyPr>
            <a:lstStyle/>
            <a:p>
              <a:pPr algn="l"/>
              <a:r>
                <a:rPr lang="en-KR" sz="1400" dirty="0">
                  <a:latin typeface="Arial" panose="020B0604020202020204" pitchFamily="34" charset="0"/>
                  <a:cs typeface="Arial" panose="020B0604020202020204" pitchFamily="34" charset="0"/>
                </a:rPr>
                <a:t>struct cred</a:t>
              </a:r>
            </a:p>
          </p:txBody>
        </p:sp>
        <p:sp>
          <p:nvSpPr>
            <p:cNvPr id="81" name="Rectangle 80">
              <a:extLst>
                <a:ext uri="{FF2B5EF4-FFF2-40B4-BE49-F238E27FC236}">
                  <a16:creationId xmlns:a16="http://schemas.microsoft.com/office/drawing/2014/main" id="{08CDC389-3D36-5B4F-9F1B-0E62DF640543}"/>
                </a:ext>
              </a:extLst>
            </p:cNvPr>
            <p:cNvSpPr/>
            <p:nvPr/>
          </p:nvSpPr>
          <p:spPr>
            <a:xfrm>
              <a:off x="9032698" y="3048615"/>
              <a:ext cx="1403291" cy="541919"/>
            </a:xfrm>
            <a:prstGeom prst="rect">
              <a:avLst/>
            </a:prstGeom>
            <a:solidFill>
              <a:schemeClr val="accent4">
                <a:lumMod val="40000"/>
                <a:lumOff val="6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KR" sz="1400" dirty="0">
                  <a:solidFill>
                    <a:schemeClr val="tx1"/>
                  </a:solidFill>
                  <a:latin typeface="Arial" panose="020B0604020202020204" pitchFamily="34" charset="0"/>
                  <a:cs typeface="Arial" panose="020B0604020202020204" pitchFamily="34" charset="0"/>
                </a:rPr>
                <a:t>owner: attacker</a:t>
              </a:r>
            </a:p>
            <a:p>
              <a:r>
                <a:rPr lang="en-KR" sz="1400" dirty="0">
                  <a:solidFill>
                    <a:schemeClr val="tx1"/>
                  </a:solidFill>
                  <a:latin typeface="Arial" panose="020B0604020202020204" pitchFamily="34" charset="0"/>
                  <a:cs typeface="Arial" panose="020B0604020202020204" pitchFamily="34" charset="0"/>
                </a:rPr>
                <a:t>mode : rw / r-</a:t>
              </a:r>
            </a:p>
          </p:txBody>
        </p:sp>
        <p:sp>
          <p:nvSpPr>
            <p:cNvPr id="82" name="TextBox 81">
              <a:extLst>
                <a:ext uri="{FF2B5EF4-FFF2-40B4-BE49-F238E27FC236}">
                  <a16:creationId xmlns:a16="http://schemas.microsoft.com/office/drawing/2014/main" id="{736F0BE2-7A30-8957-FAE7-44340CE2DFDE}"/>
                </a:ext>
              </a:extLst>
            </p:cNvPr>
            <p:cNvSpPr txBox="1"/>
            <p:nvPr/>
          </p:nvSpPr>
          <p:spPr>
            <a:xfrm>
              <a:off x="9112831" y="2695304"/>
              <a:ext cx="1117929" cy="307777"/>
            </a:xfrm>
            <a:prstGeom prst="rect">
              <a:avLst/>
            </a:prstGeom>
            <a:noFill/>
          </p:spPr>
          <p:txBody>
            <a:bodyPr wrap="square" rtlCol="0">
              <a:spAutoFit/>
            </a:bodyPr>
            <a:lstStyle/>
            <a:p>
              <a:pPr algn="l"/>
              <a:r>
                <a:rPr lang="en-KR" sz="1400" dirty="0">
                  <a:latin typeface="Arial" panose="020B0604020202020204" pitchFamily="34" charset="0"/>
                  <a:cs typeface="Arial" panose="020B0604020202020204" pitchFamily="34" charset="0"/>
                </a:rPr>
                <a:t>struct inode</a:t>
              </a:r>
            </a:p>
          </p:txBody>
        </p:sp>
      </p:grpSp>
      <p:grpSp>
        <p:nvGrpSpPr>
          <p:cNvPr id="8" name="Group 7">
            <a:extLst>
              <a:ext uri="{FF2B5EF4-FFF2-40B4-BE49-F238E27FC236}">
                <a16:creationId xmlns:a16="http://schemas.microsoft.com/office/drawing/2014/main" id="{D5071116-F6B4-CB19-21F5-154890C9F4ED}"/>
              </a:ext>
            </a:extLst>
          </p:cNvPr>
          <p:cNvGrpSpPr/>
          <p:nvPr/>
        </p:nvGrpSpPr>
        <p:grpSpPr>
          <a:xfrm>
            <a:off x="8259175" y="3582722"/>
            <a:ext cx="1270729" cy="462269"/>
            <a:chOff x="8259175" y="3582722"/>
            <a:chExt cx="1270729" cy="462269"/>
          </a:xfrm>
        </p:grpSpPr>
        <p:sp>
          <p:nvSpPr>
            <p:cNvPr id="98" name="Freeform 97">
              <a:extLst>
                <a:ext uri="{FF2B5EF4-FFF2-40B4-BE49-F238E27FC236}">
                  <a16:creationId xmlns:a16="http://schemas.microsoft.com/office/drawing/2014/main" id="{E91048D1-C154-4448-BDB0-8D9D233D6710}"/>
                </a:ext>
              </a:extLst>
            </p:cNvPr>
            <p:cNvSpPr/>
            <p:nvPr/>
          </p:nvSpPr>
          <p:spPr>
            <a:xfrm>
              <a:off x="8259175" y="3594416"/>
              <a:ext cx="245988" cy="450575"/>
            </a:xfrm>
            <a:custGeom>
              <a:avLst/>
              <a:gdLst>
                <a:gd name="connsiteX0" fmla="*/ 0 w 676656"/>
                <a:gd name="connsiteY0" fmla="*/ 0 h 630936"/>
                <a:gd name="connsiteX1" fmla="*/ 146304 w 676656"/>
                <a:gd name="connsiteY1" fmla="*/ 210312 h 630936"/>
                <a:gd name="connsiteX2" fmla="*/ 585216 w 676656"/>
                <a:gd name="connsiteY2" fmla="*/ 365760 h 630936"/>
                <a:gd name="connsiteX3" fmla="*/ 676656 w 676656"/>
                <a:gd name="connsiteY3" fmla="*/ 630936 h 630936"/>
              </a:gdLst>
              <a:ahLst/>
              <a:cxnLst>
                <a:cxn ang="0">
                  <a:pos x="connsiteX0" y="connsiteY0"/>
                </a:cxn>
                <a:cxn ang="0">
                  <a:pos x="connsiteX1" y="connsiteY1"/>
                </a:cxn>
                <a:cxn ang="0">
                  <a:pos x="connsiteX2" y="connsiteY2"/>
                </a:cxn>
                <a:cxn ang="0">
                  <a:pos x="connsiteX3" y="connsiteY3"/>
                </a:cxn>
              </a:cxnLst>
              <a:rect l="l" t="t" r="r" b="b"/>
              <a:pathLst>
                <a:path w="676656" h="630936">
                  <a:moveTo>
                    <a:pt x="0" y="0"/>
                  </a:moveTo>
                  <a:cubicBezTo>
                    <a:pt x="24384" y="74676"/>
                    <a:pt x="48768" y="149352"/>
                    <a:pt x="146304" y="210312"/>
                  </a:cubicBezTo>
                  <a:cubicBezTo>
                    <a:pt x="243840" y="271272"/>
                    <a:pt x="496824" y="295656"/>
                    <a:pt x="585216" y="365760"/>
                  </a:cubicBezTo>
                  <a:cubicBezTo>
                    <a:pt x="673608" y="435864"/>
                    <a:pt x="675132" y="533400"/>
                    <a:pt x="676656" y="630936"/>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p>
          </p:txBody>
        </p:sp>
        <p:sp>
          <p:nvSpPr>
            <p:cNvPr id="99" name="Freeform 98">
              <a:extLst>
                <a:ext uri="{FF2B5EF4-FFF2-40B4-BE49-F238E27FC236}">
                  <a16:creationId xmlns:a16="http://schemas.microsoft.com/office/drawing/2014/main" id="{B9C69D04-51E6-BFF5-3B35-3937EAC82C9D}"/>
                </a:ext>
              </a:extLst>
            </p:cNvPr>
            <p:cNvSpPr/>
            <p:nvPr/>
          </p:nvSpPr>
          <p:spPr>
            <a:xfrm flipH="1">
              <a:off x="9023657" y="3582722"/>
              <a:ext cx="506247" cy="450575"/>
            </a:xfrm>
            <a:custGeom>
              <a:avLst/>
              <a:gdLst>
                <a:gd name="connsiteX0" fmla="*/ 0 w 676656"/>
                <a:gd name="connsiteY0" fmla="*/ 0 h 630936"/>
                <a:gd name="connsiteX1" fmla="*/ 146304 w 676656"/>
                <a:gd name="connsiteY1" fmla="*/ 210312 h 630936"/>
                <a:gd name="connsiteX2" fmla="*/ 585216 w 676656"/>
                <a:gd name="connsiteY2" fmla="*/ 365760 h 630936"/>
                <a:gd name="connsiteX3" fmla="*/ 676656 w 676656"/>
                <a:gd name="connsiteY3" fmla="*/ 630936 h 630936"/>
              </a:gdLst>
              <a:ahLst/>
              <a:cxnLst>
                <a:cxn ang="0">
                  <a:pos x="connsiteX0" y="connsiteY0"/>
                </a:cxn>
                <a:cxn ang="0">
                  <a:pos x="connsiteX1" y="connsiteY1"/>
                </a:cxn>
                <a:cxn ang="0">
                  <a:pos x="connsiteX2" y="connsiteY2"/>
                </a:cxn>
                <a:cxn ang="0">
                  <a:pos x="connsiteX3" y="connsiteY3"/>
                </a:cxn>
              </a:cxnLst>
              <a:rect l="l" t="t" r="r" b="b"/>
              <a:pathLst>
                <a:path w="676656" h="630936">
                  <a:moveTo>
                    <a:pt x="0" y="0"/>
                  </a:moveTo>
                  <a:cubicBezTo>
                    <a:pt x="24384" y="74676"/>
                    <a:pt x="48768" y="149352"/>
                    <a:pt x="146304" y="210312"/>
                  </a:cubicBezTo>
                  <a:cubicBezTo>
                    <a:pt x="243840" y="271272"/>
                    <a:pt x="496824" y="295656"/>
                    <a:pt x="585216" y="365760"/>
                  </a:cubicBezTo>
                  <a:cubicBezTo>
                    <a:pt x="673608" y="435864"/>
                    <a:pt x="675132" y="533400"/>
                    <a:pt x="676656" y="630936"/>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grpSp>
      <p:cxnSp>
        <p:nvCxnSpPr>
          <p:cNvPr id="102" name="Straight Arrow Connector 101">
            <a:extLst>
              <a:ext uri="{FF2B5EF4-FFF2-40B4-BE49-F238E27FC236}">
                <a16:creationId xmlns:a16="http://schemas.microsoft.com/office/drawing/2014/main" id="{1CF81716-E37B-9459-89D8-9C9327AB6A6F}"/>
              </a:ext>
            </a:extLst>
          </p:cNvPr>
          <p:cNvCxnSpPr>
            <a:cxnSpLocks/>
          </p:cNvCxnSpPr>
          <p:nvPr/>
        </p:nvCxnSpPr>
        <p:spPr>
          <a:xfrm>
            <a:off x="5384145" y="2122371"/>
            <a:ext cx="0" cy="403838"/>
          </a:xfrm>
          <a:prstGeom prst="straightConnector1">
            <a:avLst/>
          </a:prstGeom>
          <a:ln w="254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AB0590B2-49CD-2BEC-9B6B-D90185B3EB97}"/>
              </a:ext>
            </a:extLst>
          </p:cNvPr>
          <p:cNvGrpSpPr/>
          <p:nvPr/>
        </p:nvGrpSpPr>
        <p:grpSpPr>
          <a:xfrm>
            <a:off x="5678814" y="5130089"/>
            <a:ext cx="4992352" cy="1208528"/>
            <a:chOff x="5919239" y="5245134"/>
            <a:chExt cx="4992352" cy="1208528"/>
          </a:xfrm>
        </p:grpSpPr>
        <p:sp>
          <p:nvSpPr>
            <p:cNvPr id="91" name="Rectangle 90">
              <a:extLst>
                <a:ext uri="{FF2B5EF4-FFF2-40B4-BE49-F238E27FC236}">
                  <a16:creationId xmlns:a16="http://schemas.microsoft.com/office/drawing/2014/main" id="{2153DA9B-0171-FC65-9157-9FCC29E1E670}"/>
                </a:ext>
              </a:extLst>
            </p:cNvPr>
            <p:cNvSpPr/>
            <p:nvPr/>
          </p:nvSpPr>
          <p:spPr>
            <a:xfrm>
              <a:off x="9932003" y="5761895"/>
              <a:ext cx="979588" cy="594455"/>
            </a:xfrm>
            <a:prstGeom prst="rect">
              <a:avLst/>
            </a:prstGeom>
            <a:solidFill>
              <a:schemeClr val="accent5">
                <a:lumMod val="20000"/>
                <a:lumOff val="8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mode</a:t>
              </a:r>
            </a:p>
            <a:p>
              <a:pPr algn="ctr"/>
              <a:r>
                <a:rPr lang="en-KR" sz="1400" dirty="0">
                  <a:solidFill>
                    <a:schemeClr val="tx1"/>
                  </a:solidFill>
                  <a:latin typeface="Arial" panose="020B0604020202020204" pitchFamily="34" charset="0"/>
                  <a:cs typeface="Arial" panose="020B0604020202020204" pitchFamily="34" charset="0"/>
                </a:rPr>
                <a:t>mapping</a:t>
              </a:r>
            </a:p>
          </p:txBody>
        </p:sp>
        <p:sp>
          <p:nvSpPr>
            <p:cNvPr id="92" name="TextBox 91">
              <a:extLst>
                <a:ext uri="{FF2B5EF4-FFF2-40B4-BE49-F238E27FC236}">
                  <a16:creationId xmlns:a16="http://schemas.microsoft.com/office/drawing/2014/main" id="{651EAF2D-B871-BBD6-6AD9-BF7FFDD2D62B}"/>
                </a:ext>
              </a:extLst>
            </p:cNvPr>
            <p:cNvSpPr txBox="1"/>
            <p:nvPr/>
          </p:nvSpPr>
          <p:spPr>
            <a:xfrm>
              <a:off x="9922895" y="5427813"/>
              <a:ext cx="979589" cy="307777"/>
            </a:xfrm>
            <a:prstGeom prst="rect">
              <a:avLst/>
            </a:prstGeom>
            <a:noFill/>
          </p:spPr>
          <p:txBody>
            <a:bodyPr wrap="square" rtlCol="0">
              <a:spAutoFit/>
            </a:bodyPr>
            <a:lstStyle/>
            <a:p>
              <a:pPr algn="ctr"/>
              <a:r>
                <a:rPr lang="en-KR" sz="1400" dirty="0">
                  <a:latin typeface="Arial" panose="020B0604020202020204" pitchFamily="34" charset="0"/>
                  <a:cs typeface="Arial" panose="020B0604020202020204" pitchFamily="34" charset="0"/>
                </a:rPr>
                <a:t>struct file</a:t>
              </a:r>
            </a:p>
          </p:txBody>
        </p:sp>
        <p:sp>
          <p:nvSpPr>
            <p:cNvPr id="106" name="Rectangle 105">
              <a:extLst>
                <a:ext uri="{FF2B5EF4-FFF2-40B4-BE49-F238E27FC236}">
                  <a16:creationId xmlns:a16="http://schemas.microsoft.com/office/drawing/2014/main" id="{89987362-303C-EF81-6F9D-3FC901F04004}"/>
                </a:ext>
              </a:extLst>
            </p:cNvPr>
            <p:cNvSpPr/>
            <p:nvPr/>
          </p:nvSpPr>
          <p:spPr>
            <a:xfrm>
              <a:off x="5982352" y="5805187"/>
              <a:ext cx="960832" cy="609050"/>
            </a:xfrm>
            <a:prstGeom prst="rect">
              <a:avLst/>
            </a:prstGeom>
            <a:solidFill>
              <a:schemeClr val="bg1"/>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07" name="TextBox 106">
              <a:extLst>
                <a:ext uri="{FF2B5EF4-FFF2-40B4-BE49-F238E27FC236}">
                  <a16:creationId xmlns:a16="http://schemas.microsoft.com/office/drawing/2014/main" id="{137EC913-26D3-FBD5-9067-5E0590891E64}"/>
                </a:ext>
              </a:extLst>
            </p:cNvPr>
            <p:cNvSpPr txBox="1"/>
            <p:nvPr/>
          </p:nvSpPr>
          <p:spPr>
            <a:xfrm>
              <a:off x="5919239" y="5306804"/>
              <a:ext cx="1047941" cy="523220"/>
            </a:xfrm>
            <a:prstGeom prst="rect">
              <a:avLst/>
            </a:prstGeom>
            <a:noFill/>
          </p:spPr>
          <p:txBody>
            <a:bodyPr wrap="square">
              <a:spAutoFit/>
            </a:bodyPr>
            <a:lstStyle/>
            <a:p>
              <a:pPr algn="ctr"/>
              <a:r>
                <a:rPr lang="en-KR" sz="1400" dirty="0">
                  <a:solidFill>
                    <a:schemeClr val="tx1"/>
                  </a:solidFill>
                  <a:latin typeface="Arial" panose="020B0604020202020204" pitchFamily="34" charset="0"/>
                  <a:cs typeface="Arial" panose="020B0604020202020204" pitchFamily="34" charset="0"/>
                </a:rPr>
                <a:t>struct task_struct</a:t>
              </a:r>
            </a:p>
          </p:txBody>
        </p:sp>
        <p:sp>
          <p:nvSpPr>
            <p:cNvPr id="108" name="Rectangle 107">
              <a:extLst>
                <a:ext uri="{FF2B5EF4-FFF2-40B4-BE49-F238E27FC236}">
                  <a16:creationId xmlns:a16="http://schemas.microsoft.com/office/drawing/2014/main" id="{995C8B7B-C9CD-654D-BC06-2ECF20CAA07D}"/>
                </a:ext>
              </a:extLst>
            </p:cNvPr>
            <p:cNvSpPr/>
            <p:nvPr/>
          </p:nvSpPr>
          <p:spPr>
            <a:xfrm>
              <a:off x="5982352" y="5919073"/>
              <a:ext cx="960832" cy="289169"/>
            </a:xfrm>
            <a:prstGeom prst="rect">
              <a:avLst/>
            </a:prstGeom>
            <a:solidFill>
              <a:schemeClr val="accent5">
                <a:lumMod val="20000"/>
                <a:lumOff val="8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files</a:t>
              </a:r>
            </a:p>
          </p:txBody>
        </p:sp>
        <p:sp>
          <p:nvSpPr>
            <p:cNvPr id="109" name="Rectangle 108">
              <a:extLst>
                <a:ext uri="{FF2B5EF4-FFF2-40B4-BE49-F238E27FC236}">
                  <a16:creationId xmlns:a16="http://schemas.microsoft.com/office/drawing/2014/main" id="{7FFB25EA-F6B2-3A1F-5BBD-967FF66D16D1}"/>
                </a:ext>
              </a:extLst>
            </p:cNvPr>
            <p:cNvSpPr/>
            <p:nvPr/>
          </p:nvSpPr>
          <p:spPr>
            <a:xfrm>
              <a:off x="7328318" y="5825257"/>
              <a:ext cx="960832" cy="609050"/>
            </a:xfrm>
            <a:prstGeom prst="rect">
              <a:avLst/>
            </a:prstGeom>
            <a:solidFill>
              <a:schemeClr val="bg1"/>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10" name="Rectangle 109">
              <a:extLst>
                <a:ext uri="{FF2B5EF4-FFF2-40B4-BE49-F238E27FC236}">
                  <a16:creationId xmlns:a16="http://schemas.microsoft.com/office/drawing/2014/main" id="{99639449-FF9E-E6BE-71CE-7B3368D14AB8}"/>
                </a:ext>
              </a:extLst>
            </p:cNvPr>
            <p:cNvSpPr/>
            <p:nvPr/>
          </p:nvSpPr>
          <p:spPr>
            <a:xfrm>
              <a:off x="7328318" y="5996017"/>
              <a:ext cx="960832" cy="269378"/>
            </a:xfrm>
            <a:prstGeom prst="rect">
              <a:avLst/>
            </a:prstGeom>
            <a:solidFill>
              <a:schemeClr val="accent5">
                <a:lumMod val="20000"/>
                <a:lumOff val="8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fdt</a:t>
              </a:r>
            </a:p>
          </p:txBody>
        </p:sp>
        <p:sp>
          <p:nvSpPr>
            <p:cNvPr id="111" name="TextBox 110">
              <a:extLst>
                <a:ext uri="{FF2B5EF4-FFF2-40B4-BE49-F238E27FC236}">
                  <a16:creationId xmlns:a16="http://schemas.microsoft.com/office/drawing/2014/main" id="{59F2E897-D0B8-8728-B074-816C1BC2D282}"/>
                </a:ext>
              </a:extLst>
            </p:cNvPr>
            <p:cNvSpPr txBox="1"/>
            <p:nvPr/>
          </p:nvSpPr>
          <p:spPr>
            <a:xfrm>
              <a:off x="7203428" y="5245134"/>
              <a:ext cx="1207734" cy="523220"/>
            </a:xfrm>
            <a:prstGeom prst="rect">
              <a:avLst/>
            </a:prstGeom>
            <a:noFill/>
          </p:spPr>
          <p:txBody>
            <a:bodyPr wrap="square">
              <a:spAutoFit/>
            </a:bodyPr>
            <a:lstStyle/>
            <a:p>
              <a:pPr algn="ctr"/>
              <a:r>
                <a:rPr lang="en-KR" sz="1400" dirty="0">
                  <a:solidFill>
                    <a:schemeClr val="tx1"/>
                  </a:solidFill>
                  <a:latin typeface="Arial" panose="020B0604020202020204" pitchFamily="34" charset="0"/>
                  <a:cs typeface="Arial" panose="020B0604020202020204" pitchFamily="34" charset="0"/>
                </a:rPr>
                <a:t>struct</a:t>
              </a:r>
            </a:p>
            <a:p>
              <a:pPr algn="ctr"/>
              <a:r>
                <a:rPr lang="en-KR" sz="1400" dirty="0">
                  <a:latin typeface="Arial" panose="020B0604020202020204" pitchFamily="34" charset="0"/>
                  <a:cs typeface="Arial" panose="020B0604020202020204" pitchFamily="34" charset="0"/>
                </a:rPr>
                <a:t>files_struct</a:t>
              </a:r>
              <a:endParaRPr lang="en-KR" sz="1400" dirty="0">
                <a:solidFill>
                  <a:schemeClr val="tx1"/>
                </a:solidFill>
                <a:latin typeface="Arial" panose="020B0604020202020204" pitchFamily="34" charset="0"/>
                <a:cs typeface="Arial" panose="020B0604020202020204" pitchFamily="34" charset="0"/>
              </a:endParaRPr>
            </a:p>
          </p:txBody>
        </p:sp>
        <p:sp>
          <p:nvSpPr>
            <p:cNvPr id="112" name="Rectangle 111">
              <a:extLst>
                <a:ext uri="{FF2B5EF4-FFF2-40B4-BE49-F238E27FC236}">
                  <a16:creationId xmlns:a16="http://schemas.microsoft.com/office/drawing/2014/main" id="{C463C075-0A8C-6A26-A2C2-BB06494A68FE}"/>
                </a:ext>
              </a:extLst>
            </p:cNvPr>
            <p:cNvSpPr/>
            <p:nvPr/>
          </p:nvSpPr>
          <p:spPr>
            <a:xfrm>
              <a:off x="8657232" y="5844612"/>
              <a:ext cx="960832" cy="609050"/>
            </a:xfrm>
            <a:prstGeom prst="rect">
              <a:avLst/>
            </a:prstGeom>
            <a:solidFill>
              <a:schemeClr val="bg1"/>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13" name="Rectangle 112">
              <a:extLst>
                <a:ext uri="{FF2B5EF4-FFF2-40B4-BE49-F238E27FC236}">
                  <a16:creationId xmlns:a16="http://schemas.microsoft.com/office/drawing/2014/main" id="{B8ADE668-EACA-3E24-63CA-44FCB7E141EC}"/>
                </a:ext>
              </a:extLst>
            </p:cNvPr>
            <p:cNvSpPr/>
            <p:nvPr/>
          </p:nvSpPr>
          <p:spPr>
            <a:xfrm>
              <a:off x="8657232" y="6007539"/>
              <a:ext cx="960832" cy="289169"/>
            </a:xfrm>
            <a:prstGeom prst="rect">
              <a:avLst/>
            </a:prstGeom>
            <a:solidFill>
              <a:schemeClr val="accent5">
                <a:lumMod val="20000"/>
                <a:lumOff val="8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fd</a:t>
              </a:r>
            </a:p>
          </p:txBody>
        </p:sp>
        <p:sp>
          <p:nvSpPr>
            <p:cNvPr id="114" name="TextBox 113">
              <a:extLst>
                <a:ext uri="{FF2B5EF4-FFF2-40B4-BE49-F238E27FC236}">
                  <a16:creationId xmlns:a16="http://schemas.microsoft.com/office/drawing/2014/main" id="{21A639E8-F3A2-72A6-DD18-B1B93480F99E}"/>
                </a:ext>
              </a:extLst>
            </p:cNvPr>
            <p:cNvSpPr txBox="1"/>
            <p:nvPr/>
          </p:nvSpPr>
          <p:spPr>
            <a:xfrm>
              <a:off x="8519504" y="5347942"/>
              <a:ext cx="1207734" cy="523220"/>
            </a:xfrm>
            <a:prstGeom prst="rect">
              <a:avLst/>
            </a:prstGeom>
            <a:noFill/>
          </p:spPr>
          <p:txBody>
            <a:bodyPr wrap="square">
              <a:spAutoFit/>
            </a:bodyPr>
            <a:lstStyle/>
            <a:p>
              <a:pPr algn="ctr"/>
              <a:r>
                <a:rPr lang="en-KR" sz="1400" dirty="0">
                  <a:solidFill>
                    <a:schemeClr val="tx1"/>
                  </a:solidFill>
                  <a:latin typeface="Arial" panose="020B0604020202020204" pitchFamily="34" charset="0"/>
                  <a:cs typeface="Arial" panose="020B0604020202020204" pitchFamily="34" charset="0"/>
                </a:rPr>
                <a:t>struct</a:t>
              </a:r>
            </a:p>
            <a:p>
              <a:pPr algn="ctr"/>
              <a:r>
                <a:rPr lang="en-KR" sz="1400" dirty="0">
                  <a:latin typeface="Arial" panose="020B0604020202020204" pitchFamily="34" charset="0"/>
                  <a:cs typeface="Arial" panose="020B0604020202020204" pitchFamily="34" charset="0"/>
                </a:rPr>
                <a:t>fdtable</a:t>
              </a:r>
              <a:endParaRPr lang="en-KR" sz="1400" dirty="0">
                <a:solidFill>
                  <a:schemeClr val="tx1"/>
                </a:solidFill>
                <a:latin typeface="Arial" panose="020B0604020202020204" pitchFamily="34" charset="0"/>
                <a:cs typeface="Arial" panose="020B0604020202020204" pitchFamily="34" charset="0"/>
              </a:endParaRPr>
            </a:p>
          </p:txBody>
        </p:sp>
        <p:cxnSp>
          <p:nvCxnSpPr>
            <p:cNvPr id="115" name="Straight Arrow Connector 114">
              <a:extLst>
                <a:ext uri="{FF2B5EF4-FFF2-40B4-BE49-F238E27FC236}">
                  <a16:creationId xmlns:a16="http://schemas.microsoft.com/office/drawing/2014/main" id="{CA90C244-AF0F-7ACC-C974-ABFCD0286E96}"/>
                </a:ext>
              </a:extLst>
            </p:cNvPr>
            <p:cNvCxnSpPr>
              <a:cxnSpLocks/>
              <a:stCxn id="108" idx="3"/>
            </p:cNvCxnSpPr>
            <p:nvPr/>
          </p:nvCxnSpPr>
          <p:spPr>
            <a:xfrm flipV="1">
              <a:off x="6943184" y="5895367"/>
              <a:ext cx="381818" cy="1682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48AB5FCC-054C-E951-10EA-2AF38ADF1C1C}"/>
                </a:ext>
              </a:extLst>
            </p:cNvPr>
            <p:cNvCxnSpPr>
              <a:cxnSpLocks/>
              <a:stCxn id="110" idx="3"/>
            </p:cNvCxnSpPr>
            <p:nvPr/>
          </p:nvCxnSpPr>
          <p:spPr>
            <a:xfrm flipV="1">
              <a:off x="8289150" y="5900314"/>
              <a:ext cx="348346" cy="2303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D960CC74-ACED-A0EE-6020-80ECF0E4ED32}"/>
                </a:ext>
              </a:extLst>
            </p:cNvPr>
            <p:cNvCxnSpPr>
              <a:cxnSpLocks/>
              <a:stCxn id="113" idx="3"/>
            </p:cNvCxnSpPr>
            <p:nvPr/>
          </p:nvCxnSpPr>
          <p:spPr>
            <a:xfrm flipV="1">
              <a:off x="9618064" y="5805187"/>
              <a:ext cx="294157" cy="34693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332D9A35-B610-74CE-48E1-1B04740BC65D}"/>
              </a:ext>
            </a:extLst>
          </p:cNvPr>
          <p:cNvSpPr txBox="1"/>
          <p:nvPr/>
        </p:nvSpPr>
        <p:spPr>
          <a:xfrm>
            <a:off x="5485651" y="4372897"/>
            <a:ext cx="5398459" cy="646331"/>
          </a:xfrm>
          <a:prstGeom prst="rect">
            <a:avLst/>
          </a:prstGeom>
          <a:noFill/>
        </p:spPr>
        <p:txBody>
          <a:bodyPr wrap="square">
            <a:spAutoFit/>
          </a:bodyPr>
          <a:lstStyle/>
          <a:p>
            <a:r>
              <a:rPr lang="en-KR" dirty="0">
                <a:latin typeface="Arial" panose="020B0604020202020204" pitchFamily="34" charset="0"/>
                <a:cs typeface="Arial" panose="020B0604020202020204" pitchFamily="34" charset="0"/>
              </a:rPr>
              <a:t> ↳ success: </a:t>
            </a:r>
            <a:r>
              <a:rPr lang="en-KR" b="1" dirty="0">
                <a:solidFill>
                  <a:schemeClr val="accent6">
                    <a:lumMod val="75000"/>
                  </a:schemeClr>
                </a:solidFill>
                <a:latin typeface="Arial" panose="020B0604020202020204" pitchFamily="34" charset="0"/>
                <a:cs typeface="Arial" panose="020B0604020202020204" pitchFamily="34" charset="0"/>
              </a:rPr>
              <a:t>Grant file access</a:t>
            </a:r>
            <a:br>
              <a:rPr lang="en-KR" b="1" dirty="0">
                <a:latin typeface="Arial" panose="020B0604020202020204" pitchFamily="34" charset="0"/>
                <a:cs typeface="Arial" panose="020B0604020202020204" pitchFamily="34" charset="0"/>
              </a:rPr>
            </a:br>
            <a:r>
              <a:rPr lang="en-KR" b="1" dirty="0">
                <a:latin typeface="Arial" panose="020B0604020202020204" pitchFamily="34" charset="0"/>
                <a:cs typeface="Arial" panose="020B0604020202020204" pitchFamily="34" charset="0"/>
              </a:rPr>
              <a:t>	</a:t>
            </a:r>
            <a:r>
              <a:rPr lang="en-KR" dirty="0">
                <a:latin typeface="Arial" panose="020B0604020202020204" pitchFamily="34" charset="0"/>
                <a:cs typeface="Arial" panose="020B0604020202020204" pitchFamily="34" charset="0"/>
              </a:rPr>
              <a:t>by creating </a:t>
            </a:r>
            <a:r>
              <a:rPr lang="en-KR" b="1" dirty="0">
                <a:solidFill>
                  <a:schemeClr val="accent1"/>
                </a:solidFill>
                <a:latin typeface="Arial" panose="020B0604020202020204" pitchFamily="34" charset="0"/>
                <a:cs typeface="Arial" panose="020B0604020202020204" pitchFamily="34" charset="0"/>
              </a:rPr>
              <a:t>a file descriptor &amp; return fd</a:t>
            </a:r>
            <a:endParaRPr lang="en-KR" dirty="0"/>
          </a:p>
        </p:txBody>
      </p:sp>
      <p:sp>
        <p:nvSpPr>
          <p:cNvPr id="21" name="TextBox 20">
            <a:extLst>
              <a:ext uri="{FF2B5EF4-FFF2-40B4-BE49-F238E27FC236}">
                <a16:creationId xmlns:a16="http://schemas.microsoft.com/office/drawing/2014/main" id="{868C424D-7B54-AFF4-FDB5-9690D0BDF6C8}"/>
              </a:ext>
            </a:extLst>
          </p:cNvPr>
          <p:cNvSpPr txBox="1"/>
          <p:nvPr/>
        </p:nvSpPr>
        <p:spPr>
          <a:xfrm>
            <a:off x="9546902" y="1748976"/>
            <a:ext cx="998178" cy="369332"/>
          </a:xfrm>
          <a:prstGeom prst="rect">
            <a:avLst/>
          </a:prstGeom>
          <a:noFill/>
          <a:ln>
            <a:noFill/>
          </a:ln>
        </p:spPr>
        <p:txBody>
          <a:bodyPr wrap="square" rtlCol="0">
            <a:spAutoFit/>
          </a:bodyPr>
          <a:lstStyle/>
          <a:p>
            <a:pPr algn="l"/>
            <a:r>
              <a:rPr lang="en-KR" dirty="0">
                <a:latin typeface="Arial" panose="020B0604020202020204" pitchFamily="34" charset="0"/>
                <a:cs typeface="Arial" panose="020B0604020202020204" pitchFamily="34" charset="0"/>
              </a:rPr>
              <a:t>→ </a:t>
            </a:r>
            <a:r>
              <a:rPr lang="en-KR" b="1" dirty="0">
                <a:solidFill>
                  <a:schemeClr val="accent5">
                    <a:lumMod val="75000"/>
                  </a:schemeClr>
                </a:solidFill>
                <a:latin typeface="Arial" panose="020B0604020202020204" pitchFamily="34" charset="0"/>
                <a:cs typeface="Arial" panose="020B0604020202020204" pitchFamily="34" charset="0"/>
              </a:rPr>
              <a:t>fd</a:t>
            </a:r>
          </a:p>
        </p:txBody>
      </p:sp>
      <p:sp>
        <p:nvSpPr>
          <p:cNvPr id="22" name="TextBox 21">
            <a:extLst>
              <a:ext uri="{FF2B5EF4-FFF2-40B4-BE49-F238E27FC236}">
                <a16:creationId xmlns:a16="http://schemas.microsoft.com/office/drawing/2014/main" id="{959E4849-5CA9-2339-56CD-A52D35C443D2}"/>
              </a:ext>
            </a:extLst>
          </p:cNvPr>
          <p:cNvSpPr txBox="1"/>
          <p:nvPr/>
        </p:nvSpPr>
        <p:spPr>
          <a:xfrm>
            <a:off x="3957643" y="1592088"/>
            <a:ext cx="1031051" cy="369332"/>
          </a:xfrm>
          <a:prstGeom prst="rect">
            <a:avLst/>
          </a:prstGeom>
          <a:noFill/>
        </p:spPr>
        <p:txBody>
          <a:bodyPr wrap="square" rtlCol="0">
            <a:spAutoFit/>
          </a:bodyPr>
          <a:lstStyle/>
          <a:p>
            <a:pPr algn="l"/>
            <a:r>
              <a:rPr lang="en-KR" dirty="0">
                <a:latin typeface="Arial" panose="020B0604020202020204" pitchFamily="34" charset="0"/>
                <a:cs typeface="Arial" panose="020B0604020202020204" pitchFamily="34" charset="0"/>
              </a:rPr>
              <a:t>User</a:t>
            </a:r>
          </a:p>
        </p:txBody>
      </p:sp>
      <p:sp>
        <p:nvSpPr>
          <p:cNvPr id="20" name="Rounded Rectangle 19">
            <a:extLst>
              <a:ext uri="{FF2B5EF4-FFF2-40B4-BE49-F238E27FC236}">
                <a16:creationId xmlns:a16="http://schemas.microsoft.com/office/drawing/2014/main" id="{D902AB51-AAF3-6908-C15A-46B5A788FEEF}"/>
              </a:ext>
            </a:extLst>
          </p:cNvPr>
          <p:cNvSpPr/>
          <p:nvPr/>
        </p:nvSpPr>
        <p:spPr>
          <a:xfrm>
            <a:off x="1202557" y="2874094"/>
            <a:ext cx="3896730" cy="865174"/>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b="1" dirty="0">
                <a:solidFill>
                  <a:schemeClr val="accent4">
                    <a:lumMod val="75000"/>
                  </a:schemeClr>
                </a:solidFill>
                <a:latin typeface="Arial" panose="020B0604020202020204" pitchFamily="34" charset="0"/>
                <a:cs typeface="Arial" panose="020B0604020202020204" pitchFamily="34" charset="0"/>
              </a:rPr>
              <a:t>Policy</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 Data defining the allowed access</a:t>
            </a:r>
          </a:p>
        </p:txBody>
      </p:sp>
      <p:sp>
        <p:nvSpPr>
          <p:cNvPr id="23" name="Rounded Rectangle 22">
            <a:extLst>
              <a:ext uri="{FF2B5EF4-FFF2-40B4-BE49-F238E27FC236}">
                <a16:creationId xmlns:a16="http://schemas.microsoft.com/office/drawing/2014/main" id="{3366F75B-BB27-E335-3899-8B7AAF3ADEEB}"/>
              </a:ext>
            </a:extLst>
          </p:cNvPr>
          <p:cNvSpPr/>
          <p:nvPr/>
        </p:nvSpPr>
        <p:spPr>
          <a:xfrm>
            <a:off x="1202557" y="4119098"/>
            <a:ext cx="3896730" cy="867600"/>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b="1" dirty="0">
                <a:solidFill>
                  <a:schemeClr val="accent6">
                    <a:lumMod val="75000"/>
                  </a:schemeClr>
                </a:solidFill>
                <a:latin typeface="Arial" panose="020B0604020202020204" pitchFamily="34" charset="0"/>
                <a:cs typeface="Arial" panose="020B0604020202020204" pitchFamily="34" charset="0"/>
              </a:rPr>
              <a:t>Enforcement</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 Code enforcing the access control</a:t>
            </a:r>
          </a:p>
        </p:txBody>
      </p:sp>
      <p:sp>
        <p:nvSpPr>
          <p:cNvPr id="24" name="Rounded Rectangle 23">
            <a:extLst>
              <a:ext uri="{FF2B5EF4-FFF2-40B4-BE49-F238E27FC236}">
                <a16:creationId xmlns:a16="http://schemas.microsoft.com/office/drawing/2014/main" id="{FA3BFE14-E0D5-3424-AD8E-E2C8B9C95C45}"/>
              </a:ext>
            </a:extLst>
          </p:cNvPr>
          <p:cNvSpPr/>
          <p:nvPr/>
        </p:nvSpPr>
        <p:spPr>
          <a:xfrm>
            <a:off x="1204617" y="5286950"/>
            <a:ext cx="3896730" cy="865174"/>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accent1"/>
                </a:solidFill>
                <a:latin typeface="Arial" panose="020B0604020202020204" pitchFamily="34" charset="0"/>
                <a:cs typeface="Arial" panose="020B0604020202020204" pitchFamily="34" charset="0"/>
              </a:rPr>
              <a:t>Resource</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D</a:t>
            </a:r>
            <a:r>
              <a:rPr lang="en-KR" dirty="0">
                <a:solidFill>
                  <a:schemeClr val="tx1"/>
                </a:solidFill>
                <a:latin typeface="Arial" panose="020B0604020202020204" pitchFamily="34" charset="0"/>
                <a:cs typeface="Arial" panose="020B0604020202020204" pitchFamily="34" charset="0"/>
              </a:rPr>
              <a:t>ata being protected</a:t>
            </a:r>
          </a:p>
        </p:txBody>
      </p:sp>
      <p:sp>
        <p:nvSpPr>
          <p:cNvPr id="10" name="Rounded Rectangle 9">
            <a:extLst>
              <a:ext uri="{FF2B5EF4-FFF2-40B4-BE49-F238E27FC236}">
                <a16:creationId xmlns:a16="http://schemas.microsoft.com/office/drawing/2014/main" id="{D452F299-CA68-358E-71BA-B1E7DC9C45A8}"/>
              </a:ext>
            </a:extLst>
          </p:cNvPr>
          <p:cNvSpPr/>
          <p:nvPr/>
        </p:nvSpPr>
        <p:spPr>
          <a:xfrm>
            <a:off x="1195236" y="2874094"/>
            <a:ext cx="3906112" cy="865174"/>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accent4">
                    <a:lumMod val="75000"/>
                  </a:schemeClr>
                </a:solidFill>
                <a:latin typeface="Arial" panose="020B0604020202020204" pitchFamily="34" charset="0"/>
                <a:cs typeface="Arial" panose="020B0604020202020204" pitchFamily="34" charset="0"/>
              </a:rPr>
              <a:t>Policy</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 cred, uid, owner, mode</a:t>
            </a:r>
          </a:p>
        </p:txBody>
      </p:sp>
      <p:sp>
        <p:nvSpPr>
          <p:cNvPr id="11" name="Rounded Rectangle 10">
            <a:extLst>
              <a:ext uri="{FF2B5EF4-FFF2-40B4-BE49-F238E27FC236}">
                <a16:creationId xmlns:a16="http://schemas.microsoft.com/office/drawing/2014/main" id="{2901C28C-69DA-C18C-E54A-7620FCBA2B4C}"/>
              </a:ext>
            </a:extLst>
          </p:cNvPr>
          <p:cNvSpPr/>
          <p:nvPr/>
        </p:nvSpPr>
        <p:spPr>
          <a:xfrm>
            <a:off x="1195236" y="4119098"/>
            <a:ext cx="3906112" cy="865174"/>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accent6">
                    <a:lumMod val="75000"/>
                  </a:schemeClr>
                </a:solidFill>
                <a:latin typeface="Arial" panose="020B0604020202020204" pitchFamily="34" charset="0"/>
                <a:cs typeface="Arial" panose="020B0604020202020204" pitchFamily="34" charset="0"/>
              </a:rPr>
              <a:t>Enforcement</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 DAC permission check</a:t>
            </a:r>
          </a:p>
        </p:txBody>
      </p:sp>
      <p:sp>
        <p:nvSpPr>
          <p:cNvPr id="12" name="Rounded Rectangle 11">
            <a:extLst>
              <a:ext uri="{FF2B5EF4-FFF2-40B4-BE49-F238E27FC236}">
                <a16:creationId xmlns:a16="http://schemas.microsoft.com/office/drawing/2014/main" id="{B4B428DB-CEC4-815B-6ED5-7586B2AF258B}"/>
              </a:ext>
            </a:extLst>
          </p:cNvPr>
          <p:cNvSpPr/>
          <p:nvPr/>
        </p:nvSpPr>
        <p:spPr>
          <a:xfrm>
            <a:off x="1197296" y="5286950"/>
            <a:ext cx="3906112" cy="865174"/>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accent1"/>
                </a:solidFill>
                <a:latin typeface="Arial" panose="020B0604020202020204" pitchFamily="34" charset="0"/>
                <a:cs typeface="Arial" panose="020B0604020202020204" pitchFamily="34" charset="0"/>
              </a:rPr>
              <a:t>Resource</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 files, fdt, fd, mode, mapping</a:t>
            </a:r>
          </a:p>
        </p:txBody>
      </p:sp>
    </p:spTree>
    <p:extLst>
      <p:ext uri="{BB962C8B-B14F-4D97-AF65-F5344CB8AC3E}">
        <p14:creationId xmlns:p14="http://schemas.microsoft.com/office/powerpoint/2010/main" val="1022367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13" grpId="0"/>
      <p:bldP spid="21" grpId="0" animBg="1"/>
      <p:bldP spid="10" grpId="0" animBg="1"/>
      <p:bldP spid="11"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ounded Rectangle 100">
            <a:extLst>
              <a:ext uri="{FF2B5EF4-FFF2-40B4-BE49-F238E27FC236}">
                <a16:creationId xmlns:a16="http://schemas.microsoft.com/office/drawing/2014/main" id="{8B8CA6D9-23B1-A29F-A1E1-91D8765BF498}"/>
              </a:ext>
            </a:extLst>
          </p:cNvPr>
          <p:cNvSpPr/>
          <p:nvPr/>
        </p:nvSpPr>
        <p:spPr>
          <a:xfrm>
            <a:off x="752354" y="2249945"/>
            <a:ext cx="10385038" cy="4315448"/>
          </a:xfrm>
          <a:prstGeom prst="roundRect">
            <a:avLst>
              <a:gd name="adj" fmla="val 5417"/>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F97F1DB3-F016-DA66-4763-A5AF8466D3D2}"/>
              </a:ext>
            </a:extLst>
          </p:cNvPr>
          <p:cNvSpPr>
            <a:spLocks noGrp="1"/>
          </p:cNvSpPr>
          <p:nvPr>
            <p:ph type="title"/>
          </p:nvPr>
        </p:nvSpPr>
        <p:spPr/>
        <p:txBody>
          <a:bodyPr>
            <a:normAutofit/>
          </a:bodyPr>
          <a:lstStyle/>
          <a:p>
            <a:r>
              <a:rPr lang="en-KR" sz="4000" dirty="0"/>
              <a:t>Access Control System in the Linux Kernel</a:t>
            </a:r>
          </a:p>
        </p:txBody>
      </p:sp>
      <p:sp>
        <p:nvSpPr>
          <p:cNvPr id="6" name="Slide Number Placeholder 5">
            <a:extLst>
              <a:ext uri="{FF2B5EF4-FFF2-40B4-BE49-F238E27FC236}">
                <a16:creationId xmlns:a16="http://schemas.microsoft.com/office/drawing/2014/main" id="{02B7C138-CDB9-20BC-7949-41CB010A557F}"/>
              </a:ext>
            </a:extLst>
          </p:cNvPr>
          <p:cNvSpPr>
            <a:spLocks noGrp="1"/>
          </p:cNvSpPr>
          <p:nvPr>
            <p:ph type="sldNum" sz="quarter" idx="12"/>
          </p:nvPr>
        </p:nvSpPr>
        <p:spPr/>
        <p:txBody>
          <a:bodyPr/>
          <a:lstStyle/>
          <a:p>
            <a:fld id="{9ED31AF7-B9C1-7944-AC45-A988640FDEFC}" type="slidenum">
              <a:rPr lang="en-KR" smtClean="0"/>
              <a:t>8</a:t>
            </a:fld>
            <a:endParaRPr lang="en-KR"/>
          </a:p>
        </p:txBody>
      </p:sp>
      <p:sp>
        <p:nvSpPr>
          <p:cNvPr id="5" name="TextBox 4">
            <a:extLst>
              <a:ext uri="{FF2B5EF4-FFF2-40B4-BE49-F238E27FC236}">
                <a16:creationId xmlns:a16="http://schemas.microsoft.com/office/drawing/2014/main" id="{E5BD9478-22F5-D67C-78FD-18636B2A2C8C}"/>
              </a:ext>
            </a:extLst>
          </p:cNvPr>
          <p:cNvSpPr txBox="1"/>
          <p:nvPr/>
        </p:nvSpPr>
        <p:spPr>
          <a:xfrm>
            <a:off x="654317" y="1770261"/>
            <a:ext cx="1670222" cy="400110"/>
          </a:xfrm>
          <a:prstGeom prst="rect">
            <a:avLst/>
          </a:prstGeom>
          <a:noFill/>
        </p:spPr>
        <p:txBody>
          <a:bodyPr wrap="square" rtlCol="0">
            <a:spAutoFit/>
          </a:bodyPr>
          <a:lstStyle/>
          <a:p>
            <a:pPr algn="ctr"/>
            <a:r>
              <a:rPr lang="en-KR" sz="2000" dirty="0">
                <a:latin typeface="Arial" panose="020B0604020202020204" pitchFamily="34" charset="0"/>
                <a:cs typeface="Arial" panose="020B0604020202020204" pitchFamily="34" charset="0"/>
              </a:rPr>
              <a:t>Kernel</a:t>
            </a:r>
          </a:p>
        </p:txBody>
      </p:sp>
      <p:sp>
        <p:nvSpPr>
          <p:cNvPr id="88" name="TextBox 87">
            <a:extLst>
              <a:ext uri="{FF2B5EF4-FFF2-40B4-BE49-F238E27FC236}">
                <a16:creationId xmlns:a16="http://schemas.microsoft.com/office/drawing/2014/main" id="{A47F050A-026B-78E3-E21F-ED26E2C6EA0B}"/>
              </a:ext>
            </a:extLst>
          </p:cNvPr>
          <p:cNvSpPr txBox="1"/>
          <p:nvPr/>
        </p:nvSpPr>
        <p:spPr>
          <a:xfrm>
            <a:off x="5755171" y="1743772"/>
            <a:ext cx="2792752" cy="369332"/>
          </a:xfrm>
          <a:prstGeom prst="rect">
            <a:avLst/>
          </a:prstGeom>
          <a:noFill/>
        </p:spPr>
        <p:txBody>
          <a:bodyPr wrap="none" rtlCol="0">
            <a:spAutoFit/>
          </a:bodyPr>
          <a:lstStyle/>
          <a:p>
            <a:pPr algn="l"/>
            <a:r>
              <a:rPr lang="en-KR" dirty="0">
                <a:latin typeface="Arial" panose="020B0604020202020204" pitchFamily="34" charset="0"/>
                <a:cs typeface="Arial" panose="020B0604020202020204" pitchFamily="34" charset="0"/>
              </a:rPr>
              <a:t>open(‘/etc/shadow’, write)</a:t>
            </a:r>
          </a:p>
        </p:txBody>
      </p:sp>
      <p:sp>
        <p:nvSpPr>
          <p:cNvPr id="89" name="TextBox 88">
            <a:extLst>
              <a:ext uri="{FF2B5EF4-FFF2-40B4-BE49-F238E27FC236}">
                <a16:creationId xmlns:a16="http://schemas.microsoft.com/office/drawing/2014/main" id="{F519F666-E502-BE27-3C02-48E4E25AB374}"/>
              </a:ext>
            </a:extLst>
          </p:cNvPr>
          <p:cNvSpPr txBox="1"/>
          <p:nvPr/>
        </p:nvSpPr>
        <p:spPr>
          <a:xfrm>
            <a:off x="5357792" y="3973308"/>
            <a:ext cx="4891083" cy="369332"/>
          </a:xfrm>
          <a:prstGeom prst="rect">
            <a:avLst/>
          </a:prstGeom>
          <a:noFill/>
        </p:spPr>
        <p:txBody>
          <a:bodyPr wrap="none" rtlCol="0">
            <a:spAutoFit/>
          </a:bodyPr>
          <a:lstStyle/>
          <a:p>
            <a:pPr algn="l"/>
            <a:r>
              <a:rPr lang="en-KR" b="1" dirty="0">
                <a:solidFill>
                  <a:schemeClr val="accent6">
                    <a:lumMod val="75000"/>
                  </a:schemeClr>
                </a:solidFill>
                <a:latin typeface="Arial" panose="020B0604020202020204" pitchFamily="34" charset="0"/>
                <a:cs typeface="Arial" panose="020B0604020202020204" pitchFamily="34" charset="0"/>
              </a:rPr>
              <a:t>DAC permission check (cred, inode, mode)</a:t>
            </a:r>
          </a:p>
        </p:txBody>
      </p:sp>
      <p:grpSp>
        <p:nvGrpSpPr>
          <p:cNvPr id="7" name="Group 6">
            <a:extLst>
              <a:ext uri="{FF2B5EF4-FFF2-40B4-BE49-F238E27FC236}">
                <a16:creationId xmlns:a16="http://schemas.microsoft.com/office/drawing/2014/main" id="{FFD26415-63DD-EC6E-EDE9-B0A91D5DFCAA}"/>
              </a:ext>
            </a:extLst>
          </p:cNvPr>
          <p:cNvGrpSpPr/>
          <p:nvPr/>
        </p:nvGrpSpPr>
        <p:grpSpPr>
          <a:xfrm>
            <a:off x="6262385" y="2264599"/>
            <a:ext cx="4075414" cy="1325935"/>
            <a:chOff x="6262385" y="2264599"/>
            <a:chExt cx="4075414" cy="1325935"/>
          </a:xfrm>
        </p:grpSpPr>
        <p:sp>
          <p:nvSpPr>
            <p:cNvPr id="15" name="Rectangle 14">
              <a:extLst>
                <a:ext uri="{FF2B5EF4-FFF2-40B4-BE49-F238E27FC236}">
                  <a16:creationId xmlns:a16="http://schemas.microsoft.com/office/drawing/2014/main" id="{E5266FF6-BDC0-125E-98C5-7BF5ACDE6F99}"/>
                </a:ext>
              </a:extLst>
            </p:cNvPr>
            <p:cNvSpPr/>
            <p:nvPr/>
          </p:nvSpPr>
          <p:spPr>
            <a:xfrm>
              <a:off x="6289339" y="2828798"/>
              <a:ext cx="960832" cy="609050"/>
            </a:xfrm>
            <a:prstGeom prst="rect">
              <a:avLst/>
            </a:prstGeom>
            <a:solidFill>
              <a:schemeClr val="bg1"/>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9298AF9E-93C1-DA87-5686-A732F1DC24E9}"/>
                </a:ext>
              </a:extLst>
            </p:cNvPr>
            <p:cNvSpPr/>
            <p:nvPr/>
          </p:nvSpPr>
          <p:spPr>
            <a:xfrm>
              <a:off x="7726165" y="3049123"/>
              <a:ext cx="1056981" cy="540212"/>
            </a:xfrm>
            <a:prstGeom prst="rect">
              <a:avLst/>
            </a:prstGeom>
            <a:solidFill>
              <a:schemeClr val="accent4">
                <a:lumMod val="40000"/>
                <a:lumOff val="6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uid: attacker</a:t>
              </a:r>
            </a:p>
          </p:txBody>
        </p:sp>
        <p:sp>
          <p:nvSpPr>
            <p:cNvPr id="18" name="TextBox 17">
              <a:extLst>
                <a:ext uri="{FF2B5EF4-FFF2-40B4-BE49-F238E27FC236}">
                  <a16:creationId xmlns:a16="http://schemas.microsoft.com/office/drawing/2014/main" id="{9CA93FAE-90A5-7D9E-A2B3-160A89833841}"/>
                </a:ext>
              </a:extLst>
            </p:cNvPr>
            <p:cNvSpPr txBox="1"/>
            <p:nvPr/>
          </p:nvSpPr>
          <p:spPr>
            <a:xfrm>
              <a:off x="6262385" y="2264599"/>
              <a:ext cx="1047941" cy="523220"/>
            </a:xfrm>
            <a:prstGeom prst="rect">
              <a:avLst/>
            </a:prstGeom>
            <a:noFill/>
          </p:spPr>
          <p:txBody>
            <a:bodyPr wrap="square">
              <a:spAutoFit/>
            </a:bodyPr>
            <a:lstStyle/>
            <a:p>
              <a:pPr algn="ctr"/>
              <a:r>
                <a:rPr lang="en-KR" sz="1400" dirty="0">
                  <a:solidFill>
                    <a:schemeClr val="tx1"/>
                  </a:solidFill>
                  <a:latin typeface="Arial" panose="020B0604020202020204" pitchFamily="34" charset="0"/>
                  <a:cs typeface="Arial" panose="020B0604020202020204" pitchFamily="34" charset="0"/>
                </a:rPr>
                <a:t>struct task_struct</a:t>
              </a:r>
            </a:p>
          </p:txBody>
        </p:sp>
        <p:sp>
          <p:nvSpPr>
            <p:cNvPr id="69" name="Rectangle 68">
              <a:extLst>
                <a:ext uri="{FF2B5EF4-FFF2-40B4-BE49-F238E27FC236}">
                  <a16:creationId xmlns:a16="http://schemas.microsoft.com/office/drawing/2014/main" id="{CD97D1FF-18DF-3893-FD37-E5A434FBE40D}"/>
                </a:ext>
              </a:extLst>
            </p:cNvPr>
            <p:cNvSpPr/>
            <p:nvPr/>
          </p:nvSpPr>
          <p:spPr>
            <a:xfrm>
              <a:off x="6289339" y="2983890"/>
              <a:ext cx="960832" cy="289169"/>
            </a:xfrm>
            <a:prstGeom prst="rect">
              <a:avLst/>
            </a:prstGeom>
            <a:solidFill>
              <a:schemeClr val="accent4">
                <a:lumMod val="40000"/>
                <a:lumOff val="6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cred</a:t>
              </a:r>
            </a:p>
          </p:txBody>
        </p:sp>
        <p:cxnSp>
          <p:nvCxnSpPr>
            <p:cNvPr id="71" name="Straight Arrow Connector 70">
              <a:extLst>
                <a:ext uri="{FF2B5EF4-FFF2-40B4-BE49-F238E27FC236}">
                  <a16:creationId xmlns:a16="http://schemas.microsoft.com/office/drawing/2014/main" id="{BAF27F31-8A3D-8859-593B-AD67C121417A}"/>
                </a:ext>
              </a:extLst>
            </p:cNvPr>
            <p:cNvCxnSpPr>
              <a:cxnSpLocks/>
            </p:cNvCxnSpPr>
            <p:nvPr/>
          </p:nvCxnSpPr>
          <p:spPr>
            <a:xfrm>
              <a:off x="7250171" y="3128475"/>
              <a:ext cx="47599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D678567C-21AC-B5E0-635D-5585E25B71B5}"/>
                </a:ext>
              </a:extLst>
            </p:cNvPr>
            <p:cNvSpPr txBox="1"/>
            <p:nvPr/>
          </p:nvSpPr>
          <p:spPr>
            <a:xfrm>
              <a:off x="7752676" y="2695812"/>
              <a:ext cx="1042334" cy="307777"/>
            </a:xfrm>
            <a:prstGeom prst="rect">
              <a:avLst/>
            </a:prstGeom>
            <a:noFill/>
          </p:spPr>
          <p:txBody>
            <a:bodyPr wrap="square" rtlCol="0">
              <a:spAutoFit/>
            </a:bodyPr>
            <a:lstStyle/>
            <a:p>
              <a:pPr algn="l"/>
              <a:r>
                <a:rPr lang="en-KR" sz="1400" dirty="0">
                  <a:latin typeface="Arial" panose="020B0604020202020204" pitchFamily="34" charset="0"/>
                  <a:cs typeface="Arial" panose="020B0604020202020204" pitchFamily="34" charset="0"/>
                </a:rPr>
                <a:t>struct cred</a:t>
              </a:r>
            </a:p>
          </p:txBody>
        </p:sp>
        <p:sp>
          <p:nvSpPr>
            <p:cNvPr id="81" name="Rectangle 80">
              <a:extLst>
                <a:ext uri="{FF2B5EF4-FFF2-40B4-BE49-F238E27FC236}">
                  <a16:creationId xmlns:a16="http://schemas.microsoft.com/office/drawing/2014/main" id="{08CDC389-3D36-5B4F-9F1B-0E62DF640543}"/>
                </a:ext>
              </a:extLst>
            </p:cNvPr>
            <p:cNvSpPr/>
            <p:nvPr/>
          </p:nvSpPr>
          <p:spPr>
            <a:xfrm>
              <a:off x="9032698" y="3048615"/>
              <a:ext cx="1305101" cy="541919"/>
            </a:xfrm>
            <a:prstGeom prst="rect">
              <a:avLst/>
            </a:prstGeom>
            <a:solidFill>
              <a:schemeClr val="accent4">
                <a:lumMod val="40000"/>
                <a:lumOff val="6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KR" sz="1400" dirty="0">
                  <a:solidFill>
                    <a:schemeClr val="tx1"/>
                  </a:solidFill>
                  <a:latin typeface="Arial" panose="020B0604020202020204" pitchFamily="34" charset="0"/>
                  <a:cs typeface="Arial" panose="020B0604020202020204" pitchFamily="34" charset="0"/>
                </a:rPr>
                <a:t>owner: root</a:t>
              </a:r>
            </a:p>
            <a:p>
              <a:r>
                <a:rPr lang="en-KR" sz="1400" dirty="0">
                  <a:solidFill>
                    <a:schemeClr val="tx1"/>
                  </a:solidFill>
                  <a:latin typeface="Arial" panose="020B0604020202020204" pitchFamily="34" charset="0"/>
                  <a:cs typeface="Arial" panose="020B0604020202020204" pitchFamily="34" charset="0"/>
                </a:rPr>
                <a:t>mode : rw / --</a:t>
              </a:r>
            </a:p>
          </p:txBody>
        </p:sp>
        <p:sp>
          <p:nvSpPr>
            <p:cNvPr id="82" name="TextBox 81">
              <a:extLst>
                <a:ext uri="{FF2B5EF4-FFF2-40B4-BE49-F238E27FC236}">
                  <a16:creationId xmlns:a16="http://schemas.microsoft.com/office/drawing/2014/main" id="{736F0BE2-7A30-8957-FAE7-44340CE2DFDE}"/>
                </a:ext>
              </a:extLst>
            </p:cNvPr>
            <p:cNvSpPr txBox="1"/>
            <p:nvPr/>
          </p:nvSpPr>
          <p:spPr>
            <a:xfrm>
              <a:off x="9123505" y="2695304"/>
              <a:ext cx="1117929" cy="307777"/>
            </a:xfrm>
            <a:prstGeom prst="rect">
              <a:avLst/>
            </a:prstGeom>
            <a:noFill/>
          </p:spPr>
          <p:txBody>
            <a:bodyPr wrap="square" rtlCol="0">
              <a:spAutoFit/>
            </a:bodyPr>
            <a:lstStyle/>
            <a:p>
              <a:pPr algn="l"/>
              <a:r>
                <a:rPr lang="en-KR" sz="1400" dirty="0">
                  <a:latin typeface="Arial" panose="020B0604020202020204" pitchFamily="34" charset="0"/>
                  <a:cs typeface="Arial" panose="020B0604020202020204" pitchFamily="34" charset="0"/>
                </a:rPr>
                <a:t>struct inode</a:t>
              </a:r>
            </a:p>
          </p:txBody>
        </p:sp>
      </p:grpSp>
      <p:grpSp>
        <p:nvGrpSpPr>
          <p:cNvPr id="8" name="Group 7">
            <a:extLst>
              <a:ext uri="{FF2B5EF4-FFF2-40B4-BE49-F238E27FC236}">
                <a16:creationId xmlns:a16="http://schemas.microsoft.com/office/drawing/2014/main" id="{D5071116-F6B4-CB19-21F5-154890C9F4ED}"/>
              </a:ext>
            </a:extLst>
          </p:cNvPr>
          <p:cNvGrpSpPr/>
          <p:nvPr/>
        </p:nvGrpSpPr>
        <p:grpSpPr>
          <a:xfrm>
            <a:off x="8259175" y="3582722"/>
            <a:ext cx="1270729" cy="462269"/>
            <a:chOff x="8259175" y="3582722"/>
            <a:chExt cx="1270729" cy="462269"/>
          </a:xfrm>
        </p:grpSpPr>
        <p:sp>
          <p:nvSpPr>
            <p:cNvPr id="98" name="Freeform 97">
              <a:extLst>
                <a:ext uri="{FF2B5EF4-FFF2-40B4-BE49-F238E27FC236}">
                  <a16:creationId xmlns:a16="http://schemas.microsoft.com/office/drawing/2014/main" id="{E91048D1-C154-4448-BDB0-8D9D233D6710}"/>
                </a:ext>
              </a:extLst>
            </p:cNvPr>
            <p:cNvSpPr/>
            <p:nvPr/>
          </p:nvSpPr>
          <p:spPr>
            <a:xfrm>
              <a:off x="8259175" y="3594416"/>
              <a:ext cx="245988" cy="450575"/>
            </a:xfrm>
            <a:custGeom>
              <a:avLst/>
              <a:gdLst>
                <a:gd name="connsiteX0" fmla="*/ 0 w 676656"/>
                <a:gd name="connsiteY0" fmla="*/ 0 h 630936"/>
                <a:gd name="connsiteX1" fmla="*/ 146304 w 676656"/>
                <a:gd name="connsiteY1" fmla="*/ 210312 h 630936"/>
                <a:gd name="connsiteX2" fmla="*/ 585216 w 676656"/>
                <a:gd name="connsiteY2" fmla="*/ 365760 h 630936"/>
                <a:gd name="connsiteX3" fmla="*/ 676656 w 676656"/>
                <a:gd name="connsiteY3" fmla="*/ 630936 h 630936"/>
              </a:gdLst>
              <a:ahLst/>
              <a:cxnLst>
                <a:cxn ang="0">
                  <a:pos x="connsiteX0" y="connsiteY0"/>
                </a:cxn>
                <a:cxn ang="0">
                  <a:pos x="connsiteX1" y="connsiteY1"/>
                </a:cxn>
                <a:cxn ang="0">
                  <a:pos x="connsiteX2" y="connsiteY2"/>
                </a:cxn>
                <a:cxn ang="0">
                  <a:pos x="connsiteX3" y="connsiteY3"/>
                </a:cxn>
              </a:cxnLst>
              <a:rect l="l" t="t" r="r" b="b"/>
              <a:pathLst>
                <a:path w="676656" h="630936">
                  <a:moveTo>
                    <a:pt x="0" y="0"/>
                  </a:moveTo>
                  <a:cubicBezTo>
                    <a:pt x="24384" y="74676"/>
                    <a:pt x="48768" y="149352"/>
                    <a:pt x="146304" y="210312"/>
                  </a:cubicBezTo>
                  <a:cubicBezTo>
                    <a:pt x="243840" y="271272"/>
                    <a:pt x="496824" y="295656"/>
                    <a:pt x="585216" y="365760"/>
                  </a:cubicBezTo>
                  <a:cubicBezTo>
                    <a:pt x="673608" y="435864"/>
                    <a:pt x="675132" y="533400"/>
                    <a:pt x="676656" y="630936"/>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p>
          </p:txBody>
        </p:sp>
        <p:sp>
          <p:nvSpPr>
            <p:cNvPr id="99" name="Freeform 98">
              <a:extLst>
                <a:ext uri="{FF2B5EF4-FFF2-40B4-BE49-F238E27FC236}">
                  <a16:creationId xmlns:a16="http://schemas.microsoft.com/office/drawing/2014/main" id="{B9C69D04-51E6-BFF5-3B35-3937EAC82C9D}"/>
                </a:ext>
              </a:extLst>
            </p:cNvPr>
            <p:cNvSpPr/>
            <p:nvPr/>
          </p:nvSpPr>
          <p:spPr>
            <a:xfrm flipH="1">
              <a:off x="9023657" y="3582722"/>
              <a:ext cx="506247" cy="450575"/>
            </a:xfrm>
            <a:custGeom>
              <a:avLst/>
              <a:gdLst>
                <a:gd name="connsiteX0" fmla="*/ 0 w 676656"/>
                <a:gd name="connsiteY0" fmla="*/ 0 h 630936"/>
                <a:gd name="connsiteX1" fmla="*/ 146304 w 676656"/>
                <a:gd name="connsiteY1" fmla="*/ 210312 h 630936"/>
                <a:gd name="connsiteX2" fmla="*/ 585216 w 676656"/>
                <a:gd name="connsiteY2" fmla="*/ 365760 h 630936"/>
                <a:gd name="connsiteX3" fmla="*/ 676656 w 676656"/>
                <a:gd name="connsiteY3" fmla="*/ 630936 h 630936"/>
              </a:gdLst>
              <a:ahLst/>
              <a:cxnLst>
                <a:cxn ang="0">
                  <a:pos x="connsiteX0" y="connsiteY0"/>
                </a:cxn>
                <a:cxn ang="0">
                  <a:pos x="connsiteX1" y="connsiteY1"/>
                </a:cxn>
                <a:cxn ang="0">
                  <a:pos x="connsiteX2" y="connsiteY2"/>
                </a:cxn>
                <a:cxn ang="0">
                  <a:pos x="connsiteX3" y="connsiteY3"/>
                </a:cxn>
              </a:cxnLst>
              <a:rect l="l" t="t" r="r" b="b"/>
              <a:pathLst>
                <a:path w="676656" h="630936">
                  <a:moveTo>
                    <a:pt x="0" y="0"/>
                  </a:moveTo>
                  <a:cubicBezTo>
                    <a:pt x="24384" y="74676"/>
                    <a:pt x="48768" y="149352"/>
                    <a:pt x="146304" y="210312"/>
                  </a:cubicBezTo>
                  <a:cubicBezTo>
                    <a:pt x="243840" y="271272"/>
                    <a:pt x="496824" y="295656"/>
                    <a:pt x="585216" y="365760"/>
                  </a:cubicBezTo>
                  <a:cubicBezTo>
                    <a:pt x="673608" y="435864"/>
                    <a:pt x="675132" y="533400"/>
                    <a:pt x="676656" y="630936"/>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grpSp>
      <p:cxnSp>
        <p:nvCxnSpPr>
          <p:cNvPr id="102" name="Straight Arrow Connector 101">
            <a:extLst>
              <a:ext uri="{FF2B5EF4-FFF2-40B4-BE49-F238E27FC236}">
                <a16:creationId xmlns:a16="http://schemas.microsoft.com/office/drawing/2014/main" id="{1CF81716-E37B-9459-89D8-9C9327AB6A6F}"/>
              </a:ext>
            </a:extLst>
          </p:cNvPr>
          <p:cNvCxnSpPr>
            <a:cxnSpLocks/>
          </p:cNvCxnSpPr>
          <p:nvPr/>
        </p:nvCxnSpPr>
        <p:spPr>
          <a:xfrm>
            <a:off x="5384145" y="2122371"/>
            <a:ext cx="0" cy="403838"/>
          </a:xfrm>
          <a:prstGeom prst="straightConnector1">
            <a:avLst/>
          </a:prstGeom>
          <a:ln w="254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35D3843-2837-C53C-AC92-E6B610F06B49}"/>
              </a:ext>
            </a:extLst>
          </p:cNvPr>
          <p:cNvSpPr txBox="1"/>
          <p:nvPr/>
        </p:nvSpPr>
        <p:spPr>
          <a:xfrm>
            <a:off x="5485651" y="4414830"/>
            <a:ext cx="2765342" cy="369332"/>
          </a:xfrm>
          <a:prstGeom prst="rect">
            <a:avLst/>
          </a:prstGeom>
          <a:noFill/>
        </p:spPr>
        <p:txBody>
          <a:bodyPr wrap="square">
            <a:spAutoFit/>
          </a:bodyPr>
          <a:lstStyle/>
          <a:p>
            <a:r>
              <a:rPr lang="en-KR" dirty="0">
                <a:latin typeface="Arial" panose="020B0604020202020204" pitchFamily="34" charset="0"/>
                <a:cs typeface="Arial" panose="020B0604020202020204" pitchFamily="34" charset="0"/>
              </a:rPr>
              <a:t> ↳ fail: return </a:t>
            </a:r>
            <a:r>
              <a:rPr lang="en-KR" b="1" dirty="0">
                <a:solidFill>
                  <a:schemeClr val="accent6">
                    <a:lumMod val="75000"/>
                  </a:schemeClr>
                </a:solidFill>
                <a:latin typeface="Arial" panose="020B0604020202020204" pitchFamily="34" charset="0"/>
                <a:cs typeface="Arial" panose="020B0604020202020204" pitchFamily="34" charset="0"/>
              </a:rPr>
              <a:t>–EACCES.</a:t>
            </a:r>
            <a:endParaRPr lang="en-KR" dirty="0"/>
          </a:p>
        </p:txBody>
      </p:sp>
      <p:sp>
        <p:nvSpPr>
          <p:cNvPr id="20" name="TextBox 19">
            <a:extLst>
              <a:ext uri="{FF2B5EF4-FFF2-40B4-BE49-F238E27FC236}">
                <a16:creationId xmlns:a16="http://schemas.microsoft.com/office/drawing/2014/main" id="{D4979576-F621-319D-83FD-A63E88EEDF60}"/>
              </a:ext>
            </a:extLst>
          </p:cNvPr>
          <p:cNvSpPr txBox="1"/>
          <p:nvPr/>
        </p:nvSpPr>
        <p:spPr>
          <a:xfrm>
            <a:off x="8431361" y="1751463"/>
            <a:ext cx="1505540" cy="369332"/>
          </a:xfrm>
          <a:prstGeom prst="rect">
            <a:avLst/>
          </a:prstGeom>
          <a:noFill/>
        </p:spPr>
        <p:txBody>
          <a:bodyPr wrap="none" rtlCol="0">
            <a:spAutoFit/>
          </a:bodyPr>
          <a:lstStyle/>
          <a:p>
            <a:pPr algn="l"/>
            <a:r>
              <a:rPr lang="en-KR" dirty="0">
                <a:latin typeface="Arial" panose="020B0604020202020204" pitchFamily="34" charset="0"/>
                <a:cs typeface="Arial" panose="020B0604020202020204" pitchFamily="34" charset="0"/>
              </a:rPr>
              <a:t>→ </a:t>
            </a:r>
            <a:r>
              <a:rPr lang="en-KR" dirty="0">
                <a:solidFill>
                  <a:srgbClr val="C00000"/>
                </a:solidFill>
                <a:latin typeface="Arial" panose="020B0604020202020204" pitchFamily="34" charset="0"/>
                <a:cs typeface="Arial" panose="020B0604020202020204" pitchFamily="34" charset="0"/>
              </a:rPr>
              <a:t>-</a:t>
            </a:r>
            <a:r>
              <a:rPr lang="en-KR" b="1" dirty="0">
                <a:solidFill>
                  <a:srgbClr val="C00000"/>
                </a:solidFill>
                <a:latin typeface="Arial" panose="020B0604020202020204" pitchFamily="34" charset="0"/>
                <a:cs typeface="Arial" panose="020B0604020202020204" pitchFamily="34" charset="0"/>
              </a:rPr>
              <a:t>EACCES</a:t>
            </a:r>
          </a:p>
        </p:txBody>
      </p:sp>
      <p:sp>
        <p:nvSpPr>
          <p:cNvPr id="17" name="TextBox 16">
            <a:extLst>
              <a:ext uri="{FF2B5EF4-FFF2-40B4-BE49-F238E27FC236}">
                <a16:creationId xmlns:a16="http://schemas.microsoft.com/office/drawing/2014/main" id="{42DF0554-BD63-7A29-43FD-8F21BBC6A8AC}"/>
              </a:ext>
            </a:extLst>
          </p:cNvPr>
          <p:cNvSpPr txBox="1"/>
          <p:nvPr/>
        </p:nvSpPr>
        <p:spPr>
          <a:xfrm>
            <a:off x="3957643" y="1592088"/>
            <a:ext cx="1031051" cy="369332"/>
          </a:xfrm>
          <a:prstGeom prst="rect">
            <a:avLst/>
          </a:prstGeom>
          <a:noFill/>
        </p:spPr>
        <p:txBody>
          <a:bodyPr wrap="square" rtlCol="0">
            <a:spAutoFit/>
          </a:bodyPr>
          <a:lstStyle/>
          <a:p>
            <a:pPr algn="l"/>
            <a:r>
              <a:rPr lang="en-KR" dirty="0">
                <a:latin typeface="Arial" panose="020B0604020202020204" pitchFamily="34" charset="0"/>
                <a:cs typeface="Arial" panose="020B0604020202020204" pitchFamily="34" charset="0"/>
              </a:rPr>
              <a:t>User</a:t>
            </a:r>
          </a:p>
        </p:txBody>
      </p:sp>
      <p:pic>
        <p:nvPicPr>
          <p:cNvPr id="3" name="Picture 2">
            <a:extLst>
              <a:ext uri="{FF2B5EF4-FFF2-40B4-BE49-F238E27FC236}">
                <a16:creationId xmlns:a16="http://schemas.microsoft.com/office/drawing/2014/main" id="{1269F6C7-EE50-3947-7646-B45DBBC2306F}"/>
              </a:ext>
            </a:extLst>
          </p:cNvPr>
          <p:cNvPicPr>
            <a:picLocks noChangeAspect="1"/>
          </p:cNvPicPr>
          <p:nvPr/>
        </p:nvPicPr>
        <p:blipFill>
          <a:blip r:embed="rId3">
            <a:duotone>
              <a:prstClr val="black"/>
              <a:schemeClr val="bg1">
                <a:tint val="45000"/>
                <a:satMod val="400000"/>
              </a:schemeClr>
            </a:duotone>
            <a:extLst>
              <a:ext uri="{BEBA8EAE-BF5A-486C-A8C5-ECC9F3942E4B}">
                <a14:imgProps xmlns:a14="http://schemas.microsoft.com/office/drawing/2010/main">
                  <a14:imgLayer r:embed="rId4">
                    <a14:imgEffect>
                      <a14:brightnessContrast bright="20000" contrast="20000"/>
                    </a14:imgEffect>
                  </a14:imgLayer>
                </a14:imgProps>
              </a:ext>
            </a:extLst>
          </a:blip>
          <a:stretch>
            <a:fillRect/>
          </a:stretch>
        </p:blipFill>
        <p:spPr>
          <a:xfrm>
            <a:off x="5094000" y="1495250"/>
            <a:ext cx="582527" cy="582527"/>
          </a:xfrm>
          <a:prstGeom prst="rect">
            <a:avLst/>
          </a:prstGeom>
        </p:spPr>
      </p:pic>
      <p:sp>
        <p:nvSpPr>
          <p:cNvPr id="9" name="Rounded Rectangle 8">
            <a:extLst>
              <a:ext uri="{FF2B5EF4-FFF2-40B4-BE49-F238E27FC236}">
                <a16:creationId xmlns:a16="http://schemas.microsoft.com/office/drawing/2014/main" id="{7486EEAF-56C1-FAD1-E0C0-6F87AE3BD983}"/>
              </a:ext>
            </a:extLst>
          </p:cNvPr>
          <p:cNvSpPr/>
          <p:nvPr/>
        </p:nvSpPr>
        <p:spPr>
          <a:xfrm>
            <a:off x="1195236" y="2874094"/>
            <a:ext cx="3906112" cy="865174"/>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accent4">
                    <a:lumMod val="75000"/>
                  </a:schemeClr>
                </a:solidFill>
                <a:latin typeface="Arial" panose="020B0604020202020204" pitchFamily="34" charset="0"/>
                <a:cs typeface="Arial" panose="020B0604020202020204" pitchFamily="34" charset="0"/>
              </a:rPr>
              <a:t>Policy</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 cred, uid, owner, mode</a:t>
            </a:r>
          </a:p>
        </p:txBody>
      </p:sp>
      <p:sp>
        <p:nvSpPr>
          <p:cNvPr id="13" name="Rounded Rectangle 12">
            <a:extLst>
              <a:ext uri="{FF2B5EF4-FFF2-40B4-BE49-F238E27FC236}">
                <a16:creationId xmlns:a16="http://schemas.microsoft.com/office/drawing/2014/main" id="{0BE0CB80-42A9-2FC5-BC51-95A5243431F9}"/>
              </a:ext>
            </a:extLst>
          </p:cNvPr>
          <p:cNvSpPr/>
          <p:nvPr/>
        </p:nvSpPr>
        <p:spPr>
          <a:xfrm>
            <a:off x="1195236" y="4119098"/>
            <a:ext cx="3906112" cy="865174"/>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accent6">
                    <a:lumMod val="75000"/>
                  </a:schemeClr>
                </a:solidFill>
                <a:latin typeface="Arial" panose="020B0604020202020204" pitchFamily="34" charset="0"/>
                <a:cs typeface="Arial" panose="020B0604020202020204" pitchFamily="34" charset="0"/>
              </a:rPr>
              <a:t>Enforcement</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 DAC permission check</a:t>
            </a:r>
          </a:p>
        </p:txBody>
      </p:sp>
      <p:sp>
        <p:nvSpPr>
          <p:cNvPr id="14" name="Rounded Rectangle 13">
            <a:extLst>
              <a:ext uri="{FF2B5EF4-FFF2-40B4-BE49-F238E27FC236}">
                <a16:creationId xmlns:a16="http://schemas.microsoft.com/office/drawing/2014/main" id="{80A6FF18-6753-536D-087A-8E236937F865}"/>
              </a:ext>
            </a:extLst>
          </p:cNvPr>
          <p:cNvSpPr/>
          <p:nvPr/>
        </p:nvSpPr>
        <p:spPr>
          <a:xfrm>
            <a:off x="1197296" y="5286950"/>
            <a:ext cx="3906112" cy="865174"/>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accent1"/>
                </a:solidFill>
                <a:latin typeface="Arial" panose="020B0604020202020204" pitchFamily="34" charset="0"/>
                <a:cs typeface="Arial" panose="020B0604020202020204" pitchFamily="34" charset="0"/>
              </a:rPr>
              <a:t>Resource</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 files, fdt, fd, mode, mapping</a:t>
            </a:r>
          </a:p>
        </p:txBody>
      </p:sp>
    </p:spTree>
    <p:extLst>
      <p:ext uri="{BB962C8B-B14F-4D97-AF65-F5344CB8AC3E}">
        <p14:creationId xmlns:p14="http://schemas.microsoft.com/office/powerpoint/2010/main" val="4027008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19" grpId="0"/>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ounded Rectangle 100">
            <a:extLst>
              <a:ext uri="{FF2B5EF4-FFF2-40B4-BE49-F238E27FC236}">
                <a16:creationId xmlns:a16="http://schemas.microsoft.com/office/drawing/2014/main" id="{8B8CA6D9-23B1-A29F-A1E1-91D8765BF498}"/>
              </a:ext>
            </a:extLst>
          </p:cNvPr>
          <p:cNvSpPr/>
          <p:nvPr/>
        </p:nvSpPr>
        <p:spPr>
          <a:xfrm>
            <a:off x="752354" y="2249945"/>
            <a:ext cx="10385038" cy="4315448"/>
          </a:xfrm>
          <a:prstGeom prst="roundRect">
            <a:avLst>
              <a:gd name="adj" fmla="val 5417"/>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latin typeface="Arial" panose="020B0604020202020204" pitchFamily="34" charset="0"/>
                <a:cs typeface="Arial" panose="020B0604020202020204" pitchFamily="34" charset="0"/>
              </a:rPr>
              <a:t> ↳ passed: open file.</a:t>
            </a:r>
            <a:endParaRPr lang="en-KR" dirty="0">
              <a:solidFill>
                <a:schemeClr val="tx1"/>
              </a:solidFill>
              <a:latin typeface="Arial" panose="020B0604020202020204" pitchFamily="34" charset="0"/>
              <a:cs typeface="Arial" panose="020B0604020202020204" pitchFamily="34" charset="0"/>
            </a:endParaRPr>
          </a:p>
        </p:txBody>
      </p:sp>
      <p:grpSp>
        <p:nvGrpSpPr>
          <p:cNvPr id="74" name="Group 73">
            <a:extLst>
              <a:ext uri="{FF2B5EF4-FFF2-40B4-BE49-F238E27FC236}">
                <a16:creationId xmlns:a16="http://schemas.microsoft.com/office/drawing/2014/main" id="{2481503E-A88F-EE1F-10B7-27209C93D0C4}"/>
              </a:ext>
            </a:extLst>
          </p:cNvPr>
          <p:cNvGrpSpPr/>
          <p:nvPr/>
        </p:nvGrpSpPr>
        <p:grpSpPr>
          <a:xfrm>
            <a:off x="8259175" y="3582722"/>
            <a:ext cx="1270729" cy="462269"/>
            <a:chOff x="8259175" y="3582722"/>
            <a:chExt cx="1270729" cy="462269"/>
          </a:xfrm>
        </p:grpSpPr>
        <p:sp>
          <p:nvSpPr>
            <p:cNvPr id="52" name="Freeform 51">
              <a:extLst>
                <a:ext uri="{FF2B5EF4-FFF2-40B4-BE49-F238E27FC236}">
                  <a16:creationId xmlns:a16="http://schemas.microsoft.com/office/drawing/2014/main" id="{C11D0E32-653D-0E89-96DF-14A5B8E28118}"/>
                </a:ext>
              </a:extLst>
            </p:cNvPr>
            <p:cNvSpPr/>
            <p:nvPr/>
          </p:nvSpPr>
          <p:spPr>
            <a:xfrm>
              <a:off x="8259175" y="3594416"/>
              <a:ext cx="245988" cy="450575"/>
            </a:xfrm>
            <a:custGeom>
              <a:avLst/>
              <a:gdLst>
                <a:gd name="connsiteX0" fmla="*/ 0 w 676656"/>
                <a:gd name="connsiteY0" fmla="*/ 0 h 630936"/>
                <a:gd name="connsiteX1" fmla="*/ 146304 w 676656"/>
                <a:gd name="connsiteY1" fmla="*/ 210312 h 630936"/>
                <a:gd name="connsiteX2" fmla="*/ 585216 w 676656"/>
                <a:gd name="connsiteY2" fmla="*/ 365760 h 630936"/>
                <a:gd name="connsiteX3" fmla="*/ 676656 w 676656"/>
                <a:gd name="connsiteY3" fmla="*/ 630936 h 630936"/>
              </a:gdLst>
              <a:ahLst/>
              <a:cxnLst>
                <a:cxn ang="0">
                  <a:pos x="connsiteX0" y="connsiteY0"/>
                </a:cxn>
                <a:cxn ang="0">
                  <a:pos x="connsiteX1" y="connsiteY1"/>
                </a:cxn>
                <a:cxn ang="0">
                  <a:pos x="connsiteX2" y="connsiteY2"/>
                </a:cxn>
                <a:cxn ang="0">
                  <a:pos x="connsiteX3" y="connsiteY3"/>
                </a:cxn>
              </a:cxnLst>
              <a:rect l="l" t="t" r="r" b="b"/>
              <a:pathLst>
                <a:path w="676656" h="630936">
                  <a:moveTo>
                    <a:pt x="0" y="0"/>
                  </a:moveTo>
                  <a:cubicBezTo>
                    <a:pt x="24384" y="74676"/>
                    <a:pt x="48768" y="149352"/>
                    <a:pt x="146304" y="210312"/>
                  </a:cubicBezTo>
                  <a:cubicBezTo>
                    <a:pt x="243840" y="271272"/>
                    <a:pt x="496824" y="295656"/>
                    <a:pt x="585216" y="365760"/>
                  </a:cubicBezTo>
                  <a:cubicBezTo>
                    <a:pt x="673608" y="435864"/>
                    <a:pt x="675132" y="533400"/>
                    <a:pt x="676656" y="630936"/>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p>
          </p:txBody>
        </p:sp>
        <p:sp>
          <p:nvSpPr>
            <p:cNvPr id="53" name="Freeform 52">
              <a:extLst>
                <a:ext uri="{FF2B5EF4-FFF2-40B4-BE49-F238E27FC236}">
                  <a16:creationId xmlns:a16="http://schemas.microsoft.com/office/drawing/2014/main" id="{0152D986-A5BD-6194-0154-020262A0990A}"/>
                </a:ext>
              </a:extLst>
            </p:cNvPr>
            <p:cNvSpPr/>
            <p:nvPr/>
          </p:nvSpPr>
          <p:spPr>
            <a:xfrm flipH="1">
              <a:off x="9023657" y="3582722"/>
              <a:ext cx="506247" cy="450575"/>
            </a:xfrm>
            <a:custGeom>
              <a:avLst/>
              <a:gdLst>
                <a:gd name="connsiteX0" fmla="*/ 0 w 676656"/>
                <a:gd name="connsiteY0" fmla="*/ 0 h 630936"/>
                <a:gd name="connsiteX1" fmla="*/ 146304 w 676656"/>
                <a:gd name="connsiteY1" fmla="*/ 210312 h 630936"/>
                <a:gd name="connsiteX2" fmla="*/ 585216 w 676656"/>
                <a:gd name="connsiteY2" fmla="*/ 365760 h 630936"/>
                <a:gd name="connsiteX3" fmla="*/ 676656 w 676656"/>
                <a:gd name="connsiteY3" fmla="*/ 630936 h 630936"/>
              </a:gdLst>
              <a:ahLst/>
              <a:cxnLst>
                <a:cxn ang="0">
                  <a:pos x="connsiteX0" y="connsiteY0"/>
                </a:cxn>
                <a:cxn ang="0">
                  <a:pos x="connsiteX1" y="connsiteY1"/>
                </a:cxn>
                <a:cxn ang="0">
                  <a:pos x="connsiteX2" y="connsiteY2"/>
                </a:cxn>
                <a:cxn ang="0">
                  <a:pos x="connsiteX3" y="connsiteY3"/>
                </a:cxn>
              </a:cxnLst>
              <a:rect l="l" t="t" r="r" b="b"/>
              <a:pathLst>
                <a:path w="676656" h="630936">
                  <a:moveTo>
                    <a:pt x="0" y="0"/>
                  </a:moveTo>
                  <a:cubicBezTo>
                    <a:pt x="24384" y="74676"/>
                    <a:pt x="48768" y="149352"/>
                    <a:pt x="146304" y="210312"/>
                  </a:cubicBezTo>
                  <a:cubicBezTo>
                    <a:pt x="243840" y="271272"/>
                    <a:pt x="496824" y="295656"/>
                    <a:pt x="585216" y="365760"/>
                  </a:cubicBezTo>
                  <a:cubicBezTo>
                    <a:pt x="673608" y="435864"/>
                    <a:pt x="675132" y="533400"/>
                    <a:pt x="676656" y="630936"/>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p>
          </p:txBody>
        </p:sp>
      </p:grpSp>
      <p:sp>
        <p:nvSpPr>
          <p:cNvPr id="2" name="Title 1">
            <a:extLst>
              <a:ext uri="{FF2B5EF4-FFF2-40B4-BE49-F238E27FC236}">
                <a16:creationId xmlns:a16="http://schemas.microsoft.com/office/drawing/2014/main" id="{F97F1DB3-F016-DA66-4763-A5AF8466D3D2}"/>
              </a:ext>
            </a:extLst>
          </p:cNvPr>
          <p:cNvSpPr>
            <a:spLocks noGrp="1"/>
          </p:cNvSpPr>
          <p:nvPr>
            <p:ph type="title"/>
          </p:nvPr>
        </p:nvSpPr>
        <p:spPr/>
        <p:txBody>
          <a:bodyPr>
            <a:normAutofit/>
          </a:bodyPr>
          <a:lstStyle/>
          <a:p>
            <a:r>
              <a:rPr lang="en-KR" sz="3600" dirty="0"/>
              <a:t>Attack 1: Corrupting Policy</a:t>
            </a:r>
          </a:p>
        </p:txBody>
      </p:sp>
      <p:sp>
        <p:nvSpPr>
          <p:cNvPr id="6" name="Slide Number Placeholder 5">
            <a:extLst>
              <a:ext uri="{FF2B5EF4-FFF2-40B4-BE49-F238E27FC236}">
                <a16:creationId xmlns:a16="http://schemas.microsoft.com/office/drawing/2014/main" id="{02B7C138-CDB9-20BC-7949-41CB010A557F}"/>
              </a:ext>
            </a:extLst>
          </p:cNvPr>
          <p:cNvSpPr>
            <a:spLocks noGrp="1"/>
          </p:cNvSpPr>
          <p:nvPr>
            <p:ph type="sldNum" sz="quarter" idx="12"/>
          </p:nvPr>
        </p:nvSpPr>
        <p:spPr/>
        <p:txBody>
          <a:bodyPr/>
          <a:lstStyle/>
          <a:p>
            <a:fld id="{9ED31AF7-B9C1-7944-AC45-A988640FDEFC}" type="slidenum">
              <a:rPr lang="en-KR" smtClean="0"/>
              <a:t>9</a:t>
            </a:fld>
            <a:endParaRPr lang="en-KR"/>
          </a:p>
        </p:txBody>
      </p:sp>
      <p:sp>
        <p:nvSpPr>
          <p:cNvPr id="5" name="TextBox 4">
            <a:extLst>
              <a:ext uri="{FF2B5EF4-FFF2-40B4-BE49-F238E27FC236}">
                <a16:creationId xmlns:a16="http://schemas.microsoft.com/office/drawing/2014/main" id="{E5BD9478-22F5-D67C-78FD-18636B2A2C8C}"/>
              </a:ext>
            </a:extLst>
          </p:cNvPr>
          <p:cNvSpPr txBox="1"/>
          <p:nvPr/>
        </p:nvSpPr>
        <p:spPr>
          <a:xfrm>
            <a:off x="654317" y="1770261"/>
            <a:ext cx="1670222" cy="400110"/>
          </a:xfrm>
          <a:prstGeom prst="rect">
            <a:avLst/>
          </a:prstGeom>
          <a:noFill/>
        </p:spPr>
        <p:txBody>
          <a:bodyPr wrap="square" rtlCol="0">
            <a:spAutoFit/>
          </a:bodyPr>
          <a:lstStyle/>
          <a:p>
            <a:pPr algn="ctr"/>
            <a:r>
              <a:rPr lang="en-KR" sz="2000" dirty="0">
                <a:latin typeface="Arial" panose="020B0604020202020204" pitchFamily="34" charset="0"/>
                <a:cs typeface="Arial" panose="020B0604020202020204" pitchFamily="34" charset="0"/>
              </a:rPr>
              <a:t>Kernel</a:t>
            </a:r>
          </a:p>
        </p:txBody>
      </p:sp>
      <p:sp>
        <p:nvSpPr>
          <p:cNvPr id="89" name="TextBox 88">
            <a:extLst>
              <a:ext uri="{FF2B5EF4-FFF2-40B4-BE49-F238E27FC236}">
                <a16:creationId xmlns:a16="http://schemas.microsoft.com/office/drawing/2014/main" id="{F519F666-E502-BE27-3C02-48E4E25AB374}"/>
              </a:ext>
            </a:extLst>
          </p:cNvPr>
          <p:cNvSpPr txBox="1"/>
          <p:nvPr/>
        </p:nvSpPr>
        <p:spPr>
          <a:xfrm>
            <a:off x="5357792" y="3960608"/>
            <a:ext cx="5085046" cy="369332"/>
          </a:xfrm>
          <a:prstGeom prst="rect">
            <a:avLst/>
          </a:prstGeom>
          <a:noFill/>
        </p:spPr>
        <p:txBody>
          <a:bodyPr wrap="none" rtlCol="0">
            <a:spAutoFit/>
          </a:bodyPr>
          <a:lstStyle/>
          <a:p>
            <a:pPr algn="l"/>
            <a:r>
              <a:rPr lang="en-KR" b="1" dirty="0">
                <a:solidFill>
                  <a:schemeClr val="accent6">
                    <a:lumMod val="75000"/>
                  </a:schemeClr>
                </a:solidFill>
                <a:latin typeface="Arial" panose="020B0604020202020204" pitchFamily="34" charset="0"/>
                <a:cs typeface="Arial" panose="020B0604020202020204" pitchFamily="34" charset="0"/>
              </a:rPr>
              <a:t>DAC permission check (</a:t>
            </a:r>
            <a:r>
              <a:rPr lang="en-KR" b="1" dirty="0">
                <a:solidFill>
                  <a:srgbClr val="C00000"/>
                </a:solidFill>
                <a:latin typeface="Arial" panose="020B0604020202020204" pitchFamily="34" charset="0"/>
                <a:cs typeface="Arial" panose="020B0604020202020204" pitchFamily="34" charset="0"/>
              </a:rPr>
              <a:t>cred</a:t>
            </a:r>
            <a:r>
              <a:rPr lang="en-KR" b="1" dirty="0">
                <a:solidFill>
                  <a:schemeClr val="accent6">
                    <a:lumMod val="75000"/>
                  </a:schemeClr>
                </a:solidFill>
                <a:latin typeface="Arial" panose="020B0604020202020204" pitchFamily="34" charset="0"/>
                <a:cs typeface="Arial" panose="020B0604020202020204" pitchFamily="34" charset="0"/>
              </a:rPr>
              <a:t>, </a:t>
            </a:r>
            <a:r>
              <a:rPr lang="en-KR" b="1" dirty="0">
                <a:solidFill>
                  <a:srgbClr val="C00000"/>
                </a:solidFill>
                <a:latin typeface="Arial" panose="020B0604020202020204" pitchFamily="34" charset="0"/>
                <a:cs typeface="Arial" panose="020B0604020202020204" pitchFamily="34" charset="0"/>
              </a:rPr>
              <a:t>inode</a:t>
            </a:r>
            <a:r>
              <a:rPr lang="en-KR" b="1" dirty="0">
                <a:solidFill>
                  <a:schemeClr val="accent6">
                    <a:lumMod val="75000"/>
                  </a:schemeClr>
                </a:solidFill>
                <a:latin typeface="Arial" panose="020B0604020202020204" pitchFamily="34" charset="0"/>
                <a:cs typeface="Arial" panose="020B0604020202020204" pitchFamily="34" charset="0"/>
              </a:rPr>
              <a:t>, mode)</a:t>
            </a:r>
          </a:p>
        </p:txBody>
      </p:sp>
      <p:pic>
        <p:nvPicPr>
          <p:cNvPr id="13" name="Picture 12">
            <a:extLst>
              <a:ext uri="{FF2B5EF4-FFF2-40B4-BE49-F238E27FC236}">
                <a16:creationId xmlns:a16="http://schemas.microsoft.com/office/drawing/2014/main" id="{415D4ACD-B7DA-A885-8218-5EEF0FE01F4D}"/>
              </a:ext>
            </a:extLst>
          </p:cNvPr>
          <p:cNvPicPr>
            <a:picLocks noChangeAspect="1"/>
          </p:cNvPicPr>
          <p:nvPr/>
        </p:nvPicPr>
        <p:blipFill>
          <a:blip r:embed="rId3">
            <a:duotone>
              <a:prstClr val="black"/>
              <a:srgbClr val="FF0000">
                <a:tint val="45000"/>
                <a:satMod val="400000"/>
              </a:srgbClr>
            </a:duotone>
            <a:extLst>
              <a:ext uri="{BEBA8EAE-BF5A-486C-A8C5-ECC9F3942E4B}">
                <a14:imgProps xmlns:a14="http://schemas.microsoft.com/office/drawing/2010/main">
                  <a14:imgLayer r:embed="rId4">
                    <a14:imgEffect>
                      <a14:brightnessContrast bright="20000" contrast="20000"/>
                    </a14:imgEffect>
                  </a14:imgLayer>
                </a14:imgProps>
              </a:ext>
            </a:extLst>
          </a:blip>
          <a:stretch>
            <a:fillRect/>
          </a:stretch>
        </p:blipFill>
        <p:spPr>
          <a:xfrm>
            <a:off x="5096287" y="1512511"/>
            <a:ext cx="582527" cy="582527"/>
          </a:xfrm>
          <a:prstGeom prst="rect">
            <a:avLst/>
          </a:prstGeom>
        </p:spPr>
      </p:pic>
      <p:cxnSp>
        <p:nvCxnSpPr>
          <p:cNvPr id="19" name="Straight Arrow Connector 18">
            <a:extLst>
              <a:ext uri="{FF2B5EF4-FFF2-40B4-BE49-F238E27FC236}">
                <a16:creationId xmlns:a16="http://schemas.microsoft.com/office/drawing/2014/main" id="{92D76A09-65FA-B9F0-57AA-2C517187E1F0}"/>
              </a:ext>
            </a:extLst>
          </p:cNvPr>
          <p:cNvCxnSpPr>
            <a:cxnSpLocks/>
          </p:cNvCxnSpPr>
          <p:nvPr/>
        </p:nvCxnSpPr>
        <p:spPr>
          <a:xfrm>
            <a:off x="5384145" y="2122371"/>
            <a:ext cx="0" cy="403838"/>
          </a:xfrm>
          <a:prstGeom prst="straightConnector1">
            <a:avLst/>
          </a:prstGeom>
          <a:ln w="254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1E4482A-8F52-656A-C66E-83065AF12177}"/>
              </a:ext>
            </a:extLst>
          </p:cNvPr>
          <p:cNvSpPr txBox="1"/>
          <p:nvPr/>
        </p:nvSpPr>
        <p:spPr>
          <a:xfrm>
            <a:off x="5755171" y="1743772"/>
            <a:ext cx="4181730" cy="369332"/>
          </a:xfrm>
          <a:prstGeom prst="rect">
            <a:avLst/>
          </a:prstGeom>
          <a:noFill/>
        </p:spPr>
        <p:txBody>
          <a:bodyPr wrap="square" rtlCol="0">
            <a:spAutoFit/>
          </a:bodyPr>
          <a:lstStyle/>
          <a:p>
            <a:pPr algn="l"/>
            <a:r>
              <a:rPr lang="en-KR" dirty="0">
                <a:latin typeface="Arial" panose="020B0604020202020204" pitchFamily="34" charset="0"/>
                <a:cs typeface="Arial" panose="020B0604020202020204" pitchFamily="34" charset="0"/>
              </a:rPr>
              <a:t>open( '/etc/shadow’ , write )</a:t>
            </a:r>
          </a:p>
        </p:txBody>
      </p:sp>
      <p:sp>
        <p:nvSpPr>
          <p:cNvPr id="21" name="TextBox 20">
            <a:extLst>
              <a:ext uri="{FF2B5EF4-FFF2-40B4-BE49-F238E27FC236}">
                <a16:creationId xmlns:a16="http://schemas.microsoft.com/office/drawing/2014/main" id="{9EC58F92-511B-8A35-C401-9AE10FE250FA}"/>
              </a:ext>
            </a:extLst>
          </p:cNvPr>
          <p:cNvSpPr txBox="1"/>
          <p:nvPr/>
        </p:nvSpPr>
        <p:spPr>
          <a:xfrm>
            <a:off x="5489483" y="4365849"/>
            <a:ext cx="5300632" cy="646331"/>
          </a:xfrm>
          <a:prstGeom prst="rect">
            <a:avLst/>
          </a:prstGeom>
          <a:solidFill>
            <a:schemeClr val="bg1"/>
          </a:solidFill>
        </p:spPr>
        <p:txBody>
          <a:bodyPr wrap="square" rtlCol="0">
            <a:spAutoFit/>
          </a:bodyPr>
          <a:lstStyle/>
          <a:p>
            <a:r>
              <a:rPr lang="en-KR" dirty="0">
                <a:latin typeface="Arial" panose="020B0604020202020204" pitchFamily="34" charset="0"/>
                <a:cs typeface="Arial" panose="020B0604020202020204" pitchFamily="34" charset="0"/>
              </a:rPr>
              <a:t> ↳ success: </a:t>
            </a:r>
            <a:r>
              <a:rPr lang="en-KR" b="1" dirty="0">
                <a:solidFill>
                  <a:srgbClr val="C00000"/>
                </a:solidFill>
                <a:latin typeface="Arial" panose="020B0604020202020204" pitchFamily="34" charset="0"/>
                <a:cs typeface="Arial" panose="020B0604020202020204" pitchFamily="34" charset="0"/>
              </a:rPr>
              <a:t>Grant file access</a:t>
            </a:r>
            <a:br>
              <a:rPr lang="en-KR" b="1" dirty="0">
                <a:latin typeface="Arial" panose="020B0604020202020204" pitchFamily="34" charset="0"/>
                <a:cs typeface="Arial" panose="020B0604020202020204" pitchFamily="34" charset="0"/>
              </a:rPr>
            </a:br>
            <a:r>
              <a:rPr lang="en-KR" b="1" dirty="0">
                <a:latin typeface="Arial" panose="020B0604020202020204" pitchFamily="34" charset="0"/>
                <a:cs typeface="Arial" panose="020B0604020202020204" pitchFamily="34" charset="0"/>
              </a:rPr>
              <a:t>	</a:t>
            </a:r>
            <a:r>
              <a:rPr lang="en-KR" dirty="0">
                <a:latin typeface="Arial" panose="020B0604020202020204" pitchFamily="34" charset="0"/>
                <a:cs typeface="Arial" panose="020B0604020202020204" pitchFamily="34" charset="0"/>
              </a:rPr>
              <a:t>by creating </a:t>
            </a:r>
            <a:r>
              <a:rPr lang="en-KR" b="1" dirty="0">
                <a:solidFill>
                  <a:schemeClr val="accent1"/>
                </a:solidFill>
                <a:latin typeface="Arial" panose="020B0604020202020204" pitchFamily="34" charset="0"/>
                <a:cs typeface="Arial" panose="020B0604020202020204" pitchFamily="34" charset="0"/>
              </a:rPr>
              <a:t>a file descriptor &amp; return fd</a:t>
            </a:r>
            <a:endParaRPr lang="en-KR" dirty="0"/>
          </a:p>
        </p:txBody>
      </p:sp>
      <p:grpSp>
        <p:nvGrpSpPr>
          <p:cNvPr id="73" name="Group 72">
            <a:extLst>
              <a:ext uri="{FF2B5EF4-FFF2-40B4-BE49-F238E27FC236}">
                <a16:creationId xmlns:a16="http://schemas.microsoft.com/office/drawing/2014/main" id="{C942C55C-CD6A-44C9-DF84-FCE781E80F60}"/>
              </a:ext>
            </a:extLst>
          </p:cNvPr>
          <p:cNvGrpSpPr/>
          <p:nvPr/>
        </p:nvGrpSpPr>
        <p:grpSpPr>
          <a:xfrm>
            <a:off x="6101156" y="2263484"/>
            <a:ext cx="4191453" cy="1325935"/>
            <a:chOff x="7099700" y="-47349"/>
            <a:chExt cx="4191453" cy="1325935"/>
          </a:xfrm>
        </p:grpSpPr>
        <p:sp>
          <p:nvSpPr>
            <p:cNvPr id="15" name="Rectangle 14">
              <a:extLst>
                <a:ext uri="{FF2B5EF4-FFF2-40B4-BE49-F238E27FC236}">
                  <a16:creationId xmlns:a16="http://schemas.microsoft.com/office/drawing/2014/main" id="{E5266FF6-BDC0-125E-98C5-7BF5ACDE6F99}"/>
                </a:ext>
              </a:extLst>
            </p:cNvPr>
            <p:cNvSpPr/>
            <p:nvPr/>
          </p:nvSpPr>
          <p:spPr>
            <a:xfrm>
              <a:off x="7340211" y="516850"/>
              <a:ext cx="960832" cy="609050"/>
            </a:xfrm>
            <a:prstGeom prst="rect">
              <a:avLst/>
            </a:prstGeom>
            <a:solidFill>
              <a:schemeClr val="bg1"/>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9298AF9E-93C1-DA87-5686-A732F1DC24E9}"/>
                </a:ext>
              </a:extLst>
            </p:cNvPr>
            <p:cNvSpPr/>
            <p:nvPr/>
          </p:nvSpPr>
          <p:spPr>
            <a:xfrm>
              <a:off x="8786077" y="737175"/>
              <a:ext cx="1047941" cy="540212"/>
            </a:xfrm>
            <a:custGeom>
              <a:avLst/>
              <a:gdLst>
                <a:gd name="connsiteX0" fmla="*/ 0 w 1047941"/>
                <a:gd name="connsiteY0" fmla="*/ 0 h 540212"/>
                <a:gd name="connsiteX1" fmla="*/ 513491 w 1047941"/>
                <a:gd name="connsiteY1" fmla="*/ 0 h 540212"/>
                <a:gd name="connsiteX2" fmla="*/ 1047941 w 1047941"/>
                <a:gd name="connsiteY2" fmla="*/ 0 h 540212"/>
                <a:gd name="connsiteX3" fmla="*/ 1047941 w 1047941"/>
                <a:gd name="connsiteY3" fmla="*/ 540212 h 540212"/>
                <a:gd name="connsiteX4" fmla="*/ 513491 w 1047941"/>
                <a:gd name="connsiteY4" fmla="*/ 540212 h 540212"/>
                <a:gd name="connsiteX5" fmla="*/ 0 w 1047941"/>
                <a:gd name="connsiteY5" fmla="*/ 540212 h 540212"/>
                <a:gd name="connsiteX6" fmla="*/ 0 w 1047941"/>
                <a:gd name="connsiteY6" fmla="*/ 0 h 540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941" h="540212" fill="none" extrusionOk="0">
                  <a:moveTo>
                    <a:pt x="0" y="0"/>
                  </a:moveTo>
                  <a:cubicBezTo>
                    <a:pt x="112868" y="9894"/>
                    <a:pt x="392677" y="-24950"/>
                    <a:pt x="513491" y="0"/>
                  </a:cubicBezTo>
                  <a:cubicBezTo>
                    <a:pt x="634305" y="24950"/>
                    <a:pt x="830459" y="15712"/>
                    <a:pt x="1047941" y="0"/>
                  </a:cubicBezTo>
                  <a:cubicBezTo>
                    <a:pt x="1042744" y="111683"/>
                    <a:pt x="1027930" y="420657"/>
                    <a:pt x="1047941" y="540212"/>
                  </a:cubicBezTo>
                  <a:cubicBezTo>
                    <a:pt x="864416" y="535256"/>
                    <a:pt x="707474" y="536672"/>
                    <a:pt x="513491" y="540212"/>
                  </a:cubicBezTo>
                  <a:cubicBezTo>
                    <a:pt x="319508" y="543753"/>
                    <a:pt x="212740" y="544486"/>
                    <a:pt x="0" y="540212"/>
                  </a:cubicBezTo>
                  <a:cubicBezTo>
                    <a:pt x="-2210" y="394696"/>
                    <a:pt x="11010" y="248167"/>
                    <a:pt x="0" y="0"/>
                  </a:cubicBezTo>
                  <a:close/>
                </a:path>
                <a:path w="1047941" h="540212" stroke="0" extrusionOk="0">
                  <a:moveTo>
                    <a:pt x="0" y="0"/>
                  </a:moveTo>
                  <a:cubicBezTo>
                    <a:pt x="220769" y="-10753"/>
                    <a:pt x="289911" y="2633"/>
                    <a:pt x="544929" y="0"/>
                  </a:cubicBezTo>
                  <a:cubicBezTo>
                    <a:pt x="799947" y="-2633"/>
                    <a:pt x="910575" y="14411"/>
                    <a:pt x="1047941" y="0"/>
                  </a:cubicBezTo>
                  <a:cubicBezTo>
                    <a:pt x="1030915" y="185197"/>
                    <a:pt x="1034041" y="378624"/>
                    <a:pt x="1047941" y="540212"/>
                  </a:cubicBezTo>
                  <a:cubicBezTo>
                    <a:pt x="817232" y="556317"/>
                    <a:pt x="689059" y="554502"/>
                    <a:pt x="523971" y="540212"/>
                  </a:cubicBezTo>
                  <a:cubicBezTo>
                    <a:pt x="358883" y="525923"/>
                    <a:pt x="236464" y="525957"/>
                    <a:pt x="0" y="540212"/>
                  </a:cubicBezTo>
                  <a:cubicBezTo>
                    <a:pt x="20353" y="350302"/>
                    <a:pt x="17990" y="201541"/>
                    <a:pt x="0" y="0"/>
                  </a:cubicBezTo>
                  <a:close/>
                </a:path>
              </a:pathLst>
            </a:custGeom>
            <a:solidFill>
              <a:srgbClr val="FFCBCF"/>
            </a:solidFill>
            <a:ln w="25400">
              <a:solidFill>
                <a:schemeClr val="tx1"/>
              </a:solidFill>
              <a:extLst>
                <a:ext uri="{C807C97D-BFC1-408E-A445-0C87EB9F89A2}">
                  <ask:lineSketchStyleProps xmlns:ask="http://schemas.microsoft.com/office/drawing/2018/sketchyshapes" sd="395084079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uid</a:t>
              </a:r>
            </a:p>
          </p:txBody>
        </p:sp>
        <p:sp>
          <p:nvSpPr>
            <p:cNvPr id="18" name="TextBox 17">
              <a:extLst>
                <a:ext uri="{FF2B5EF4-FFF2-40B4-BE49-F238E27FC236}">
                  <a16:creationId xmlns:a16="http://schemas.microsoft.com/office/drawing/2014/main" id="{9CA93FAE-90A5-7D9E-A2B3-160A89833841}"/>
                </a:ext>
              </a:extLst>
            </p:cNvPr>
            <p:cNvSpPr txBox="1"/>
            <p:nvPr/>
          </p:nvSpPr>
          <p:spPr>
            <a:xfrm>
              <a:off x="7313257" y="-47349"/>
              <a:ext cx="1047941" cy="523220"/>
            </a:xfrm>
            <a:prstGeom prst="rect">
              <a:avLst/>
            </a:prstGeom>
            <a:noFill/>
          </p:spPr>
          <p:txBody>
            <a:bodyPr wrap="square">
              <a:spAutoFit/>
            </a:bodyPr>
            <a:lstStyle/>
            <a:p>
              <a:pPr algn="ctr"/>
              <a:r>
                <a:rPr lang="en-KR" sz="1400" dirty="0">
                  <a:solidFill>
                    <a:schemeClr val="tx1"/>
                  </a:solidFill>
                  <a:latin typeface="Arial" panose="020B0604020202020204" pitchFamily="34" charset="0"/>
                  <a:cs typeface="Arial" panose="020B0604020202020204" pitchFamily="34" charset="0"/>
                </a:rPr>
                <a:t>struct task_struct</a:t>
              </a:r>
            </a:p>
          </p:txBody>
        </p:sp>
        <p:sp>
          <p:nvSpPr>
            <p:cNvPr id="69" name="Rectangle 68">
              <a:extLst>
                <a:ext uri="{FF2B5EF4-FFF2-40B4-BE49-F238E27FC236}">
                  <a16:creationId xmlns:a16="http://schemas.microsoft.com/office/drawing/2014/main" id="{CD97D1FF-18DF-3893-FD37-E5A434FBE40D}"/>
                </a:ext>
              </a:extLst>
            </p:cNvPr>
            <p:cNvSpPr/>
            <p:nvPr/>
          </p:nvSpPr>
          <p:spPr>
            <a:xfrm>
              <a:off x="7340211" y="671942"/>
              <a:ext cx="960832" cy="289169"/>
            </a:xfrm>
            <a:custGeom>
              <a:avLst/>
              <a:gdLst>
                <a:gd name="connsiteX0" fmla="*/ 0 w 960832"/>
                <a:gd name="connsiteY0" fmla="*/ 0 h 289169"/>
                <a:gd name="connsiteX1" fmla="*/ 470808 w 960832"/>
                <a:gd name="connsiteY1" fmla="*/ 0 h 289169"/>
                <a:gd name="connsiteX2" fmla="*/ 960832 w 960832"/>
                <a:gd name="connsiteY2" fmla="*/ 0 h 289169"/>
                <a:gd name="connsiteX3" fmla="*/ 960832 w 960832"/>
                <a:gd name="connsiteY3" fmla="*/ 289169 h 289169"/>
                <a:gd name="connsiteX4" fmla="*/ 470808 w 960832"/>
                <a:gd name="connsiteY4" fmla="*/ 289169 h 289169"/>
                <a:gd name="connsiteX5" fmla="*/ 0 w 960832"/>
                <a:gd name="connsiteY5" fmla="*/ 289169 h 289169"/>
                <a:gd name="connsiteX6" fmla="*/ 0 w 960832"/>
                <a:gd name="connsiteY6" fmla="*/ 0 h 289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0832" h="289169" fill="none" extrusionOk="0">
                  <a:moveTo>
                    <a:pt x="0" y="0"/>
                  </a:moveTo>
                  <a:cubicBezTo>
                    <a:pt x="94888" y="15014"/>
                    <a:pt x="288177" y="-21768"/>
                    <a:pt x="470808" y="0"/>
                  </a:cubicBezTo>
                  <a:cubicBezTo>
                    <a:pt x="653439" y="21768"/>
                    <a:pt x="770683" y="13068"/>
                    <a:pt x="960832" y="0"/>
                  </a:cubicBezTo>
                  <a:cubicBezTo>
                    <a:pt x="952878" y="112098"/>
                    <a:pt x="959291" y="187587"/>
                    <a:pt x="960832" y="289169"/>
                  </a:cubicBezTo>
                  <a:cubicBezTo>
                    <a:pt x="768001" y="301551"/>
                    <a:pt x="640210" y="287147"/>
                    <a:pt x="470808" y="289169"/>
                  </a:cubicBezTo>
                  <a:cubicBezTo>
                    <a:pt x="301406" y="291191"/>
                    <a:pt x="208146" y="266122"/>
                    <a:pt x="0" y="289169"/>
                  </a:cubicBezTo>
                  <a:cubicBezTo>
                    <a:pt x="4588" y="169610"/>
                    <a:pt x="2570" y="73993"/>
                    <a:pt x="0" y="0"/>
                  </a:cubicBezTo>
                  <a:close/>
                </a:path>
                <a:path w="960832" h="289169" stroke="0" extrusionOk="0">
                  <a:moveTo>
                    <a:pt x="0" y="0"/>
                  </a:moveTo>
                  <a:cubicBezTo>
                    <a:pt x="165845" y="-11729"/>
                    <a:pt x="315119" y="-11178"/>
                    <a:pt x="499633" y="0"/>
                  </a:cubicBezTo>
                  <a:cubicBezTo>
                    <a:pt x="684147" y="11178"/>
                    <a:pt x="738809" y="-12717"/>
                    <a:pt x="960832" y="0"/>
                  </a:cubicBezTo>
                  <a:cubicBezTo>
                    <a:pt x="951228" y="112509"/>
                    <a:pt x="963128" y="190234"/>
                    <a:pt x="960832" y="289169"/>
                  </a:cubicBezTo>
                  <a:cubicBezTo>
                    <a:pt x="839404" y="265704"/>
                    <a:pt x="682814" y="274932"/>
                    <a:pt x="480416" y="289169"/>
                  </a:cubicBezTo>
                  <a:cubicBezTo>
                    <a:pt x="278018" y="303406"/>
                    <a:pt x="166339" y="284518"/>
                    <a:pt x="0" y="289169"/>
                  </a:cubicBezTo>
                  <a:cubicBezTo>
                    <a:pt x="-2256" y="155779"/>
                    <a:pt x="8602" y="100071"/>
                    <a:pt x="0" y="0"/>
                  </a:cubicBezTo>
                  <a:close/>
                </a:path>
              </a:pathLst>
            </a:custGeom>
            <a:solidFill>
              <a:srgbClr val="FFCBCF"/>
            </a:solidFill>
            <a:ln w="25400">
              <a:solidFill>
                <a:schemeClr val="tx1"/>
              </a:solidFill>
              <a:extLst>
                <a:ext uri="{C807C97D-BFC1-408E-A445-0C87EB9F89A2}">
                  <ask:lineSketchStyleProps xmlns:ask="http://schemas.microsoft.com/office/drawing/2018/sketchyshapes" sd="395084079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cred</a:t>
              </a:r>
            </a:p>
          </p:txBody>
        </p:sp>
        <p:cxnSp>
          <p:nvCxnSpPr>
            <p:cNvPr id="71" name="Straight Arrow Connector 70">
              <a:extLst>
                <a:ext uri="{FF2B5EF4-FFF2-40B4-BE49-F238E27FC236}">
                  <a16:creationId xmlns:a16="http://schemas.microsoft.com/office/drawing/2014/main" id="{BAF27F31-8A3D-8859-593B-AD67C121417A}"/>
                </a:ext>
              </a:extLst>
            </p:cNvPr>
            <p:cNvCxnSpPr>
              <a:cxnSpLocks/>
            </p:cNvCxnSpPr>
            <p:nvPr/>
          </p:nvCxnSpPr>
          <p:spPr>
            <a:xfrm>
              <a:off x="8301043" y="816527"/>
              <a:ext cx="47599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D678567C-21AC-B5E0-635D-5585E25B71B5}"/>
                </a:ext>
              </a:extLst>
            </p:cNvPr>
            <p:cNvSpPr txBox="1"/>
            <p:nvPr/>
          </p:nvSpPr>
          <p:spPr>
            <a:xfrm>
              <a:off x="8803548" y="383864"/>
              <a:ext cx="1042334" cy="307777"/>
            </a:xfrm>
            <a:prstGeom prst="rect">
              <a:avLst/>
            </a:prstGeom>
            <a:noFill/>
          </p:spPr>
          <p:txBody>
            <a:bodyPr wrap="square" rtlCol="0">
              <a:spAutoFit/>
            </a:bodyPr>
            <a:lstStyle/>
            <a:p>
              <a:pPr algn="l"/>
              <a:r>
                <a:rPr lang="en-KR" sz="1400" dirty="0">
                  <a:latin typeface="Arial" panose="020B0604020202020204" pitchFamily="34" charset="0"/>
                  <a:cs typeface="Arial" panose="020B0604020202020204" pitchFamily="34" charset="0"/>
                </a:rPr>
                <a:t>struct cred</a:t>
              </a:r>
            </a:p>
          </p:txBody>
        </p:sp>
        <p:sp>
          <p:nvSpPr>
            <p:cNvPr id="81" name="Rectangle 80">
              <a:extLst>
                <a:ext uri="{FF2B5EF4-FFF2-40B4-BE49-F238E27FC236}">
                  <a16:creationId xmlns:a16="http://schemas.microsoft.com/office/drawing/2014/main" id="{08CDC389-3D36-5B4F-9F1B-0E62DF640543}"/>
                </a:ext>
              </a:extLst>
            </p:cNvPr>
            <p:cNvSpPr/>
            <p:nvPr/>
          </p:nvSpPr>
          <p:spPr>
            <a:xfrm>
              <a:off x="10083571" y="736667"/>
              <a:ext cx="979588" cy="541919"/>
            </a:xfrm>
            <a:custGeom>
              <a:avLst/>
              <a:gdLst>
                <a:gd name="connsiteX0" fmla="*/ 0 w 979588"/>
                <a:gd name="connsiteY0" fmla="*/ 0 h 541919"/>
                <a:gd name="connsiteX1" fmla="*/ 479998 w 979588"/>
                <a:gd name="connsiteY1" fmla="*/ 0 h 541919"/>
                <a:gd name="connsiteX2" fmla="*/ 979588 w 979588"/>
                <a:gd name="connsiteY2" fmla="*/ 0 h 541919"/>
                <a:gd name="connsiteX3" fmla="*/ 979588 w 979588"/>
                <a:gd name="connsiteY3" fmla="*/ 541919 h 541919"/>
                <a:gd name="connsiteX4" fmla="*/ 479998 w 979588"/>
                <a:gd name="connsiteY4" fmla="*/ 541919 h 541919"/>
                <a:gd name="connsiteX5" fmla="*/ 0 w 979588"/>
                <a:gd name="connsiteY5" fmla="*/ 541919 h 541919"/>
                <a:gd name="connsiteX6" fmla="*/ 0 w 979588"/>
                <a:gd name="connsiteY6" fmla="*/ 0 h 541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9588" h="541919" fill="none" extrusionOk="0">
                  <a:moveTo>
                    <a:pt x="0" y="0"/>
                  </a:moveTo>
                  <a:cubicBezTo>
                    <a:pt x="176289" y="1379"/>
                    <a:pt x="243796" y="-8149"/>
                    <a:pt x="479998" y="0"/>
                  </a:cubicBezTo>
                  <a:cubicBezTo>
                    <a:pt x="716200" y="8149"/>
                    <a:pt x="806798" y="23482"/>
                    <a:pt x="979588" y="0"/>
                  </a:cubicBezTo>
                  <a:cubicBezTo>
                    <a:pt x="1001348" y="159018"/>
                    <a:pt x="974351" y="321862"/>
                    <a:pt x="979588" y="541919"/>
                  </a:cubicBezTo>
                  <a:cubicBezTo>
                    <a:pt x="770747" y="563927"/>
                    <a:pt x="582273" y="547745"/>
                    <a:pt x="479998" y="541919"/>
                  </a:cubicBezTo>
                  <a:cubicBezTo>
                    <a:pt x="377723" y="536094"/>
                    <a:pt x="134473" y="527507"/>
                    <a:pt x="0" y="541919"/>
                  </a:cubicBezTo>
                  <a:cubicBezTo>
                    <a:pt x="-2361" y="304154"/>
                    <a:pt x="-11651" y="225132"/>
                    <a:pt x="0" y="0"/>
                  </a:cubicBezTo>
                  <a:close/>
                </a:path>
                <a:path w="979588" h="541919" stroke="0" extrusionOk="0">
                  <a:moveTo>
                    <a:pt x="0" y="0"/>
                  </a:moveTo>
                  <a:cubicBezTo>
                    <a:pt x="181089" y="-11988"/>
                    <a:pt x="341921" y="2957"/>
                    <a:pt x="509386" y="0"/>
                  </a:cubicBezTo>
                  <a:cubicBezTo>
                    <a:pt x="676851" y="-2957"/>
                    <a:pt x="800339" y="16852"/>
                    <a:pt x="979588" y="0"/>
                  </a:cubicBezTo>
                  <a:cubicBezTo>
                    <a:pt x="981274" y="173007"/>
                    <a:pt x="958183" y="280492"/>
                    <a:pt x="979588" y="541919"/>
                  </a:cubicBezTo>
                  <a:cubicBezTo>
                    <a:pt x="801201" y="545593"/>
                    <a:pt x="692256" y="550575"/>
                    <a:pt x="489794" y="541919"/>
                  </a:cubicBezTo>
                  <a:cubicBezTo>
                    <a:pt x="287332" y="533263"/>
                    <a:pt x="118959" y="557294"/>
                    <a:pt x="0" y="541919"/>
                  </a:cubicBezTo>
                  <a:cubicBezTo>
                    <a:pt x="-6999" y="319766"/>
                    <a:pt x="18219" y="266376"/>
                    <a:pt x="0" y="0"/>
                  </a:cubicBezTo>
                  <a:close/>
                </a:path>
              </a:pathLst>
            </a:custGeom>
            <a:solidFill>
              <a:srgbClr val="FFCBCF"/>
            </a:solidFill>
            <a:ln w="25400">
              <a:solidFill>
                <a:schemeClr val="tx1"/>
              </a:solidFill>
              <a:extLst>
                <a:ext uri="{C807C97D-BFC1-408E-A445-0C87EB9F89A2}">
                  <ask:lineSketchStyleProps xmlns:ask="http://schemas.microsoft.com/office/drawing/2018/sketchyshapes" sd="395084079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owner mode</a:t>
              </a:r>
            </a:p>
          </p:txBody>
        </p:sp>
        <p:sp>
          <p:nvSpPr>
            <p:cNvPr id="82" name="TextBox 81">
              <a:extLst>
                <a:ext uri="{FF2B5EF4-FFF2-40B4-BE49-F238E27FC236}">
                  <a16:creationId xmlns:a16="http://schemas.microsoft.com/office/drawing/2014/main" id="{736F0BE2-7A30-8957-FAE7-44340CE2DFDE}"/>
                </a:ext>
              </a:extLst>
            </p:cNvPr>
            <p:cNvSpPr txBox="1"/>
            <p:nvPr/>
          </p:nvSpPr>
          <p:spPr>
            <a:xfrm>
              <a:off x="10011551" y="383356"/>
              <a:ext cx="1117929" cy="307777"/>
            </a:xfrm>
            <a:prstGeom prst="rect">
              <a:avLst/>
            </a:prstGeom>
            <a:noFill/>
          </p:spPr>
          <p:txBody>
            <a:bodyPr wrap="square" rtlCol="0">
              <a:spAutoFit/>
            </a:bodyPr>
            <a:lstStyle/>
            <a:p>
              <a:pPr algn="l"/>
              <a:r>
                <a:rPr lang="en-KR" sz="1400" dirty="0">
                  <a:latin typeface="Arial" panose="020B0604020202020204" pitchFamily="34" charset="0"/>
                  <a:cs typeface="Arial" panose="020B0604020202020204" pitchFamily="34" charset="0"/>
                </a:rPr>
                <a:t>struct inode</a:t>
              </a:r>
            </a:p>
          </p:txBody>
        </p:sp>
        <p:sp>
          <p:nvSpPr>
            <p:cNvPr id="23" name="Explosion 1 22">
              <a:extLst>
                <a:ext uri="{FF2B5EF4-FFF2-40B4-BE49-F238E27FC236}">
                  <a16:creationId xmlns:a16="http://schemas.microsoft.com/office/drawing/2014/main" id="{2403B501-426B-B008-E085-102037AF451D}"/>
                </a:ext>
              </a:extLst>
            </p:cNvPr>
            <p:cNvSpPr/>
            <p:nvPr/>
          </p:nvSpPr>
          <p:spPr>
            <a:xfrm>
              <a:off x="7099700" y="521286"/>
              <a:ext cx="354962" cy="362336"/>
            </a:xfrm>
            <a:prstGeom prst="irregularSeal1">
              <a:avLst/>
            </a:prstGeom>
            <a:solidFill>
              <a:srgbClr val="FFCBC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24" name="Explosion 1 23">
              <a:extLst>
                <a:ext uri="{FF2B5EF4-FFF2-40B4-BE49-F238E27FC236}">
                  <a16:creationId xmlns:a16="http://schemas.microsoft.com/office/drawing/2014/main" id="{6B681FB8-0BD0-0F53-8258-FA20C0C3348C}"/>
                </a:ext>
              </a:extLst>
            </p:cNvPr>
            <p:cNvSpPr/>
            <p:nvPr/>
          </p:nvSpPr>
          <p:spPr>
            <a:xfrm>
              <a:off x="9616677" y="579639"/>
              <a:ext cx="354962" cy="362336"/>
            </a:xfrm>
            <a:prstGeom prst="irregularSeal1">
              <a:avLst/>
            </a:prstGeom>
            <a:solidFill>
              <a:srgbClr val="FFCBC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25" name="Explosion 1 24">
              <a:extLst>
                <a:ext uri="{FF2B5EF4-FFF2-40B4-BE49-F238E27FC236}">
                  <a16:creationId xmlns:a16="http://schemas.microsoft.com/office/drawing/2014/main" id="{AB4E470B-EA3F-71B8-E9B1-23A80BD6462B}"/>
                </a:ext>
              </a:extLst>
            </p:cNvPr>
            <p:cNvSpPr/>
            <p:nvPr/>
          </p:nvSpPr>
          <p:spPr>
            <a:xfrm>
              <a:off x="10936191" y="579639"/>
              <a:ext cx="354962" cy="362336"/>
            </a:xfrm>
            <a:prstGeom prst="irregularSeal1">
              <a:avLst/>
            </a:prstGeom>
            <a:solidFill>
              <a:srgbClr val="FFCBC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grpSp>
      <p:sp>
        <p:nvSpPr>
          <p:cNvPr id="54" name="TextBox 53">
            <a:extLst>
              <a:ext uri="{FF2B5EF4-FFF2-40B4-BE49-F238E27FC236}">
                <a16:creationId xmlns:a16="http://schemas.microsoft.com/office/drawing/2014/main" id="{D88D0666-01FF-1244-E1D9-869751B5AC48}"/>
              </a:ext>
            </a:extLst>
          </p:cNvPr>
          <p:cNvSpPr txBox="1"/>
          <p:nvPr/>
        </p:nvSpPr>
        <p:spPr>
          <a:xfrm>
            <a:off x="5755171" y="1419681"/>
            <a:ext cx="5275502" cy="369332"/>
          </a:xfrm>
          <a:prstGeom prst="rect">
            <a:avLst/>
          </a:prstGeom>
          <a:noFill/>
        </p:spPr>
        <p:txBody>
          <a:bodyPr wrap="square" rtlCol="0">
            <a:spAutoFit/>
          </a:bodyPr>
          <a:lstStyle/>
          <a:p>
            <a:pPr algn="l"/>
            <a:r>
              <a:rPr lang="en-KR" b="1" dirty="0">
                <a:solidFill>
                  <a:srgbClr val="C00000"/>
                </a:solidFill>
                <a:latin typeface="Arial" panose="020B0604020202020204" pitchFamily="34" charset="0"/>
                <a:cs typeface="Arial" panose="020B0604020202020204" pitchFamily="34" charset="0"/>
              </a:rPr>
              <a:t>Vulnerable SYSCALLs</a:t>
            </a:r>
          </a:p>
        </p:txBody>
      </p:sp>
      <p:grpSp>
        <p:nvGrpSpPr>
          <p:cNvPr id="35" name="Group 34">
            <a:extLst>
              <a:ext uri="{FF2B5EF4-FFF2-40B4-BE49-F238E27FC236}">
                <a16:creationId xmlns:a16="http://schemas.microsoft.com/office/drawing/2014/main" id="{6B72916D-97C7-5A59-CCF7-A4642CD18EBA}"/>
              </a:ext>
            </a:extLst>
          </p:cNvPr>
          <p:cNvGrpSpPr/>
          <p:nvPr/>
        </p:nvGrpSpPr>
        <p:grpSpPr>
          <a:xfrm>
            <a:off x="5678814" y="5130089"/>
            <a:ext cx="4992352" cy="1208528"/>
            <a:chOff x="5919239" y="5245134"/>
            <a:chExt cx="4992352" cy="1208528"/>
          </a:xfrm>
        </p:grpSpPr>
        <p:sp>
          <p:nvSpPr>
            <p:cNvPr id="36" name="Rectangle 35">
              <a:extLst>
                <a:ext uri="{FF2B5EF4-FFF2-40B4-BE49-F238E27FC236}">
                  <a16:creationId xmlns:a16="http://schemas.microsoft.com/office/drawing/2014/main" id="{3A2C4113-ABDB-E519-8186-097309B71B57}"/>
                </a:ext>
              </a:extLst>
            </p:cNvPr>
            <p:cNvSpPr/>
            <p:nvPr/>
          </p:nvSpPr>
          <p:spPr>
            <a:xfrm>
              <a:off x="9932003" y="5761895"/>
              <a:ext cx="979588" cy="594455"/>
            </a:xfrm>
            <a:prstGeom prst="rect">
              <a:avLst/>
            </a:prstGeom>
            <a:solidFill>
              <a:schemeClr val="accent5">
                <a:lumMod val="20000"/>
                <a:lumOff val="8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mode</a:t>
              </a:r>
            </a:p>
            <a:p>
              <a:pPr algn="ctr"/>
              <a:r>
                <a:rPr lang="en-KR" sz="1400" dirty="0">
                  <a:solidFill>
                    <a:schemeClr val="tx1"/>
                  </a:solidFill>
                  <a:latin typeface="Arial" panose="020B0604020202020204" pitchFamily="34" charset="0"/>
                  <a:cs typeface="Arial" panose="020B0604020202020204" pitchFamily="34" charset="0"/>
                </a:rPr>
                <a:t>mapping</a:t>
              </a:r>
            </a:p>
          </p:txBody>
        </p:sp>
        <p:sp>
          <p:nvSpPr>
            <p:cNvPr id="37" name="TextBox 36">
              <a:extLst>
                <a:ext uri="{FF2B5EF4-FFF2-40B4-BE49-F238E27FC236}">
                  <a16:creationId xmlns:a16="http://schemas.microsoft.com/office/drawing/2014/main" id="{5301957D-9458-E59C-E7AB-B211E64F5D69}"/>
                </a:ext>
              </a:extLst>
            </p:cNvPr>
            <p:cNvSpPr txBox="1"/>
            <p:nvPr/>
          </p:nvSpPr>
          <p:spPr>
            <a:xfrm>
              <a:off x="9922895" y="5427813"/>
              <a:ext cx="979589" cy="307777"/>
            </a:xfrm>
            <a:prstGeom prst="rect">
              <a:avLst/>
            </a:prstGeom>
            <a:noFill/>
          </p:spPr>
          <p:txBody>
            <a:bodyPr wrap="square" rtlCol="0">
              <a:spAutoFit/>
            </a:bodyPr>
            <a:lstStyle/>
            <a:p>
              <a:pPr algn="ctr"/>
              <a:r>
                <a:rPr lang="en-KR" sz="1400" dirty="0">
                  <a:latin typeface="Arial" panose="020B0604020202020204" pitchFamily="34" charset="0"/>
                  <a:cs typeface="Arial" panose="020B0604020202020204" pitchFamily="34" charset="0"/>
                </a:rPr>
                <a:t>struct file</a:t>
              </a:r>
            </a:p>
          </p:txBody>
        </p:sp>
        <p:sp>
          <p:nvSpPr>
            <p:cNvPr id="38" name="Rectangle 37">
              <a:extLst>
                <a:ext uri="{FF2B5EF4-FFF2-40B4-BE49-F238E27FC236}">
                  <a16:creationId xmlns:a16="http://schemas.microsoft.com/office/drawing/2014/main" id="{DCAEDBDA-BEF5-A15F-BE35-9262618E4D8A}"/>
                </a:ext>
              </a:extLst>
            </p:cNvPr>
            <p:cNvSpPr/>
            <p:nvPr/>
          </p:nvSpPr>
          <p:spPr>
            <a:xfrm>
              <a:off x="5982352" y="5805187"/>
              <a:ext cx="960832" cy="609050"/>
            </a:xfrm>
            <a:prstGeom prst="rect">
              <a:avLst/>
            </a:prstGeom>
            <a:solidFill>
              <a:schemeClr val="bg1"/>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6B7C6F7E-DB94-3494-F1F3-3EA9D58D3B49}"/>
                </a:ext>
              </a:extLst>
            </p:cNvPr>
            <p:cNvSpPr txBox="1"/>
            <p:nvPr/>
          </p:nvSpPr>
          <p:spPr>
            <a:xfrm>
              <a:off x="5919239" y="5306804"/>
              <a:ext cx="1047941" cy="523220"/>
            </a:xfrm>
            <a:prstGeom prst="rect">
              <a:avLst/>
            </a:prstGeom>
            <a:noFill/>
          </p:spPr>
          <p:txBody>
            <a:bodyPr wrap="square">
              <a:spAutoFit/>
            </a:bodyPr>
            <a:lstStyle/>
            <a:p>
              <a:pPr algn="ctr"/>
              <a:r>
                <a:rPr lang="en-KR" sz="1400" dirty="0">
                  <a:solidFill>
                    <a:schemeClr val="tx1"/>
                  </a:solidFill>
                  <a:latin typeface="Arial" panose="020B0604020202020204" pitchFamily="34" charset="0"/>
                  <a:cs typeface="Arial" panose="020B0604020202020204" pitchFamily="34" charset="0"/>
                </a:rPr>
                <a:t>struct task_struct</a:t>
              </a:r>
            </a:p>
          </p:txBody>
        </p:sp>
        <p:sp>
          <p:nvSpPr>
            <p:cNvPr id="40" name="Rectangle 39">
              <a:extLst>
                <a:ext uri="{FF2B5EF4-FFF2-40B4-BE49-F238E27FC236}">
                  <a16:creationId xmlns:a16="http://schemas.microsoft.com/office/drawing/2014/main" id="{BC40947F-E1FF-2F05-6EAB-B9C3C5AEA13B}"/>
                </a:ext>
              </a:extLst>
            </p:cNvPr>
            <p:cNvSpPr/>
            <p:nvPr/>
          </p:nvSpPr>
          <p:spPr>
            <a:xfrm>
              <a:off x="5982352" y="5919073"/>
              <a:ext cx="960832" cy="289169"/>
            </a:xfrm>
            <a:prstGeom prst="rect">
              <a:avLst/>
            </a:prstGeom>
            <a:solidFill>
              <a:schemeClr val="accent5">
                <a:lumMod val="20000"/>
                <a:lumOff val="8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files</a:t>
              </a:r>
            </a:p>
          </p:txBody>
        </p:sp>
        <p:sp>
          <p:nvSpPr>
            <p:cNvPr id="41" name="Rectangle 40">
              <a:extLst>
                <a:ext uri="{FF2B5EF4-FFF2-40B4-BE49-F238E27FC236}">
                  <a16:creationId xmlns:a16="http://schemas.microsoft.com/office/drawing/2014/main" id="{EE188813-0DD6-2B4E-7030-03282F1CDFE6}"/>
                </a:ext>
              </a:extLst>
            </p:cNvPr>
            <p:cNvSpPr/>
            <p:nvPr/>
          </p:nvSpPr>
          <p:spPr>
            <a:xfrm>
              <a:off x="7328318" y="5825257"/>
              <a:ext cx="960832" cy="609050"/>
            </a:xfrm>
            <a:prstGeom prst="rect">
              <a:avLst/>
            </a:prstGeom>
            <a:solidFill>
              <a:schemeClr val="bg1"/>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42" name="Rectangle 41">
              <a:extLst>
                <a:ext uri="{FF2B5EF4-FFF2-40B4-BE49-F238E27FC236}">
                  <a16:creationId xmlns:a16="http://schemas.microsoft.com/office/drawing/2014/main" id="{A1277202-3255-27F2-D2E0-5402CEEC6546}"/>
                </a:ext>
              </a:extLst>
            </p:cNvPr>
            <p:cNvSpPr/>
            <p:nvPr/>
          </p:nvSpPr>
          <p:spPr>
            <a:xfrm>
              <a:off x="7328318" y="5996017"/>
              <a:ext cx="960832" cy="269378"/>
            </a:xfrm>
            <a:prstGeom prst="rect">
              <a:avLst/>
            </a:prstGeom>
            <a:solidFill>
              <a:schemeClr val="accent5">
                <a:lumMod val="20000"/>
                <a:lumOff val="8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fdt</a:t>
              </a:r>
            </a:p>
          </p:txBody>
        </p:sp>
        <p:sp>
          <p:nvSpPr>
            <p:cNvPr id="43" name="TextBox 42">
              <a:extLst>
                <a:ext uri="{FF2B5EF4-FFF2-40B4-BE49-F238E27FC236}">
                  <a16:creationId xmlns:a16="http://schemas.microsoft.com/office/drawing/2014/main" id="{30263844-D302-B371-2B38-88013E2F640A}"/>
                </a:ext>
              </a:extLst>
            </p:cNvPr>
            <p:cNvSpPr txBox="1"/>
            <p:nvPr/>
          </p:nvSpPr>
          <p:spPr>
            <a:xfrm>
              <a:off x="7203428" y="5245134"/>
              <a:ext cx="1207734" cy="523220"/>
            </a:xfrm>
            <a:prstGeom prst="rect">
              <a:avLst/>
            </a:prstGeom>
            <a:noFill/>
          </p:spPr>
          <p:txBody>
            <a:bodyPr wrap="square">
              <a:spAutoFit/>
            </a:bodyPr>
            <a:lstStyle/>
            <a:p>
              <a:pPr algn="ctr"/>
              <a:r>
                <a:rPr lang="en-KR" sz="1400" dirty="0">
                  <a:solidFill>
                    <a:schemeClr val="tx1"/>
                  </a:solidFill>
                  <a:latin typeface="Arial" panose="020B0604020202020204" pitchFamily="34" charset="0"/>
                  <a:cs typeface="Arial" panose="020B0604020202020204" pitchFamily="34" charset="0"/>
                </a:rPr>
                <a:t>struct</a:t>
              </a:r>
            </a:p>
            <a:p>
              <a:pPr algn="ctr"/>
              <a:r>
                <a:rPr lang="en-KR" sz="1400" dirty="0">
                  <a:latin typeface="Arial" panose="020B0604020202020204" pitchFamily="34" charset="0"/>
                  <a:cs typeface="Arial" panose="020B0604020202020204" pitchFamily="34" charset="0"/>
                </a:rPr>
                <a:t>files_struct</a:t>
              </a:r>
              <a:endParaRPr lang="en-KR" sz="1400" dirty="0">
                <a:solidFill>
                  <a:schemeClr val="tx1"/>
                </a:solidFill>
                <a:latin typeface="Arial" panose="020B0604020202020204" pitchFamily="34" charset="0"/>
                <a:cs typeface="Arial" panose="020B0604020202020204" pitchFamily="34" charset="0"/>
              </a:endParaRPr>
            </a:p>
          </p:txBody>
        </p:sp>
        <p:sp>
          <p:nvSpPr>
            <p:cNvPr id="44" name="Rectangle 43">
              <a:extLst>
                <a:ext uri="{FF2B5EF4-FFF2-40B4-BE49-F238E27FC236}">
                  <a16:creationId xmlns:a16="http://schemas.microsoft.com/office/drawing/2014/main" id="{D3AC382F-5C5A-62ED-CE0D-4BD5CED5DBCC}"/>
                </a:ext>
              </a:extLst>
            </p:cNvPr>
            <p:cNvSpPr/>
            <p:nvPr/>
          </p:nvSpPr>
          <p:spPr>
            <a:xfrm>
              <a:off x="8657232" y="5844612"/>
              <a:ext cx="960832" cy="609050"/>
            </a:xfrm>
            <a:prstGeom prst="rect">
              <a:avLst/>
            </a:prstGeom>
            <a:solidFill>
              <a:schemeClr val="bg1"/>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45" name="Rectangle 44">
              <a:extLst>
                <a:ext uri="{FF2B5EF4-FFF2-40B4-BE49-F238E27FC236}">
                  <a16:creationId xmlns:a16="http://schemas.microsoft.com/office/drawing/2014/main" id="{6BEB61A0-36B7-316D-1F00-7D297DD47F3D}"/>
                </a:ext>
              </a:extLst>
            </p:cNvPr>
            <p:cNvSpPr/>
            <p:nvPr/>
          </p:nvSpPr>
          <p:spPr>
            <a:xfrm>
              <a:off x="8657232" y="6007539"/>
              <a:ext cx="960832" cy="289169"/>
            </a:xfrm>
            <a:prstGeom prst="rect">
              <a:avLst/>
            </a:prstGeom>
            <a:solidFill>
              <a:schemeClr val="accent5">
                <a:lumMod val="20000"/>
                <a:lumOff val="8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fd</a:t>
              </a:r>
            </a:p>
          </p:txBody>
        </p:sp>
        <p:sp>
          <p:nvSpPr>
            <p:cNvPr id="46" name="TextBox 45">
              <a:extLst>
                <a:ext uri="{FF2B5EF4-FFF2-40B4-BE49-F238E27FC236}">
                  <a16:creationId xmlns:a16="http://schemas.microsoft.com/office/drawing/2014/main" id="{E1BF6F31-C591-EC39-EB5F-AD5D7057144A}"/>
                </a:ext>
              </a:extLst>
            </p:cNvPr>
            <p:cNvSpPr txBox="1"/>
            <p:nvPr/>
          </p:nvSpPr>
          <p:spPr>
            <a:xfrm>
              <a:off x="8519504" y="5347942"/>
              <a:ext cx="1207734" cy="523220"/>
            </a:xfrm>
            <a:prstGeom prst="rect">
              <a:avLst/>
            </a:prstGeom>
            <a:noFill/>
          </p:spPr>
          <p:txBody>
            <a:bodyPr wrap="square">
              <a:spAutoFit/>
            </a:bodyPr>
            <a:lstStyle/>
            <a:p>
              <a:pPr algn="ctr"/>
              <a:r>
                <a:rPr lang="en-KR" sz="1400" dirty="0">
                  <a:solidFill>
                    <a:schemeClr val="tx1"/>
                  </a:solidFill>
                  <a:latin typeface="Arial" panose="020B0604020202020204" pitchFamily="34" charset="0"/>
                  <a:cs typeface="Arial" panose="020B0604020202020204" pitchFamily="34" charset="0"/>
                </a:rPr>
                <a:t>struct</a:t>
              </a:r>
            </a:p>
            <a:p>
              <a:pPr algn="ctr"/>
              <a:r>
                <a:rPr lang="en-KR" sz="1400" dirty="0">
                  <a:latin typeface="Arial" panose="020B0604020202020204" pitchFamily="34" charset="0"/>
                  <a:cs typeface="Arial" panose="020B0604020202020204" pitchFamily="34" charset="0"/>
                </a:rPr>
                <a:t>fdtable</a:t>
              </a:r>
              <a:endParaRPr lang="en-KR" sz="1400" dirty="0">
                <a:solidFill>
                  <a:schemeClr val="tx1"/>
                </a:solidFill>
                <a:latin typeface="Arial" panose="020B0604020202020204" pitchFamily="34" charset="0"/>
                <a:cs typeface="Arial" panose="020B0604020202020204" pitchFamily="34" charset="0"/>
              </a:endParaRPr>
            </a:p>
          </p:txBody>
        </p:sp>
        <p:cxnSp>
          <p:nvCxnSpPr>
            <p:cNvPr id="47" name="Straight Arrow Connector 46">
              <a:extLst>
                <a:ext uri="{FF2B5EF4-FFF2-40B4-BE49-F238E27FC236}">
                  <a16:creationId xmlns:a16="http://schemas.microsoft.com/office/drawing/2014/main" id="{5E6D00CE-4D1B-AC65-5CBF-0264577441EC}"/>
                </a:ext>
              </a:extLst>
            </p:cNvPr>
            <p:cNvCxnSpPr>
              <a:cxnSpLocks/>
              <a:stCxn id="40" idx="3"/>
            </p:cNvCxnSpPr>
            <p:nvPr/>
          </p:nvCxnSpPr>
          <p:spPr>
            <a:xfrm flipV="1">
              <a:off x="6943184" y="5895367"/>
              <a:ext cx="381818" cy="1682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6CB0B8F-E6A8-1DA4-0C76-A91736D0FC32}"/>
                </a:ext>
              </a:extLst>
            </p:cNvPr>
            <p:cNvCxnSpPr>
              <a:cxnSpLocks/>
              <a:stCxn id="42" idx="3"/>
            </p:cNvCxnSpPr>
            <p:nvPr/>
          </p:nvCxnSpPr>
          <p:spPr>
            <a:xfrm flipV="1">
              <a:off x="8289150" y="5900314"/>
              <a:ext cx="348346" cy="2303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12AF655-7B7D-46C8-B81F-FC693914BA18}"/>
                </a:ext>
              </a:extLst>
            </p:cNvPr>
            <p:cNvCxnSpPr>
              <a:cxnSpLocks/>
              <a:stCxn id="45" idx="3"/>
            </p:cNvCxnSpPr>
            <p:nvPr/>
          </p:nvCxnSpPr>
          <p:spPr>
            <a:xfrm flipV="1">
              <a:off x="9618064" y="5805187"/>
              <a:ext cx="294157" cy="34693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0" name="TextBox 49">
            <a:extLst>
              <a:ext uri="{FF2B5EF4-FFF2-40B4-BE49-F238E27FC236}">
                <a16:creationId xmlns:a16="http://schemas.microsoft.com/office/drawing/2014/main" id="{1EF58E3B-A32D-6637-CC23-5B52B242218A}"/>
              </a:ext>
            </a:extLst>
          </p:cNvPr>
          <p:cNvSpPr txBox="1"/>
          <p:nvPr/>
        </p:nvSpPr>
        <p:spPr>
          <a:xfrm>
            <a:off x="8709053" y="1748976"/>
            <a:ext cx="1505534" cy="369332"/>
          </a:xfrm>
          <a:prstGeom prst="rect">
            <a:avLst/>
          </a:prstGeom>
          <a:solidFill>
            <a:schemeClr val="bg1"/>
          </a:solidFill>
        </p:spPr>
        <p:txBody>
          <a:bodyPr wrap="square" rtlCol="0">
            <a:spAutoFit/>
          </a:bodyPr>
          <a:lstStyle/>
          <a:p>
            <a:pPr algn="l"/>
            <a:r>
              <a:rPr lang="en-KR" dirty="0">
                <a:latin typeface="Arial" panose="020B0604020202020204" pitchFamily="34" charset="0"/>
                <a:cs typeface="Arial" panose="020B0604020202020204" pitchFamily="34" charset="0"/>
              </a:rPr>
              <a:t>→ </a:t>
            </a:r>
            <a:r>
              <a:rPr lang="en-KR" b="1" dirty="0">
                <a:solidFill>
                  <a:schemeClr val="accent5">
                    <a:lumMod val="75000"/>
                  </a:schemeClr>
                </a:solidFill>
                <a:latin typeface="Arial" panose="020B0604020202020204" pitchFamily="34" charset="0"/>
                <a:cs typeface="Arial" panose="020B0604020202020204" pitchFamily="34" charset="0"/>
              </a:rPr>
              <a:t>fd</a:t>
            </a:r>
          </a:p>
        </p:txBody>
      </p:sp>
      <p:sp>
        <p:nvSpPr>
          <p:cNvPr id="51" name="TextBox 50">
            <a:extLst>
              <a:ext uri="{FF2B5EF4-FFF2-40B4-BE49-F238E27FC236}">
                <a16:creationId xmlns:a16="http://schemas.microsoft.com/office/drawing/2014/main" id="{9C1ACAA0-88DC-63F8-32DA-4ADC065C6EBC}"/>
              </a:ext>
            </a:extLst>
          </p:cNvPr>
          <p:cNvSpPr txBox="1"/>
          <p:nvPr/>
        </p:nvSpPr>
        <p:spPr>
          <a:xfrm>
            <a:off x="3957643" y="1592088"/>
            <a:ext cx="1031051" cy="369332"/>
          </a:xfrm>
          <a:prstGeom prst="rect">
            <a:avLst/>
          </a:prstGeom>
          <a:noFill/>
        </p:spPr>
        <p:txBody>
          <a:bodyPr wrap="square" rtlCol="0">
            <a:spAutoFit/>
          </a:bodyPr>
          <a:lstStyle/>
          <a:p>
            <a:pPr algn="l"/>
            <a:r>
              <a:rPr lang="en-KR" dirty="0">
                <a:latin typeface="Arial" panose="020B0604020202020204" pitchFamily="34" charset="0"/>
                <a:cs typeface="Arial" panose="020B0604020202020204" pitchFamily="34" charset="0"/>
              </a:rPr>
              <a:t>Attacker</a:t>
            </a:r>
          </a:p>
        </p:txBody>
      </p:sp>
      <p:sp>
        <p:nvSpPr>
          <p:cNvPr id="9" name="Rounded Rectangle 8">
            <a:extLst>
              <a:ext uri="{FF2B5EF4-FFF2-40B4-BE49-F238E27FC236}">
                <a16:creationId xmlns:a16="http://schemas.microsoft.com/office/drawing/2014/main" id="{BEA0ADDA-0679-4AE3-2576-4B64D07B9103}"/>
              </a:ext>
            </a:extLst>
          </p:cNvPr>
          <p:cNvSpPr/>
          <p:nvPr/>
        </p:nvSpPr>
        <p:spPr>
          <a:xfrm>
            <a:off x="1195236" y="2874094"/>
            <a:ext cx="3906112" cy="865174"/>
          </a:xfrm>
          <a:prstGeom prst="roundRect">
            <a:avLst/>
          </a:prstGeom>
          <a:solidFill>
            <a:srgbClr val="FFD7D3"/>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accent4">
                    <a:lumMod val="75000"/>
                  </a:schemeClr>
                </a:solidFill>
                <a:latin typeface="Arial" panose="020B0604020202020204" pitchFamily="34" charset="0"/>
                <a:cs typeface="Arial" panose="020B0604020202020204" pitchFamily="34" charset="0"/>
              </a:rPr>
              <a:t>Policy</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 cred, uid, owner, mode</a:t>
            </a:r>
          </a:p>
        </p:txBody>
      </p:sp>
      <p:sp>
        <p:nvSpPr>
          <p:cNvPr id="10" name="Rounded Rectangle 9">
            <a:extLst>
              <a:ext uri="{FF2B5EF4-FFF2-40B4-BE49-F238E27FC236}">
                <a16:creationId xmlns:a16="http://schemas.microsoft.com/office/drawing/2014/main" id="{E3AFC862-4B9C-A661-0A27-A973859D2465}"/>
              </a:ext>
            </a:extLst>
          </p:cNvPr>
          <p:cNvSpPr/>
          <p:nvPr/>
        </p:nvSpPr>
        <p:spPr>
          <a:xfrm>
            <a:off x="1195236" y="4119098"/>
            <a:ext cx="3906112" cy="865174"/>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accent6">
                    <a:lumMod val="75000"/>
                  </a:schemeClr>
                </a:solidFill>
                <a:latin typeface="Arial" panose="020B0604020202020204" pitchFamily="34" charset="0"/>
                <a:cs typeface="Arial" panose="020B0604020202020204" pitchFamily="34" charset="0"/>
              </a:rPr>
              <a:t>Enforcement</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 DAC permission check</a:t>
            </a:r>
          </a:p>
        </p:txBody>
      </p:sp>
      <p:sp>
        <p:nvSpPr>
          <p:cNvPr id="11" name="Rounded Rectangle 10">
            <a:extLst>
              <a:ext uri="{FF2B5EF4-FFF2-40B4-BE49-F238E27FC236}">
                <a16:creationId xmlns:a16="http://schemas.microsoft.com/office/drawing/2014/main" id="{C434757B-1263-E3A2-FE11-80390F719563}"/>
              </a:ext>
            </a:extLst>
          </p:cNvPr>
          <p:cNvSpPr/>
          <p:nvPr/>
        </p:nvSpPr>
        <p:spPr>
          <a:xfrm>
            <a:off x="1197296" y="5286950"/>
            <a:ext cx="3906112" cy="865174"/>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accent1"/>
                </a:solidFill>
                <a:latin typeface="Arial" panose="020B0604020202020204" pitchFamily="34" charset="0"/>
                <a:cs typeface="Arial" panose="020B0604020202020204" pitchFamily="34" charset="0"/>
              </a:rPr>
              <a:t>Resource</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 files, fdt, fd, mode, mapping</a:t>
            </a:r>
          </a:p>
        </p:txBody>
      </p:sp>
    </p:spTree>
    <p:extLst>
      <p:ext uri="{BB962C8B-B14F-4D97-AF65-F5344CB8AC3E}">
        <p14:creationId xmlns:p14="http://schemas.microsoft.com/office/powerpoint/2010/main" val="2641154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8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2"/>
      <p:bldP spid="21" grpId="0" animBg="1"/>
      <p:bldP spid="5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ounded Rectangle 100">
            <a:extLst>
              <a:ext uri="{FF2B5EF4-FFF2-40B4-BE49-F238E27FC236}">
                <a16:creationId xmlns:a16="http://schemas.microsoft.com/office/drawing/2014/main" id="{8B8CA6D9-23B1-A29F-A1E1-91D8765BF498}"/>
              </a:ext>
            </a:extLst>
          </p:cNvPr>
          <p:cNvSpPr/>
          <p:nvPr/>
        </p:nvSpPr>
        <p:spPr>
          <a:xfrm>
            <a:off x="752354" y="2249945"/>
            <a:ext cx="10385038" cy="4315448"/>
          </a:xfrm>
          <a:prstGeom prst="roundRect">
            <a:avLst>
              <a:gd name="adj" fmla="val 5417"/>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latin typeface="Arial" panose="020B0604020202020204" pitchFamily="34" charset="0"/>
                <a:cs typeface="Arial" panose="020B0604020202020204" pitchFamily="34" charset="0"/>
              </a:rPr>
              <a:t> ↳ passed: open file.</a:t>
            </a:r>
            <a:endParaRPr lang="en-KR" dirty="0">
              <a:solidFill>
                <a:schemeClr val="tx1"/>
              </a:solidFill>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F7516528-8E0C-8A9C-43BD-D15114F4D9B4}"/>
              </a:ext>
            </a:extLst>
          </p:cNvPr>
          <p:cNvSpPr txBox="1"/>
          <p:nvPr/>
        </p:nvSpPr>
        <p:spPr>
          <a:xfrm>
            <a:off x="5357792" y="3909346"/>
            <a:ext cx="5411568" cy="414985"/>
          </a:xfrm>
          <a:prstGeom prst="rect">
            <a:avLst/>
          </a:prstGeom>
          <a:noFill/>
        </p:spPr>
        <p:txBody>
          <a:bodyPr wrap="square">
            <a:spAutoFit/>
          </a:bodyPr>
          <a:lstStyle/>
          <a:p>
            <a:pPr algn="l">
              <a:lnSpc>
                <a:spcPct val="130000"/>
              </a:lnSpc>
            </a:pPr>
            <a:r>
              <a:rPr lang="en-KR" b="1" dirty="0">
                <a:solidFill>
                  <a:schemeClr val="bg1">
                    <a:lumMod val="65000"/>
                  </a:schemeClr>
                </a:solidFill>
                <a:latin typeface="Arial" panose="020B0604020202020204" pitchFamily="34" charset="0"/>
                <a:cs typeface="Arial" panose="020B0604020202020204" pitchFamily="34" charset="0"/>
              </a:rPr>
              <a:t>DAC permission check (cred, inode, mode)</a:t>
            </a:r>
          </a:p>
        </p:txBody>
      </p:sp>
      <p:sp>
        <p:nvSpPr>
          <p:cNvPr id="44" name="Rectangle 43">
            <a:extLst>
              <a:ext uri="{FF2B5EF4-FFF2-40B4-BE49-F238E27FC236}">
                <a16:creationId xmlns:a16="http://schemas.microsoft.com/office/drawing/2014/main" id="{4AF59ADA-934C-297F-F74D-B361F8B6C5C1}"/>
              </a:ext>
            </a:extLst>
          </p:cNvPr>
          <p:cNvSpPr/>
          <p:nvPr/>
        </p:nvSpPr>
        <p:spPr>
          <a:xfrm>
            <a:off x="6340139" y="2828798"/>
            <a:ext cx="960832" cy="609050"/>
          </a:xfrm>
          <a:prstGeom prst="rect">
            <a:avLst/>
          </a:prstGeom>
          <a:solidFill>
            <a:schemeClr val="bg1"/>
          </a:solidFill>
          <a:ln w="25400">
            <a:solidFill>
              <a:schemeClr val="bg1">
                <a:lumMod val="65000"/>
              </a:schemeClr>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45" name="Rectangle 44">
            <a:extLst>
              <a:ext uri="{FF2B5EF4-FFF2-40B4-BE49-F238E27FC236}">
                <a16:creationId xmlns:a16="http://schemas.microsoft.com/office/drawing/2014/main" id="{04045A7C-88F7-FAE9-D7CF-7FA45F9FE03A}"/>
              </a:ext>
            </a:extLst>
          </p:cNvPr>
          <p:cNvSpPr/>
          <p:nvPr/>
        </p:nvSpPr>
        <p:spPr>
          <a:xfrm>
            <a:off x="7786005" y="3049123"/>
            <a:ext cx="1047941" cy="540212"/>
          </a:xfrm>
          <a:prstGeom prst="rect">
            <a:avLst/>
          </a:prstGeom>
          <a:solidFill>
            <a:schemeClr val="bg1">
              <a:lumMod val="95000"/>
            </a:schemeClr>
          </a:solidFill>
          <a:ln w="25400">
            <a:solidFill>
              <a:schemeClr val="bg1">
                <a:lumMod val="65000"/>
              </a:schemeClr>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bg1">
                    <a:lumMod val="65000"/>
                  </a:schemeClr>
                </a:solidFill>
                <a:latin typeface="Arial" panose="020B0604020202020204" pitchFamily="34" charset="0"/>
                <a:cs typeface="Arial" panose="020B0604020202020204" pitchFamily="34" charset="0"/>
              </a:rPr>
              <a:t>uid</a:t>
            </a:r>
          </a:p>
        </p:txBody>
      </p:sp>
      <p:sp>
        <p:nvSpPr>
          <p:cNvPr id="46" name="TextBox 45">
            <a:extLst>
              <a:ext uri="{FF2B5EF4-FFF2-40B4-BE49-F238E27FC236}">
                <a16:creationId xmlns:a16="http://schemas.microsoft.com/office/drawing/2014/main" id="{A307CFF0-35F6-3604-3947-E77B3BC724C5}"/>
              </a:ext>
            </a:extLst>
          </p:cNvPr>
          <p:cNvSpPr txBox="1"/>
          <p:nvPr/>
        </p:nvSpPr>
        <p:spPr>
          <a:xfrm>
            <a:off x="6313185" y="2264599"/>
            <a:ext cx="1047941" cy="523220"/>
          </a:xfrm>
          <a:prstGeom prst="rect">
            <a:avLst/>
          </a:prstGeom>
          <a:noFill/>
        </p:spPr>
        <p:txBody>
          <a:bodyPr wrap="square">
            <a:spAutoFit/>
          </a:bodyPr>
          <a:lstStyle/>
          <a:p>
            <a:pPr algn="ctr"/>
            <a:r>
              <a:rPr lang="en-KR" sz="1400" dirty="0">
                <a:solidFill>
                  <a:schemeClr val="bg1">
                    <a:lumMod val="65000"/>
                  </a:schemeClr>
                </a:solidFill>
                <a:latin typeface="Arial" panose="020B0604020202020204" pitchFamily="34" charset="0"/>
                <a:cs typeface="Arial" panose="020B0604020202020204" pitchFamily="34" charset="0"/>
              </a:rPr>
              <a:t>struct task_struct</a:t>
            </a:r>
          </a:p>
        </p:txBody>
      </p:sp>
      <p:sp>
        <p:nvSpPr>
          <p:cNvPr id="47" name="Rectangle 46">
            <a:extLst>
              <a:ext uri="{FF2B5EF4-FFF2-40B4-BE49-F238E27FC236}">
                <a16:creationId xmlns:a16="http://schemas.microsoft.com/office/drawing/2014/main" id="{09D4CD0C-171D-CE37-DE84-4FF19D0FC4FE}"/>
              </a:ext>
            </a:extLst>
          </p:cNvPr>
          <p:cNvSpPr/>
          <p:nvPr/>
        </p:nvSpPr>
        <p:spPr>
          <a:xfrm>
            <a:off x="6340139" y="2983890"/>
            <a:ext cx="960832" cy="289169"/>
          </a:xfrm>
          <a:prstGeom prst="rect">
            <a:avLst/>
          </a:prstGeom>
          <a:solidFill>
            <a:schemeClr val="bg1">
              <a:lumMod val="95000"/>
            </a:schemeClr>
          </a:solidFill>
          <a:ln w="25400">
            <a:solidFill>
              <a:schemeClr val="bg1">
                <a:lumMod val="65000"/>
              </a:schemeClr>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bg1">
                    <a:lumMod val="65000"/>
                  </a:schemeClr>
                </a:solidFill>
                <a:latin typeface="Arial" panose="020B0604020202020204" pitchFamily="34" charset="0"/>
                <a:cs typeface="Arial" panose="020B0604020202020204" pitchFamily="34" charset="0"/>
              </a:rPr>
              <a:t>cred</a:t>
            </a:r>
          </a:p>
        </p:txBody>
      </p:sp>
      <p:cxnSp>
        <p:nvCxnSpPr>
          <p:cNvPr id="48" name="Straight Arrow Connector 47">
            <a:extLst>
              <a:ext uri="{FF2B5EF4-FFF2-40B4-BE49-F238E27FC236}">
                <a16:creationId xmlns:a16="http://schemas.microsoft.com/office/drawing/2014/main" id="{39451EA0-6541-0578-574A-458F629BF58B}"/>
              </a:ext>
            </a:extLst>
          </p:cNvPr>
          <p:cNvCxnSpPr>
            <a:cxnSpLocks/>
          </p:cNvCxnSpPr>
          <p:nvPr/>
        </p:nvCxnSpPr>
        <p:spPr>
          <a:xfrm>
            <a:off x="7300971" y="3128475"/>
            <a:ext cx="475994" cy="0"/>
          </a:xfrm>
          <a:prstGeom prst="straightConnector1">
            <a:avLst/>
          </a:prstGeom>
          <a:ln w="254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E162D251-A552-7811-BBEC-696577F7519B}"/>
              </a:ext>
            </a:extLst>
          </p:cNvPr>
          <p:cNvSpPr txBox="1"/>
          <p:nvPr/>
        </p:nvSpPr>
        <p:spPr>
          <a:xfrm>
            <a:off x="7803476" y="2695812"/>
            <a:ext cx="1042334" cy="307777"/>
          </a:xfrm>
          <a:prstGeom prst="rect">
            <a:avLst/>
          </a:prstGeom>
          <a:noFill/>
        </p:spPr>
        <p:txBody>
          <a:bodyPr wrap="square" rtlCol="0">
            <a:spAutoFit/>
          </a:bodyPr>
          <a:lstStyle/>
          <a:p>
            <a:pPr algn="l"/>
            <a:r>
              <a:rPr lang="en-KR" sz="1400" dirty="0">
                <a:solidFill>
                  <a:schemeClr val="bg1">
                    <a:lumMod val="65000"/>
                  </a:schemeClr>
                </a:solidFill>
                <a:latin typeface="Arial" panose="020B0604020202020204" pitchFamily="34" charset="0"/>
                <a:cs typeface="Arial" panose="020B0604020202020204" pitchFamily="34" charset="0"/>
              </a:rPr>
              <a:t>struct cred</a:t>
            </a:r>
          </a:p>
        </p:txBody>
      </p:sp>
      <p:sp>
        <p:nvSpPr>
          <p:cNvPr id="50" name="Rectangle 49">
            <a:extLst>
              <a:ext uri="{FF2B5EF4-FFF2-40B4-BE49-F238E27FC236}">
                <a16:creationId xmlns:a16="http://schemas.microsoft.com/office/drawing/2014/main" id="{1D19941B-FE43-7654-F8D9-8667F279419A}"/>
              </a:ext>
            </a:extLst>
          </p:cNvPr>
          <p:cNvSpPr/>
          <p:nvPr/>
        </p:nvSpPr>
        <p:spPr>
          <a:xfrm>
            <a:off x="9083499" y="3048615"/>
            <a:ext cx="979588" cy="541919"/>
          </a:xfrm>
          <a:prstGeom prst="rect">
            <a:avLst/>
          </a:prstGeom>
          <a:solidFill>
            <a:schemeClr val="bg1">
              <a:lumMod val="95000"/>
            </a:schemeClr>
          </a:solidFill>
          <a:ln w="25400">
            <a:solidFill>
              <a:schemeClr val="bg1">
                <a:lumMod val="65000"/>
              </a:schemeClr>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bg1">
                    <a:lumMod val="65000"/>
                  </a:schemeClr>
                </a:solidFill>
                <a:latin typeface="Arial" panose="020B0604020202020204" pitchFamily="34" charset="0"/>
                <a:cs typeface="Arial" panose="020B0604020202020204" pitchFamily="34" charset="0"/>
              </a:rPr>
              <a:t>owner mode</a:t>
            </a:r>
          </a:p>
        </p:txBody>
      </p:sp>
      <p:sp>
        <p:nvSpPr>
          <p:cNvPr id="51" name="TextBox 50">
            <a:extLst>
              <a:ext uri="{FF2B5EF4-FFF2-40B4-BE49-F238E27FC236}">
                <a16:creationId xmlns:a16="http://schemas.microsoft.com/office/drawing/2014/main" id="{B1DCA9CD-62B9-DB8D-AC96-2CECFB3E8A19}"/>
              </a:ext>
            </a:extLst>
          </p:cNvPr>
          <p:cNvSpPr txBox="1"/>
          <p:nvPr/>
        </p:nvSpPr>
        <p:spPr>
          <a:xfrm>
            <a:off x="9011479" y="2695304"/>
            <a:ext cx="1117929" cy="307777"/>
          </a:xfrm>
          <a:prstGeom prst="rect">
            <a:avLst/>
          </a:prstGeom>
          <a:noFill/>
        </p:spPr>
        <p:txBody>
          <a:bodyPr wrap="square" rtlCol="0">
            <a:spAutoFit/>
          </a:bodyPr>
          <a:lstStyle/>
          <a:p>
            <a:pPr algn="l"/>
            <a:r>
              <a:rPr lang="en-KR" sz="1400" dirty="0">
                <a:solidFill>
                  <a:schemeClr val="bg1">
                    <a:lumMod val="65000"/>
                  </a:schemeClr>
                </a:solidFill>
                <a:latin typeface="Arial" panose="020B0604020202020204" pitchFamily="34" charset="0"/>
                <a:cs typeface="Arial" panose="020B0604020202020204" pitchFamily="34" charset="0"/>
              </a:rPr>
              <a:t>struct inode</a:t>
            </a:r>
          </a:p>
        </p:txBody>
      </p:sp>
      <p:sp>
        <p:nvSpPr>
          <p:cNvPr id="52" name="Freeform 51">
            <a:extLst>
              <a:ext uri="{FF2B5EF4-FFF2-40B4-BE49-F238E27FC236}">
                <a16:creationId xmlns:a16="http://schemas.microsoft.com/office/drawing/2014/main" id="{C11D0E32-653D-0E89-96DF-14A5B8E28118}"/>
              </a:ext>
            </a:extLst>
          </p:cNvPr>
          <p:cNvSpPr/>
          <p:nvPr/>
        </p:nvSpPr>
        <p:spPr>
          <a:xfrm>
            <a:off x="8259175" y="3594416"/>
            <a:ext cx="245988" cy="450575"/>
          </a:xfrm>
          <a:custGeom>
            <a:avLst/>
            <a:gdLst>
              <a:gd name="connsiteX0" fmla="*/ 0 w 676656"/>
              <a:gd name="connsiteY0" fmla="*/ 0 h 630936"/>
              <a:gd name="connsiteX1" fmla="*/ 146304 w 676656"/>
              <a:gd name="connsiteY1" fmla="*/ 210312 h 630936"/>
              <a:gd name="connsiteX2" fmla="*/ 585216 w 676656"/>
              <a:gd name="connsiteY2" fmla="*/ 365760 h 630936"/>
              <a:gd name="connsiteX3" fmla="*/ 676656 w 676656"/>
              <a:gd name="connsiteY3" fmla="*/ 630936 h 630936"/>
            </a:gdLst>
            <a:ahLst/>
            <a:cxnLst>
              <a:cxn ang="0">
                <a:pos x="connsiteX0" y="connsiteY0"/>
              </a:cxn>
              <a:cxn ang="0">
                <a:pos x="connsiteX1" y="connsiteY1"/>
              </a:cxn>
              <a:cxn ang="0">
                <a:pos x="connsiteX2" y="connsiteY2"/>
              </a:cxn>
              <a:cxn ang="0">
                <a:pos x="connsiteX3" y="connsiteY3"/>
              </a:cxn>
            </a:cxnLst>
            <a:rect l="l" t="t" r="r" b="b"/>
            <a:pathLst>
              <a:path w="676656" h="630936">
                <a:moveTo>
                  <a:pt x="0" y="0"/>
                </a:moveTo>
                <a:cubicBezTo>
                  <a:pt x="24384" y="74676"/>
                  <a:pt x="48768" y="149352"/>
                  <a:pt x="146304" y="210312"/>
                </a:cubicBezTo>
                <a:cubicBezTo>
                  <a:pt x="243840" y="271272"/>
                  <a:pt x="496824" y="295656"/>
                  <a:pt x="585216" y="365760"/>
                </a:cubicBezTo>
                <a:cubicBezTo>
                  <a:pt x="673608" y="435864"/>
                  <a:pt x="675132" y="533400"/>
                  <a:pt x="676656" y="630936"/>
                </a:cubicBezTo>
              </a:path>
            </a:pathLst>
          </a:custGeom>
          <a:noFill/>
          <a:ln w="25400">
            <a:solidFill>
              <a:schemeClr val="bg1">
                <a:lumMod val="6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p>
        </p:txBody>
      </p:sp>
      <p:sp>
        <p:nvSpPr>
          <p:cNvPr id="53" name="Freeform 52">
            <a:extLst>
              <a:ext uri="{FF2B5EF4-FFF2-40B4-BE49-F238E27FC236}">
                <a16:creationId xmlns:a16="http://schemas.microsoft.com/office/drawing/2014/main" id="{0152D986-A5BD-6194-0154-020262A0990A}"/>
              </a:ext>
            </a:extLst>
          </p:cNvPr>
          <p:cNvSpPr/>
          <p:nvPr/>
        </p:nvSpPr>
        <p:spPr>
          <a:xfrm flipH="1">
            <a:off x="9023657" y="3582722"/>
            <a:ext cx="506247" cy="450575"/>
          </a:xfrm>
          <a:custGeom>
            <a:avLst/>
            <a:gdLst>
              <a:gd name="connsiteX0" fmla="*/ 0 w 676656"/>
              <a:gd name="connsiteY0" fmla="*/ 0 h 630936"/>
              <a:gd name="connsiteX1" fmla="*/ 146304 w 676656"/>
              <a:gd name="connsiteY1" fmla="*/ 210312 h 630936"/>
              <a:gd name="connsiteX2" fmla="*/ 585216 w 676656"/>
              <a:gd name="connsiteY2" fmla="*/ 365760 h 630936"/>
              <a:gd name="connsiteX3" fmla="*/ 676656 w 676656"/>
              <a:gd name="connsiteY3" fmla="*/ 630936 h 630936"/>
            </a:gdLst>
            <a:ahLst/>
            <a:cxnLst>
              <a:cxn ang="0">
                <a:pos x="connsiteX0" y="connsiteY0"/>
              </a:cxn>
              <a:cxn ang="0">
                <a:pos x="connsiteX1" y="connsiteY1"/>
              </a:cxn>
              <a:cxn ang="0">
                <a:pos x="connsiteX2" y="connsiteY2"/>
              </a:cxn>
              <a:cxn ang="0">
                <a:pos x="connsiteX3" y="connsiteY3"/>
              </a:cxn>
            </a:cxnLst>
            <a:rect l="l" t="t" r="r" b="b"/>
            <a:pathLst>
              <a:path w="676656" h="630936">
                <a:moveTo>
                  <a:pt x="0" y="0"/>
                </a:moveTo>
                <a:cubicBezTo>
                  <a:pt x="24384" y="74676"/>
                  <a:pt x="48768" y="149352"/>
                  <a:pt x="146304" y="210312"/>
                </a:cubicBezTo>
                <a:cubicBezTo>
                  <a:pt x="243840" y="271272"/>
                  <a:pt x="496824" y="295656"/>
                  <a:pt x="585216" y="365760"/>
                </a:cubicBezTo>
                <a:cubicBezTo>
                  <a:pt x="673608" y="435864"/>
                  <a:pt x="675132" y="533400"/>
                  <a:pt x="676656" y="630936"/>
                </a:cubicBezTo>
              </a:path>
            </a:pathLst>
          </a:custGeom>
          <a:noFill/>
          <a:ln w="25400">
            <a:solidFill>
              <a:schemeClr val="bg1">
                <a:lumMod val="6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 name="Title 1">
            <a:extLst>
              <a:ext uri="{FF2B5EF4-FFF2-40B4-BE49-F238E27FC236}">
                <a16:creationId xmlns:a16="http://schemas.microsoft.com/office/drawing/2014/main" id="{F97F1DB3-F016-DA66-4763-A5AF8466D3D2}"/>
              </a:ext>
            </a:extLst>
          </p:cNvPr>
          <p:cNvSpPr>
            <a:spLocks noGrp="1"/>
          </p:cNvSpPr>
          <p:nvPr>
            <p:ph type="title"/>
          </p:nvPr>
        </p:nvSpPr>
        <p:spPr/>
        <p:txBody>
          <a:bodyPr>
            <a:normAutofit/>
          </a:bodyPr>
          <a:lstStyle/>
          <a:p>
            <a:r>
              <a:rPr lang="en-KR" sz="3200" dirty="0"/>
              <a:t>Attack 2: Bypassing Enforcement &amp; Corrupting Resource</a:t>
            </a:r>
          </a:p>
        </p:txBody>
      </p:sp>
      <p:sp>
        <p:nvSpPr>
          <p:cNvPr id="6" name="Slide Number Placeholder 5">
            <a:extLst>
              <a:ext uri="{FF2B5EF4-FFF2-40B4-BE49-F238E27FC236}">
                <a16:creationId xmlns:a16="http://schemas.microsoft.com/office/drawing/2014/main" id="{02B7C138-CDB9-20BC-7949-41CB010A557F}"/>
              </a:ext>
            </a:extLst>
          </p:cNvPr>
          <p:cNvSpPr>
            <a:spLocks noGrp="1"/>
          </p:cNvSpPr>
          <p:nvPr>
            <p:ph type="sldNum" sz="quarter" idx="12"/>
          </p:nvPr>
        </p:nvSpPr>
        <p:spPr/>
        <p:txBody>
          <a:bodyPr/>
          <a:lstStyle/>
          <a:p>
            <a:fld id="{9ED31AF7-B9C1-7944-AC45-A988640FDEFC}" type="slidenum">
              <a:rPr lang="en-KR" smtClean="0"/>
              <a:t>10</a:t>
            </a:fld>
            <a:endParaRPr lang="en-KR"/>
          </a:p>
        </p:txBody>
      </p:sp>
      <p:sp>
        <p:nvSpPr>
          <p:cNvPr id="5" name="TextBox 4">
            <a:extLst>
              <a:ext uri="{FF2B5EF4-FFF2-40B4-BE49-F238E27FC236}">
                <a16:creationId xmlns:a16="http://schemas.microsoft.com/office/drawing/2014/main" id="{E5BD9478-22F5-D67C-78FD-18636B2A2C8C}"/>
              </a:ext>
            </a:extLst>
          </p:cNvPr>
          <p:cNvSpPr txBox="1"/>
          <p:nvPr/>
        </p:nvSpPr>
        <p:spPr>
          <a:xfrm>
            <a:off x="654317" y="1770261"/>
            <a:ext cx="1670222" cy="400110"/>
          </a:xfrm>
          <a:prstGeom prst="rect">
            <a:avLst/>
          </a:prstGeom>
          <a:noFill/>
        </p:spPr>
        <p:txBody>
          <a:bodyPr wrap="square" rtlCol="0">
            <a:spAutoFit/>
          </a:bodyPr>
          <a:lstStyle/>
          <a:p>
            <a:pPr algn="ctr"/>
            <a:r>
              <a:rPr lang="en-KR" sz="2000" dirty="0">
                <a:latin typeface="Arial" panose="020B0604020202020204" pitchFamily="34" charset="0"/>
                <a:cs typeface="Arial" panose="020B0604020202020204" pitchFamily="34" charset="0"/>
              </a:rPr>
              <a:t>Kernel</a:t>
            </a:r>
          </a:p>
        </p:txBody>
      </p:sp>
      <p:pic>
        <p:nvPicPr>
          <p:cNvPr id="13" name="Picture 12">
            <a:extLst>
              <a:ext uri="{FF2B5EF4-FFF2-40B4-BE49-F238E27FC236}">
                <a16:creationId xmlns:a16="http://schemas.microsoft.com/office/drawing/2014/main" id="{415D4ACD-B7DA-A885-8218-5EEF0FE01F4D}"/>
              </a:ext>
            </a:extLst>
          </p:cNvPr>
          <p:cNvPicPr>
            <a:picLocks noChangeAspect="1"/>
          </p:cNvPicPr>
          <p:nvPr/>
        </p:nvPicPr>
        <p:blipFill>
          <a:blip r:embed="rId3">
            <a:duotone>
              <a:prstClr val="black"/>
              <a:srgbClr val="FF0000">
                <a:tint val="45000"/>
                <a:satMod val="400000"/>
              </a:srgbClr>
            </a:duotone>
            <a:extLst>
              <a:ext uri="{BEBA8EAE-BF5A-486C-A8C5-ECC9F3942E4B}">
                <a14:imgProps xmlns:a14="http://schemas.microsoft.com/office/drawing/2010/main">
                  <a14:imgLayer r:embed="rId4">
                    <a14:imgEffect>
                      <a14:brightnessContrast bright="20000" contrast="20000"/>
                    </a14:imgEffect>
                  </a14:imgLayer>
                </a14:imgProps>
              </a:ext>
            </a:extLst>
          </a:blip>
          <a:stretch>
            <a:fillRect/>
          </a:stretch>
        </p:blipFill>
        <p:spPr>
          <a:xfrm>
            <a:off x="5096287" y="1512511"/>
            <a:ext cx="582527" cy="582527"/>
          </a:xfrm>
          <a:prstGeom prst="rect">
            <a:avLst/>
          </a:prstGeom>
        </p:spPr>
      </p:pic>
      <p:cxnSp>
        <p:nvCxnSpPr>
          <p:cNvPr id="19" name="Straight Arrow Connector 18">
            <a:extLst>
              <a:ext uri="{FF2B5EF4-FFF2-40B4-BE49-F238E27FC236}">
                <a16:creationId xmlns:a16="http://schemas.microsoft.com/office/drawing/2014/main" id="{92D76A09-65FA-B9F0-57AA-2C517187E1F0}"/>
              </a:ext>
            </a:extLst>
          </p:cNvPr>
          <p:cNvCxnSpPr>
            <a:cxnSpLocks/>
          </p:cNvCxnSpPr>
          <p:nvPr/>
        </p:nvCxnSpPr>
        <p:spPr>
          <a:xfrm>
            <a:off x="5384145" y="2122371"/>
            <a:ext cx="0" cy="403838"/>
          </a:xfrm>
          <a:prstGeom prst="straightConnector1">
            <a:avLst/>
          </a:prstGeom>
          <a:ln w="254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94699221-AD45-5377-0AC1-6395E13AAB63}"/>
              </a:ext>
            </a:extLst>
          </p:cNvPr>
          <p:cNvGrpSpPr/>
          <p:nvPr/>
        </p:nvGrpSpPr>
        <p:grpSpPr>
          <a:xfrm>
            <a:off x="5548803" y="5110014"/>
            <a:ext cx="5373557" cy="1208528"/>
            <a:chOff x="5548803" y="5110014"/>
            <a:chExt cx="5373557" cy="1208528"/>
          </a:xfrm>
        </p:grpSpPr>
        <p:sp>
          <p:nvSpPr>
            <p:cNvPr id="91" name="Rectangle 90">
              <a:extLst>
                <a:ext uri="{FF2B5EF4-FFF2-40B4-BE49-F238E27FC236}">
                  <a16:creationId xmlns:a16="http://schemas.microsoft.com/office/drawing/2014/main" id="{2153DA9B-0171-FC65-9157-9FCC29E1E670}"/>
                </a:ext>
              </a:extLst>
            </p:cNvPr>
            <p:cNvSpPr/>
            <p:nvPr/>
          </p:nvSpPr>
          <p:spPr>
            <a:xfrm>
              <a:off x="9707491" y="5626775"/>
              <a:ext cx="979588" cy="594455"/>
            </a:xfrm>
            <a:custGeom>
              <a:avLst/>
              <a:gdLst>
                <a:gd name="connsiteX0" fmla="*/ 0 w 979588"/>
                <a:gd name="connsiteY0" fmla="*/ 0 h 594455"/>
                <a:gd name="connsiteX1" fmla="*/ 479998 w 979588"/>
                <a:gd name="connsiteY1" fmla="*/ 0 h 594455"/>
                <a:gd name="connsiteX2" fmla="*/ 979588 w 979588"/>
                <a:gd name="connsiteY2" fmla="*/ 0 h 594455"/>
                <a:gd name="connsiteX3" fmla="*/ 979588 w 979588"/>
                <a:gd name="connsiteY3" fmla="*/ 594455 h 594455"/>
                <a:gd name="connsiteX4" fmla="*/ 479998 w 979588"/>
                <a:gd name="connsiteY4" fmla="*/ 594455 h 594455"/>
                <a:gd name="connsiteX5" fmla="*/ 0 w 979588"/>
                <a:gd name="connsiteY5" fmla="*/ 594455 h 594455"/>
                <a:gd name="connsiteX6" fmla="*/ 0 w 979588"/>
                <a:gd name="connsiteY6" fmla="*/ 0 h 594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9588" h="594455" fill="none" extrusionOk="0">
                  <a:moveTo>
                    <a:pt x="0" y="0"/>
                  </a:moveTo>
                  <a:cubicBezTo>
                    <a:pt x="176289" y="1379"/>
                    <a:pt x="243796" y="-8149"/>
                    <a:pt x="479998" y="0"/>
                  </a:cubicBezTo>
                  <a:cubicBezTo>
                    <a:pt x="716200" y="8149"/>
                    <a:pt x="806798" y="23482"/>
                    <a:pt x="979588" y="0"/>
                  </a:cubicBezTo>
                  <a:cubicBezTo>
                    <a:pt x="1001732" y="151282"/>
                    <a:pt x="978402" y="329862"/>
                    <a:pt x="979588" y="594455"/>
                  </a:cubicBezTo>
                  <a:cubicBezTo>
                    <a:pt x="770747" y="616463"/>
                    <a:pt x="582273" y="600281"/>
                    <a:pt x="479998" y="594455"/>
                  </a:cubicBezTo>
                  <a:cubicBezTo>
                    <a:pt x="377723" y="588630"/>
                    <a:pt x="134473" y="580043"/>
                    <a:pt x="0" y="594455"/>
                  </a:cubicBezTo>
                  <a:cubicBezTo>
                    <a:pt x="16558" y="339854"/>
                    <a:pt x="19785" y="149357"/>
                    <a:pt x="0" y="0"/>
                  </a:cubicBezTo>
                  <a:close/>
                </a:path>
                <a:path w="979588" h="594455" stroke="0" extrusionOk="0">
                  <a:moveTo>
                    <a:pt x="0" y="0"/>
                  </a:moveTo>
                  <a:cubicBezTo>
                    <a:pt x="181089" y="-11988"/>
                    <a:pt x="341921" y="2957"/>
                    <a:pt x="509386" y="0"/>
                  </a:cubicBezTo>
                  <a:cubicBezTo>
                    <a:pt x="676851" y="-2957"/>
                    <a:pt x="800339" y="16852"/>
                    <a:pt x="979588" y="0"/>
                  </a:cubicBezTo>
                  <a:cubicBezTo>
                    <a:pt x="982817" y="257194"/>
                    <a:pt x="963097" y="443777"/>
                    <a:pt x="979588" y="594455"/>
                  </a:cubicBezTo>
                  <a:cubicBezTo>
                    <a:pt x="801201" y="598129"/>
                    <a:pt x="692256" y="603111"/>
                    <a:pt x="489794" y="594455"/>
                  </a:cubicBezTo>
                  <a:cubicBezTo>
                    <a:pt x="287332" y="585799"/>
                    <a:pt x="118959" y="609830"/>
                    <a:pt x="0" y="594455"/>
                  </a:cubicBezTo>
                  <a:cubicBezTo>
                    <a:pt x="-794" y="397918"/>
                    <a:pt x="5183" y="285836"/>
                    <a:pt x="0" y="0"/>
                  </a:cubicBezTo>
                  <a:close/>
                </a:path>
              </a:pathLst>
            </a:custGeom>
            <a:solidFill>
              <a:srgbClr val="FFCBCF"/>
            </a:solidFill>
            <a:ln w="25400">
              <a:solidFill>
                <a:schemeClr val="tx1"/>
              </a:solidFill>
              <a:extLst>
                <a:ext uri="{C807C97D-BFC1-408E-A445-0C87EB9F89A2}">
                  <ask:lineSketchStyleProps xmlns:ask="http://schemas.microsoft.com/office/drawing/2018/sketchyshapes" sd="395084079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mode</a:t>
              </a:r>
            </a:p>
            <a:p>
              <a:pPr algn="ctr"/>
              <a:r>
                <a:rPr lang="en-KR" sz="1400" dirty="0">
                  <a:solidFill>
                    <a:schemeClr val="tx1"/>
                  </a:solidFill>
                  <a:latin typeface="Arial" panose="020B0604020202020204" pitchFamily="34" charset="0"/>
                  <a:cs typeface="Arial" panose="020B0604020202020204" pitchFamily="34" charset="0"/>
                </a:rPr>
                <a:t>mapping</a:t>
              </a:r>
            </a:p>
          </p:txBody>
        </p:sp>
        <p:sp>
          <p:nvSpPr>
            <p:cNvPr id="92" name="TextBox 91">
              <a:extLst>
                <a:ext uri="{FF2B5EF4-FFF2-40B4-BE49-F238E27FC236}">
                  <a16:creationId xmlns:a16="http://schemas.microsoft.com/office/drawing/2014/main" id="{651EAF2D-B871-BBD6-6AD9-BF7FFDD2D62B}"/>
                </a:ext>
              </a:extLst>
            </p:cNvPr>
            <p:cNvSpPr txBox="1"/>
            <p:nvPr/>
          </p:nvSpPr>
          <p:spPr>
            <a:xfrm>
              <a:off x="9698383" y="5292693"/>
              <a:ext cx="979589" cy="307777"/>
            </a:xfrm>
            <a:prstGeom prst="rect">
              <a:avLst/>
            </a:prstGeom>
            <a:noFill/>
          </p:spPr>
          <p:txBody>
            <a:bodyPr wrap="square" rtlCol="0">
              <a:spAutoFit/>
            </a:bodyPr>
            <a:lstStyle/>
            <a:p>
              <a:pPr algn="ctr"/>
              <a:r>
                <a:rPr lang="en-KR" sz="1400" dirty="0">
                  <a:latin typeface="Arial" panose="020B0604020202020204" pitchFamily="34" charset="0"/>
                  <a:cs typeface="Arial" panose="020B0604020202020204" pitchFamily="34" charset="0"/>
                </a:rPr>
                <a:t>struct file</a:t>
              </a:r>
            </a:p>
          </p:txBody>
        </p:sp>
        <p:sp>
          <p:nvSpPr>
            <p:cNvPr id="106" name="Rectangle 105">
              <a:extLst>
                <a:ext uri="{FF2B5EF4-FFF2-40B4-BE49-F238E27FC236}">
                  <a16:creationId xmlns:a16="http://schemas.microsoft.com/office/drawing/2014/main" id="{89987362-303C-EF81-6F9D-3FC901F04004}"/>
                </a:ext>
              </a:extLst>
            </p:cNvPr>
            <p:cNvSpPr/>
            <p:nvPr/>
          </p:nvSpPr>
          <p:spPr>
            <a:xfrm>
              <a:off x="5757840" y="5670067"/>
              <a:ext cx="960832" cy="609050"/>
            </a:xfrm>
            <a:prstGeom prst="rect">
              <a:avLst/>
            </a:prstGeom>
            <a:solidFill>
              <a:schemeClr val="bg1"/>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07" name="TextBox 106">
              <a:extLst>
                <a:ext uri="{FF2B5EF4-FFF2-40B4-BE49-F238E27FC236}">
                  <a16:creationId xmlns:a16="http://schemas.microsoft.com/office/drawing/2014/main" id="{137EC913-26D3-FBD5-9067-5E0590891E64}"/>
                </a:ext>
              </a:extLst>
            </p:cNvPr>
            <p:cNvSpPr txBox="1"/>
            <p:nvPr/>
          </p:nvSpPr>
          <p:spPr>
            <a:xfrm>
              <a:off x="5694727" y="5171684"/>
              <a:ext cx="1047941" cy="523220"/>
            </a:xfrm>
            <a:prstGeom prst="rect">
              <a:avLst/>
            </a:prstGeom>
            <a:noFill/>
          </p:spPr>
          <p:txBody>
            <a:bodyPr wrap="square">
              <a:spAutoFit/>
            </a:bodyPr>
            <a:lstStyle/>
            <a:p>
              <a:pPr algn="ctr"/>
              <a:r>
                <a:rPr lang="en-KR" sz="1400" dirty="0">
                  <a:solidFill>
                    <a:schemeClr val="tx1"/>
                  </a:solidFill>
                  <a:latin typeface="Arial" panose="020B0604020202020204" pitchFamily="34" charset="0"/>
                  <a:cs typeface="Arial" panose="020B0604020202020204" pitchFamily="34" charset="0"/>
                </a:rPr>
                <a:t>struct task_struct</a:t>
              </a:r>
            </a:p>
          </p:txBody>
        </p:sp>
        <p:sp>
          <p:nvSpPr>
            <p:cNvPr id="108" name="Rectangle 107">
              <a:extLst>
                <a:ext uri="{FF2B5EF4-FFF2-40B4-BE49-F238E27FC236}">
                  <a16:creationId xmlns:a16="http://schemas.microsoft.com/office/drawing/2014/main" id="{995C8B7B-C9CD-654D-BC06-2ECF20CAA07D}"/>
                </a:ext>
              </a:extLst>
            </p:cNvPr>
            <p:cNvSpPr/>
            <p:nvPr/>
          </p:nvSpPr>
          <p:spPr>
            <a:xfrm>
              <a:off x="5757840" y="5783953"/>
              <a:ext cx="960832" cy="289169"/>
            </a:xfrm>
            <a:custGeom>
              <a:avLst/>
              <a:gdLst>
                <a:gd name="connsiteX0" fmla="*/ 0 w 960832"/>
                <a:gd name="connsiteY0" fmla="*/ 0 h 289169"/>
                <a:gd name="connsiteX1" fmla="*/ 470808 w 960832"/>
                <a:gd name="connsiteY1" fmla="*/ 0 h 289169"/>
                <a:gd name="connsiteX2" fmla="*/ 960832 w 960832"/>
                <a:gd name="connsiteY2" fmla="*/ 0 h 289169"/>
                <a:gd name="connsiteX3" fmla="*/ 960832 w 960832"/>
                <a:gd name="connsiteY3" fmla="*/ 289169 h 289169"/>
                <a:gd name="connsiteX4" fmla="*/ 470808 w 960832"/>
                <a:gd name="connsiteY4" fmla="*/ 289169 h 289169"/>
                <a:gd name="connsiteX5" fmla="*/ 0 w 960832"/>
                <a:gd name="connsiteY5" fmla="*/ 289169 h 289169"/>
                <a:gd name="connsiteX6" fmla="*/ 0 w 960832"/>
                <a:gd name="connsiteY6" fmla="*/ 0 h 289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0832" h="289169" fill="none" extrusionOk="0">
                  <a:moveTo>
                    <a:pt x="0" y="0"/>
                  </a:moveTo>
                  <a:cubicBezTo>
                    <a:pt x="94888" y="15014"/>
                    <a:pt x="288177" y="-21768"/>
                    <a:pt x="470808" y="0"/>
                  </a:cubicBezTo>
                  <a:cubicBezTo>
                    <a:pt x="653439" y="21768"/>
                    <a:pt x="770683" y="13068"/>
                    <a:pt x="960832" y="0"/>
                  </a:cubicBezTo>
                  <a:cubicBezTo>
                    <a:pt x="952878" y="112098"/>
                    <a:pt x="959291" y="187587"/>
                    <a:pt x="960832" y="289169"/>
                  </a:cubicBezTo>
                  <a:cubicBezTo>
                    <a:pt x="768001" y="301551"/>
                    <a:pt x="640210" y="287147"/>
                    <a:pt x="470808" y="289169"/>
                  </a:cubicBezTo>
                  <a:cubicBezTo>
                    <a:pt x="301406" y="291191"/>
                    <a:pt x="208146" y="266122"/>
                    <a:pt x="0" y="289169"/>
                  </a:cubicBezTo>
                  <a:cubicBezTo>
                    <a:pt x="4588" y="169610"/>
                    <a:pt x="2570" y="73993"/>
                    <a:pt x="0" y="0"/>
                  </a:cubicBezTo>
                  <a:close/>
                </a:path>
                <a:path w="960832" h="289169" stroke="0" extrusionOk="0">
                  <a:moveTo>
                    <a:pt x="0" y="0"/>
                  </a:moveTo>
                  <a:cubicBezTo>
                    <a:pt x="165845" y="-11729"/>
                    <a:pt x="315119" y="-11178"/>
                    <a:pt x="499633" y="0"/>
                  </a:cubicBezTo>
                  <a:cubicBezTo>
                    <a:pt x="684147" y="11178"/>
                    <a:pt x="738809" y="-12717"/>
                    <a:pt x="960832" y="0"/>
                  </a:cubicBezTo>
                  <a:cubicBezTo>
                    <a:pt x="951228" y="112509"/>
                    <a:pt x="963128" y="190234"/>
                    <a:pt x="960832" y="289169"/>
                  </a:cubicBezTo>
                  <a:cubicBezTo>
                    <a:pt x="839404" y="265704"/>
                    <a:pt x="682814" y="274932"/>
                    <a:pt x="480416" y="289169"/>
                  </a:cubicBezTo>
                  <a:cubicBezTo>
                    <a:pt x="278018" y="303406"/>
                    <a:pt x="166339" y="284518"/>
                    <a:pt x="0" y="289169"/>
                  </a:cubicBezTo>
                  <a:cubicBezTo>
                    <a:pt x="-2256" y="155779"/>
                    <a:pt x="8602" y="100071"/>
                    <a:pt x="0" y="0"/>
                  </a:cubicBezTo>
                  <a:close/>
                </a:path>
              </a:pathLst>
            </a:custGeom>
            <a:solidFill>
              <a:srgbClr val="FFCBCF"/>
            </a:solidFill>
            <a:ln w="25400">
              <a:solidFill>
                <a:schemeClr val="tx1"/>
              </a:solidFill>
              <a:extLst>
                <a:ext uri="{C807C97D-BFC1-408E-A445-0C87EB9F89A2}">
                  <ask:lineSketchStyleProps xmlns:ask="http://schemas.microsoft.com/office/drawing/2018/sketchyshapes" sd="395084079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files</a:t>
              </a:r>
            </a:p>
          </p:txBody>
        </p:sp>
        <p:sp>
          <p:nvSpPr>
            <p:cNvPr id="109" name="Rectangle 108">
              <a:extLst>
                <a:ext uri="{FF2B5EF4-FFF2-40B4-BE49-F238E27FC236}">
                  <a16:creationId xmlns:a16="http://schemas.microsoft.com/office/drawing/2014/main" id="{7FFB25EA-F6B2-3A1F-5BBD-967FF66D16D1}"/>
                </a:ext>
              </a:extLst>
            </p:cNvPr>
            <p:cNvSpPr/>
            <p:nvPr/>
          </p:nvSpPr>
          <p:spPr>
            <a:xfrm>
              <a:off x="7103806" y="5690137"/>
              <a:ext cx="960832" cy="609050"/>
            </a:xfrm>
            <a:prstGeom prst="rect">
              <a:avLst/>
            </a:prstGeom>
            <a:solidFill>
              <a:schemeClr val="bg1"/>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10" name="Rectangle 109">
              <a:extLst>
                <a:ext uri="{FF2B5EF4-FFF2-40B4-BE49-F238E27FC236}">
                  <a16:creationId xmlns:a16="http://schemas.microsoft.com/office/drawing/2014/main" id="{99639449-FF9E-E6BE-71CE-7B3368D14AB8}"/>
                </a:ext>
              </a:extLst>
            </p:cNvPr>
            <p:cNvSpPr/>
            <p:nvPr/>
          </p:nvSpPr>
          <p:spPr>
            <a:xfrm>
              <a:off x="7103806" y="5860897"/>
              <a:ext cx="960832" cy="269378"/>
            </a:xfrm>
            <a:custGeom>
              <a:avLst/>
              <a:gdLst>
                <a:gd name="connsiteX0" fmla="*/ 0 w 960832"/>
                <a:gd name="connsiteY0" fmla="*/ 0 h 269378"/>
                <a:gd name="connsiteX1" fmla="*/ 470808 w 960832"/>
                <a:gd name="connsiteY1" fmla="*/ 0 h 269378"/>
                <a:gd name="connsiteX2" fmla="*/ 960832 w 960832"/>
                <a:gd name="connsiteY2" fmla="*/ 0 h 269378"/>
                <a:gd name="connsiteX3" fmla="*/ 960832 w 960832"/>
                <a:gd name="connsiteY3" fmla="*/ 269378 h 269378"/>
                <a:gd name="connsiteX4" fmla="*/ 470808 w 960832"/>
                <a:gd name="connsiteY4" fmla="*/ 269378 h 269378"/>
                <a:gd name="connsiteX5" fmla="*/ 0 w 960832"/>
                <a:gd name="connsiteY5" fmla="*/ 269378 h 269378"/>
                <a:gd name="connsiteX6" fmla="*/ 0 w 960832"/>
                <a:gd name="connsiteY6" fmla="*/ 0 h 269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0832" h="269378" fill="none" extrusionOk="0">
                  <a:moveTo>
                    <a:pt x="0" y="0"/>
                  </a:moveTo>
                  <a:cubicBezTo>
                    <a:pt x="94888" y="15014"/>
                    <a:pt x="288177" y="-21768"/>
                    <a:pt x="470808" y="0"/>
                  </a:cubicBezTo>
                  <a:cubicBezTo>
                    <a:pt x="653439" y="21768"/>
                    <a:pt x="770683" y="13068"/>
                    <a:pt x="960832" y="0"/>
                  </a:cubicBezTo>
                  <a:cubicBezTo>
                    <a:pt x="962237" y="82163"/>
                    <a:pt x="949232" y="138587"/>
                    <a:pt x="960832" y="269378"/>
                  </a:cubicBezTo>
                  <a:cubicBezTo>
                    <a:pt x="768001" y="281760"/>
                    <a:pt x="640210" y="267356"/>
                    <a:pt x="470808" y="269378"/>
                  </a:cubicBezTo>
                  <a:cubicBezTo>
                    <a:pt x="301406" y="271400"/>
                    <a:pt x="208146" y="246331"/>
                    <a:pt x="0" y="269378"/>
                  </a:cubicBezTo>
                  <a:cubicBezTo>
                    <a:pt x="-4484" y="165123"/>
                    <a:pt x="7099" y="72333"/>
                    <a:pt x="0" y="0"/>
                  </a:cubicBezTo>
                  <a:close/>
                </a:path>
                <a:path w="960832" h="269378" stroke="0" extrusionOk="0">
                  <a:moveTo>
                    <a:pt x="0" y="0"/>
                  </a:moveTo>
                  <a:cubicBezTo>
                    <a:pt x="165845" y="-11729"/>
                    <a:pt x="315119" y="-11178"/>
                    <a:pt x="499633" y="0"/>
                  </a:cubicBezTo>
                  <a:cubicBezTo>
                    <a:pt x="684147" y="11178"/>
                    <a:pt x="738809" y="-12717"/>
                    <a:pt x="960832" y="0"/>
                  </a:cubicBezTo>
                  <a:cubicBezTo>
                    <a:pt x="969021" y="109340"/>
                    <a:pt x="947517" y="183903"/>
                    <a:pt x="960832" y="269378"/>
                  </a:cubicBezTo>
                  <a:cubicBezTo>
                    <a:pt x="839404" y="245913"/>
                    <a:pt x="682814" y="255141"/>
                    <a:pt x="480416" y="269378"/>
                  </a:cubicBezTo>
                  <a:cubicBezTo>
                    <a:pt x="278018" y="283615"/>
                    <a:pt x="166339" y="264727"/>
                    <a:pt x="0" y="269378"/>
                  </a:cubicBezTo>
                  <a:cubicBezTo>
                    <a:pt x="-8558" y="145290"/>
                    <a:pt x="5257" y="93173"/>
                    <a:pt x="0" y="0"/>
                  </a:cubicBezTo>
                  <a:close/>
                </a:path>
              </a:pathLst>
            </a:custGeom>
            <a:solidFill>
              <a:srgbClr val="FFCBCF"/>
            </a:solidFill>
            <a:ln w="25400">
              <a:solidFill>
                <a:schemeClr val="tx1"/>
              </a:solidFill>
              <a:extLst>
                <a:ext uri="{C807C97D-BFC1-408E-A445-0C87EB9F89A2}">
                  <ask:lineSketchStyleProps xmlns:ask="http://schemas.microsoft.com/office/drawing/2018/sketchyshapes" sd="395084079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fdt</a:t>
              </a:r>
            </a:p>
          </p:txBody>
        </p:sp>
        <p:sp>
          <p:nvSpPr>
            <p:cNvPr id="111" name="TextBox 110">
              <a:extLst>
                <a:ext uri="{FF2B5EF4-FFF2-40B4-BE49-F238E27FC236}">
                  <a16:creationId xmlns:a16="http://schemas.microsoft.com/office/drawing/2014/main" id="{59F2E897-D0B8-8728-B074-816C1BC2D282}"/>
                </a:ext>
              </a:extLst>
            </p:cNvPr>
            <p:cNvSpPr txBox="1"/>
            <p:nvPr/>
          </p:nvSpPr>
          <p:spPr>
            <a:xfrm>
              <a:off x="6978916" y="5110014"/>
              <a:ext cx="1207734" cy="523220"/>
            </a:xfrm>
            <a:prstGeom prst="rect">
              <a:avLst/>
            </a:prstGeom>
            <a:noFill/>
          </p:spPr>
          <p:txBody>
            <a:bodyPr wrap="square">
              <a:spAutoFit/>
            </a:bodyPr>
            <a:lstStyle/>
            <a:p>
              <a:pPr algn="ctr"/>
              <a:r>
                <a:rPr lang="en-KR" sz="1400" dirty="0">
                  <a:solidFill>
                    <a:schemeClr val="tx1"/>
                  </a:solidFill>
                  <a:latin typeface="Arial" panose="020B0604020202020204" pitchFamily="34" charset="0"/>
                  <a:cs typeface="Arial" panose="020B0604020202020204" pitchFamily="34" charset="0"/>
                </a:rPr>
                <a:t>struct</a:t>
              </a:r>
            </a:p>
            <a:p>
              <a:pPr algn="ctr"/>
              <a:r>
                <a:rPr lang="en-KR" sz="1400" dirty="0">
                  <a:latin typeface="Arial" panose="020B0604020202020204" pitchFamily="34" charset="0"/>
                  <a:cs typeface="Arial" panose="020B0604020202020204" pitchFamily="34" charset="0"/>
                </a:rPr>
                <a:t>files_struct</a:t>
              </a:r>
              <a:endParaRPr lang="en-KR" sz="1400" dirty="0">
                <a:solidFill>
                  <a:schemeClr val="tx1"/>
                </a:solidFill>
                <a:latin typeface="Arial" panose="020B0604020202020204" pitchFamily="34" charset="0"/>
                <a:cs typeface="Arial" panose="020B0604020202020204" pitchFamily="34" charset="0"/>
              </a:endParaRPr>
            </a:p>
          </p:txBody>
        </p:sp>
        <p:sp>
          <p:nvSpPr>
            <p:cNvPr id="112" name="Rectangle 111">
              <a:extLst>
                <a:ext uri="{FF2B5EF4-FFF2-40B4-BE49-F238E27FC236}">
                  <a16:creationId xmlns:a16="http://schemas.microsoft.com/office/drawing/2014/main" id="{C463C075-0A8C-6A26-A2C2-BB06494A68FE}"/>
                </a:ext>
              </a:extLst>
            </p:cNvPr>
            <p:cNvSpPr/>
            <p:nvPr/>
          </p:nvSpPr>
          <p:spPr>
            <a:xfrm>
              <a:off x="8432720" y="5709492"/>
              <a:ext cx="960832" cy="609050"/>
            </a:xfrm>
            <a:prstGeom prst="rect">
              <a:avLst/>
            </a:prstGeom>
            <a:solidFill>
              <a:schemeClr val="bg1"/>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13" name="Rectangle 112">
              <a:extLst>
                <a:ext uri="{FF2B5EF4-FFF2-40B4-BE49-F238E27FC236}">
                  <a16:creationId xmlns:a16="http://schemas.microsoft.com/office/drawing/2014/main" id="{B8ADE668-EACA-3E24-63CA-44FCB7E141EC}"/>
                </a:ext>
              </a:extLst>
            </p:cNvPr>
            <p:cNvSpPr/>
            <p:nvPr/>
          </p:nvSpPr>
          <p:spPr>
            <a:xfrm>
              <a:off x="8432720" y="5872419"/>
              <a:ext cx="960832" cy="289169"/>
            </a:xfrm>
            <a:custGeom>
              <a:avLst/>
              <a:gdLst>
                <a:gd name="connsiteX0" fmla="*/ 0 w 960832"/>
                <a:gd name="connsiteY0" fmla="*/ 0 h 289169"/>
                <a:gd name="connsiteX1" fmla="*/ 470808 w 960832"/>
                <a:gd name="connsiteY1" fmla="*/ 0 h 289169"/>
                <a:gd name="connsiteX2" fmla="*/ 960832 w 960832"/>
                <a:gd name="connsiteY2" fmla="*/ 0 h 289169"/>
                <a:gd name="connsiteX3" fmla="*/ 960832 w 960832"/>
                <a:gd name="connsiteY3" fmla="*/ 289169 h 289169"/>
                <a:gd name="connsiteX4" fmla="*/ 470808 w 960832"/>
                <a:gd name="connsiteY4" fmla="*/ 289169 h 289169"/>
                <a:gd name="connsiteX5" fmla="*/ 0 w 960832"/>
                <a:gd name="connsiteY5" fmla="*/ 289169 h 289169"/>
                <a:gd name="connsiteX6" fmla="*/ 0 w 960832"/>
                <a:gd name="connsiteY6" fmla="*/ 0 h 289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0832" h="289169" fill="none" extrusionOk="0">
                  <a:moveTo>
                    <a:pt x="0" y="0"/>
                  </a:moveTo>
                  <a:cubicBezTo>
                    <a:pt x="94888" y="15014"/>
                    <a:pt x="288177" y="-21768"/>
                    <a:pt x="470808" y="0"/>
                  </a:cubicBezTo>
                  <a:cubicBezTo>
                    <a:pt x="653439" y="21768"/>
                    <a:pt x="770683" y="13068"/>
                    <a:pt x="960832" y="0"/>
                  </a:cubicBezTo>
                  <a:cubicBezTo>
                    <a:pt x="952878" y="112098"/>
                    <a:pt x="959291" y="187587"/>
                    <a:pt x="960832" y="289169"/>
                  </a:cubicBezTo>
                  <a:cubicBezTo>
                    <a:pt x="768001" y="301551"/>
                    <a:pt x="640210" y="287147"/>
                    <a:pt x="470808" y="289169"/>
                  </a:cubicBezTo>
                  <a:cubicBezTo>
                    <a:pt x="301406" y="291191"/>
                    <a:pt x="208146" y="266122"/>
                    <a:pt x="0" y="289169"/>
                  </a:cubicBezTo>
                  <a:cubicBezTo>
                    <a:pt x="4588" y="169610"/>
                    <a:pt x="2570" y="73993"/>
                    <a:pt x="0" y="0"/>
                  </a:cubicBezTo>
                  <a:close/>
                </a:path>
                <a:path w="960832" h="289169" stroke="0" extrusionOk="0">
                  <a:moveTo>
                    <a:pt x="0" y="0"/>
                  </a:moveTo>
                  <a:cubicBezTo>
                    <a:pt x="165845" y="-11729"/>
                    <a:pt x="315119" y="-11178"/>
                    <a:pt x="499633" y="0"/>
                  </a:cubicBezTo>
                  <a:cubicBezTo>
                    <a:pt x="684147" y="11178"/>
                    <a:pt x="738809" y="-12717"/>
                    <a:pt x="960832" y="0"/>
                  </a:cubicBezTo>
                  <a:cubicBezTo>
                    <a:pt x="951228" y="112509"/>
                    <a:pt x="963128" y="190234"/>
                    <a:pt x="960832" y="289169"/>
                  </a:cubicBezTo>
                  <a:cubicBezTo>
                    <a:pt x="839404" y="265704"/>
                    <a:pt x="682814" y="274932"/>
                    <a:pt x="480416" y="289169"/>
                  </a:cubicBezTo>
                  <a:cubicBezTo>
                    <a:pt x="278018" y="303406"/>
                    <a:pt x="166339" y="284518"/>
                    <a:pt x="0" y="289169"/>
                  </a:cubicBezTo>
                  <a:cubicBezTo>
                    <a:pt x="-2256" y="155779"/>
                    <a:pt x="8602" y="100071"/>
                    <a:pt x="0" y="0"/>
                  </a:cubicBezTo>
                  <a:close/>
                </a:path>
              </a:pathLst>
            </a:custGeom>
            <a:solidFill>
              <a:srgbClr val="FFCBCF"/>
            </a:solidFill>
            <a:ln w="25400">
              <a:solidFill>
                <a:schemeClr val="tx1"/>
              </a:solidFill>
              <a:extLst>
                <a:ext uri="{C807C97D-BFC1-408E-A445-0C87EB9F89A2}">
                  <ask:lineSketchStyleProps xmlns:ask="http://schemas.microsoft.com/office/drawing/2018/sketchyshapes" sd="395084079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fd</a:t>
              </a:r>
            </a:p>
          </p:txBody>
        </p:sp>
        <p:sp>
          <p:nvSpPr>
            <p:cNvPr id="114" name="TextBox 113">
              <a:extLst>
                <a:ext uri="{FF2B5EF4-FFF2-40B4-BE49-F238E27FC236}">
                  <a16:creationId xmlns:a16="http://schemas.microsoft.com/office/drawing/2014/main" id="{21A639E8-F3A2-72A6-DD18-B1B93480F99E}"/>
                </a:ext>
              </a:extLst>
            </p:cNvPr>
            <p:cNvSpPr txBox="1"/>
            <p:nvPr/>
          </p:nvSpPr>
          <p:spPr>
            <a:xfrm>
              <a:off x="8294992" y="5212822"/>
              <a:ext cx="1207734" cy="523220"/>
            </a:xfrm>
            <a:prstGeom prst="rect">
              <a:avLst/>
            </a:prstGeom>
            <a:noFill/>
          </p:spPr>
          <p:txBody>
            <a:bodyPr wrap="square">
              <a:spAutoFit/>
            </a:bodyPr>
            <a:lstStyle/>
            <a:p>
              <a:pPr algn="ctr"/>
              <a:r>
                <a:rPr lang="en-KR" sz="1400" dirty="0">
                  <a:solidFill>
                    <a:schemeClr val="tx1"/>
                  </a:solidFill>
                  <a:latin typeface="Arial" panose="020B0604020202020204" pitchFamily="34" charset="0"/>
                  <a:cs typeface="Arial" panose="020B0604020202020204" pitchFamily="34" charset="0"/>
                </a:rPr>
                <a:t>struct</a:t>
              </a:r>
            </a:p>
            <a:p>
              <a:pPr algn="ctr"/>
              <a:r>
                <a:rPr lang="en-KR" sz="1400" dirty="0">
                  <a:latin typeface="Arial" panose="020B0604020202020204" pitchFamily="34" charset="0"/>
                  <a:cs typeface="Arial" panose="020B0604020202020204" pitchFamily="34" charset="0"/>
                </a:rPr>
                <a:t>fdtable</a:t>
              </a:r>
              <a:endParaRPr lang="en-KR" sz="1400" dirty="0">
                <a:solidFill>
                  <a:schemeClr val="tx1"/>
                </a:solidFill>
                <a:latin typeface="Arial" panose="020B0604020202020204" pitchFamily="34" charset="0"/>
                <a:cs typeface="Arial" panose="020B0604020202020204" pitchFamily="34" charset="0"/>
              </a:endParaRPr>
            </a:p>
          </p:txBody>
        </p:sp>
        <p:cxnSp>
          <p:nvCxnSpPr>
            <p:cNvPr id="115" name="Straight Arrow Connector 114">
              <a:extLst>
                <a:ext uri="{FF2B5EF4-FFF2-40B4-BE49-F238E27FC236}">
                  <a16:creationId xmlns:a16="http://schemas.microsoft.com/office/drawing/2014/main" id="{CA90C244-AF0F-7ACC-C974-ABFCD0286E96}"/>
                </a:ext>
              </a:extLst>
            </p:cNvPr>
            <p:cNvCxnSpPr>
              <a:cxnSpLocks/>
              <a:stCxn id="108" idx="3"/>
            </p:cNvCxnSpPr>
            <p:nvPr/>
          </p:nvCxnSpPr>
          <p:spPr>
            <a:xfrm flipV="1">
              <a:off x="6718672" y="5760247"/>
              <a:ext cx="381818" cy="1682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48AB5FCC-054C-E951-10EA-2AF38ADF1C1C}"/>
                </a:ext>
              </a:extLst>
            </p:cNvPr>
            <p:cNvCxnSpPr>
              <a:cxnSpLocks/>
              <a:stCxn id="110" idx="3"/>
            </p:cNvCxnSpPr>
            <p:nvPr/>
          </p:nvCxnSpPr>
          <p:spPr>
            <a:xfrm flipV="1">
              <a:off x="8064638" y="5765194"/>
              <a:ext cx="348346" cy="2303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D960CC74-ACED-A0EE-6020-80ECF0E4ED32}"/>
                </a:ext>
              </a:extLst>
            </p:cNvPr>
            <p:cNvCxnSpPr>
              <a:cxnSpLocks/>
              <a:stCxn id="113" idx="3"/>
            </p:cNvCxnSpPr>
            <p:nvPr/>
          </p:nvCxnSpPr>
          <p:spPr>
            <a:xfrm flipV="1">
              <a:off x="9393552" y="5670067"/>
              <a:ext cx="294157" cy="34693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Explosion 1 2">
              <a:extLst>
                <a:ext uri="{FF2B5EF4-FFF2-40B4-BE49-F238E27FC236}">
                  <a16:creationId xmlns:a16="http://schemas.microsoft.com/office/drawing/2014/main" id="{07065DCC-FAFB-94BA-0875-FD7A82FD1AC3}"/>
                </a:ext>
              </a:extLst>
            </p:cNvPr>
            <p:cNvSpPr/>
            <p:nvPr/>
          </p:nvSpPr>
          <p:spPr>
            <a:xfrm>
              <a:off x="5548803" y="5882141"/>
              <a:ext cx="354962" cy="362336"/>
            </a:xfrm>
            <a:prstGeom prst="irregularSeal1">
              <a:avLst/>
            </a:prstGeom>
            <a:solidFill>
              <a:srgbClr val="FFCBC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4" name="Explosion 1 3">
              <a:extLst>
                <a:ext uri="{FF2B5EF4-FFF2-40B4-BE49-F238E27FC236}">
                  <a16:creationId xmlns:a16="http://schemas.microsoft.com/office/drawing/2014/main" id="{5F41317A-72D8-8CD8-DF43-65B3D817537B}"/>
                </a:ext>
              </a:extLst>
            </p:cNvPr>
            <p:cNvSpPr/>
            <p:nvPr/>
          </p:nvSpPr>
          <p:spPr>
            <a:xfrm>
              <a:off x="6977936" y="5938602"/>
              <a:ext cx="354962" cy="362336"/>
            </a:xfrm>
            <a:prstGeom prst="irregularSeal1">
              <a:avLst/>
            </a:prstGeom>
            <a:solidFill>
              <a:srgbClr val="FFCBC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4" name="Explosion 1 13">
              <a:extLst>
                <a:ext uri="{FF2B5EF4-FFF2-40B4-BE49-F238E27FC236}">
                  <a16:creationId xmlns:a16="http://schemas.microsoft.com/office/drawing/2014/main" id="{E2CCF614-1B09-51B5-A74C-DFBBF9F17546}"/>
                </a:ext>
              </a:extLst>
            </p:cNvPr>
            <p:cNvSpPr/>
            <p:nvPr/>
          </p:nvSpPr>
          <p:spPr>
            <a:xfrm>
              <a:off x="8252622" y="5910640"/>
              <a:ext cx="354962" cy="362336"/>
            </a:xfrm>
            <a:prstGeom prst="irregularSeal1">
              <a:avLst/>
            </a:prstGeom>
            <a:solidFill>
              <a:srgbClr val="FFCBC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7" name="Explosion 1 16">
              <a:extLst>
                <a:ext uri="{FF2B5EF4-FFF2-40B4-BE49-F238E27FC236}">
                  <a16:creationId xmlns:a16="http://schemas.microsoft.com/office/drawing/2014/main" id="{7CF5B1AE-257B-DFE0-3216-6528C317CCB9}"/>
                </a:ext>
              </a:extLst>
            </p:cNvPr>
            <p:cNvSpPr/>
            <p:nvPr/>
          </p:nvSpPr>
          <p:spPr>
            <a:xfrm>
              <a:off x="10567398" y="5498876"/>
              <a:ext cx="354962" cy="362336"/>
            </a:xfrm>
            <a:prstGeom prst="irregularSeal1">
              <a:avLst/>
            </a:prstGeom>
            <a:solidFill>
              <a:srgbClr val="FFCBC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grpSp>
      <p:sp>
        <p:nvSpPr>
          <p:cNvPr id="27" name="TextBox 26">
            <a:extLst>
              <a:ext uri="{FF2B5EF4-FFF2-40B4-BE49-F238E27FC236}">
                <a16:creationId xmlns:a16="http://schemas.microsoft.com/office/drawing/2014/main" id="{8D887AD5-A7AA-9574-9203-65C138C6082B}"/>
              </a:ext>
            </a:extLst>
          </p:cNvPr>
          <p:cNvSpPr txBox="1"/>
          <p:nvPr/>
        </p:nvSpPr>
        <p:spPr>
          <a:xfrm>
            <a:off x="5349569" y="4310999"/>
            <a:ext cx="5877232" cy="782137"/>
          </a:xfrm>
          <a:prstGeom prst="rect">
            <a:avLst/>
          </a:prstGeom>
          <a:noFill/>
        </p:spPr>
        <p:txBody>
          <a:bodyPr wrap="square">
            <a:spAutoFit/>
          </a:bodyPr>
          <a:lstStyle/>
          <a:p>
            <a:pPr>
              <a:lnSpc>
                <a:spcPct val="130000"/>
              </a:lnSpc>
            </a:pPr>
            <a:r>
              <a:rPr lang="en-KR" b="1" dirty="0">
                <a:latin typeface="Arial" panose="020B0604020202020204" pitchFamily="34" charset="0"/>
                <a:cs typeface="Arial" panose="020B0604020202020204" pitchFamily="34" charset="0"/>
              </a:rPr>
              <a:t>Bypass permission check</a:t>
            </a:r>
          </a:p>
          <a:p>
            <a:pPr>
              <a:lnSpc>
                <a:spcPct val="130000"/>
              </a:lnSpc>
            </a:pPr>
            <a:r>
              <a:rPr lang="en-KR" dirty="0">
                <a:latin typeface="Arial" panose="020B0604020202020204" pitchFamily="34" charset="0"/>
                <a:cs typeface="Arial" panose="020B0604020202020204" pitchFamily="34" charset="0"/>
              </a:rPr>
              <a:t> ↳ </a:t>
            </a:r>
            <a:r>
              <a:rPr lang="en-KR" b="1" dirty="0">
                <a:solidFill>
                  <a:srgbClr val="C00000"/>
                </a:solidFill>
                <a:latin typeface="Arial" panose="020B0604020202020204" pitchFamily="34" charset="0"/>
                <a:cs typeface="Arial" panose="020B0604020202020204" pitchFamily="34" charset="0"/>
              </a:rPr>
              <a:t>Grant file access </a:t>
            </a:r>
            <a:r>
              <a:rPr lang="en-KR" dirty="0">
                <a:latin typeface="Arial" panose="020B0604020202020204" pitchFamily="34" charset="0"/>
                <a:cs typeface="Arial" panose="020B0604020202020204" pitchFamily="34" charset="0"/>
              </a:rPr>
              <a:t>by forging </a:t>
            </a:r>
            <a:r>
              <a:rPr lang="en-KR" b="1" dirty="0">
                <a:solidFill>
                  <a:srgbClr val="C00000"/>
                </a:solidFill>
                <a:latin typeface="Arial" panose="020B0604020202020204" pitchFamily="34" charset="0"/>
                <a:cs typeface="Arial" panose="020B0604020202020204" pitchFamily="34" charset="0"/>
              </a:rPr>
              <a:t>file descriptor</a:t>
            </a:r>
            <a:endParaRPr lang="en-KR" dirty="0">
              <a:solidFill>
                <a:srgbClr val="C00000"/>
              </a:solidFill>
            </a:endParaRPr>
          </a:p>
        </p:txBody>
      </p:sp>
      <p:sp>
        <p:nvSpPr>
          <p:cNvPr id="11" name="TextBox 10">
            <a:extLst>
              <a:ext uri="{FF2B5EF4-FFF2-40B4-BE49-F238E27FC236}">
                <a16:creationId xmlns:a16="http://schemas.microsoft.com/office/drawing/2014/main" id="{54A9B34B-4CC4-B0F5-370C-02C5A07DBCE3}"/>
              </a:ext>
            </a:extLst>
          </p:cNvPr>
          <p:cNvSpPr txBox="1"/>
          <p:nvPr/>
        </p:nvSpPr>
        <p:spPr>
          <a:xfrm>
            <a:off x="3957643" y="1592088"/>
            <a:ext cx="1031051" cy="369332"/>
          </a:xfrm>
          <a:prstGeom prst="rect">
            <a:avLst/>
          </a:prstGeom>
          <a:noFill/>
        </p:spPr>
        <p:txBody>
          <a:bodyPr wrap="square" rtlCol="0">
            <a:spAutoFit/>
          </a:bodyPr>
          <a:lstStyle/>
          <a:p>
            <a:pPr algn="l"/>
            <a:r>
              <a:rPr lang="en-KR" dirty="0">
                <a:latin typeface="Arial" panose="020B0604020202020204" pitchFamily="34" charset="0"/>
                <a:cs typeface="Arial" panose="020B0604020202020204" pitchFamily="34" charset="0"/>
              </a:rPr>
              <a:t>Attacker</a:t>
            </a:r>
          </a:p>
        </p:txBody>
      </p:sp>
      <p:sp>
        <p:nvSpPr>
          <p:cNvPr id="20" name="Rounded Rectangle 19">
            <a:extLst>
              <a:ext uri="{FF2B5EF4-FFF2-40B4-BE49-F238E27FC236}">
                <a16:creationId xmlns:a16="http://schemas.microsoft.com/office/drawing/2014/main" id="{25E3BBA4-490E-852A-1EA7-C79D81E15388}"/>
              </a:ext>
            </a:extLst>
          </p:cNvPr>
          <p:cNvSpPr/>
          <p:nvPr/>
        </p:nvSpPr>
        <p:spPr>
          <a:xfrm>
            <a:off x="1195236" y="2874094"/>
            <a:ext cx="3906112" cy="865174"/>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accent4">
                    <a:lumMod val="75000"/>
                  </a:schemeClr>
                </a:solidFill>
                <a:latin typeface="Arial" panose="020B0604020202020204" pitchFamily="34" charset="0"/>
                <a:cs typeface="Arial" panose="020B0604020202020204" pitchFamily="34" charset="0"/>
              </a:rPr>
              <a:t>Policy</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 cred, uid, owner, mode</a:t>
            </a:r>
          </a:p>
        </p:txBody>
      </p:sp>
      <p:sp>
        <p:nvSpPr>
          <p:cNvPr id="21" name="Rounded Rectangle 20">
            <a:extLst>
              <a:ext uri="{FF2B5EF4-FFF2-40B4-BE49-F238E27FC236}">
                <a16:creationId xmlns:a16="http://schemas.microsoft.com/office/drawing/2014/main" id="{C3E573DD-997D-3F91-6B33-DEF23A04A50D}"/>
              </a:ext>
            </a:extLst>
          </p:cNvPr>
          <p:cNvSpPr/>
          <p:nvPr/>
        </p:nvSpPr>
        <p:spPr>
          <a:xfrm>
            <a:off x="1195236" y="4119098"/>
            <a:ext cx="3906112" cy="865174"/>
          </a:xfrm>
          <a:prstGeom prst="roundRect">
            <a:avLst/>
          </a:prstGeom>
          <a:solidFill>
            <a:srgbClr val="FFD7D3"/>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accent6">
                    <a:lumMod val="75000"/>
                  </a:schemeClr>
                </a:solidFill>
                <a:latin typeface="Arial" panose="020B0604020202020204" pitchFamily="34" charset="0"/>
                <a:cs typeface="Arial" panose="020B0604020202020204" pitchFamily="34" charset="0"/>
              </a:rPr>
              <a:t>Enforcement</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 DAC permission check</a:t>
            </a:r>
          </a:p>
        </p:txBody>
      </p:sp>
      <p:sp>
        <p:nvSpPr>
          <p:cNvPr id="22" name="Rounded Rectangle 21">
            <a:extLst>
              <a:ext uri="{FF2B5EF4-FFF2-40B4-BE49-F238E27FC236}">
                <a16:creationId xmlns:a16="http://schemas.microsoft.com/office/drawing/2014/main" id="{4C199BED-BA0A-7795-574D-6B8A95B379CC}"/>
              </a:ext>
            </a:extLst>
          </p:cNvPr>
          <p:cNvSpPr/>
          <p:nvPr/>
        </p:nvSpPr>
        <p:spPr>
          <a:xfrm>
            <a:off x="1197296" y="5286950"/>
            <a:ext cx="3906112" cy="865174"/>
          </a:xfrm>
          <a:prstGeom prst="roundRect">
            <a:avLst/>
          </a:prstGeom>
          <a:solidFill>
            <a:srgbClr val="FFD7D3"/>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accent1"/>
                </a:solidFill>
                <a:latin typeface="Arial" panose="020B0604020202020204" pitchFamily="34" charset="0"/>
                <a:cs typeface="Arial" panose="020B0604020202020204" pitchFamily="34" charset="0"/>
              </a:rPr>
              <a:t>Resource</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 files, fdt, fd, mode, mapping</a:t>
            </a:r>
          </a:p>
        </p:txBody>
      </p:sp>
      <p:sp>
        <p:nvSpPr>
          <p:cNvPr id="23" name="TextBox 22">
            <a:extLst>
              <a:ext uri="{FF2B5EF4-FFF2-40B4-BE49-F238E27FC236}">
                <a16:creationId xmlns:a16="http://schemas.microsoft.com/office/drawing/2014/main" id="{7F11895C-DAAB-C6AC-B625-1B0ED155823C}"/>
              </a:ext>
            </a:extLst>
          </p:cNvPr>
          <p:cNvSpPr txBox="1"/>
          <p:nvPr/>
        </p:nvSpPr>
        <p:spPr>
          <a:xfrm>
            <a:off x="5755171" y="1419681"/>
            <a:ext cx="5275502" cy="369332"/>
          </a:xfrm>
          <a:prstGeom prst="rect">
            <a:avLst/>
          </a:prstGeom>
          <a:noFill/>
        </p:spPr>
        <p:txBody>
          <a:bodyPr wrap="square" rtlCol="0">
            <a:spAutoFit/>
          </a:bodyPr>
          <a:lstStyle/>
          <a:p>
            <a:pPr algn="l"/>
            <a:r>
              <a:rPr lang="en-KR" b="1" dirty="0">
                <a:solidFill>
                  <a:srgbClr val="C00000"/>
                </a:solidFill>
                <a:latin typeface="Arial" panose="020B0604020202020204" pitchFamily="34" charset="0"/>
                <a:cs typeface="Arial" panose="020B0604020202020204" pitchFamily="34" charset="0"/>
              </a:rPr>
              <a:t>Vulnerable SYSCALLs</a:t>
            </a:r>
          </a:p>
        </p:txBody>
      </p:sp>
      <p:sp>
        <p:nvSpPr>
          <p:cNvPr id="24" name="TextBox 23">
            <a:extLst>
              <a:ext uri="{FF2B5EF4-FFF2-40B4-BE49-F238E27FC236}">
                <a16:creationId xmlns:a16="http://schemas.microsoft.com/office/drawing/2014/main" id="{6A40B1CC-F0C8-0A58-C6F1-67782BF808C3}"/>
              </a:ext>
            </a:extLst>
          </p:cNvPr>
          <p:cNvSpPr txBox="1"/>
          <p:nvPr/>
        </p:nvSpPr>
        <p:spPr>
          <a:xfrm>
            <a:off x="8709053" y="1748976"/>
            <a:ext cx="1505534" cy="369332"/>
          </a:xfrm>
          <a:prstGeom prst="rect">
            <a:avLst/>
          </a:prstGeom>
          <a:solidFill>
            <a:schemeClr val="bg1"/>
          </a:solidFill>
        </p:spPr>
        <p:txBody>
          <a:bodyPr wrap="square" rtlCol="0">
            <a:spAutoFit/>
          </a:bodyPr>
          <a:lstStyle/>
          <a:p>
            <a:pPr algn="l"/>
            <a:r>
              <a:rPr lang="en-KR" dirty="0">
                <a:latin typeface="Arial" panose="020B0604020202020204" pitchFamily="34" charset="0"/>
                <a:cs typeface="Arial" panose="020B0604020202020204" pitchFamily="34" charset="0"/>
              </a:rPr>
              <a:t>→ </a:t>
            </a:r>
            <a:r>
              <a:rPr lang="en-KR" b="1" dirty="0">
                <a:solidFill>
                  <a:srgbClr val="C00000"/>
                </a:solidFill>
                <a:latin typeface="Arial" panose="020B0604020202020204" pitchFamily="34" charset="0"/>
                <a:cs typeface="Arial" panose="020B0604020202020204" pitchFamily="34" charset="0"/>
              </a:rPr>
              <a:t>fd</a:t>
            </a:r>
          </a:p>
        </p:txBody>
      </p:sp>
    </p:spTree>
    <p:extLst>
      <p:ext uri="{BB962C8B-B14F-4D97-AF65-F5344CB8AC3E}">
        <p14:creationId xmlns:p14="http://schemas.microsoft.com/office/powerpoint/2010/main" val="3724633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F1DB3-F016-DA66-4763-A5AF8466D3D2}"/>
              </a:ext>
            </a:extLst>
          </p:cNvPr>
          <p:cNvSpPr>
            <a:spLocks noGrp="1"/>
          </p:cNvSpPr>
          <p:nvPr>
            <p:ph type="title"/>
          </p:nvPr>
        </p:nvSpPr>
        <p:spPr/>
        <p:txBody>
          <a:bodyPr>
            <a:normAutofit/>
          </a:bodyPr>
          <a:lstStyle/>
          <a:p>
            <a:r>
              <a:rPr lang="en-KR" sz="4000" dirty="0"/>
              <a:t>PeTAL’s Access Control Integrity</a:t>
            </a:r>
          </a:p>
        </p:txBody>
      </p:sp>
      <p:sp>
        <p:nvSpPr>
          <p:cNvPr id="10" name="Rounded Rectangle 9">
            <a:extLst>
              <a:ext uri="{FF2B5EF4-FFF2-40B4-BE49-F238E27FC236}">
                <a16:creationId xmlns:a16="http://schemas.microsoft.com/office/drawing/2014/main" id="{D452F299-CA68-358E-71BA-B1E7DC9C45A8}"/>
              </a:ext>
            </a:extLst>
          </p:cNvPr>
          <p:cNvSpPr/>
          <p:nvPr/>
        </p:nvSpPr>
        <p:spPr>
          <a:xfrm>
            <a:off x="1027777" y="2059887"/>
            <a:ext cx="3931919" cy="1288523"/>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000" b="1" dirty="0">
                <a:solidFill>
                  <a:schemeClr val="tx1"/>
                </a:solidFill>
                <a:latin typeface="Arial" panose="020B0604020202020204" pitchFamily="34" charset="0"/>
                <a:cs typeface="Arial" panose="020B0604020202020204" pitchFamily="34" charset="0"/>
              </a:rPr>
              <a:t>Policy Integrity</a:t>
            </a:r>
            <a:br>
              <a:rPr lang="en-KR" sz="2000" dirty="0">
                <a:solidFill>
                  <a:schemeClr val="tx1"/>
                </a:solidFill>
                <a:latin typeface="Arial" panose="020B0604020202020204" pitchFamily="34" charset="0"/>
                <a:cs typeface="Arial" panose="020B0604020202020204" pitchFamily="34" charset="0"/>
              </a:rPr>
            </a:br>
            <a:r>
              <a:rPr lang="en-KR" sz="2000" dirty="0">
                <a:solidFill>
                  <a:schemeClr val="tx1"/>
                </a:solidFill>
                <a:latin typeface="Arial" panose="020B0604020202020204" pitchFamily="34" charset="0"/>
                <a:cs typeface="Arial" panose="020B0604020202020204" pitchFamily="34" charset="0"/>
              </a:rPr>
              <a:t>: Ensure </a:t>
            </a:r>
            <a:r>
              <a:rPr lang="en-KR" sz="2000" b="1" dirty="0">
                <a:solidFill>
                  <a:schemeClr val="accent4">
                    <a:lumMod val="75000"/>
                  </a:schemeClr>
                </a:solidFill>
                <a:latin typeface="Arial" panose="020B0604020202020204" pitchFamily="34" charset="0"/>
                <a:cs typeface="Arial" panose="020B0604020202020204" pitchFamily="34" charset="0"/>
              </a:rPr>
              <a:t>policy</a:t>
            </a:r>
            <a:r>
              <a:rPr lang="en-KR" sz="2000" dirty="0">
                <a:solidFill>
                  <a:schemeClr val="accent4">
                    <a:lumMod val="75000"/>
                  </a:schemeClr>
                </a:solidFill>
                <a:latin typeface="Arial" panose="020B0604020202020204" pitchFamily="34" charset="0"/>
                <a:cs typeface="Arial" panose="020B0604020202020204" pitchFamily="34" charset="0"/>
              </a:rPr>
              <a:t> </a:t>
            </a:r>
            <a:r>
              <a:rPr lang="en-KR" sz="2000" dirty="0">
                <a:solidFill>
                  <a:schemeClr val="tx1"/>
                </a:solidFill>
                <a:latin typeface="Arial" panose="020B0604020202020204" pitchFamily="34" charset="0"/>
                <a:cs typeface="Arial" panose="020B0604020202020204" pitchFamily="34" charset="0"/>
              </a:rPr>
              <a:t>is not corrupted</a:t>
            </a:r>
          </a:p>
        </p:txBody>
      </p:sp>
      <p:sp>
        <p:nvSpPr>
          <p:cNvPr id="11" name="Rounded Rectangle 10">
            <a:extLst>
              <a:ext uri="{FF2B5EF4-FFF2-40B4-BE49-F238E27FC236}">
                <a16:creationId xmlns:a16="http://schemas.microsoft.com/office/drawing/2014/main" id="{2901C28C-69DA-C18C-E54A-7620FCBA2B4C}"/>
              </a:ext>
            </a:extLst>
          </p:cNvPr>
          <p:cNvSpPr/>
          <p:nvPr/>
        </p:nvSpPr>
        <p:spPr>
          <a:xfrm>
            <a:off x="1027777" y="4225193"/>
            <a:ext cx="3931919" cy="2033271"/>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000" b="1" dirty="0">
                <a:solidFill>
                  <a:schemeClr val="tx1"/>
                </a:solidFill>
                <a:latin typeface="Arial" panose="020B0604020202020204" pitchFamily="34" charset="0"/>
                <a:cs typeface="Arial" panose="020B0604020202020204" pitchFamily="34" charset="0"/>
              </a:rPr>
              <a:t>Complete Enforcement</a:t>
            </a:r>
            <a:br>
              <a:rPr lang="en-KR" sz="2000" dirty="0">
                <a:solidFill>
                  <a:schemeClr val="tx1"/>
                </a:solidFill>
                <a:latin typeface="Arial" panose="020B0604020202020204" pitchFamily="34" charset="0"/>
                <a:cs typeface="Arial" panose="020B0604020202020204" pitchFamily="34" charset="0"/>
              </a:rPr>
            </a:br>
            <a:r>
              <a:rPr lang="en-KR" sz="2000" dirty="0">
                <a:solidFill>
                  <a:schemeClr val="tx1"/>
                </a:solidFill>
                <a:latin typeface="Arial" panose="020B0604020202020204" pitchFamily="34" charset="0"/>
                <a:cs typeface="Arial" panose="020B0604020202020204" pitchFamily="34" charset="0"/>
              </a:rPr>
              <a:t>: </a:t>
            </a:r>
            <a:r>
              <a:rPr lang="en-US" sz="2000" dirty="0">
                <a:solidFill>
                  <a:schemeClr val="tx1"/>
                </a:solidFill>
                <a:latin typeface="Arial" panose="020B0604020202020204" pitchFamily="34" charset="0"/>
                <a:cs typeface="Arial" panose="020B0604020202020204" pitchFamily="34" charset="0"/>
              </a:rPr>
              <a:t>Ensure </a:t>
            </a:r>
            <a:r>
              <a:rPr lang="en-US" sz="2000" b="1" dirty="0">
                <a:solidFill>
                  <a:schemeClr val="accent6">
                    <a:lumMod val="75000"/>
                  </a:schemeClr>
                </a:solidFill>
                <a:latin typeface="Arial" panose="020B0604020202020204" pitchFamily="34" charset="0"/>
                <a:cs typeface="Arial" panose="020B0604020202020204" pitchFamily="34" charset="0"/>
              </a:rPr>
              <a:t>enforcement</a:t>
            </a:r>
            <a:r>
              <a:rPr lang="en-US" sz="2000" dirty="0">
                <a:solidFill>
                  <a:schemeClr val="tx1"/>
                </a:solidFill>
                <a:latin typeface="Arial" panose="020B0604020202020204" pitchFamily="34" charset="0"/>
                <a:cs typeface="Arial" panose="020B0604020202020204" pitchFamily="34" charset="0"/>
              </a:rPr>
              <a:t> is always enforced when </a:t>
            </a:r>
            <a:r>
              <a:rPr lang="en-US" sz="2000" b="1" dirty="0">
                <a:solidFill>
                  <a:schemeClr val="accent1"/>
                </a:solidFill>
                <a:latin typeface="Arial" panose="020B0604020202020204" pitchFamily="34" charset="0"/>
                <a:cs typeface="Arial" panose="020B0604020202020204" pitchFamily="34" charset="0"/>
              </a:rPr>
              <a:t>resource</a:t>
            </a:r>
            <a:r>
              <a:rPr lang="en-US" sz="2000" b="1" dirty="0">
                <a:solidFill>
                  <a:schemeClr val="tx1"/>
                </a:solidFill>
                <a:latin typeface="Arial" panose="020B0604020202020204" pitchFamily="34" charset="0"/>
                <a:cs typeface="Arial" panose="020B0604020202020204" pitchFamily="34" charset="0"/>
              </a:rPr>
              <a:t> </a:t>
            </a:r>
            <a:r>
              <a:rPr lang="en-US" sz="2000" dirty="0">
                <a:solidFill>
                  <a:schemeClr val="tx1"/>
                </a:solidFill>
                <a:latin typeface="Arial" panose="020B0604020202020204" pitchFamily="34" charset="0"/>
                <a:cs typeface="Arial" panose="020B0604020202020204" pitchFamily="34" charset="0"/>
              </a:rPr>
              <a:t>is accessed</a:t>
            </a:r>
            <a:endParaRPr lang="en-US" sz="2000" b="1" dirty="0">
              <a:solidFill>
                <a:schemeClr val="accent6">
                  <a:lumMod val="75000"/>
                </a:schemeClr>
              </a:solidFill>
              <a:latin typeface="Arial" panose="020B0604020202020204" pitchFamily="34" charset="0"/>
              <a:cs typeface="Arial" panose="020B0604020202020204" pitchFamily="34" charset="0"/>
            </a:endParaRPr>
          </a:p>
        </p:txBody>
      </p:sp>
      <p:grpSp>
        <p:nvGrpSpPr>
          <p:cNvPr id="4" name="Group 3">
            <a:extLst>
              <a:ext uri="{FF2B5EF4-FFF2-40B4-BE49-F238E27FC236}">
                <a16:creationId xmlns:a16="http://schemas.microsoft.com/office/drawing/2014/main" id="{71F05301-FF03-7269-D643-0727B7E8FAE7}"/>
              </a:ext>
            </a:extLst>
          </p:cNvPr>
          <p:cNvGrpSpPr/>
          <p:nvPr/>
        </p:nvGrpSpPr>
        <p:grpSpPr>
          <a:xfrm>
            <a:off x="5696673" y="2011140"/>
            <a:ext cx="4483647" cy="1595045"/>
            <a:chOff x="5696673" y="2011140"/>
            <a:chExt cx="4483647" cy="1595045"/>
          </a:xfrm>
        </p:grpSpPr>
        <p:sp>
          <p:nvSpPr>
            <p:cNvPr id="15" name="Rectangle 14">
              <a:extLst>
                <a:ext uri="{FF2B5EF4-FFF2-40B4-BE49-F238E27FC236}">
                  <a16:creationId xmlns:a16="http://schemas.microsoft.com/office/drawing/2014/main" id="{E5266FF6-BDC0-125E-98C5-7BF5ACDE6F99}"/>
                </a:ext>
              </a:extLst>
            </p:cNvPr>
            <p:cNvSpPr/>
            <p:nvPr/>
          </p:nvSpPr>
          <p:spPr>
            <a:xfrm>
              <a:off x="6211776" y="2683755"/>
              <a:ext cx="960832" cy="609050"/>
            </a:xfrm>
            <a:prstGeom prst="rect">
              <a:avLst/>
            </a:prstGeom>
            <a:solidFill>
              <a:schemeClr val="bg1"/>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9298AF9E-93C1-DA87-5686-A732F1DC24E9}"/>
                </a:ext>
              </a:extLst>
            </p:cNvPr>
            <p:cNvSpPr/>
            <p:nvPr/>
          </p:nvSpPr>
          <p:spPr>
            <a:xfrm>
              <a:off x="7657642" y="2904080"/>
              <a:ext cx="1047941" cy="540212"/>
            </a:xfrm>
            <a:prstGeom prst="rect">
              <a:avLst/>
            </a:prstGeom>
            <a:solidFill>
              <a:schemeClr val="accent4">
                <a:lumMod val="40000"/>
                <a:lumOff val="6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uid capabilities </a:t>
              </a:r>
            </a:p>
          </p:txBody>
        </p:sp>
        <p:sp>
          <p:nvSpPr>
            <p:cNvPr id="18" name="TextBox 17">
              <a:extLst>
                <a:ext uri="{FF2B5EF4-FFF2-40B4-BE49-F238E27FC236}">
                  <a16:creationId xmlns:a16="http://schemas.microsoft.com/office/drawing/2014/main" id="{9CA93FAE-90A5-7D9E-A2B3-160A89833841}"/>
                </a:ext>
              </a:extLst>
            </p:cNvPr>
            <p:cNvSpPr txBox="1"/>
            <p:nvPr/>
          </p:nvSpPr>
          <p:spPr>
            <a:xfrm>
              <a:off x="6184822" y="2119556"/>
              <a:ext cx="1047941" cy="523220"/>
            </a:xfrm>
            <a:prstGeom prst="rect">
              <a:avLst/>
            </a:prstGeom>
            <a:noFill/>
          </p:spPr>
          <p:txBody>
            <a:bodyPr wrap="square">
              <a:spAutoFit/>
            </a:bodyPr>
            <a:lstStyle/>
            <a:p>
              <a:pPr algn="ctr"/>
              <a:r>
                <a:rPr lang="en-KR" sz="1400" dirty="0">
                  <a:solidFill>
                    <a:schemeClr val="tx1"/>
                  </a:solidFill>
                  <a:latin typeface="Arial" panose="020B0604020202020204" pitchFamily="34" charset="0"/>
                  <a:cs typeface="Arial" panose="020B0604020202020204" pitchFamily="34" charset="0"/>
                </a:rPr>
                <a:t>struct task_struct</a:t>
              </a:r>
            </a:p>
          </p:txBody>
        </p:sp>
        <p:sp>
          <p:nvSpPr>
            <p:cNvPr id="69" name="Rectangle 68">
              <a:extLst>
                <a:ext uri="{FF2B5EF4-FFF2-40B4-BE49-F238E27FC236}">
                  <a16:creationId xmlns:a16="http://schemas.microsoft.com/office/drawing/2014/main" id="{CD97D1FF-18DF-3893-FD37-E5A434FBE40D}"/>
                </a:ext>
              </a:extLst>
            </p:cNvPr>
            <p:cNvSpPr/>
            <p:nvPr/>
          </p:nvSpPr>
          <p:spPr>
            <a:xfrm>
              <a:off x="6211776" y="2838847"/>
              <a:ext cx="960832" cy="289169"/>
            </a:xfrm>
            <a:prstGeom prst="rect">
              <a:avLst/>
            </a:prstGeom>
            <a:solidFill>
              <a:schemeClr val="accent4">
                <a:lumMod val="40000"/>
                <a:lumOff val="6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cred</a:t>
              </a:r>
            </a:p>
          </p:txBody>
        </p:sp>
        <p:cxnSp>
          <p:nvCxnSpPr>
            <p:cNvPr id="71" name="Straight Arrow Connector 70">
              <a:extLst>
                <a:ext uri="{FF2B5EF4-FFF2-40B4-BE49-F238E27FC236}">
                  <a16:creationId xmlns:a16="http://schemas.microsoft.com/office/drawing/2014/main" id="{BAF27F31-8A3D-8859-593B-AD67C121417A}"/>
                </a:ext>
              </a:extLst>
            </p:cNvPr>
            <p:cNvCxnSpPr>
              <a:cxnSpLocks/>
            </p:cNvCxnSpPr>
            <p:nvPr/>
          </p:nvCxnSpPr>
          <p:spPr>
            <a:xfrm>
              <a:off x="7172608" y="2983432"/>
              <a:ext cx="47599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D678567C-21AC-B5E0-635D-5585E25B71B5}"/>
                </a:ext>
              </a:extLst>
            </p:cNvPr>
            <p:cNvSpPr txBox="1"/>
            <p:nvPr/>
          </p:nvSpPr>
          <p:spPr>
            <a:xfrm>
              <a:off x="7675113" y="2550769"/>
              <a:ext cx="1042334" cy="307777"/>
            </a:xfrm>
            <a:prstGeom prst="rect">
              <a:avLst/>
            </a:prstGeom>
            <a:noFill/>
          </p:spPr>
          <p:txBody>
            <a:bodyPr wrap="square" rtlCol="0">
              <a:spAutoFit/>
            </a:bodyPr>
            <a:lstStyle/>
            <a:p>
              <a:pPr algn="l"/>
              <a:r>
                <a:rPr lang="en-KR" sz="1400" dirty="0">
                  <a:latin typeface="Arial" panose="020B0604020202020204" pitchFamily="34" charset="0"/>
                  <a:cs typeface="Arial" panose="020B0604020202020204" pitchFamily="34" charset="0"/>
                </a:rPr>
                <a:t>struct cred</a:t>
              </a:r>
            </a:p>
          </p:txBody>
        </p:sp>
        <p:sp>
          <p:nvSpPr>
            <p:cNvPr id="81" name="Rectangle 80">
              <a:extLst>
                <a:ext uri="{FF2B5EF4-FFF2-40B4-BE49-F238E27FC236}">
                  <a16:creationId xmlns:a16="http://schemas.microsoft.com/office/drawing/2014/main" id="{08CDC389-3D36-5B4F-9F1B-0E62DF640543}"/>
                </a:ext>
              </a:extLst>
            </p:cNvPr>
            <p:cNvSpPr/>
            <p:nvPr/>
          </p:nvSpPr>
          <p:spPr>
            <a:xfrm>
              <a:off x="8955136" y="2903572"/>
              <a:ext cx="979588" cy="541919"/>
            </a:xfrm>
            <a:prstGeom prst="rect">
              <a:avLst/>
            </a:prstGeom>
            <a:solidFill>
              <a:schemeClr val="accent4">
                <a:lumMod val="40000"/>
                <a:lumOff val="6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owner mode</a:t>
              </a:r>
            </a:p>
          </p:txBody>
        </p:sp>
        <p:sp>
          <p:nvSpPr>
            <p:cNvPr id="82" name="TextBox 81">
              <a:extLst>
                <a:ext uri="{FF2B5EF4-FFF2-40B4-BE49-F238E27FC236}">
                  <a16:creationId xmlns:a16="http://schemas.microsoft.com/office/drawing/2014/main" id="{736F0BE2-7A30-8957-FAE7-44340CE2DFDE}"/>
                </a:ext>
              </a:extLst>
            </p:cNvPr>
            <p:cNvSpPr txBox="1"/>
            <p:nvPr/>
          </p:nvSpPr>
          <p:spPr>
            <a:xfrm>
              <a:off x="8883116" y="2550261"/>
              <a:ext cx="1117929" cy="307777"/>
            </a:xfrm>
            <a:prstGeom prst="rect">
              <a:avLst/>
            </a:prstGeom>
            <a:noFill/>
          </p:spPr>
          <p:txBody>
            <a:bodyPr wrap="square" rtlCol="0">
              <a:spAutoFit/>
            </a:bodyPr>
            <a:lstStyle/>
            <a:p>
              <a:pPr algn="l"/>
              <a:r>
                <a:rPr lang="en-KR" sz="1400" dirty="0">
                  <a:latin typeface="Arial" panose="020B0604020202020204" pitchFamily="34" charset="0"/>
                  <a:cs typeface="Arial" panose="020B0604020202020204" pitchFamily="34" charset="0"/>
                </a:rPr>
                <a:t>struct inode</a:t>
              </a:r>
            </a:p>
          </p:txBody>
        </p:sp>
        <p:sp>
          <p:nvSpPr>
            <p:cNvPr id="21" name="Rounded Rectangle 20">
              <a:extLst>
                <a:ext uri="{FF2B5EF4-FFF2-40B4-BE49-F238E27FC236}">
                  <a16:creationId xmlns:a16="http://schemas.microsoft.com/office/drawing/2014/main" id="{C5A2D408-5074-4B57-B9AA-EF66B5940F6D}"/>
                </a:ext>
              </a:extLst>
            </p:cNvPr>
            <p:cNvSpPr/>
            <p:nvPr/>
          </p:nvSpPr>
          <p:spPr>
            <a:xfrm>
              <a:off x="5933028" y="2060090"/>
              <a:ext cx="4247292" cy="1546095"/>
            </a:xfrm>
            <a:prstGeom prst="roundRect">
              <a:avLst>
                <a:gd name="adj" fmla="val 5417"/>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pic>
          <p:nvPicPr>
            <p:cNvPr id="22" name="Google Shape;273;p26">
              <a:extLst>
                <a:ext uri="{FF2B5EF4-FFF2-40B4-BE49-F238E27FC236}">
                  <a16:creationId xmlns:a16="http://schemas.microsoft.com/office/drawing/2014/main" id="{5C04A9DD-6AC1-6606-509E-D8439FA1CE0C}"/>
                </a:ext>
              </a:extLst>
            </p:cNvPr>
            <p:cNvPicPr preferRelativeResize="0"/>
            <p:nvPr/>
          </p:nvPicPr>
          <p:blipFill>
            <a:blip r:embed="rId3">
              <a:alphaModFix/>
            </a:blip>
            <a:stretch>
              <a:fillRect/>
            </a:stretch>
          </p:blipFill>
          <p:spPr>
            <a:xfrm>
              <a:off x="5696673" y="2011140"/>
              <a:ext cx="408211" cy="408211"/>
            </a:xfrm>
            <a:prstGeom prst="rect">
              <a:avLst/>
            </a:prstGeom>
            <a:solidFill>
              <a:schemeClr val="bg1"/>
            </a:solidFill>
            <a:ln>
              <a:noFill/>
            </a:ln>
          </p:spPr>
        </p:pic>
      </p:grpSp>
      <p:sp>
        <p:nvSpPr>
          <p:cNvPr id="23" name="Slide Number Placeholder 5">
            <a:extLst>
              <a:ext uri="{FF2B5EF4-FFF2-40B4-BE49-F238E27FC236}">
                <a16:creationId xmlns:a16="http://schemas.microsoft.com/office/drawing/2014/main" id="{4136E7D4-FB25-9774-12A2-AE0194D8454C}"/>
              </a:ext>
            </a:extLst>
          </p:cNvPr>
          <p:cNvSpPr>
            <a:spLocks noGrp="1"/>
          </p:cNvSpPr>
          <p:nvPr>
            <p:ph type="sldNum" sz="quarter" idx="12"/>
          </p:nvPr>
        </p:nvSpPr>
        <p:spPr>
          <a:xfrm>
            <a:off x="8610600" y="6356350"/>
            <a:ext cx="2743200" cy="365125"/>
          </a:xfrm>
        </p:spPr>
        <p:txBody>
          <a:bodyPr/>
          <a:lstStyle/>
          <a:p>
            <a:fld id="{9ED31AF7-B9C1-7944-AC45-A988640FDEFC}" type="slidenum">
              <a:rPr lang="en-KR" smtClean="0"/>
              <a:t>11</a:t>
            </a:fld>
            <a:endParaRPr lang="en-KR" dirty="0"/>
          </a:p>
        </p:txBody>
      </p:sp>
      <p:sp>
        <p:nvSpPr>
          <p:cNvPr id="3" name="TextBox 2">
            <a:extLst>
              <a:ext uri="{FF2B5EF4-FFF2-40B4-BE49-F238E27FC236}">
                <a16:creationId xmlns:a16="http://schemas.microsoft.com/office/drawing/2014/main" id="{7CFC7733-A78A-3763-9BBB-D6BEF66A78D1}"/>
              </a:ext>
            </a:extLst>
          </p:cNvPr>
          <p:cNvSpPr txBox="1"/>
          <p:nvPr/>
        </p:nvSpPr>
        <p:spPr>
          <a:xfrm>
            <a:off x="838200" y="1360220"/>
            <a:ext cx="5717593" cy="400110"/>
          </a:xfrm>
          <a:prstGeom prst="rect">
            <a:avLst/>
          </a:prstGeom>
          <a:noFill/>
        </p:spPr>
        <p:txBody>
          <a:bodyPr wrap="square">
            <a:spAutoFit/>
          </a:bodyPr>
          <a:lstStyle/>
          <a:p>
            <a:pPr marL="342900" indent="-342900" algn="l">
              <a:buAutoNum type="arabicPeriod"/>
            </a:pPr>
            <a:r>
              <a:rPr lang="en-KR" sz="2000" b="1" i="1" dirty="0">
                <a:latin typeface="Arial" panose="020B0604020202020204" pitchFamily="34" charset="0"/>
                <a:cs typeface="Arial" panose="020B0604020202020204" pitchFamily="34" charset="0"/>
              </a:rPr>
              <a:t>What should be protected?</a:t>
            </a:r>
          </a:p>
        </p:txBody>
      </p:sp>
      <p:sp>
        <p:nvSpPr>
          <p:cNvPr id="5" name="TextBox 4">
            <a:extLst>
              <a:ext uri="{FF2B5EF4-FFF2-40B4-BE49-F238E27FC236}">
                <a16:creationId xmlns:a16="http://schemas.microsoft.com/office/drawing/2014/main" id="{A18D4F8C-2BE3-057D-66E5-43F1E9EF7B3C}"/>
              </a:ext>
            </a:extLst>
          </p:cNvPr>
          <p:cNvSpPr txBox="1"/>
          <p:nvPr/>
        </p:nvSpPr>
        <p:spPr>
          <a:xfrm>
            <a:off x="6692192" y="1595979"/>
            <a:ext cx="4925744" cy="400110"/>
          </a:xfrm>
          <a:prstGeom prst="rect">
            <a:avLst/>
          </a:prstGeom>
          <a:noFill/>
        </p:spPr>
        <p:txBody>
          <a:bodyPr wrap="square">
            <a:spAutoFit/>
          </a:bodyPr>
          <a:lstStyle/>
          <a:p>
            <a:pPr algn="l"/>
            <a:r>
              <a:rPr lang="en-US" altLang="ko-KR" sz="2000" b="1" i="1" dirty="0">
                <a:solidFill>
                  <a:schemeClr val="accent4">
                    <a:lumMod val="75000"/>
                  </a:schemeClr>
                </a:solidFill>
                <a:latin typeface="Arial" panose="020B0604020202020204" pitchFamily="34" charset="0"/>
                <a:cs typeface="Arial" panose="020B0604020202020204" pitchFamily="34" charset="0"/>
              </a:rPr>
              <a:t>Policy</a:t>
            </a:r>
            <a:r>
              <a:rPr lang="en-US" altLang="ko-KR" sz="2000" i="1" dirty="0">
                <a:latin typeface="Arial" panose="020B0604020202020204" pitchFamily="34" charset="0"/>
                <a:cs typeface="Arial" panose="020B0604020202020204" pitchFamily="34" charset="0"/>
              </a:rPr>
              <a:t> should be protected</a:t>
            </a:r>
            <a:endParaRPr lang="en-KR" sz="2000" i="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B265D04-03BF-1923-6073-2D91838EA52A}"/>
              </a:ext>
            </a:extLst>
          </p:cNvPr>
          <p:cNvSpPr txBox="1"/>
          <p:nvPr/>
        </p:nvSpPr>
        <p:spPr>
          <a:xfrm>
            <a:off x="6492264" y="3720129"/>
            <a:ext cx="4925744" cy="400110"/>
          </a:xfrm>
          <a:prstGeom prst="rect">
            <a:avLst/>
          </a:prstGeom>
          <a:noFill/>
        </p:spPr>
        <p:txBody>
          <a:bodyPr wrap="square">
            <a:spAutoFit/>
          </a:bodyPr>
          <a:lstStyle/>
          <a:p>
            <a:pPr algn="l"/>
            <a:r>
              <a:rPr lang="en-US" altLang="ko-KR" sz="2000" b="1" i="1" dirty="0">
                <a:solidFill>
                  <a:schemeClr val="accent1"/>
                </a:solidFill>
                <a:latin typeface="Arial" panose="020B0604020202020204" pitchFamily="34" charset="0"/>
                <a:cs typeface="Arial" panose="020B0604020202020204" pitchFamily="34" charset="0"/>
              </a:rPr>
              <a:t>Resource</a:t>
            </a:r>
            <a:r>
              <a:rPr lang="en-US" altLang="ko-KR" sz="2000" b="1" i="1" dirty="0">
                <a:solidFill>
                  <a:schemeClr val="accent6">
                    <a:lumMod val="75000"/>
                  </a:schemeClr>
                </a:solidFill>
                <a:latin typeface="Arial" panose="020B0604020202020204" pitchFamily="34" charset="0"/>
                <a:cs typeface="Arial" panose="020B0604020202020204" pitchFamily="34" charset="0"/>
              </a:rPr>
              <a:t> </a:t>
            </a:r>
            <a:r>
              <a:rPr lang="en-US" altLang="ko-KR" sz="2000" i="1" dirty="0">
                <a:latin typeface="Arial" panose="020B0604020202020204" pitchFamily="34" charset="0"/>
                <a:cs typeface="Arial" panose="020B0604020202020204" pitchFamily="34" charset="0"/>
              </a:rPr>
              <a:t>should also be protected</a:t>
            </a:r>
            <a:endParaRPr lang="en-KR" sz="2000" i="1" dirty="0">
              <a:latin typeface="Arial" panose="020B0604020202020204" pitchFamily="34" charset="0"/>
              <a:cs typeface="Arial" panose="020B0604020202020204" pitchFamily="34" charset="0"/>
            </a:endParaRPr>
          </a:p>
        </p:txBody>
      </p:sp>
      <p:grpSp>
        <p:nvGrpSpPr>
          <p:cNvPr id="12" name="Group 11">
            <a:extLst>
              <a:ext uri="{FF2B5EF4-FFF2-40B4-BE49-F238E27FC236}">
                <a16:creationId xmlns:a16="http://schemas.microsoft.com/office/drawing/2014/main" id="{03B20AB0-70E4-66D3-B947-494DB7D0BC5E}"/>
              </a:ext>
            </a:extLst>
          </p:cNvPr>
          <p:cNvGrpSpPr/>
          <p:nvPr/>
        </p:nvGrpSpPr>
        <p:grpSpPr>
          <a:xfrm>
            <a:off x="5308409" y="4020359"/>
            <a:ext cx="5471351" cy="2359909"/>
            <a:chOff x="5308409" y="4020359"/>
            <a:chExt cx="5471351" cy="2359909"/>
          </a:xfrm>
        </p:grpSpPr>
        <p:sp>
          <p:nvSpPr>
            <p:cNvPr id="89" name="TextBox 88">
              <a:extLst>
                <a:ext uri="{FF2B5EF4-FFF2-40B4-BE49-F238E27FC236}">
                  <a16:creationId xmlns:a16="http://schemas.microsoft.com/office/drawing/2014/main" id="{F519F666-E502-BE27-3C02-48E4E25AB374}"/>
                </a:ext>
              </a:extLst>
            </p:cNvPr>
            <p:cNvSpPr txBox="1"/>
            <p:nvPr/>
          </p:nvSpPr>
          <p:spPr>
            <a:xfrm>
              <a:off x="5750738" y="4364257"/>
              <a:ext cx="4891083" cy="369332"/>
            </a:xfrm>
            <a:prstGeom prst="rect">
              <a:avLst/>
            </a:prstGeom>
            <a:noFill/>
          </p:spPr>
          <p:txBody>
            <a:bodyPr wrap="none" rtlCol="0">
              <a:spAutoFit/>
            </a:bodyPr>
            <a:lstStyle/>
            <a:p>
              <a:pPr algn="l"/>
              <a:r>
                <a:rPr lang="en-KR" b="1" dirty="0">
                  <a:solidFill>
                    <a:schemeClr val="accent6">
                      <a:lumMod val="75000"/>
                    </a:schemeClr>
                  </a:solidFill>
                  <a:latin typeface="Arial" panose="020B0604020202020204" pitchFamily="34" charset="0"/>
                  <a:cs typeface="Arial" panose="020B0604020202020204" pitchFamily="34" charset="0"/>
                </a:rPr>
                <a:t>DAC permission check (cred, inode, mode)</a:t>
              </a:r>
            </a:p>
          </p:txBody>
        </p:sp>
        <p:grpSp>
          <p:nvGrpSpPr>
            <p:cNvPr id="8" name="Group 7">
              <a:extLst>
                <a:ext uri="{FF2B5EF4-FFF2-40B4-BE49-F238E27FC236}">
                  <a16:creationId xmlns:a16="http://schemas.microsoft.com/office/drawing/2014/main" id="{808B66A3-5CA1-7FBE-C7E5-B874EED59C15}"/>
                </a:ext>
              </a:extLst>
            </p:cNvPr>
            <p:cNvGrpSpPr/>
            <p:nvPr/>
          </p:nvGrpSpPr>
          <p:grpSpPr>
            <a:xfrm>
              <a:off x="5876536" y="4976521"/>
              <a:ext cx="4523248" cy="1136897"/>
              <a:chOff x="5759751" y="5057627"/>
              <a:chExt cx="4808239" cy="1208528"/>
            </a:xfrm>
          </p:grpSpPr>
          <p:sp>
            <p:nvSpPr>
              <p:cNvPr id="91" name="Rectangle 90">
                <a:extLst>
                  <a:ext uri="{FF2B5EF4-FFF2-40B4-BE49-F238E27FC236}">
                    <a16:creationId xmlns:a16="http://schemas.microsoft.com/office/drawing/2014/main" id="{2153DA9B-0171-FC65-9157-9FCC29E1E670}"/>
                  </a:ext>
                </a:extLst>
              </p:cNvPr>
              <p:cNvSpPr/>
              <p:nvPr/>
            </p:nvSpPr>
            <p:spPr>
              <a:xfrm>
                <a:off x="9597509" y="5574388"/>
                <a:ext cx="917924" cy="594455"/>
              </a:xfrm>
              <a:prstGeom prst="rect">
                <a:avLst/>
              </a:prstGeom>
              <a:solidFill>
                <a:schemeClr val="accent5">
                  <a:lumMod val="20000"/>
                  <a:lumOff val="8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mode</a:t>
                </a:r>
              </a:p>
              <a:p>
                <a:pPr algn="ctr"/>
                <a:r>
                  <a:rPr lang="en-KR" sz="1400" dirty="0">
                    <a:solidFill>
                      <a:schemeClr val="tx1"/>
                    </a:solidFill>
                    <a:latin typeface="Arial" panose="020B0604020202020204" pitchFamily="34" charset="0"/>
                    <a:cs typeface="Arial" panose="020B0604020202020204" pitchFamily="34" charset="0"/>
                  </a:rPr>
                  <a:t>mapping</a:t>
                </a:r>
              </a:p>
            </p:txBody>
          </p:sp>
          <p:sp>
            <p:nvSpPr>
              <p:cNvPr id="92" name="TextBox 91">
                <a:extLst>
                  <a:ext uri="{FF2B5EF4-FFF2-40B4-BE49-F238E27FC236}">
                    <a16:creationId xmlns:a16="http://schemas.microsoft.com/office/drawing/2014/main" id="{651EAF2D-B871-BBD6-6AD9-BF7FFDD2D62B}"/>
                  </a:ext>
                </a:extLst>
              </p:cNvPr>
              <p:cNvSpPr txBox="1"/>
              <p:nvPr/>
            </p:nvSpPr>
            <p:spPr>
              <a:xfrm>
                <a:off x="9588401" y="5240306"/>
                <a:ext cx="979589" cy="307777"/>
              </a:xfrm>
              <a:prstGeom prst="rect">
                <a:avLst/>
              </a:prstGeom>
              <a:noFill/>
            </p:spPr>
            <p:txBody>
              <a:bodyPr wrap="square" rtlCol="0">
                <a:spAutoFit/>
              </a:bodyPr>
              <a:lstStyle/>
              <a:p>
                <a:pPr algn="ctr"/>
                <a:r>
                  <a:rPr lang="en-KR" sz="1400" dirty="0">
                    <a:latin typeface="Arial" panose="020B0604020202020204" pitchFamily="34" charset="0"/>
                    <a:cs typeface="Arial" panose="020B0604020202020204" pitchFamily="34" charset="0"/>
                  </a:rPr>
                  <a:t>struct file</a:t>
                </a:r>
              </a:p>
            </p:txBody>
          </p:sp>
          <p:sp>
            <p:nvSpPr>
              <p:cNvPr id="106" name="Rectangle 105">
                <a:extLst>
                  <a:ext uri="{FF2B5EF4-FFF2-40B4-BE49-F238E27FC236}">
                    <a16:creationId xmlns:a16="http://schemas.microsoft.com/office/drawing/2014/main" id="{89987362-303C-EF81-6F9D-3FC901F04004}"/>
                  </a:ext>
                </a:extLst>
              </p:cNvPr>
              <p:cNvSpPr/>
              <p:nvPr/>
            </p:nvSpPr>
            <p:spPr>
              <a:xfrm>
                <a:off x="5928178" y="5617680"/>
                <a:ext cx="846088" cy="609050"/>
              </a:xfrm>
              <a:prstGeom prst="rect">
                <a:avLst/>
              </a:prstGeom>
              <a:solidFill>
                <a:schemeClr val="bg1"/>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07" name="TextBox 106">
                <a:extLst>
                  <a:ext uri="{FF2B5EF4-FFF2-40B4-BE49-F238E27FC236}">
                    <a16:creationId xmlns:a16="http://schemas.microsoft.com/office/drawing/2014/main" id="{137EC913-26D3-FBD5-9067-5E0590891E64}"/>
                  </a:ext>
                </a:extLst>
              </p:cNvPr>
              <p:cNvSpPr txBox="1"/>
              <p:nvPr/>
            </p:nvSpPr>
            <p:spPr>
              <a:xfrm>
                <a:off x="5759751" y="5119297"/>
                <a:ext cx="1182941" cy="556186"/>
              </a:xfrm>
              <a:prstGeom prst="rect">
                <a:avLst/>
              </a:prstGeom>
              <a:noFill/>
            </p:spPr>
            <p:txBody>
              <a:bodyPr wrap="square">
                <a:spAutoFit/>
              </a:bodyPr>
              <a:lstStyle/>
              <a:p>
                <a:pPr algn="ctr"/>
                <a:r>
                  <a:rPr lang="en-KR" sz="1400" dirty="0">
                    <a:solidFill>
                      <a:schemeClr val="tx1"/>
                    </a:solidFill>
                    <a:latin typeface="Arial" panose="020B0604020202020204" pitchFamily="34" charset="0"/>
                    <a:cs typeface="Arial" panose="020B0604020202020204" pitchFamily="34" charset="0"/>
                  </a:rPr>
                  <a:t>struct task_struct</a:t>
                </a:r>
              </a:p>
            </p:txBody>
          </p:sp>
          <p:sp>
            <p:nvSpPr>
              <p:cNvPr id="108" name="Rectangle 107">
                <a:extLst>
                  <a:ext uri="{FF2B5EF4-FFF2-40B4-BE49-F238E27FC236}">
                    <a16:creationId xmlns:a16="http://schemas.microsoft.com/office/drawing/2014/main" id="{995C8B7B-C9CD-654D-BC06-2ECF20CAA07D}"/>
                  </a:ext>
                </a:extLst>
              </p:cNvPr>
              <p:cNvSpPr/>
              <p:nvPr/>
            </p:nvSpPr>
            <p:spPr>
              <a:xfrm>
                <a:off x="5928178" y="5731566"/>
                <a:ext cx="846088" cy="289169"/>
              </a:xfrm>
              <a:prstGeom prst="rect">
                <a:avLst/>
              </a:prstGeom>
              <a:solidFill>
                <a:schemeClr val="accent5">
                  <a:lumMod val="20000"/>
                  <a:lumOff val="8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files</a:t>
                </a:r>
              </a:p>
            </p:txBody>
          </p:sp>
          <p:sp>
            <p:nvSpPr>
              <p:cNvPr id="109" name="Rectangle 108">
                <a:extLst>
                  <a:ext uri="{FF2B5EF4-FFF2-40B4-BE49-F238E27FC236}">
                    <a16:creationId xmlns:a16="http://schemas.microsoft.com/office/drawing/2014/main" id="{7FFB25EA-F6B2-3A1F-5BBD-967FF66D16D1}"/>
                  </a:ext>
                </a:extLst>
              </p:cNvPr>
              <p:cNvSpPr/>
              <p:nvPr/>
            </p:nvSpPr>
            <p:spPr>
              <a:xfrm>
                <a:off x="7172608" y="5637750"/>
                <a:ext cx="855806" cy="609050"/>
              </a:xfrm>
              <a:prstGeom prst="rect">
                <a:avLst/>
              </a:prstGeom>
              <a:solidFill>
                <a:schemeClr val="bg1"/>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10" name="Rectangle 109">
                <a:extLst>
                  <a:ext uri="{FF2B5EF4-FFF2-40B4-BE49-F238E27FC236}">
                    <a16:creationId xmlns:a16="http://schemas.microsoft.com/office/drawing/2014/main" id="{99639449-FF9E-E6BE-71CE-7B3368D14AB8}"/>
                  </a:ext>
                </a:extLst>
              </p:cNvPr>
              <p:cNvSpPr/>
              <p:nvPr/>
            </p:nvSpPr>
            <p:spPr>
              <a:xfrm>
                <a:off x="7172608" y="5808510"/>
                <a:ext cx="855806" cy="269378"/>
              </a:xfrm>
              <a:prstGeom prst="rect">
                <a:avLst/>
              </a:prstGeom>
              <a:solidFill>
                <a:schemeClr val="accent5">
                  <a:lumMod val="20000"/>
                  <a:lumOff val="8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fdt</a:t>
                </a:r>
              </a:p>
            </p:txBody>
          </p:sp>
          <p:sp>
            <p:nvSpPr>
              <p:cNvPr id="111" name="TextBox 110">
                <a:extLst>
                  <a:ext uri="{FF2B5EF4-FFF2-40B4-BE49-F238E27FC236}">
                    <a16:creationId xmlns:a16="http://schemas.microsoft.com/office/drawing/2014/main" id="{59F2E897-D0B8-8728-B074-816C1BC2D282}"/>
                  </a:ext>
                </a:extLst>
              </p:cNvPr>
              <p:cNvSpPr txBox="1"/>
              <p:nvPr/>
            </p:nvSpPr>
            <p:spPr>
              <a:xfrm>
                <a:off x="6942692" y="5057627"/>
                <a:ext cx="1207734" cy="523220"/>
              </a:xfrm>
              <a:prstGeom prst="rect">
                <a:avLst/>
              </a:prstGeom>
              <a:noFill/>
            </p:spPr>
            <p:txBody>
              <a:bodyPr wrap="square">
                <a:spAutoFit/>
              </a:bodyPr>
              <a:lstStyle/>
              <a:p>
                <a:pPr algn="ctr"/>
                <a:r>
                  <a:rPr lang="en-KR" sz="1400" dirty="0">
                    <a:solidFill>
                      <a:schemeClr val="tx1"/>
                    </a:solidFill>
                    <a:latin typeface="Arial" panose="020B0604020202020204" pitchFamily="34" charset="0"/>
                    <a:cs typeface="Arial" panose="020B0604020202020204" pitchFamily="34" charset="0"/>
                  </a:rPr>
                  <a:t>struct</a:t>
                </a:r>
              </a:p>
              <a:p>
                <a:pPr algn="ctr"/>
                <a:r>
                  <a:rPr lang="en-KR" sz="1400" dirty="0">
                    <a:latin typeface="Arial" panose="020B0604020202020204" pitchFamily="34" charset="0"/>
                    <a:cs typeface="Arial" panose="020B0604020202020204" pitchFamily="34" charset="0"/>
                  </a:rPr>
                  <a:t>files_struct</a:t>
                </a:r>
                <a:endParaRPr lang="en-KR" sz="1400" dirty="0">
                  <a:solidFill>
                    <a:schemeClr val="tx1"/>
                  </a:solidFill>
                  <a:latin typeface="Arial" panose="020B0604020202020204" pitchFamily="34" charset="0"/>
                  <a:cs typeface="Arial" panose="020B0604020202020204" pitchFamily="34" charset="0"/>
                </a:endParaRPr>
              </a:p>
            </p:txBody>
          </p:sp>
          <p:sp>
            <p:nvSpPr>
              <p:cNvPr id="112" name="Rectangle 111">
                <a:extLst>
                  <a:ext uri="{FF2B5EF4-FFF2-40B4-BE49-F238E27FC236}">
                    <a16:creationId xmlns:a16="http://schemas.microsoft.com/office/drawing/2014/main" id="{C463C075-0A8C-6A26-A2C2-BB06494A68FE}"/>
                  </a:ext>
                </a:extLst>
              </p:cNvPr>
              <p:cNvSpPr/>
              <p:nvPr/>
            </p:nvSpPr>
            <p:spPr>
              <a:xfrm>
                <a:off x="8375360" y="5657105"/>
                <a:ext cx="906737" cy="609050"/>
              </a:xfrm>
              <a:prstGeom prst="rect">
                <a:avLst/>
              </a:prstGeom>
              <a:solidFill>
                <a:schemeClr val="bg1"/>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13" name="Rectangle 112">
                <a:extLst>
                  <a:ext uri="{FF2B5EF4-FFF2-40B4-BE49-F238E27FC236}">
                    <a16:creationId xmlns:a16="http://schemas.microsoft.com/office/drawing/2014/main" id="{B8ADE668-EACA-3E24-63CA-44FCB7E141EC}"/>
                  </a:ext>
                </a:extLst>
              </p:cNvPr>
              <p:cNvSpPr/>
              <p:nvPr/>
            </p:nvSpPr>
            <p:spPr>
              <a:xfrm>
                <a:off x="8375360" y="5820032"/>
                <a:ext cx="906737" cy="289169"/>
              </a:xfrm>
              <a:prstGeom prst="rect">
                <a:avLst/>
              </a:prstGeom>
              <a:solidFill>
                <a:schemeClr val="accent5">
                  <a:lumMod val="20000"/>
                  <a:lumOff val="80000"/>
                </a:schemeClr>
              </a:solidFill>
              <a:ln w="25400">
                <a:solidFill>
                  <a:schemeClr val="tx1"/>
                </a:solidFill>
                <a:extLst>
                  <a:ext uri="{C807C97D-BFC1-408E-A445-0C87EB9F89A2}">
                    <ask:lineSketchStyleProps xmlns:ask="http://schemas.microsoft.com/office/drawing/2018/sketchyshapes" sd="3950840798">
                      <a:custGeom>
                        <a:avLst/>
                        <a:gdLst>
                          <a:gd name="connsiteX0" fmla="*/ 0 w 1330398"/>
                          <a:gd name="connsiteY0" fmla="*/ 0 h 362336"/>
                          <a:gd name="connsiteX1" fmla="*/ 651895 w 1330398"/>
                          <a:gd name="connsiteY1" fmla="*/ 0 h 362336"/>
                          <a:gd name="connsiteX2" fmla="*/ 1330398 w 1330398"/>
                          <a:gd name="connsiteY2" fmla="*/ 0 h 362336"/>
                          <a:gd name="connsiteX3" fmla="*/ 1330398 w 1330398"/>
                          <a:gd name="connsiteY3" fmla="*/ 362336 h 362336"/>
                          <a:gd name="connsiteX4" fmla="*/ 651895 w 1330398"/>
                          <a:gd name="connsiteY4" fmla="*/ 362336 h 362336"/>
                          <a:gd name="connsiteX5" fmla="*/ 0 w 1330398"/>
                          <a:gd name="connsiteY5" fmla="*/ 362336 h 362336"/>
                          <a:gd name="connsiteX6" fmla="*/ 0 w 1330398"/>
                          <a:gd name="connsiteY6" fmla="*/ 0 h 36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0398" h="362336" fill="none" extrusionOk="0">
                            <a:moveTo>
                              <a:pt x="0" y="0"/>
                            </a:moveTo>
                            <a:cubicBezTo>
                              <a:pt x="270115" y="12648"/>
                              <a:pt x="351857" y="-30426"/>
                              <a:pt x="651895" y="0"/>
                            </a:cubicBezTo>
                            <a:cubicBezTo>
                              <a:pt x="951933" y="30426"/>
                              <a:pt x="1110491" y="-8992"/>
                              <a:pt x="1330398" y="0"/>
                            </a:cubicBezTo>
                            <a:cubicBezTo>
                              <a:pt x="1326252" y="96642"/>
                              <a:pt x="1312841" y="231035"/>
                              <a:pt x="1330398" y="362336"/>
                            </a:cubicBezTo>
                            <a:cubicBezTo>
                              <a:pt x="1127670" y="393673"/>
                              <a:pt x="983549" y="339574"/>
                              <a:pt x="651895" y="362336"/>
                            </a:cubicBezTo>
                            <a:cubicBezTo>
                              <a:pt x="320241" y="385098"/>
                              <a:pt x="151139" y="379638"/>
                              <a:pt x="0" y="362336"/>
                            </a:cubicBezTo>
                            <a:cubicBezTo>
                              <a:pt x="-1096" y="196900"/>
                              <a:pt x="17153" y="140012"/>
                              <a:pt x="0" y="0"/>
                            </a:cubicBezTo>
                            <a:close/>
                          </a:path>
                          <a:path w="1330398" h="362336" stroke="0" extrusionOk="0">
                            <a:moveTo>
                              <a:pt x="0" y="0"/>
                            </a:moveTo>
                            <a:cubicBezTo>
                              <a:pt x="180300" y="18053"/>
                              <a:pt x="469558" y="26096"/>
                              <a:pt x="691807" y="0"/>
                            </a:cubicBezTo>
                            <a:cubicBezTo>
                              <a:pt x="914056" y="-26096"/>
                              <a:pt x="1072112" y="28911"/>
                              <a:pt x="1330398" y="0"/>
                            </a:cubicBezTo>
                            <a:cubicBezTo>
                              <a:pt x="1336742" y="93867"/>
                              <a:pt x="1343126" y="270783"/>
                              <a:pt x="1330398" y="362336"/>
                            </a:cubicBezTo>
                            <a:cubicBezTo>
                              <a:pt x="1129189" y="374571"/>
                              <a:pt x="961657" y="336911"/>
                              <a:pt x="665199" y="362336"/>
                            </a:cubicBezTo>
                            <a:cubicBezTo>
                              <a:pt x="368741" y="387761"/>
                              <a:pt x="275713" y="335879"/>
                              <a:pt x="0" y="362336"/>
                            </a:cubicBezTo>
                            <a:cubicBezTo>
                              <a:pt x="6090" y="289738"/>
                              <a:pt x="-11335" y="177731"/>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fd</a:t>
                </a:r>
              </a:p>
            </p:txBody>
          </p:sp>
          <p:sp>
            <p:nvSpPr>
              <p:cNvPr id="114" name="TextBox 113">
                <a:extLst>
                  <a:ext uri="{FF2B5EF4-FFF2-40B4-BE49-F238E27FC236}">
                    <a16:creationId xmlns:a16="http://schemas.microsoft.com/office/drawing/2014/main" id="{21A639E8-F3A2-72A6-DD18-B1B93480F99E}"/>
                  </a:ext>
                </a:extLst>
              </p:cNvPr>
              <p:cNvSpPr txBox="1"/>
              <p:nvPr/>
            </p:nvSpPr>
            <p:spPr>
              <a:xfrm>
                <a:off x="8251534" y="5160435"/>
                <a:ext cx="1139738" cy="523220"/>
              </a:xfrm>
              <a:prstGeom prst="rect">
                <a:avLst/>
              </a:prstGeom>
              <a:noFill/>
            </p:spPr>
            <p:txBody>
              <a:bodyPr wrap="square">
                <a:spAutoFit/>
              </a:bodyPr>
              <a:lstStyle/>
              <a:p>
                <a:pPr algn="ctr"/>
                <a:r>
                  <a:rPr lang="en-KR" sz="1400" dirty="0">
                    <a:solidFill>
                      <a:schemeClr val="tx1"/>
                    </a:solidFill>
                    <a:latin typeface="Arial" panose="020B0604020202020204" pitchFamily="34" charset="0"/>
                    <a:cs typeface="Arial" panose="020B0604020202020204" pitchFamily="34" charset="0"/>
                  </a:rPr>
                  <a:t>struct</a:t>
                </a:r>
              </a:p>
              <a:p>
                <a:pPr algn="ctr"/>
                <a:r>
                  <a:rPr lang="en-KR" sz="1400" dirty="0">
                    <a:latin typeface="Arial" panose="020B0604020202020204" pitchFamily="34" charset="0"/>
                    <a:cs typeface="Arial" panose="020B0604020202020204" pitchFamily="34" charset="0"/>
                  </a:rPr>
                  <a:t>fdtable</a:t>
                </a:r>
                <a:endParaRPr lang="en-KR" sz="1400" dirty="0">
                  <a:solidFill>
                    <a:schemeClr val="tx1"/>
                  </a:solidFill>
                  <a:latin typeface="Arial" panose="020B0604020202020204" pitchFamily="34" charset="0"/>
                  <a:cs typeface="Arial" panose="020B0604020202020204" pitchFamily="34" charset="0"/>
                </a:endParaRPr>
              </a:p>
            </p:txBody>
          </p:sp>
          <p:cxnSp>
            <p:nvCxnSpPr>
              <p:cNvPr id="115" name="Straight Arrow Connector 114">
                <a:extLst>
                  <a:ext uri="{FF2B5EF4-FFF2-40B4-BE49-F238E27FC236}">
                    <a16:creationId xmlns:a16="http://schemas.microsoft.com/office/drawing/2014/main" id="{CA90C244-AF0F-7ACC-C974-ABFCD0286E96}"/>
                  </a:ext>
                </a:extLst>
              </p:cNvPr>
              <p:cNvCxnSpPr>
                <a:cxnSpLocks/>
                <a:stCxn id="108" idx="3"/>
              </p:cNvCxnSpPr>
              <p:nvPr/>
            </p:nvCxnSpPr>
            <p:spPr>
              <a:xfrm flipV="1">
                <a:off x="6774266" y="5707860"/>
                <a:ext cx="381818" cy="1682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48AB5FCC-054C-E951-10EA-2AF38ADF1C1C}"/>
                  </a:ext>
                </a:extLst>
              </p:cNvPr>
              <p:cNvCxnSpPr>
                <a:cxnSpLocks/>
                <a:stCxn id="110" idx="3"/>
              </p:cNvCxnSpPr>
              <p:nvPr/>
            </p:nvCxnSpPr>
            <p:spPr>
              <a:xfrm flipV="1">
                <a:off x="8028414" y="5712807"/>
                <a:ext cx="348346" cy="2303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D960CC74-ACED-A0EE-6020-80ECF0E4ED32}"/>
                  </a:ext>
                </a:extLst>
              </p:cNvPr>
              <p:cNvCxnSpPr>
                <a:cxnSpLocks/>
                <a:stCxn id="113" idx="3"/>
              </p:cNvCxnSpPr>
              <p:nvPr/>
            </p:nvCxnSpPr>
            <p:spPr>
              <a:xfrm flipV="1">
                <a:off x="9282097" y="5617680"/>
                <a:ext cx="294158" cy="34693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4" name="Rounded Rectangle 23">
              <a:extLst>
                <a:ext uri="{FF2B5EF4-FFF2-40B4-BE49-F238E27FC236}">
                  <a16:creationId xmlns:a16="http://schemas.microsoft.com/office/drawing/2014/main" id="{DF37D19C-8DDF-6854-6BE6-80F51FEC7171}"/>
                </a:ext>
              </a:extLst>
            </p:cNvPr>
            <p:cNvSpPr/>
            <p:nvPr/>
          </p:nvSpPr>
          <p:spPr>
            <a:xfrm>
              <a:off x="5496560" y="4211248"/>
              <a:ext cx="5283200" cy="2169020"/>
            </a:xfrm>
            <a:prstGeom prst="roundRect">
              <a:avLst>
                <a:gd name="adj" fmla="val 5417"/>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pic>
          <p:nvPicPr>
            <p:cNvPr id="25" name="Google Shape;273;p26">
              <a:extLst>
                <a:ext uri="{FF2B5EF4-FFF2-40B4-BE49-F238E27FC236}">
                  <a16:creationId xmlns:a16="http://schemas.microsoft.com/office/drawing/2014/main" id="{572F6BCE-B06A-04FA-FF2C-2E8691C61682}"/>
                </a:ext>
              </a:extLst>
            </p:cNvPr>
            <p:cNvPicPr preferRelativeResize="0"/>
            <p:nvPr/>
          </p:nvPicPr>
          <p:blipFill>
            <a:blip r:embed="rId3">
              <a:alphaModFix/>
            </a:blip>
            <a:stretch>
              <a:fillRect/>
            </a:stretch>
          </p:blipFill>
          <p:spPr>
            <a:xfrm>
              <a:off x="5308409" y="4020359"/>
              <a:ext cx="408211" cy="408211"/>
            </a:xfrm>
            <a:prstGeom prst="rect">
              <a:avLst/>
            </a:prstGeom>
            <a:solidFill>
              <a:schemeClr val="bg1"/>
            </a:solidFill>
            <a:ln>
              <a:noFill/>
            </a:ln>
          </p:spPr>
        </p:pic>
        <p:sp>
          <p:nvSpPr>
            <p:cNvPr id="9" name="Right Arrow 8">
              <a:extLst>
                <a:ext uri="{FF2B5EF4-FFF2-40B4-BE49-F238E27FC236}">
                  <a16:creationId xmlns:a16="http://schemas.microsoft.com/office/drawing/2014/main" id="{E5CE8D58-3614-7C79-1FEC-F05436466B2A}"/>
                </a:ext>
              </a:extLst>
            </p:cNvPr>
            <p:cNvSpPr/>
            <p:nvPr/>
          </p:nvSpPr>
          <p:spPr>
            <a:xfrm rot="5400000">
              <a:off x="8126216" y="4758908"/>
              <a:ext cx="210191" cy="211601"/>
            </a:xfrm>
            <a:prstGeom prst="rightArrow">
              <a:avLst>
                <a:gd name="adj1" fmla="val 50000"/>
                <a:gd name="adj2" fmla="val 46045"/>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579524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3" grpId="0"/>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ounded Rectangle 58">
            <a:extLst>
              <a:ext uri="{FF2B5EF4-FFF2-40B4-BE49-F238E27FC236}">
                <a16:creationId xmlns:a16="http://schemas.microsoft.com/office/drawing/2014/main" id="{EA3BE4DB-F8B9-CD20-F786-5622C4BDED4E}"/>
              </a:ext>
            </a:extLst>
          </p:cNvPr>
          <p:cNvSpPr/>
          <p:nvPr/>
        </p:nvSpPr>
        <p:spPr>
          <a:xfrm>
            <a:off x="741153" y="3026046"/>
            <a:ext cx="9677386" cy="3309080"/>
          </a:xfrm>
          <a:prstGeom prst="roundRect">
            <a:avLst>
              <a:gd name="adj" fmla="val 5417"/>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latin typeface="Arial" panose="020B0604020202020204" pitchFamily="34" charset="0"/>
                <a:cs typeface="Arial" panose="020B0604020202020204" pitchFamily="34" charset="0"/>
              </a:rPr>
              <a:t> ↳ passed: open file.</a:t>
            </a:r>
            <a:endParaRPr lang="en-KR" dirty="0">
              <a:solidFill>
                <a:schemeClr val="tx1"/>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095A96E2-3AAA-E0BD-5801-9195D84E9C6A}"/>
              </a:ext>
            </a:extLst>
          </p:cNvPr>
          <p:cNvSpPr>
            <a:spLocks noGrp="1"/>
          </p:cNvSpPr>
          <p:nvPr>
            <p:ph type="title"/>
          </p:nvPr>
        </p:nvSpPr>
        <p:spPr>
          <a:xfrm>
            <a:off x="838199" y="435430"/>
            <a:ext cx="10842171" cy="1401598"/>
          </a:xfrm>
        </p:spPr>
        <p:txBody>
          <a:bodyPr>
            <a:normAutofit/>
          </a:bodyPr>
          <a:lstStyle/>
          <a:p>
            <a:pPr>
              <a:lnSpc>
                <a:spcPct val="100000"/>
              </a:lnSpc>
            </a:pPr>
            <a:r>
              <a:rPr lang="en-KR" sz="4000" dirty="0"/>
              <a:t>Collecting Policy and Resource</a:t>
            </a:r>
            <a:br>
              <a:rPr lang="en-KR" sz="4000" dirty="0"/>
            </a:br>
            <a:r>
              <a:rPr lang="en-KR" sz="3200" dirty="0"/>
              <a:t>from </a:t>
            </a:r>
            <a:r>
              <a:rPr lang="en-KR" sz="3200" b="1" dirty="0"/>
              <a:t>user interfaces</a:t>
            </a:r>
          </a:p>
        </p:txBody>
      </p:sp>
      <p:sp>
        <p:nvSpPr>
          <p:cNvPr id="4" name="Slide Number Placeholder 3">
            <a:extLst>
              <a:ext uri="{FF2B5EF4-FFF2-40B4-BE49-F238E27FC236}">
                <a16:creationId xmlns:a16="http://schemas.microsoft.com/office/drawing/2014/main" id="{F7549B64-CE18-1961-E9BC-8BCA2D2D9970}"/>
              </a:ext>
            </a:extLst>
          </p:cNvPr>
          <p:cNvSpPr>
            <a:spLocks noGrp="1"/>
          </p:cNvSpPr>
          <p:nvPr>
            <p:ph type="sldNum" sz="quarter" idx="12"/>
          </p:nvPr>
        </p:nvSpPr>
        <p:spPr/>
        <p:txBody>
          <a:bodyPr/>
          <a:lstStyle/>
          <a:p>
            <a:fld id="{9ED31AF7-B9C1-7944-AC45-A988640FDEFC}" type="slidenum">
              <a:rPr lang="en-KR" smtClean="0"/>
              <a:t>12</a:t>
            </a:fld>
            <a:endParaRPr lang="en-KR"/>
          </a:p>
        </p:txBody>
      </p:sp>
      <p:sp>
        <p:nvSpPr>
          <p:cNvPr id="5" name="Rounded Rectangle 4">
            <a:extLst>
              <a:ext uri="{FF2B5EF4-FFF2-40B4-BE49-F238E27FC236}">
                <a16:creationId xmlns:a16="http://schemas.microsoft.com/office/drawing/2014/main" id="{2D59AC41-5C81-83A4-881C-C340ED841B32}"/>
              </a:ext>
            </a:extLst>
          </p:cNvPr>
          <p:cNvSpPr/>
          <p:nvPr/>
        </p:nvSpPr>
        <p:spPr>
          <a:xfrm>
            <a:off x="1375292" y="3185698"/>
            <a:ext cx="8557907" cy="1894939"/>
          </a:xfrm>
          <a:prstGeom prst="roundRect">
            <a:avLst>
              <a:gd name="adj" fmla="val 0"/>
            </a:avLst>
          </a:prstGeom>
          <a:solidFill>
            <a:schemeClr val="bg1">
              <a:lumMod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DD17F2E6-F6B4-994F-C78C-81DB3E874603}"/>
              </a:ext>
            </a:extLst>
          </p:cNvPr>
          <p:cNvCxnSpPr>
            <a:cxnSpLocks/>
          </p:cNvCxnSpPr>
          <p:nvPr/>
        </p:nvCxnSpPr>
        <p:spPr>
          <a:xfrm>
            <a:off x="4454119" y="2747088"/>
            <a:ext cx="0" cy="14026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ounded Rectangle 16">
            <a:extLst>
              <a:ext uri="{FF2B5EF4-FFF2-40B4-BE49-F238E27FC236}">
                <a16:creationId xmlns:a16="http://schemas.microsoft.com/office/drawing/2014/main" id="{D897C3AA-BAEC-5DC2-CD95-CA7DBF5C0B62}"/>
              </a:ext>
            </a:extLst>
          </p:cNvPr>
          <p:cNvSpPr/>
          <p:nvPr/>
        </p:nvSpPr>
        <p:spPr>
          <a:xfrm>
            <a:off x="6225418" y="5255275"/>
            <a:ext cx="1796935" cy="639719"/>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accent1"/>
                </a:solidFill>
                <a:latin typeface="Arial" panose="020B0604020202020204" pitchFamily="34" charset="0"/>
                <a:cs typeface="Arial" panose="020B0604020202020204" pitchFamily="34" charset="0"/>
              </a:rPr>
              <a:t>Resource</a:t>
            </a:r>
            <a:endParaRPr lang="en-KR" dirty="0">
              <a:solidFill>
                <a:schemeClr val="tx1"/>
              </a:solidFill>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8B7B010A-420D-90B5-5334-F1C1A4959401}"/>
              </a:ext>
            </a:extLst>
          </p:cNvPr>
          <p:cNvSpPr txBox="1"/>
          <p:nvPr/>
        </p:nvSpPr>
        <p:spPr>
          <a:xfrm>
            <a:off x="4655613" y="3764911"/>
            <a:ext cx="748923" cy="369332"/>
          </a:xfrm>
          <a:prstGeom prst="rect">
            <a:avLst/>
          </a:prstGeom>
          <a:noFill/>
        </p:spPr>
        <p:txBody>
          <a:bodyPr wrap="square" rtlCol="0">
            <a:spAutoFit/>
          </a:bodyPr>
          <a:lstStyle/>
          <a:p>
            <a:pPr algn="l"/>
            <a:r>
              <a:rPr lang="en-KR" b="1" dirty="0">
                <a:solidFill>
                  <a:srgbClr val="C00000"/>
                </a:solidFill>
                <a:latin typeface="Arial" panose="020B0604020202020204" pitchFamily="34" charset="0"/>
                <a:cs typeface="Arial" panose="020B0604020202020204" pitchFamily="34" charset="0"/>
              </a:rPr>
              <a:t>Deny</a:t>
            </a:r>
          </a:p>
        </p:txBody>
      </p:sp>
      <p:sp>
        <p:nvSpPr>
          <p:cNvPr id="80" name="TextBox 79">
            <a:extLst>
              <a:ext uri="{FF2B5EF4-FFF2-40B4-BE49-F238E27FC236}">
                <a16:creationId xmlns:a16="http://schemas.microsoft.com/office/drawing/2014/main" id="{FE4EF8F7-A171-09DA-A30F-6DDEFFCD74EB}"/>
              </a:ext>
            </a:extLst>
          </p:cNvPr>
          <p:cNvSpPr txBox="1"/>
          <p:nvPr/>
        </p:nvSpPr>
        <p:spPr>
          <a:xfrm>
            <a:off x="834065" y="2604712"/>
            <a:ext cx="1172809" cy="400110"/>
          </a:xfrm>
          <a:prstGeom prst="rect">
            <a:avLst/>
          </a:prstGeom>
          <a:noFill/>
        </p:spPr>
        <p:txBody>
          <a:bodyPr wrap="square" rtlCol="0">
            <a:spAutoFit/>
          </a:bodyPr>
          <a:lstStyle/>
          <a:p>
            <a:pPr algn="l"/>
            <a:r>
              <a:rPr lang="en-KR" sz="2000" dirty="0">
                <a:latin typeface="Arial" panose="020B0604020202020204" pitchFamily="34" charset="0"/>
                <a:cs typeface="Arial" panose="020B0604020202020204" pitchFamily="34" charset="0"/>
              </a:rPr>
              <a:t>Kernel</a:t>
            </a:r>
          </a:p>
        </p:txBody>
      </p:sp>
      <p:pic>
        <p:nvPicPr>
          <p:cNvPr id="81" name="Picture 80">
            <a:extLst>
              <a:ext uri="{FF2B5EF4-FFF2-40B4-BE49-F238E27FC236}">
                <a16:creationId xmlns:a16="http://schemas.microsoft.com/office/drawing/2014/main" id="{1D057148-C630-B043-80BD-FDD4E44E7139}"/>
              </a:ext>
            </a:extLst>
          </p:cNvPr>
          <p:cNvPicPr>
            <a:picLocks noChangeAspect="1"/>
          </p:cNvPicPr>
          <p:nvPr/>
        </p:nvPicPr>
        <p:blipFill>
          <a:blip r:embed="rId3">
            <a:duotone>
              <a:prstClr val="black"/>
              <a:schemeClr val="bg1">
                <a:tint val="45000"/>
                <a:satMod val="400000"/>
              </a:schemeClr>
            </a:duotone>
            <a:extLst>
              <a:ext uri="{BEBA8EAE-BF5A-486C-A8C5-ECC9F3942E4B}">
                <a14:imgProps xmlns:a14="http://schemas.microsoft.com/office/drawing/2010/main">
                  <a14:imgLayer r:embed="rId4">
                    <a14:imgEffect>
                      <a14:brightnessContrast bright="20000" contrast="20000"/>
                    </a14:imgEffect>
                  </a14:imgLayer>
                </a14:imgProps>
              </a:ext>
            </a:extLst>
          </a:blip>
          <a:stretch>
            <a:fillRect/>
          </a:stretch>
        </p:blipFill>
        <p:spPr>
          <a:xfrm>
            <a:off x="2812881" y="2232492"/>
            <a:ext cx="582527" cy="582527"/>
          </a:xfrm>
          <a:prstGeom prst="rect">
            <a:avLst/>
          </a:prstGeom>
        </p:spPr>
      </p:pic>
      <p:sp>
        <p:nvSpPr>
          <p:cNvPr id="84" name="TextBox 83">
            <a:extLst>
              <a:ext uri="{FF2B5EF4-FFF2-40B4-BE49-F238E27FC236}">
                <a16:creationId xmlns:a16="http://schemas.microsoft.com/office/drawing/2014/main" id="{3659B051-DD8A-DABC-F4A8-D91A043DE469}"/>
              </a:ext>
            </a:extLst>
          </p:cNvPr>
          <p:cNvSpPr txBox="1"/>
          <p:nvPr/>
        </p:nvSpPr>
        <p:spPr>
          <a:xfrm>
            <a:off x="2573823" y="1860097"/>
            <a:ext cx="1038382" cy="369332"/>
          </a:xfrm>
          <a:prstGeom prst="rect">
            <a:avLst/>
          </a:prstGeom>
          <a:noFill/>
        </p:spPr>
        <p:txBody>
          <a:bodyPr wrap="square">
            <a:spAutoFit/>
          </a:bodyPr>
          <a:lstStyle/>
          <a:p>
            <a:pPr algn="ctr"/>
            <a:r>
              <a:rPr lang="en-KR" dirty="0">
                <a:latin typeface="Arial" panose="020B0604020202020204" pitchFamily="34" charset="0"/>
                <a:cs typeface="Arial" panose="020B0604020202020204" pitchFamily="34" charset="0"/>
              </a:rPr>
              <a:t>User</a:t>
            </a:r>
            <a:endParaRPr lang="en-KR" dirty="0">
              <a:solidFill>
                <a:schemeClr val="tx1"/>
              </a:solidFill>
              <a:latin typeface="Arial" panose="020B0604020202020204" pitchFamily="34" charset="0"/>
              <a:cs typeface="Arial" panose="020B0604020202020204" pitchFamily="34" charset="0"/>
            </a:endParaRPr>
          </a:p>
        </p:txBody>
      </p:sp>
      <p:cxnSp>
        <p:nvCxnSpPr>
          <p:cNvPr id="93" name="Straight Arrow Connector 92">
            <a:extLst>
              <a:ext uri="{FF2B5EF4-FFF2-40B4-BE49-F238E27FC236}">
                <a16:creationId xmlns:a16="http://schemas.microsoft.com/office/drawing/2014/main" id="{53E501DE-FE7A-3DD0-5102-BF39BB5491A1}"/>
              </a:ext>
            </a:extLst>
          </p:cNvPr>
          <p:cNvCxnSpPr>
            <a:cxnSpLocks/>
          </p:cNvCxnSpPr>
          <p:nvPr/>
        </p:nvCxnSpPr>
        <p:spPr>
          <a:xfrm flipV="1">
            <a:off x="5395387" y="2747088"/>
            <a:ext cx="0" cy="140263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313B58D4-0B6A-5782-FBE8-A656144395AE}"/>
              </a:ext>
            </a:extLst>
          </p:cNvPr>
          <p:cNvSpPr txBox="1"/>
          <p:nvPr/>
        </p:nvSpPr>
        <p:spPr>
          <a:xfrm>
            <a:off x="1375292" y="3326815"/>
            <a:ext cx="2470568" cy="707886"/>
          </a:xfrm>
          <a:prstGeom prst="rect">
            <a:avLst/>
          </a:prstGeom>
          <a:noFill/>
        </p:spPr>
        <p:txBody>
          <a:bodyPr wrap="square" rtlCol="0">
            <a:spAutoFit/>
          </a:bodyPr>
          <a:lstStyle/>
          <a:p>
            <a:pPr algn="ctr"/>
            <a:r>
              <a:rPr lang="en-KR" sz="2000" b="1" dirty="0">
                <a:latin typeface="Arial" panose="020B0604020202020204" pitchFamily="34" charset="0"/>
                <a:cs typeface="Arial" panose="020B0604020202020204" pitchFamily="34" charset="0"/>
              </a:rPr>
              <a:t>User interface handler</a:t>
            </a:r>
          </a:p>
        </p:txBody>
      </p:sp>
      <p:sp>
        <p:nvSpPr>
          <p:cNvPr id="132" name="TextBox 131">
            <a:extLst>
              <a:ext uri="{FF2B5EF4-FFF2-40B4-BE49-F238E27FC236}">
                <a16:creationId xmlns:a16="http://schemas.microsoft.com/office/drawing/2014/main" id="{CC7CBC0F-E1E4-9827-C86E-860E04C354A9}"/>
              </a:ext>
            </a:extLst>
          </p:cNvPr>
          <p:cNvSpPr txBox="1"/>
          <p:nvPr/>
        </p:nvSpPr>
        <p:spPr>
          <a:xfrm>
            <a:off x="3474034" y="2074210"/>
            <a:ext cx="6072849" cy="646331"/>
          </a:xfrm>
          <a:prstGeom prst="rect">
            <a:avLst/>
          </a:prstGeom>
          <a:noFill/>
        </p:spPr>
        <p:txBody>
          <a:bodyPr wrap="square" rtlCol="0">
            <a:spAutoFit/>
          </a:bodyPr>
          <a:lstStyle/>
          <a:p>
            <a:pPr algn="ctr"/>
            <a:r>
              <a:rPr lang="en-KR" b="1" i="1" dirty="0">
                <a:latin typeface="Arial" panose="020B0604020202020204" pitchFamily="34" charset="0"/>
                <a:cs typeface="Arial" panose="020B0604020202020204" pitchFamily="34" charset="0"/>
              </a:rPr>
              <a:t>System calls </a:t>
            </a:r>
            <a:r>
              <a:rPr lang="en-KR" i="1" dirty="0">
                <a:latin typeface="Arial" panose="020B0604020202020204" pitchFamily="34" charset="0"/>
                <a:cs typeface="Arial" panose="020B0604020202020204" pitchFamily="34" charset="0"/>
              </a:rPr>
              <a:t>e.g., SYSCALL_open()</a:t>
            </a:r>
          </a:p>
          <a:p>
            <a:pPr algn="ctr"/>
            <a:r>
              <a:rPr lang="en-KR" b="1" i="1" dirty="0">
                <a:latin typeface="Arial" panose="020B0604020202020204" pitchFamily="34" charset="0"/>
                <a:cs typeface="Arial" panose="020B0604020202020204" pitchFamily="34" charset="0"/>
              </a:rPr>
              <a:t>Pseudo filesystems </a:t>
            </a:r>
            <a:r>
              <a:rPr lang="en-KR" i="1" dirty="0">
                <a:latin typeface="Arial" panose="020B0604020202020204" pitchFamily="34" charset="0"/>
                <a:cs typeface="Arial" panose="020B0604020202020204" pitchFamily="34" charset="0"/>
              </a:rPr>
              <a:t>e.g., /sys/kernel/modeprobe_path</a:t>
            </a:r>
          </a:p>
        </p:txBody>
      </p:sp>
      <p:cxnSp>
        <p:nvCxnSpPr>
          <p:cNvPr id="12" name="Straight Arrow Connector 11">
            <a:extLst>
              <a:ext uri="{FF2B5EF4-FFF2-40B4-BE49-F238E27FC236}">
                <a16:creationId xmlns:a16="http://schemas.microsoft.com/office/drawing/2014/main" id="{1A2482A4-304D-2905-D0B5-0FA986AD6C1B}"/>
              </a:ext>
            </a:extLst>
          </p:cNvPr>
          <p:cNvCxnSpPr>
            <a:cxnSpLocks/>
            <a:stCxn id="17" idx="0"/>
          </p:cNvCxnSpPr>
          <p:nvPr/>
        </p:nvCxnSpPr>
        <p:spPr>
          <a:xfrm flipV="1">
            <a:off x="7123886" y="2834481"/>
            <a:ext cx="0" cy="2420794"/>
          </a:xfrm>
          <a:prstGeom prst="straightConnector1">
            <a:avLst/>
          </a:prstGeom>
          <a:ln w="25400">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5B6AA68-449C-972F-C9AE-6237CAA096A0}"/>
              </a:ext>
            </a:extLst>
          </p:cNvPr>
          <p:cNvSpPr txBox="1"/>
          <p:nvPr/>
        </p:nvSpPr>
        <p:spPr>
          <a:xfrm>
            <a:off x="6193727" y="3745838"/>
            <a:ext cx="800219" cy="369332"/>
          </a:xfrm>
          <a:prstGeom prst="rect">
            <a:avLst/>
          </a:prstGeom>
          <a:noFill/>
        </p:spPr>
        <p:txBody>
          <a:bodyPr wrap="none" rtlCol="0">
            <a:spAutoFit/>
          </a:bodyPr>
          <a:lstStyle/>
          <a:p>
            <a:pPr algn="l"/>
            <a:r>
              <a:rPr lang="en-KR" b="1" dirty="0">
                <a:solidFill>
                  <a:schemeClr val="accent6">
                    <a:lumMod val="75000"/>
                  </a:schemeClr>
                </a:solidFill>
                <a:latin typeface="Arial" panose="020B0604020202020204" pitchFamily="34" charset="0"/>
                <a:cs typeface="Arial" panose="020B0604020202020204" pitchFamily="34" charset="0"/>
              </a:rPr>
              <a:t>Allow</a:t>
            </a:r>
          </a:p>
        </p:txBody>
      </p:sp>
      <p:sp>
        <p:nvSpPr>
          <p:cNvPr id="19" name="Rounded Rectangle 18">
            <a:extLst>
              <a:ext uri="{FF2B5EF4-FFF2-40B4-BE49-F238E27FC236}">
                <a16:creationId xmlns:a16="http://schemas.microsoft.com/office/drawing/2014/main" id="{F39BF258-05AC-9B77-7A11-4F805159FED6}"/>
              </a:ext>
            </a:extLst>
          </p:cNvPr>
          <p:cNvSpPr/>
          <p:nvPr/>
        </p:nvSpPr>
        <p:spPr>
          <a:xfrm>
            <a:off x="5056952" y="3353107"/>
            <a:ext cx="1316073" cy="366370"/>
          </a:xfrm>
          <a:prstGeom prst="roundRect">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600" dirty="0">
                <a:solidFill>
                  <a:schemeClr val="tx1"/>
                </a:solidFill>
                <a:latin typeface="Arial" panose="020B0604020202020204" pitchFamily="34" charset="0"/>
                <a:cs typeface="Arial" panose="020B0604020202020204" pitchFamily="34" charset="0"/>
              </a:rPr>
              <a:t>Error code</a:t>
            </a:r>
          </a:p>
        </p:txBody>
      </p:sp>
      <p:sp>
        <p:nvSpPr>
          <p:cNvPr id="20" name="Rounded Rectangle 19">
            <a:extLst>
              <a:ext uri="{FF2B5EF4-FFF2-40B4-BE49-F238E27FC236}">
                <a16:creationId xmlns:a16="http://schemas.microsoft.com/office/drawing/2014/main" id="{FF3FB742-943B-8EEE-82BE-6C1A70DCE861}"/>
              </a:ext>
            </a:extLst>
          </p:cNvPr>
          <p:cNvSpPr/>
          <p:nvPr/>
        </p:nvSpPr>
        <p:spPr>
          <a:xfrm>
            <a:off x="3154074" y="4150399"/>
            <a:ext cx="4531503" cy="639719"/>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tx1"/>
                </a:solidFill>
                <a:latin typeface="Arial" panose="020B0604020202020204" pitchFamily="34" charset="0"/>
                <a:cs typeface="Arial" panose="020B0604020202020204" pitchFamily="34" charset="0"/>
              </a:rPr>
              <a:t>Access Control</a:t>
            </a:r>
            <a:endParaRPr lang="en-KR"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475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 grpId="0" animBg="1"/>
      <p:bldP spid="17" grpId="0" animBg="1"/>
      <p:bldP spid="42" grpId="0"/>
      <p:bldP spid="80" grpId="0"/>
      <p:bldP spid="84" grpId="0"/>
      <p:bldP spid="109" grpId="0"/>
      <p:bldP spid="132" grpId="0"/>
      <p:bldP spid="18" grpId="0"/>
      <p:bldP spid="19" grpId="0" animBg="1"/>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ounded Rectangle 58">
            <a:extLst>
              <a:ext uri="{FF2B5EF4-FFF2-40B4-BE49-F238E27FC236}">
                <a16:creationId xmlns:a16="http://schemas.microsoft.com/office/drawing/2014/main" id="{EA3BE4DB-F8B9-CD20-F786-5622C4BDED4E}"/>
              </a:ext>
            </a:extLst>
          </p:cNvPr>
          <p:cNvSpPr/>
          <p:nvPr/>
        </p:nvSpPr>
        <p:spPr>
          <a:xfrm>
            <a:off x="741153" y="3026046"/>
            <a:ext cx="9677386" cy="3309080"/>
          </a:xfrm>
          <a:prstGeom prst="roundRect">
            <a:avLst>
              <a:gd name="adj" fmla="val 5417"/>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latin typeface="Arial" panose="020B0604020202020204" pitchFamily="34" charset="0"/>
                <a:cs typeface="Arial" panose="020B0604020202020204" pitchFamily="34" charset="0"/>
              </a:rPr>
              <a:t> ↳ passed: open file.</a:t>
            </a:r>
            <a:endParaRPr lang="en-KR" dirty="0">
              <a:solidFill>
                <a:schemeClr val="tx1"/>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095A96E2-3AAA-E0BD-5801-9195D84E9C6A}"/>
              </a:ext>
            </a:extLst>
          </p:cNvPr>
          <p:cNvSpPr>
            <a:spLocks noGrp="1"/>
          </p:cNvSpPr>
          <p:nvPr>
            <p:ph type="title"/>
          </p:nvPr>
        </p:nvSpPr>
        <p:spPr>
          <a:xfrm>
            <a:off x="838199" y="435430"/>
            <a:ext cx="10842171" cy="1401598"/>
          </a:xfrm>
        </p:spPr>
        <p:txBody>
          <a:bodyPr>
            <a:normAutofit/>
          </a:bodyPr>
          <a:lstStyle/>
          <a:p>
            <a:pPr>
              <a:lnSpc>
                <a:spcPct val="100000"/>
              </a:lnSpc>
            </a:pPr>
            <a:r>
              <a:rPr lang="en-KR" sz="4000" dirty="0"/>
              <a:t>Collecting Policy and Resource</a:t>
            </a:r>
            <a:br>
              <a:rPr lang="en-KR" sz="4000" dirty="0"/>
            </a:br>
            <a:r>
              <a:rPr lang="en-KR" sz="3200" dirty="0"/>
              <a:t>from </a:t>
            </a:r>
            <a:r>
              <a:rPr lang="en-KR" sz="3200" b="1" dirty="0"/>
              <a:t>user interfaces</a:t>
            </a:r>
          </a:p>
        </p:txBody>
      </p:sp>
      <p:sp>
        <p:nvSpPr>
          <p:cNvPr id="4" name="Slide Number Placeholder 3">
            <a:extLst>
              <a:ext uri="{FF2B5EF4-FFF2-40B4-BE49-F238E27FC236}">
                <a16:creationId xmlns:a16="http://schemas.microsoft.com/office/drawing/2014/main" id="{F7549B64-CE18-1961-E9BC-8BCA2D2D9970}"/>
              </a:ext>
            </a:extLst>
          </p:cNvPr>
          <p:cNvSpPr>
            <a:spLocks noGrp="1"/>
          </p:cNvSpPr>
          <p:nvPr>
            <p:ph type="sldNum" sz="quarter" idx="12"/>
          </p:nvPr>
        </p:nvSpPr>
        <p:spPr/>
        <p:txBody>
          <a:bodyPr/>
          <a:lstStyle/>
          <a:p>
            <a:fld id="{9ED31AF7-B9C1-7944-AC45-A988640FDEFC}" type="slidenum">
              <a:rPr lang="en-KR" smtClean="0"/>
              <a:t>13</a:t>
            </a:fld>
            <a:endParaRPr lang="en-KR" dirty="0"/>
          </a:p>
        </p:txBody>
      </p:sp>
      <p:sp>
        <p:nvSpPr>
          <p:cNvPr id="5" name="Rounded Rectangle 4">
            <a:extLst>
              <a:ext uri="{FF2B5EF4-FFF2-40B4-BE49-F238E27FC236}">
                <a16:creationId xmlns:a16="http://schemas.microsoft.com/office/drawing/2014/main" id="{2D59AC41-5C81-83A4-881C-C340ED841B32}"/>
              </a:ext>
            </a:extLst>
          </p:cNvPr>
          <p:cNvSpPr/>
          <p:nvPr/>
        </p:nvSpPr>
        <p:spPr>
          <a:xfrm>
            <a:off x="1387147" y="3177917"/>
            <a:ext cx="8453725" cy="1892498"/>
          </a:xfrm>
          <a:prstGeom prst="roundRect">
            <a:avLst>
              <a:gd name="adj" fmla="val 0"/>
            </a:avLst>
          </a:prstGeom>
          <a:solidFill>
            <a:schemeClr val="bg1">
              <a:lumMod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1" name="Rounded Rectangle 10">
            <a:extLst>
              <a:ext uri="{FF2B5EF4-FFF2-40B4-BE49-F238E27FC236}">
                <a16:creationId xmlns:a16="http://schemas.microsoft.com/office/drawing/2014/main" id="{A7DEE41B-A5E4-6174-F274-69C4741BBECD}"/>
              </a:ext>
            </a:extLst>
          </p:cNvPr>
          <p:cNvSpPr/>
          <p:nvPr/>
        </p:nvSpPr>
        <p:spPr>
          <a:xfrm>
            <a:off x="3324978" y="4159453"/>
            <a:ext cx="2565616" cy="769889"/>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accent6">
                    <a:lumMod val="75000"/>
                  </a:schemeClr>
                </a:solidFill>
                <a:latin typeface="Arial" panose="020B0604020202020204" pitchFamily="34" charset="0"/>
                <a:cs typeface="Arial" panose="020B0604020202020204" pitchFamily="34" charset="0"/>
              </a:rPr>
              <a:t>Enforcement</a:t>
            </a:r>
            <a:br>
              <a:rPr lang="en-KR" dirty="0">
                <a:solidFill>
                  <a:schemeClr val="tx1"/>
                </a:solidFill>
                <a:latin typeface="Arial" panose="020B0604020202020204" pitchFamily="34" charset="0"/>
                <a:cs typeface="Arial" panose="020B0604020202020204" pitchFamily="34" charset="0"/>
              </a:rPr>
            </a:br>
            <a:r>
              <a:rPr lang="en-KR" dirty="0">
                <a:solidFill>
                  <a:schemeClr val="tx1"/>
                </a:solidFill>
                <a:latin typeface="Arial" panose="020B0604020202020204" pitchFamily="34" charset="0"/>
                <a:cs typeface="Arial" panose="020B0604020202020204" pitchFamily="34" charset="0"/>
              </a:rPr>
              <a:t>Permission check</a:t>
            </a:r>
          </a:p>
        </p:txBody>
      </p:sp>
      <p:grpSp>
        <p:nvGrpSpPr>
          <p:cNvPr id="65" name="Group 64">
            <a:extLst>
              <a:ext uri="{FF2B5EF4-FFF2-40B4-BE49-F238E27FC236}">
                <a16:creationId xmlns:a16="http://schemas.microsoft.com/office/drawing/2014/main" id="{CDC0D972-A308-E4AB-34FA-6BE6FDD0A830}"/>
              </a:ext>
            </a:extLst>
          </p:cNvPr>
          <p:cNvGrpSpPr/>
          <p:nvPr/>
        </p:nvGrpSpPr>
        <p:grpSpPr>
          <a:xfrm>
            <a:off x="2639742" y="3368728"/>
            <a:ext cx="1470925" cy="778120"/>
            <a:chOff x="3130432" y="3607423"/>
            <a:chExt cx="1470925" cy="778120"/>
          </a:xfrm>
        </p:grpSpPr>
        <p:sp>
          <p:nvSpPr>
            <p:cNvPr id="13" name="Rounded Rectangle 12">
              <a:extLst>
                <a:ext uri="{FF2B5EF4-FFF2-40B4-BE49-F238E27FC236}">
                  <a16:creationId xmlns:a16="http://schemas.microsoft.com/office/drawing/2014/main" id="{357A8B67-5A71-13A3-0DF4-BAB2ECA56236}"/>
                </a:ext>
              </a:extLst>
            </p:cNvPr>
            <p:cNvSpPr/>
            <p:nvPr/>
          </p:nvSpPr>
          <p:spPr>
            <a:xfrm>
              <a:off x="3130432" y="3607423"/>
              <a:ext cx="1470925" cy="416867"/>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accent4">
                      <a:lumMod val="75000"/>
                    </a:schemeClr>
                  </a:solidFill>
                  <a:latin typeface="Arial" panose="020B0604020202020204" pitchFamily="34" charset="0"/>
                  <a:cs typeface="Arial" panose="020B0604020202020204" pitchFamily="34" charset="0"/>
                </a:rPr>
                <a:t>Policy</a:t>
              </a:r>
              <a:endParaRPr lang="en-KR" dirty="0">
                <a:solidFill>
                  <a:schemeClr val="tx1"/>
                </a:solidFill>
                <a:latin typeface="Arial" panose="020B0604020202020204" pitchFamily="34" charset="0"/>
                <a:cs typeface="Arial" panose="020B0604020202020204" pitchFamily="34" charset="0"/>
              </a:endParaRPr>
            </a:p>
          </p:txBody>
        </p:sp>
        <p:sp>
          <p:nvSpPr>
            <p:cNvPr id="29" name="Freeform 28">
              <a:extLst>
                <a:ext uri="{FF2B5EF4-FFF2-40B4-BE49-F238E27FC236}">
                  <a16:creationId xmlns:a16="http://schemas.microsoft.com/office/drawing/2014/main" id="{FA80BD9B-11B6-8427-6DA9-63085265E3BF}"/>
                </a:ext>
              </a:extLst>
            </p:cNvPr>
            <p:cNvSpPr/>
            <p:nvPr/>
          </p:nvSpPr>
          <p:spPr>
            <a:xfrm>
              <a:off x="3891063" y="4024290"/>
              <a:ext cx="207583" cy="361253"/>
            </a:xfrm>
            <a:custGeom>
              <a:avLst/>
              <a:gdLst>
                <a:gd name="connsiteX0" fmla="*/ 0 w 676656"/>
                <a:gd name="connsiteY0" fmla="*/ 0 h 630936"/>
                <a:gd name="connsiteX1" fmla="*/ 146304 w 676656"/>
                <a:gd name="connsiteY1" fmla="*/ 210312 h 630936"/>
                <a:gd name="connsiteX2" fmla="*/ 585216 w 676656"/>
                <a:gd name="connsiteY2" fmla="*/ 365760 h 630936"/>
                <a:gd name="connsiteX3" fmla="*/ 676656 w 676656"/>
                <a:gd name="connsiteY3" fmla="*/ 630936 h 630936"/>
              </a:gdLst>
              <a:ahLst/>
              <a:cxnLst>
                <a:cxn ang="0">
                  <a:pos x="connsiteX0" y="connsiteY0"/>
                </a:cxn>
                <a:cxn ang="0">
                  <a:pos x="connsiteX1" y="connsiteY1"/>
                </a:cxn>
                <a:cxn ang="0">
                  <a:pos x="connsiteX2" y="connsiteY2"/>
                </a:cxn>
                <a:cxn ang="0">
                  <a:pos x="connsiteX3" y="connsiteY3"/>
                </a:cxn>
              </a:cxnLst>
              <a:rect l="l" t="t" r="r" b="b"/>
              <a:pathLst>
                <a:path w="676656" h="630936">
                  <a:moveTo>
                    <a:pt x="0" y="0"/>
                  </a:moveTo>
                  <a:cubicBezTo>
                    <a:pt x="24384" y="74676"/>
                    <a:pt x="48768" y="149352"/>
                    <a:pt x="146304" y="210312"/>
                  </a:cubicBezTo>
                  <a:cubicBezTo>
                    <a:pt x="243840" y="271272"/>
                    <a:pt x="496824" y="295656"/>
                    <a:pt x="585216" y="365760"/>
                  </a:cubicBezTo>
                  <a:cubicBezTo>
                    <a:pt x="673608" y="435864"/>
                    <a:pt x="675132" y="533400"/>
                    <a:pt x="676656" y="630936"/>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p>
          </p:txBody>
        </p:sp>
      </p:grpSp>
      <p:sp>
        <p:nvSpPr>
          <p:cNvPr id="80" name="TextBox 79">
            <a:extLst>
              <a:ext uri="{FF2B5EF4-FFF2-40B4-BE49-F238E27FC236}">
                <a16:creationId xmlns:a16="http://schemas.microsoft.com/office/drawing/2014/main" id="{FE4EF8F7-A171-09DA-A30F-6DDEFFCD74EB}"/>
              </a:ext>
            </a:extLst>
          </p:cNvPr>
          <p:cNvSpPr txBox="1"/>
          <p:nvPr/>
        </p:nvSpPr>
        <p:spPr>
          <a:xfrm>
            <a:off x="834065" y="2604712"/>
            <a:ext cx="1172809" cy="400110"/>
          </a:xfrm>
          <a:prstGeom prst="rect">
            <a:avLst/>
          </a:prstGeom>
          <a:noFill/>
        </p:spPr>
        <p:txBody>
          <a:bodyPr wrap="square" rtlCol="0">
            <a:spAutoFit/>
          </a:bodyPr>
          <a:lstStyle/>
          <a:p>
            <a:pPr algn="l"/>
            <a:r>
              <a:rPr lang="en-KR" sz="2000" dirty="0">
                <a:latin typeface="Arial" panose="020B0604020202020204" pitchFamily="34" charset="0"/>
                <a:cs typeface="Arial" panose="020B0604020202020204" pitchFamily="34" charset="0"/>
              </a:rPr>
              <a:t>Kernel</a:t>
            </a:r>
          </a:p>
        </p:txBody>
      </p:sp>
      <p:pic>
        <p:nvPicPr>
          <p:cNvPr id="81" name="Picture 80">
            <a:extLst>
              <a:ext uri="{FF2B5EF4-FFF2-40B4-BE49-F238E27FC236}">
                <a16:creationId xmlns:a16="http://schemas.microsoft.com/office/drawing/2014/main" id="{1D057148-C630-B043-80BD-FDD4E44E7139}"/>
              </a:ext>
            </a:extLst>
          </p:cNvPr>
          <p:cNvPicPr>
            <a:picLocks noChangeAspect="1"/>
          </p:cNvPicPr>
          <p:nvPr/>
        </p:nvPicPr>
        <p:blipFill>
          <a:blip r:embed="rId3">
            <a:duotone>
              <a:prstClr val="black"/>
              <a:schemeClr val="bg1">
                <a:tint val="45000"/>
                <a:satMod val="400000"/>
              </a:schemeClr>
            </a:duotone>
            <a:extLst>
              <a:ext uri="{BEBA8EAE-BF5A-486C-A8C5-ECC9F3942E4B}">
                <a14:imgProps xmlns:a14="http://schemas.microsoft.com/office/drawing/2010/main">
                  <a14:imgLayer r:embed="rId4">
                    <a14:imgEffect>
                      <a14:brightnessContrast bright="20000" contrast="20000"/>
                    </a14:imgEffect>
                  </a14:imgLayer>
                </a14:imgProps>
              </a:ext>
            </a:extLst>
          </a:blip>
          <a:stretch>
            <a:fillRect/>
          </a:stretch>
        </p:blipFill>
        <p:spPr>
          <a:xfrm>
            <a:off x="2812881" y="2232492"/>
            <a:ext cx="582527" cy="582527"/>
          </a:xfrm>
          <a:prstGeom prst="rect">
            <a:avLst/>
          </a:prstGeom>
        </p:spPr>
      </p:pic>
      <p:sp>
        <p:nvSpPr>
          <p:cNvPr id="84" name="TextBox 83">
            <a:extLst>
              <a:ext uri="{FF2B5EF4-FFF2-40B4-BE49-F238E27FC236}">
                <a16:creationId xmlns:a16="http://schemas.microsoft.com/office/drawing/2014/main" id="{3659B051-DD8A-DABC-F4A8-D91A043DE469}"/>
              </a:ext>
            </a:extLst>
          </p:cNvPr>
          <p:cNvSpPr txBox="1"/>
          <p:nvPr/>
        </p:nvSpPr>
        <p:spPr>
          <a:xfrm>
            <a:off x="2573823" y="1860097"/>
            <a:ext cx="1038382" cy="369332"/>
          </a:xfrm>
          <a:prstGeom prst="rect">
            <a:avLst/>
          </a:prstGeom>
          <a:noFill/>
        </p:spPr>
        <p:txBody>
          <a:bodyPr wrap="square">
            <a:spAutoFit/>
          </a:bodyPr>
          <a:lstStyle/>
          <a:p>
            <a:pPr algn="ctr"/>
            <a:r>
              <a:rPr lang="en-KR" dirty="0">
                <a:latin typeface="Arial" panose="020B0604020202020204" pitchFamily="34" charset="0"/>
                <a:cs typeface="Arial" panose="020B0604020202020204" pitchFamily="34" charset="0"/>
              </a:rPr>
              <a:t>User</a:t>
            </a:r>
            <a:endParaRPr lang="en-KR" dirty="0">
              <a:solidFill>
                <a:schemeClr val="tx1"/>
              </a:solidFill>
              <a:latin typeface="Arial" panose="020B0604020202020204" pitchFamily="34" charset="0"/>
              <a:cs typeface="Arial" panose="020B0604020202020204" pitchFamily="34" charset="0"/>
            </a:endParaRPr>
          </a:p>
        </p:txBody>
      </p:sp>
      <p:cxnSp>
        <p:nvCxnSpPr>
          <p:cNvPr id="93" name="Straight Arrow Connector 92">
            <a:extLst>
              <a:ext uri="{FF2B5EF4-FFF2-40B4-BE49-F238E27FC236}">
                <a16:creationId xmlns:a16="http://schemas.microsoft.com/office/drawing/2014/main" id="{53E501DE-FE7A-3DD0-5102-BF39BB5491A1}"/>
              </a:ext>
            </a:extLst>
          </p:cNvPr>
          <p:cNvCxnSpPr>
            <a:cxnSpLocks/>
          </p:cNvCxnSpPr>
          <p:nvPr/>
        </p:nvCxnSpPr>
        <p:spPr>
          <a:xfrm flipV="1">
            <a:off x="5395387" y="2747088"/>
            <a:ext cx="0" cy="1412365"/>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Elbow Connector 97">
            <a:extLst>
              <a:ext uri="{FF2B5EF4-FFF2-40B4-BE49-F238E27FC236}">
                <a16:creationId xmlns:a16="http://schemas.microsoft.com/office/drawing/2014/main" id="{15B101C7-733A-C563-2E6F-A47BF46FF4B1}"/>
              </a:ext>
            </a:extLst>
          </p:cNvPr>
          <p:cNvCxnSpPr>
            <a:cxnSpLocks/>
          </p:cNvCxnSpPr>
          <p:nvPr/>
        </p:nvCxnSpPr>
        <p:spPr>
          <a:xfrm rot="5400000" flipH="1" flipV="1">
            <a:off x="6080745" y="4035147"/>
            <a:ext cx="2440256" cy="1"/>
          </a:xfrm>
          <a:prstGeom prst="bentConnector3">
            <a:avLst>
              <a:gd name="adj1" fmla="val 50000"/>
            </a:avLst>
          </a:prstGeom>
          <a:ln w="25400">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FD6F5BC4-D872-E205-463B-D14B9A7AB3AD}"/>
              </a:ext>
            </a:extLst>
          </p:cNvPr>
          <p:cNvCxnSpPr>
            <a:cxnSpLocks/>
            <a:stCxn id="11" idx="3"/>
          </p:cNvCxnSpPr>
          <p:nvPr/>
        </p:nvCxnSpPr>
        <p:spPr>
          <a:xfrm>
            <a:off x="5890594" y="4544398"/>
            <a:ext cx="1410278" cy="0"/>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Curved Connector 124">
            <a:extLst>
              <a:ext uri="{FF2B5EF4-FFF2-40B4-BE49-F238E27FC236}">
                <a16:creationId xmlns:a16="http://schemas.microsoft.com/office/drawing/2014/main" id="{44F2AB5F-8C60-210B-911A-31FB8D2A777D}"/>
              </a:ext>
            </a:extLst>
          </p:cNvPr>
          <p:cNvCxnSpPr>
            <a:cxnSpLocks/>
            <a:stCxn id="11" idx="1"/>
            <a:endCxn id="13" idx="2"/>
          </p:cNvCxnSpPr>
          <p:nvPr/>
        </p:nvCxnSpPr>
        <p:spPr>
          <a:xfrm rot="10800000" flipH="1">
            <a:off x="3324977" y="3785596"/>
            <a:ext cx="50227" cy="758803"/>
          </a:xfrm>
          <a:prstGeom prst="curvedConnector4">
            <a:avLst>
              <a:gd name="adj1" fmla="val -455134"/>
              <a:gd name="adj2" fmla="val 75365"/>
            </a:avLst>
          </a:prstGeom>
          <a:ln w="25400">
            <a:solidFill>
              <a:srgbClr val="7030A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19FC3EAF-E156-E2DD-4531-47108F074F90}"/>
              </a:ext>
            </a:extLst>
          </p:cNvPr>
          <p:cNvSpPr txBox="1"/>
          <p:nvPr/>
        </p:nvSpPr>
        <p:spPr>
          <a:xfrm>
            <a:off x="1422495" y="4128116"/>
            <a:ext cx="1705106" cy="707886"/>
          </a:xfrm>
          <a:prstGeom prst="rect">
            <a:avLst/>
          </a:prstGeom>
          <a:noFill/>
        </p:spPr>
        <p:txBody>
          <a:bodyPr wrap="square" rtlCol="0">
            <a:spAutoFit/>
          </a:bodyPr>
          <a:lstStyle/>
          <a:p>
            <a:pPr algn="ctr"/>
            <a:r>
              <a:rPr lang="en-KR" sz="2000" b="1" dirty="0">
                <a:solidFill>
                  <a:srgbClr val="7030A0"/>
                </a:solidFill>
                <a:latin typeface="Arial" panose="020B0604020202020204" pitchFamily="34" charset="0"/>
                <a:cs typeface="Arial" panose="020B0604020202020204" pitchFamily="34" charset="0"/>
              </a:rPr>
              <a:t>Static Taint Analysis</a:t>
            </a:r>
            <a:endParaRPr lang="en-KR" sz="2000" dirty="0">
              <a:solidFill>
                <a:srgbClr val="7030A0"/>
              </a:solidFill>
              <a:latin typeface="Arial" panose="020B0604020202020204" pitchFamily="34" charset="0"/>
              <a:cs typeface="Arial" panose="020B0604020202020204" pitchFamily="34" charset="0"/>
            </a:endParaRPr>
          </a:p>
        </p:txBody>
      </p:sp>
      <p:cxnSp>
        <p:nvCxnSpPr>
          <p:cNvPr id="127" name="Curved Connector 126">
            <a:extLst>
              <a:ext uri="{FF2B5EF4-FFF2-40B4-BE49-F238E27FC236}">
                <a16:creationId xmlns:a16="http://schemas.microsoft.com/office/drawing/2014/main" id="{68D5E58D-AF26-F005-98F2-626B4DBA9524}"/>
              </a:ext>
            </a:extLst>
          </p:cNvPr>
          <p:cNvCxnSpPr>
            <a:cxnSpLocks/>
            <a:stCxn id="16" idx="1"/>
            <a:endCxn id="43" idx="0"/>
          </p:cNvCxnSpPr>
          <p:nvPr/>
        </p:nvCxnSpPr>
        <p:spPr>
          <a:xfrm rot="10800000" flipV="1">
            <a:off x="6490197" y="4005290"/>
            <a:ext cx="714674" cy="181083"/>
          </a:xfrm>
          <a:prstGeom prst="curvedConnector2">
            <a:avLst/>
          </a:prstGeom>
          <a:ln w="25400">
            <a:solidFill>
              <a:srgbClr val="7030A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32" name="TextBox 131">
            <a:extLst>
              <a:ext uri="{FF2B5EF4-FFF2-40B4-BE49-F238E27FC236}">
                <a16:creationId xmlns:a16="http://schemas.microsoft.com/office/drawing/2014/main" id="{CC7CBC0F-E1E4-9827-C86E-860E04C354A9}"/>
              </a:ext>
            </a:extLst>
          </p:cNvPr>
          <p:cNvSpPr txBox="1"/>
          <p:nvPr/>
        </p:nvSpPr>
        <p:spPr>
          <a:xfrm>
            <a:off x="3474034" y="2074210"/>
            <a:ext cx="6072849" cy="646331"/>
          </a:xfrm>
          <a:prstGeom prst="rect">
            <a:avLst/>
          </a:prstGeom>
          <a:noFill/>
        </p:spPr>
        <p:txBody>
          <a:bodyPr wrap="square" rtlCol="0">
            <a:spAutoFit/>
          </a:bodyPr>
          <a:lstStyle/>
          <a:p>
            <a:pPr algn="ctr"/>
            <a:r>
              <a:rPr lang="en-KR" b="1" i="1" dirty="0">
                <a:latin typeface="Arial" panose="020B0604020202020204" pitchFamily="34" charset="0"/>
                <a:cs typeface="Arial" panose="020B0604020202020204" pitchFamily="34" charset="0"/>
              </a:rPr>
              <a:t>System calls </a:t>
            </a:r>
            <a:r>
              <a:rPr lang="en-KR" i="1" dirty="0">
                <a:latin typeface="Arial" panose="020B0604020202020204" pitchFamily="34" charset="0"/>
                <a:cs typeface="Arial" panose="020B0604020202020204" pitchFamily="34" charset="0"/>
              </a:rPr>
              <a:t>e.g., SYSCALL_open()</a:t>
            </a:r>
          </a:p>
          <a:p>
            <a:pPr algn="ctr"/>
            <a:r>
              <a:rPr lang="en-KR" b="1" i="1" dirty="0">
                <a:latin typeface="Arial" panose="020B0604020202020204" pitchFamily="34" charset="0"/>
                <a:cs typeface="Arial" panose="020B0604020202020204" pitchFamily="34" charset="0"/>
              </a:rPr>
              <a:t>Pseudo filesystems </a:t>
            </a:r>
            <a:r>
              <a:rPr lang="en-KR" i="1" dirty="0">
                <a:latin typeface="Arial" panose="020B0604020202020204" pitchFamily="34" charset="0"/>
                <a:cs typeface="Arial" panose="020B0604020202020204" pitchFamily="34" charset="0"/>
              </a:rPr>
              <a:t>e.g., /sys/kernel/modeprobe_path</a:t>
            </a:r>
          </a:p>
        </p:txBody>
      </p:sp>
      <p:pic>
        <p:nvPicPr>
          <p:cNvPr id="6" name="Graphic 5" descr="Magnifying glass with solid fill">
            <a:extLst>
              <a:ext uri="{FF2B5EF4-FFF2-40B4-BE49-F238E27FC236}">
                <a16:creationId xmlns:a16="http://schemas.microsoft.com/office/drawing/2014/main" id="{38909E41-57F5-2C88-5AD8-2306114EE4A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2294197" y="3481648"/>
            <a:ext cx="565594" cy="565594"/>
          </a:xfrm>
          <a:prstGeom prst="rect">
            <a:avLst/>
          </a:prstGeom>
        </p:spPr>
      </p:pic>
      <p:sp>
        <p:nvSpPr>
          <p:cNvPr id="18" name="Rounded Rectangle 17">
            <a:extLst>
              <a:ext uri="{FF2B5EF4-FFF2-40B4-BE49-F238E27FC236}">
                <a16:creationId xmlns:a16="http://schemas.microsoft.com/office/drawing/2014/main" id="{C236487A-B733-B051-4EBE-7486638D17A0}"/>
              </a:ext>
            </a:extLst>
          </p:cNvPr>
          <p:cNvSpPr/>
          <p:nvPr/>
        </p:nvSpPr>
        <p:spPr>
          <a:xfrm>
            <a:off x="5056952" y="3353107"/>
            <a:ext cx="1316073" cy="366370"/>
          </a:xfrm>
          <a:prstGeom prst="roundRect">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600" dirty="0">
                <a:solidFill>
                  <a:schemeClr val="tx1"/>
                </a:solidFill>
                <a:latin typeface="Arial" panose="020B0604020202020204" pitchFamily="34" charset="0"/>
                <a:cs typeface="Arial" panose="020B0604020202020204" pitchFamily="34" charset="0"/>
              </a:rPr>
              <a:t>Error code</a:t>
            </a:r>
          </a:p>
        </p:txBody>
      </p:sp>
      <p:cxnSp>
        <p:nvCxnSpPr>
          <p:cNvPr id="23" name="Straight Arrow Connector 22">
            <a:extLst>
              <a:ext uri="{FF2B5EF4-FFF2-40B4-BE49-F238E27FC236}">
                <a16:creationId xmlns:a16="http://schemas.microsoft.com/office/drawing/2014/main" id="{2619580C-09DA-967D-5B8A-0FA5B922AA08}"/>
              </a:ext>
            </a:extLst>
          </p:cNvPr>
          <p:cNvCxnSpPr>
            <a:cxnSpLocks/>
          </p:cNvCxnSpPr>
          <p:nvPr/>
        </p:nvCxnSpPr>
        <p:spPr>
          <a:xfrm>
            <a:off x="4454119" y="2747088"/>
            <a:ext cx="0" cy="14026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8323F58-0A80-100C-E9FD-AE93C8827ECA}"/>
              </a:ext>
            </a:extLst>
          </p:cNvPr>
          <p:cNvSpPr txBox="1"/>
          <p:nvPr/>
        </p:nvSpPr>
        <p:spPr>
          <a:xfrm>
            <a:off x="4835229" y="3764911"/>
            <a:ext cx="582211" cy="369332"/>
          </a:xfrm>
          <a:prstGeom prst="rect">
            <a:avLst/>
          </a:prstGeom>
          <a:noFill/>
        </p:spPr>
        <p:txBody>
          <a:bodyPr wrap="none" rtlCol="0">
            <a:spAutoFit/>
          </a:bodyPr>
          <a:lstStyle/>
          <a:p>
            <a:pPr algn="l"/>
            <a:r>
              <a:rPr lang="en-KR" b="1" dirty="0">
                <a:solidFill>
                  <a:srgbClr val="C00000"/>
                </a:solidFill>
                <a:latin typeface="Arial" panose="020B0604020202020204" pitchFamily="34" charset="0"/>
                <a:cs typeface="Arial" panose="020B0604020202020204" pitchFamily="34" charset="0"/>
              </a:rPr>
              <a:t>Fail</a:t>
            </a:r>
          </a:p>
        </p:txBody>
      </p:sp>
      <p:sp>
        <p:nvSpPr>
          <p:cNvPr id="31" name="Rounded Rectangle 30">
            <a:extLst>
              <a:ext uri="{FF2B5EF4-FFF2-40B4-BE49-F238E27FC236}">
                <a16:creationId xmlns:a16="http://schemas.microsoft.com/office/drawing/2014/main" id="{8E3924BB-31DE-C0FB-1314-2E1ABC9EB7E3}"/>
              </a:ext>
            </a:extLst>
          </p:cNvPr>
          <p:cNvSpPr/>
          <p:nvPr/>
        </p:nvSpPr>
        <p:spPr>
          <a:xfrm>
            <a:off x="6500146" y="5255275"/>
            <a:ext cx="1796935" cy="639719"/>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b="1" dirty="0">
                <a:solidFill>
                  <a:schemeClr val="accent1"/>
                </a:solidFill>
                <a:latin typeface="Arial" panose="020B0604020202020204" pitchFamily="34" charset="0"/>
                <a:cs typeface="Arial" panose="020B0604020202020204" pitchFamily="34" charset="0"/>
              </a:rPr>
              <a:t>Resource</a:t>
            </a:r>
            <a:endParaRPr lang="en-KR" dirty="0">
              <a:solidFill>
                <a:schemeClr val="tx1"/>
              </a:solidFill>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81723926-C481-451D-12B5-DA02DE34AB8D}"/>
              </a:ext>
            </a:extLst>
          </p:cNvPr>
          <p:cNvSpPr txBox="1"/>
          <p:nvPr/>
        </p:nvSpPr>
        <p:spPr>
          <a:xfrm>
            <a:off x="5929787" y="4186374"/>
            <a:ext cx="1120820" cy="369332"/>
          </a:xfrm>
          <a:prstGeom prst="rect">
            <a:avLst/>
          </a:prstGeom>
          <a:noFill/>
        </p:spPr>
        <p:txBody>
          <a:bodyPr wrap="none" rtlCol="0">
            <a:spAutoFit/>
          </a:bodyPr>
          <a:lstStyle/>
          <a:p>
            <a:pPr algn="l"/>
            <a:r>
              <a:rPr lang="en-KR" b="1" dirty="0">
                <a:solidFill>
                  <a:schemeClr val="accent6">
                    <a:lumMod val="75000"/>
                  </a:schemeClr>
                </a:solidFill>
                <a:latin typeface="Arial" panose="020B0604020202020204" pitchFamily="34" charset="0"/>
                <a:cs typeface="Arial" panose="020B0604020202020204" pitchFamily="34" charset="0"/>
              </a:rPr>
              <a:t>Success</a:t>
            </a:r>
          </a:p>
        </p:txBody>
      </p:sp>
      <p:sp>
        <p:nvSpPr>
          <p:cNvPr id="10" name="Rounded Rectangle 9">
            <a:extLst>
              <a:ext uri="{FF2B5EF4-FFF2-40B4-BE49-F238E27FC236}">
                <a16:creationId xmlns:a16="http://schemas.microsoft.com/office/drawing/2014/main" id="{E92AE495-7771-8E65-DC8A-BE3BA2508485}"/>
              </a:ext>
            </a:extLst>
          </p:cNvPr>
          <p:cNvSpPr/>
          <p:nvPr/>
        </p:nvSpPr>
        <p:spPr>
          <a:xfrm>
            <a:off x="7460601" y="3375391"/>
            <a:ext cx="2286901" cy="373554"/>
          </a:xfrm>
          <a:prstGeom prst="roundRect">
            <a:avLst>
              <a:gd name="adj" fmla="val 12254"/>
            </a:avLst>
          </a:prstGeom>
          <a:solidFill>
            <a:schemeClr val="bg1"/>
          </a:solid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600" dirty="0">
                <a:solidFill>
                  <a:schemeClr val="tx1"/>
                </a:solidFill>
                <a:latin typeface="Arial" panose="020B0604020202020204" pitchFamily="34" charset="0"/>
                <a:cs typeface="Arial" panose="020B0604020202020204" pitchFamily="34" charset="0"/>
              </a:rPr>
              <a:t>copy_to/from_user()</a:t>
            </a:r>
          </a:p>
        </p:txBody>
      </p:sp>
      <p:sp>
        <p:nvSpPr>
          <p:cNvPr id="16" name="Rounded Rectangle 15">
            <a:extLst>
              <a:ext uri="{FF2B5EF4-FFF2-40B4-BE49-F238E27FC236}">
                <a16:creationId xmlns:a16="http://schemas.microsoft.com/office/drawing/2014/main" id="{676F5B1C-0C38-2206-932A-CADCE23076B2}"/>
              </a:ext>
            </a:extLst>
          </p:cNvPr>
          <p:cNvSpPr/>
          <p:nvPr/>
        </p:nvSpPr>
        <p:spPr>
          <a:xfrm>
            <a:off x="7204871" y="3818514"/>
            <a:ext cx="1017455" cy="373554"/>
          </a:xfrm>
          <a:prstGeom prst="roundRect">
            <a:avLst>
              <a:gd name="adj" fmla="val 12254"/>
            </a:avLst>
          </a:prstGeom>
          <a:solidFill>
            <a:schemeClr val="bg1"/>
          </a:solid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600" dirty="0">
                <a:solidFill>
                  <a:schemeClr val="tx1"/>
                </a:solidFill>
                <a:latin typeface="Arial" panose="020B0604020202020204" pitchFamily="34" charset="0"/>
                <a:cs typeface="Arial" panose="020B0604020202020204" pitchFamily="34" charset="0"/>
              </a:rPr>
              <a:t>raw data</a:t>
            </a:r>
          </a:p>
        </p:txBody>
      </p:sp>
      <p:cxnSp>
        <p:nvCxnSpPr>
          <p:cNvPr id="19" name="Curved Connector 18">
            <a:extLst>
              <a:ext uri="{FF2B5EF4-FFF2-40B4-BE49-F238E27FC236}">
                <a16:creationId xmlns:a16="http://schemas.microsoft.com/office/drawing/2014/main" id="{FAF7F30B-9B46-792E-C196-32B8925E0D0F}"/>
              </a:ext>
            </a:extLst>
          </p:cNvPr>
          <p:cNvCxnSpPr>
            <a:cxnSpLocks/>
            <a:stCxn id="10" idx="1"/>
            <a:endCxn id="43" idx="0"/>
          </p:cNvCxnSpPr>
          <p:nvPr/>
        </p:nvCxnSpPr>
        <p:spPr>
          <a:xfrm rot="10800000" flipV="1">
            <a:off x="6490197" y="3562168"/>
            <a:ext cx="970404" cy="624206"/>
          </a:xfrm>
          <a:prstGeom prst="curvedConnector2">
            <a:avLst/>
          </a:prstGeom>
          <a:ln w="25400">
            <a:solidFill>
              <a:srgbClr val="7030A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Curved Connector 46">
            <a:extLst>
              <a:ext uri="{FF2B5EF4-FFF2-40B4-BE49-F238E27FC236}">
                <a16:creationId xmlns:a16="http://schemas.microsoft.com/office/drawing/2014/main" id="{D4C4DD2A-3894-1ADB-52B5-8D00B689EF30}"/>
              </a:ext>
            </a:extLst>
          </p:cNvPr>
          <p:cNvCxnSpPr>
            <a:cxnSpLocks/>
            <a:stCxn id="43" idx="2"/>
          </p:cNvCxnSpPr>
          <p:nvPr/>
        </p:nvCxnSpPr>
        <p:spPr>
          <a:xfrm rot="16200000" flipH="1">
            <a:off x="6440214" y="4605688"/>
            <a:ext cx="699568" cy="599603"/>
          </a:xfrm>
          <a:prstGeom prst="curvedConnector3">
            <a:avLst>
              <a:gd name="adj1" fmla="val 50000"/>
            </a:avLst>
          </a:prstGeom>
          <a:ln w="25400">
            <a:solidFill>
              <a:srgbClr val="7030A0"/>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50" name="Graphic 49" descr="Magnifying glass with solid fill">
            <a:extLst>
              <a:ext uri="{FF2B5EF4-FFF2-40B4-BE49-F238E27FC236}">
                <a16:creationId xmlns:a16="http://schemas.microsoft.com/office/drawing/2014/main" id="{AE144CC2-A624-95FC-0CE3-0CDD23149E2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6207399" y="5589969"/>
            <a:ext cx="565594" cy="565594"/>
          </a:xfrm>
          <a:prstGeom prst="rect">
            <a:avLst/>
          </a:prstGeom>
        </p:spPr>
      </p:pic>
      <p:sp>
        <p:nvSpPr>
          <p:cNvPr id="51" name="TextBox 50">
            <a:extLst>
              <a:ext uri="{FF2B5EF4-FFF2-40B4-BE49-F238E27FC236}">
                <a16:creationId xmlns:a16="http://schemas.microsoft.com/office/drawing/2014/main" id="{ADF15088-D0FD-BDC5-54A1-8BBDEDF75BA4}"/>
              </a:ext>
            </a:extLst>
          </p:cNvPr>
          <p:cNvSpPr txBox="1"/>
          <p:nvPr/>
        </p:nvSpPr>
        <p:spPr>
          <a:xfrm>
            <a:off x="4745859" y="5323271"/>
            <a:ext cx="1597587" cy="707886"/>
          </a:xfrm>
          <a:prstGeom prst="rect">
            <a:avLst/>
          </a:prstGeom>
          <a:noFill/>
        </p:spPr>
        <p:txBody>
          <a:bodyPr wrap="square" rtlCol="0">
            <a:spAutoFit/>
          </a:bodyPr>
          <a:lstStyle/>
          <a:p>
            <a:pPr algn="ctr"/>
            <a:r>
              <a:rPr lang="en-KR" sz="2000" b="1" dirty="0">
                <a:solidFill>
                  <a:srgbClr val="7030A0"/>
                </a:solidFill>
                <a:latin typeface="Arial" panose="020B0604020202020204" pitchFamily="34" charset="0"/>
                <a:cs typeface="Arial" panose="020B0604020202020204" pitchFamily="34" charset="0"/>
              </a:rPr>
              <a:t>Static Taint Analysis</a:t>
            </a:r>
            <a:endParaRPr lang="en-KR" sz="2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621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P spid="5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A96E2-3AAA-E0BD-5801-9195D84E9C6A}"/>
              </a:ext>
            </a:extLst>
          </p:cNvPr>
          <p:cNvSpPr>
            <a:spLocks noGrp="1"/>
          </p:cNvSpPr>
          <p:nvPr>
            <p:ph type="title"/>
          </p:nvPr>
        </p:nvSpPr>
        <p:spPr/>
        <p:txBody>
          <a:bodyPr>
            <a:normAutofit/>
          </a:bodyPr>
          <a:lstStyle/>
          <a:p>
            <a:r>
              <a:rPr lang="en-KR" sz="4000" dirty="0"/>
              <a:t>PeTAL’s Data Flow Integrity</a:t>
            </a:r>
          </a:p>
        </p:txBody>
      </p:sp>
      <p:sp>
        <p:nvSpPr>
          <p:cNvPr id="4" name="Slide Number Placeholder 3">
            <a:extLst>
              <a:ext uri="{FF2B5EF4-FFF2-40B4-BE49-F238E27FC236}">
                <a16:creationId xmlns:a16="http://schemas.microsoft.com/office/drawing/2014/main" id="{F7549B64-CE18-1961-E9BC-8BCA2D2D9970}"/>
              </a:ext>
            </a:extLst>
          </p:cNvPr>
          <p:cNvSpPr>
            <a:spLocks noGrp="1"/>
          </p:cNvSpPr>
          <p:nvPr>
            <p:ph type="sldNum" sz="quarter" idx="12"/>
          </p:nvPr>
        </p:nvSpPr>
        <p:spPr/>
        <p:txBody>
          <a:bodyPr/>
          <a:lstStyle/>
          <a:p>
            <a:fld id="{9ED31AF7-B9C1-7944-AC45-A988640FDEFC}" type="slidenum">
              <a:rPr lang="en-KR" smtClean="0"/>
              <a:t>14</a:t>
            </a:fld>
            <a:endParaRPr lang="en-KR" dirty="0"/>
          </a:p>
        </p:txBody>
      </p:sp>
      <p:sp>
        <p:nvSpPr>
          <p:cNvPr id="28" name="Rounded Rectangle 27">
            <a:extLst>
              <a:ext uri="{FF2B5EF4-FFF2-40B4-BE49-F238E27FC236}">
                <a16:creationId xmlns:a16="http://schemas.microsoft.com/office/drawing/2014/main" id="{113D75CC-AAD5-73A8-7C9C-2AB09EFF1EDF}"/>
              </a:ext>
            </a:extLst>
          </p:cNvPr>
          <p:cNvSpPr/>
          <p:nvPr/>
        </p:nvSpPr>
        <p:spPr>
          <a:xfrm>
            <a:off x="952108" y="3429000"/>
            <a:ext cx="7217010" cy="3063876"/>
          </a:xfrm>
          <a:prstGeom prst="roundRect">
            <a:avLst>
              <a:gd name="adj" fmla="val 5417"/>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grpSp>
        <p:nvGrpSpPr>
          <p:cNvPr id="13" name="Group 12">
            <a:extLst>
              <a:ext uri="{FF2B5EF4-FFF2-40B4-BE49-F238E27FC236}">
                <a16:creationId xmlns:a16="http://schemas.microsoft.com/office/drawing/2014/main" id="{73438FD4-11B6-597C-05AB-77F15D9A5018}"/>
              </a:ext>
            </a:extLst>
          </p:cNvPr>
          <p:cNvGrpSpPr/>
          <p:nvPr/>
        </p:nvGrpSpPr>
        <p:grpSpPr>
          <a:xfrm>
            <a:off x="8573795" y="4242301"/>
            <a:ext cx="1003197" cy="269076"/>
            <a:chOff x="10810238" y="5046048"/>
            <a:chExt cx="1003197" cy="269076"/>
          </a:xfrm>
        </p:grpSpPr>
        <p:sp>
          <p:nvSpPr>
            <p:cNvPr id="75" name="Rounded Rectangle 74">
              <a:extLst>
                <a:ext uri="{FF2B5EF4-FFF2-40B4-BE49-F238E27FC236}">
                  <a16:creationId xmlns:a16="http://schemas.microsoft.com/office/drawing/2014/main" id="{5C7AFF43-B272-DFFC-5AFF-3DF0C8DF0056}"/>
                </a:ext>
              </a:extLst>
            </p:cNvPr>
            <p:cNvSpPr/>
            <p:nvPr/>
          </p:nvSpPr>
          <p:spPr>
            <a:xfrm>
              <a:off x="10810238" y="5046048"/>
              <a:ext cx="269076" cy="269076"/>
            </a:xfrm>
            <a:prstGeom prst="roundRect">
              <a:avLst/>
            </a:prstGeom>
            <a:solidFill>
              <a:schemeClr val="accent6">
                <a:lumMod val="40000"/>
                <a:lumOff val="60000"/>
              </a:schemeClr>
            </a:solidFill>
            <a:ln w="22225"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P</a:t>
              </a:r>
            </a:p>
          </p:txBody>
        </p:sp>
        <p:sp>
          <p:nvSpPr>
            <p:cNvPr id="83" name="TextBox 82">
              <a:extLst>
                <a:ext uri="{FF2B5EF4-FFF2-40B4-BE49-F238E27FC236}">
                  <a16:creationId xmlns:a16="http://schemas.microsoft.com/office/drawing/2014/main" id="{0D8A155C-04B6-283E-FEEC-E54B5DEF8BF0}"/>
                </a:ext>
              </a:extLst>
            </p:cNvPr>
            <p:cNvSpPr txBox="1"/>
            <p:nvPr/>
          </p:nvSpPr>
          <p:spPr>
            <a:xfrm>
              <a:off x="11204596" y="5057475"/>
              <a:ext cx="608839" cy="246221"/>
            </a:xfrm>
            <a:prstGeom prst="rect">
              <a:avLst/>
            </a:prstGeom>
            <a:noFill/>
          </p:spPr>
          <p:txBody>
            <a:bodyPr wrap="square" lIns="0" tIns="0" rIns="0" bIns="0" rtlCol="0">
              <a:spAutoFit/>
            </a:bodyPr>
            <a:lstStyle/>
            <a:p>
              <a:r>
                <a:rPr lang="en-KR" sz="1600" dirty="0">
                  <a:latin typeface="Arial" panose="020B0604020202020204" pitchFamily="34" charset="0"/>
                  <a:cs typeface="Arial" panose="020B0604020202020204" pitchFamily="34" charset="0"/>
                </a:rPr>
                <a:t>PAC</a:t>
              </a:r>
            </a:p>
          </p:txBody>
        </p:sp>
      </p:grpSp>
      <p:grpSp>
        <p:nvGrpSpPr>
          <p:cNvPr id="12" name="Group 11">
            <a:extLst>
              <a:ext uri="{FF2B5EF4-FFF2-40B4-BE49-F238E27FC236}">
                <a16:creationId xmlns:a16="http://schemas.microsoft.com/office/drawing/2014/main" id="{36800CF3-5DD4-65FB-7F39-68902B7B28AF}"/>
              </a:ext>
            </a:extLst>
          </p:cNvPr>
          <p:cNvGrpSpPr/>
          <p:nvPr/>
        </p:nvGrpSpPr>
        <p:grpSpPr>
          <a:xfrm>
            <a:off x="8573795" y="3741735"/>
            <a:ext cx="925169" cy="269076"/>
            <a:chOff x="10810238" y="5627901"/>
            <a:chExt cx="925169" cy="269076"/>
          </a:xfrm>
        </p:grpSpPr>
        <p:sp>
          <p:nvSpPr>
            <p:cNvPr id="82" name="Rounded Rectangle 81">
              <a:extLst>
                <a:ext uri="{FF2B5EF4-FFF2-40B4-BE49-F238E27FC236}">
                  <a16:creationId xmlns:a16="http://schemas.microsoft.com/office/drawing/2014/main" id="{8B9619B7-2BBC-4F4D-7CD4-41A237D3B151}"/>
                </a:ext>
              </a:extLst>
            </p:cNvPr>
            <p:cNvSpPr/>
            <p:nvPr/>
          </p:nvSpPr>
          <p:spPr>
            <a:xfrm>
              <a:off x="10810238" y="5627901"/>
              <a:ext cx="269076" cy="269076"/>
            </a:xfrm>
            <a:prstGeom prst="roundRect">
              <a:avLst/>
            </a:prstGeom>
            <a:solidFill>
              <a:schemeClr val="accent2">
                <a:lumMod val="60000"/>
                <a:lumOff val="40000"/>
              </a:schemeClr>
            </a:solidFill>
            <a:ln w="22225"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T</a:t>
              </a:r>
            </a:p>
          </p:txBody>
        </p:sp>
        <p:sp>
          <p:nvSpPr>
            <p:cNvPr id="84" name="TextBox 83">
              <a:extLst>
                <a:ext uri="{FF2B5EF4-FFF2-40B4-BE49-F238E27FC236}">
                  <a16:creationId xmlns:a16="http://schemas.microsoft.com/office/drawing/2014/main" id="{A8622CAE-D8E3-0EBD-AA0F-FE2DB332D0E5}"/>
                </a:ext>
              </a:extLst>
            </p:cNvPr>
            <p:cNvSpPr txBox="1"/>
            <p:nvPr/>
          </p:nvSpPr>
          <p:spPr>
            <a:xfrm>
              <a:off x="11204596" y="5639328"/>
              <a:ext cx="530811" cy="246221"/>
            </a:xfrm>
            <a:prstGeom prst="rect">
              <a:avLst/>
            </a:prstGeom>
            <a:noFill/>
          </p:spPr>
          <p:txBody>
            <a:bodyPr wrap="square" lIns="0" tIns="0" rIns="0" bIns="0" rtlCol="0">
              <a:spAutoFit/>
            </a:bodyPr>
            <a:lstStyle/>
            <a:p>
              <a:r>
                <a:rPr lang="en-KR" sz="1600" dirty="0">
                  <a:latin typeface="Arial" panose="020B0604020202020204" pitchFamily="34" charset="0"/>
                  <a:cs typeface="Arial" panose="020B0604020202020204" pitchFamily="34" charset="0"/>
                </a:rPr>
                <a:t>MTE</a:t>
              </a:r>
            </a:p>
          </p:txBody>
        </p:sp>
      </p:grpSp>
      <p:cxnSp>
        <p:nvCxnSpPr>
          <p:cNvPr id="40" name="Straight Arrow Connector 39">
            <a:extLst>
              <a:ext uri="{FF2B5EF4-FFF2-40B4-BE49-F238E27FC236}">
                <a16:creationId xmlns:a16="http://schemas.microsoft.com/office/drawing/2014/main" id="{7C9921F5-7D61-36DE-882A-A9381C549FFD}"/>
              </a:ext>
            </a:extLst>
          </p:cNvPr>
          <p:cNvCxnSpPr>
            <a:cxnSpLocks/>
            <a:stCxn id="48" idx="2"/>
          </p:cNvCxnSpPr>
          <p:nvPr/>
        </p:nvCxnSpPr>
        <p:spPr>
          <a:xfrm>
            <a:off x="6286504" y="3934619"/>
            <a:ext cx="436935" cy="557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9A04392-0B6E-E586-43E2-99C58B61DB1B}"/>
              </a:ext>
            </a:extLst>
          </p:cNvPr>
          <p:cNvCxnSpPr>
            <a:cxnSpLocks/>
            <a:stCxn id="46" idx="3"/>
          </p:cNvCxnSpPr>
          <p:nvPr/>
        </p:nvCxnSpPr>
        <p:spPr>
          <a:xfrm flipV="1">
            <a:off x="4033476" y="4653290"/>
            <a:ext cx="326794" cy="3292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Parallelogram 41">
            <a:extLst>
              <a:ext uri="{FF2B5EF4-FFF2-40B4-BE49-F238E27FC236}">
                <a16:creationId xmlns:a16="http://schemas.microsoft.com/office/drawing/2014/main" id="{8AE50BC2-718D-CCC8-8FFA-C09F0DE58E0D}"/>
              </a:ext>
            </a:extLst>
          </p:cNvPr>
          <p:cNvSpPr/>
          <p:nvPr/>
        </p:nvSpPr>
        <p:spPr>
          <a:xfrm>
            <a:off x="1679774" y="4646593"/>
            <a:ext cx="926415" cy="238224"/>
          </a:xfrm>
          <a:prstGeom prst="parallelogram">
            <a:avLst/>
          </a:prstGeom>
          <a:solidFill>
            <a:schemeClr val="accent4">
              <a:lumMod val="40000"/>
              <a:lumOff val="6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current</a:t>
            </a:r>
          </a:p>
        </p:txBody>
      </p:sp>
      <p:cxnSp>
        <p:nvCxnSpPr>
          <p:cNvPr id="43" name="Straight Arrow Connector 42">
            <a:extLst>
              <a:ext uri="{FF2B5EF4-FFF2-40B4-BE49-F238E27FC236}">
                <a16:creationId xmlns:a16="http://schemas.microsoft.com/office/drawing/2014/main" id="{7B4275E8-975F-FA8D-8F4C-5AA2DC85DB84}"/>
              </a:ext>
            </a:extLst>
          </p:cNvPr>
          <p:cNvCxnSpPr>
            <a:cxnSpLocks/>
            <a:stCxn id="42" idx="2"/>
          </p:cNvCxnSpPr>
          <p:nvPr/>
        </p:nvCxnSpPr>
        <p:spPr>
          <a:xfrm>
            <a:off x="2576431" y="4765706"/>
            <a:ext cx="33273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Rounded Rectangle 43">
            <a:extLst>
              <a:ext uri="{FF2B5EF4-FFF2-40B4-BE49-F238E27FC236}">
                <a16:creationId xmlns:a16="http://schemas.microsoft.com/office/drawing/2014/main" id="{A7BD19FA-8796-79FC-B606-49B519A0EABC}"/>
              </a:ext>
            </a:extLst>
          </p:cNvPr>
          <p:cNvSpPr/>
          <p:nvPr/>
        </p:nvSpPr>
        <p:spPr>
          <a:xfrm>
            <a:off x="2926515" y="4695406"/>
            <a:ext cx="1109233" cy="776747"/>
          </a:xfrm>
          <a:prstGeom prst="roundRect">
            <a:avLst/>
          </a:prstGeom>
          <a:no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DAD0D3FB-F392-479B-6C24-A47C125423DC}"/>
              </a:ext>
            </a:extLst>
          </p:cNvPr>
          <p:cNvSpPr txBox="1"/>
          <p:nvPr/>
        </p:nvSpPr>
        <p:spPr>
          <a:xfrm>
            <a:off x="2758702" y="4365413"/>
            <a:ext cx="1440313" cy="215444"/>
          </a:xfrm>
          <a:prstGeom prst="rect">
            <a:avLst/>
          </a:prstGeom>
          <a:noFill/>
        </p:spPr>
        <p:txBody>
          <a:bodyPr wrap="square" lIns="0" tIns="0" rIns="0" bIns="0" rtlCol="0">
            <a:spAutoFit/>
          </a:bodyPr>
          <a:lstStyle/>
          <a:p>
            <a:pPr algn="ctr"/>
            <a:r>
              <a:rPr lang="en-KR" sz="1400" dirty="0">
                <a:latin typeface="Arial" panose="020B0604020202020204" pitchFamily="34" charset="0"/>
                <a:cs typeface="Arial" panose="020B0604020202020204" pitchFamily="34" charset="0"/>
              </a:rPr>
              <a:t>struct task_struct</a:t>
            </a:r>
          </a:p>
        </p:txBody>
      </p:sp>
      <p:sp>
        <p:nvSpPr>
          <p:cNvPr id="46" name="TextBox 45">
            <a:extLst>
              <a:ext uri="{FF2B5EF4-FFF2-40B4-BE49-F238E27FC236}">
                <a16:creationId xmlns:a16="http://schemas.microsoft.com/office/drawing/2014/main" id="{FC9D54B8-39E4-3091-9CFF-2E9C6A3B70B5}"/>
              </a:ext>
            </a:extLst>
          </p:cNvPr>
          <p:cNvSpPr txBox="1"/>
          <p:nvPr/>
        </p:nvSpPr>
        <p:spPr>
          <a:xfrm>
            <a:off x="2924243" y="4861552"/>
            <a:ext cx="1109233" cy="241988"/>
          </a:xfrm>
          <a:prstGeom prst="rect">
            <a:avLst/>
          </a:prstGeom>
          <a:solidFill>
            <a:schemeClr val="accent4">
              <a:lumMod val="40000"/>
              <a:lumOff val="60000"/>
            </a:schemeClr>
          </a:solidFill>
          <a:ln w="19050">
            <a:solidFill>
              <a:schemeClr val="tx1"/>
            </a:solidFill>
          </a:ln>
        </p:spPr>
        <p:txBody>
          <a:bodyPr wrap="square" lIns="0" tIns="0" rIns="0" bIns="0" rtlCol="0">
            <a:spAutoFit/>
          </a:bodyPr>
          <a:lstStyle/>
          <a:p>
            <a:pPr algn="ctr"/>
            <a:r>
              <a:rPr lang="en-KR" sz="1400" dirty="0">
                <a:latin typeface="Arial" panose="020B0604020202020204" pitchFamily="34" charset="0"/>
                <a:cs typeface="Arial" panose="020B0604020202020204" pitchFamily="34" charset="0"/>
              </a:rPr>
              <a:t>cred</a:t>
            </a:r>
          </a:p>
        </p:txBody>
      </p:sp>
      <p:sp>
        <p:nvSpPr>
          <p:cNvPr id="47" name="TextBox 46">
            <a:extLst>
              <a:ext uri="{FF2B5EF4-FFF2-40B4-BE49-F238E27FC236}">
                <a16:creationId xmlns:a16="http://schemas.microsoft.com/office/drawing/2014/main" id="{15751C3B-AA73-CB25-F5EA-E3578CDDA1CE}"/>
              </a:ext>
            </a:extLst>
          </p:cNvPr>
          <p:cNvSpPr txBox="1"/>
          <p:nvPr/>
        </p:nvSpPr>
        <p:spPr>
          <a:xfrm>
            <a:off x="6641168" y="3636571"/>
            <a:ext cx="1255954" cy="241988"/>
          </a:xfrm>
          <a:prstGeom prst="rect">
            <a:avLst/>
          </a:prstGeom>
          <a:noFill/>
        </p:spPr>
        <p:txBody>
          <a:bodyPr wrap="square" lIns="0" tIns="0" rIns="0" bIns="0" rtlCol="0">
            <a:spAutoFit/>
          </a:bodyPr>
          <a:lstStyle/>
          <a:p>
            <a:pPr algn="ctr"/>
            <a:r>
              <a:rPr lang="en-KR" sz="1400" dirty="0">
                <a:latin typeface="Arial" panose="020B0604020202020204" pitchFamily="34" charset="0"/>
                <a:cs typeface="Arial" panose="020B0604020202020204" pitchFamily="34" charset="0"/>
              </a:rPr>
              <a:t>struct inode</a:t>
            </a:r>
          </a:p>
        </p:txBody>
      </p:sp>
      <p:sp>
        <p:nvSpPr>
          <p:cNvPr id="48" name="Parallelogram 47">
            <a:extLst>
              <a:ext uri="{FF2B5EF4-FFF2-40B4-BE49-F238E27FC236}">
                <a16:creationId xmlns:a16="http://schemas.microsoft.com/office/drawing/2014/main" id="{B4B4F646-8B70-61EB-A70B-DC7B05B12710}"/>
              </a:ext>
            </a:extLst>
          </p:cNvPr>
          <p:cNvSpPr/>
          <p:nvPr/>
        </p:nvSpPr>
        <p:spPr>
          <a:xfrm>
            <a:off x="4675692" y="3823725"/>
            <a:ext cx="1638535" cy="221787"/>
          </a:xfrm>
          <a:prstGeom prst="parallelogram">
            <a:avLst/>
          </a:prstGeom>
          <a:solidFill>
            <a:schemeClr val="accent4">
              <a:lumMod val="40000"/>
              <a:lumOff val="6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inode_hashtable</a:t>
            </a:r>
          </a:p>
        </p:txBody>
      </p:sp>
      <p:sp>
        <p:nvSpPr>
          <p:cNvPr id="49" name="Rounded Rectangle 48">
            <a:extLst>
              <a:ext uri="{FF2B5EF4-FFF2-40B4-BE49-F238E27FC236}">
                <a16:creationId xmlns:a16="http://schemas.microsoft.com/office/drawing/2014/main" id="{0475A2D9-518C-89C5-F6F1-A526543DEA42}"/>
              </a:ext>
            </a:extLst>
          </p:cNvPr>
          <p:cNvSpPr/>
          <p:nvPr/>
        </p:nvSpPr>
        <p:spPr>
          <a:xfrm>
            <a:off x="4347124" y="5683973"/>
            <a:ext cx="1040943" cy="566132"/>
          </a:xfrm>
          <a:prstGeom prst="roundRect">
            <a:avLst/>
          </a:prstGeom>
          <a:no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dirty="0">
              <a:latin typeface="Arial" panose="020B0604020202020204" pitchFamily="34" charset="0"/>
              <a:cs typeface="Arial" panose="020B0604020202020204" pitchFamily="34" charset="0"/>
            </a:endParaRPr>
          </a:p>
        </p:txBody>
      </p:sp>
      <p:sp>
        <p:nvSpPr>
          <p:cNvPr id="50" name="TextBox 49">
            <a:extLst>
              <a:ext uri="{FF2B5EF4-FFF2-40B4-BE49-F238E27FC236}">
                <a16:creationId xmlns:a16="http://schemas.microsoft.com/office/drawing/2014/main" id="{187498E5-8D52-07F3-1642-BEAC9E7E83C0}"/>
              </a:ext>
            </a:extLst>
          </p:cNvPr>
          <p:cNvSpPr txBox="1"/>
          <p:nvPr/>
        </p:nvSpPr>
        <p:spPr>
          <a:xfrm>
            <a:off x="4367081" y="5171670"/>
            <a:ext cx="954811" cy="430887"/>
          </a:xfrm>
          <a:prstGeom prst="rect">
            <a:avLst/>
          </a:prstGeom>
          <a:noFill/>
        </p:spPr>
        <p:txBody>
          <a:bodyPr wrap="square" lIns="0" tIns="0" rIns="0" bIns="0" rtlCol="0">
            <a:spAutoFit/>
          </a:bodyPr>
          <a:lstStyle/>
          <a:p>
            <a:pPr algn="ctr"/>
            <a:r>
              <a:rPr lang="en-KR" sz="1400" dirty="0">
                <a:latin typeface="Arial" panose="020B0604020202020204" pitchFamily="34" charset="0"/>
                <a:cs typeface="Arial" panose="020B0604020202020204" pitchFamily="34" charset="0"/>
              </a:rPr>
              <a:t>struct files_struct</a:t>
            </a:r>
          </a:p>
        </p:txBody>
      </p:sp>
      <p:sp>
        <p:nvSpPr>
          <p:cNvPr id="51" name="Rectangle 50">
            <a:extLst>
              <a:ext uri="{FF2B5EF4-FFF2-40B4-BE49-F238E27FC236}">
                <a16:creationId xmlns:a16="http://schemas.microsoft.com/office/drawing/2014/main" id="{7C772DD7-2913-7D58-2EF9-5DEE84F1B223}"/>
              </a:ext>
            </a:extLst>
          </p:cNvPr>
          <p:cNvSpPr/>
          <p:nvPr/>
        </p:nvSpPr>
        <p:spPr>
          <a:xfrm>
            <a:off x="4355380" y="5825438"/>
            <a:ext cx="1030415" cy="228340"/>
          </a:xfrm>
          <a:prstGeom prst="rect">
            <a:avLst/>
          </a:prstGeom>
          <a:solidFill>
            <a:schemeClr val="accent1">
              <a:lumMod val="20000"/>
              <a:lumOff val="8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fdt</a:t>
            </a:r>
          </a:p>
        </p:txBody>
      </p:sp>
      <p:sp>
        <p:nvSpPr>
          <p:cNvPr id="52" name="Rounded Rectangle 51">
            <a:extLst>
              <a:ext uri="{FF2B5EF4-FFF2-40B4-BE49-F238E27FC236}">
                <a16:creationId xmlns:a16="http://schemas.microsoft.com/office/drawing/2014/main" id="{216A77C6-8FA3-B0A2-BB1B-3047E3AEC34E}"/>
              </a:ext>
            </a:extLst>
          </p:cNvPr>
          <p:cNvSpPr/>
          <p:nvPr/>
        </p:nvSpPr>
        <p:spPr>
          <a:xfrm>
            <a:off x="5695277" y="5706568"/>
            <a:ext cx="823289" cy="470469"/>
          </a:xfrm>
          <a:prstGeom prst="roundRect">
            <a:avLst/>
          </a:prstGeom>
          <a:no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dirty="0">
              <a:latin typeface="Arial" panose="020B0604020202020204" pitchFamily="34" charset="0"/>
              <a:cs typeface="Arial" panose="020B0604020202020204" pitchFamily="34" charset="0"/>
            </a:endParaRPr>
          </a:p>
        </p:txBody>
      </p:sp>
      <p:sp>
        <p:nvSpPr>
          <p:cNvPr id="53" name="Rectangle 52">
            <a:extLst>
              <a:ext uri="{FF2B5EF4-FFF2-40B4-BE49-F238E27FC236}">
                <a16:creationId xmlns:a16="http://schemas.microsoft.com/office/drawing/2014/main" id="{FC6E35D4-DB4E-1DE9-9C31-5ABD9B77696E}"/>
              </a:ext>
            </a:extLst>
          </p:cNvPr>
          <p:cNvSpPr/>
          <p:nvPr/>
        </p:nvSpPr>
        <p:spPr>
          <a:xfrm>
            <a:off x="5693004" y="5822958"/>
            <a:ext cx="823289" cy="196344"/>
          </a:xfrm>
          <a:prstGeom prst="rect">
            <a:avLst/>
          </a:prstGeom>
          <a:solidFill>
            <a:schemeClr val="accent1">
              <a:lumMod val="20000"/>
              <a:lumOff val="8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fd</a:t>
            </a:r>
          </a:p>
        </p:txBody>
      </p:sp>
      <p:sp>
        <p:nvSpPr>
          <p:cNvPr id="54" name="TextBox 53">
            <a:extLst>
              <a:ext uri="{FF2B5EF4-FFF2-40B4-BE49-F238E27FC236}">
                <a16:creationId xmlns:a16="http://schemas.microsoft.com/office/drawing/2014/main" id="{6414A093-90DC-10EC-962A-27856D5254B0}"/>
              </a:ext>
            </a:extLst>
          </p:cNvPr>
          <p:cNvSpPr txBox="1"/>
          <p:nvPr/>
        </p:nvSpPr>
        <p:spPr>
          <a:xfrm>
            <a:off x="5637463" y="5203237"/>
            <a:ext cx="894208" cy="430887"/>
          </a:xfrm>
          <a:prstGeom prst="rect">
            <a:avLst/>
          </a:prstGeom>
          <a:noFill/>
        </p:spPr>
        <p:txBody>
          <a:bodyPr wrap="square" lIns="0" tIns="0" rIns="0" bIns="0" rtlCol="0">
            <a:spAutoFit/>
          </a:bodyPr>
          <a:lstStyle/>
          <a:p>
            <a:pPr algn="ctr"/>
            <a:r>
              <a:rPr lang="en-KR" sz="1400" dirty="0">
                <a:latin typeface="Arial" panose="020B0604020202020204" pitchFamily="34" charset="0"/>
                <a:cs typeface="Arial" panose="020B0604020202020204" pitchFamily="34" charset="0"/>
              </a:rPr>
              <a:t>struct fdtable</a:t>
            </a:r>
          </a:p>
        </p:txBody>
      </p:sp>
      <p:cxnSp>
        <p:nvCxnSpPr>
          <p:cNvPr id="55" name="Straight Arrow Connector 54">
            <a:extLst>
              <a:ext uri="{FF2B5EF4-FFF2-40B4-BE49-F238E27FC236}">
                <a16:creationId xmlns:a16="http://schemas.microsoft.com/office/drawing/2014/main" id="{E6AB3864-8DF8-AEF0-53B3-F1BBC2A65B7A}"/>
              </a:ext>
            </a:extLst>
          </p:cNvPr>
          <p:cNvCxnSpPr>
            <a:cxnSpLocks/>
            <a:stCxn id="51" idx="3"/>
          </p:cNvCxnSpPr>
          <p:nvPr/>
        </p:nvCxnSpPr>
        <p:spPr>
          <a:xfrm flipV="1">
            <a:off x="5385795" y="5721358"/>
            <a:ext cx="331151" cy="2182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A9F835DC-D7EA-E540-797C-A04BA6183B7B}"/>
              </a:ext>
            </a:extLst>
          </p:cNvPr>
          <p:cNvCxnSpPr>
            <a:cxnSpLocks/>
            <a:stCxn id="53" idx="3"/>
          </p:cNvCxnSpPr>
          <p:nvPr/>
        </p:nvCxnSpPr>
        <p:spPr>
          <a:xfrm flipV="1">
            <a:off x="6516293" y="5162677"/>
            <a:ext cx="208671" cy="7584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952F0653-8A23-5138-0CA9-F82104EBC90F}"/>
              </a:ext>
            </a:extLst>
          </p:cNvPr>
          <p:cNvSpPr/>
          <p:nvPr/>
        </p:nvSpPr>
        <p:spPr>
          <a:xfrm>
            <a:off x="2924243" y="5102467"/>
            <a:ext cx="1109233" cy="230529"/>
          </a:xfrm>
          <a:prstGeom prst="rect">
            <a:avLst/>
          </a:prstGeom>
          <a:solidFill>
            <a:schemeClr val="accent1">
              <a:lumMod val="20000"/>
              <a:lumOff val="8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files</a:t>
            </a:r>
          </a:p>
        </p:txBody>
      </p:sp>
      <p:cxnSp>
        <p:nvCxnSpPr>
          <p:cNvPr id="58" name="Straight Arrow Connector 57">
            <a:extLst>
              <a:ext uri="{FF2B5EF4-FFF2-40B4-BE49-F238E27FC236}">
                <a16:creationId xmlns:a16="http://schemas.microsoft.com/office/drawing/2014/main" id="{8A86FC9E-43AB-8FCD-5BD4-BBA9E59453C1}"/>
              </a:ext>
            </a:extLst>
          </p:cNvPr>
          <p:cNvCxnSpPr>
            <a:cxnSpLocks/>
            <a:stCxn id="57" idx="3"/>
            <a:endCxn id="80" idx="0"/>
          </p:cNvCxnSpPr>
          <p:nvPr/>
        </p:nvCxnSpPr>
        <p:spPr>
          <a:xfrm>
            <a:off x="4033476" y="5217732"/>
            <a:ext cx="293111" cy="53327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Rounded Rectangle 58">
            <a:extLst>
              <a:ext uri="{FF2B5EF4-FFF2-40B4-BE49-F238E27FC236}">
                <a16:creationId xmlns:a16="http://schemas.microsoft.com/office/drawing/2014/main" id="{304CDDF6-4240-0DFD-1F73-34B4989C7086}"/>
              </a:ext>
            </a:extLst>
          </p:cNvPr>
          <p:cNvSpPr/>
          <p:nvPr/>
        </p:nvSpPr>
        <p:spPr>
          <a:xfrm>
            <a:off x="6706681" y="3905976"/>
            <a:ext cx="1109233" cy="753290"/>
          </a:xfrm>
          <a:prstGeom prst="roundRect">
            <a:avLst/>
          </a:prstGeom>
          <a:no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dirty="0">
              <a:latin typeface="Arial" panose="020B0604020202020204" pitchFamily="34" charset="0"/>
              <a:cs typeface="Arial" panose="020B0604020202020204" pitchFamily="34" charset="0"/>
            </a:endParaRPr>
          </a:p>
        </p:txBody>
      </p:sp>
      <p:sp>
        <p:nvSpPr>
          <p:cNvPr id="60" name="Rectangle 59">
            <a:extLst>
              <a:ext uri="{FF2B5EF4-FFF2-40B4-BE49-F238E27FC236}">
                <a16:creationId xmlns:a16="http://schemas.microsoft.com/office/drawing/2014/main" id="{B3287DC7-5970-A7B5-A993-554021D10BF7}"/>
              </a:ext>
            </a:extLst>
          </p:cNvPr>
          <p:cNvSpPr/>
          <p:nvPr/>
        </p:nvSpPr>
        <p:spPr>
          <a:xfrm>
            <a:off x="6708433" y="4286389"/>
            <a:ext cx="1102386" cy="222432"/>
          </a:xfrm>
          <a:prstGeom prst="rect">
            <a:avLst/>
          </a:prstGeom>
          <a:solidFill>
            <a:schemeClr val="accent4">
              <a:lumMod val="40000"/>
              <a:lumOff val="6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i_mode</a:t>
            </a:r>
          </a:p>
        </p:txBody>
      </p:sp>
      <p:sp>
        <p:nvSpPr>
          <p:cNvPr id="61" name="Rectangle 60">
            <a:extLst>
              <a:ext uri="{FF2B5EF4-FFF2-40B4-BE49-F238E27FC236}">
                <a16:creationId xmlns:a16="http://schemas.microsoft.com/office/drawing/2014/main" id="{4827AF2E-ABE2-F751-1AB8-E0EB48152A46}"/>
              </a:ext>
            </a:extLst>
          </p:cNvPr>
          <p:cNvSpPr/>
          <p:nvPr/>
        </p:nvSpPr>
        <p:spPr>
          <a:xfrm>
            <a:off x="6708433" y="4060671"/>
            <a:ext cx="1102386" cy="222432"/>
          </a:xfrm>
          <a:prstGeom prst="rect">
            <a:avLst/>
          </a:prstGeom>
          <a:solidFill>
            <a:schemeClr val="accent4">
              <a:lumMod val="40000"/>
              <a:lumOff val="6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i_uid</a:t>
            </a:r>
          </a:p>
        </p:txBody>
      </p:sp>
      <p:sp>
        <p:nvSpPr>
          <p:cNvPr id="63" name="Rounded Rectangle 62">
            <a:extLst>
              <a:ext uri="{FF2B5EF4-FFF2-40B4-BE49-F238E27FC236}">
                <a16:creationId xmlns:a16="http://schemas.microsoft.com/office/drawing/2014/main" id="{1BF68401-1FE7-181F-8E98-D00435703061}"/>
              </a:ext>
            </a:extLst>
          </p:cNvPr>
          <p:cNvSpPr/>
          <p:nvPr/>
        </p:nvSpPr>
        <p:spPr>
          <a:xfrm>
            <a:off x="4391463" y="4579605"/>
            <a:ext cx="1086542" cy="517631"/>
          </a:xfrm>
          <a:prstGeom prst="roundRect">
            <a:avLst/>
          </a:prstGeom>
          <a:no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sp>
        <p:nvSpPr>
          <p:cNvPr id="64" name="TextBox 63">
            <a:extLst>
              <a:ext uri="{FF2B5EF4-FFF2-40B4-BE49-F238E27FC236}">
                <a16:creationId xmlns:a16="http://schemas.microsoft.com/office/drawing/2014/main" id="{1BFC5519-62AB-951D-9BCA-0205286657BA}"/>
              </a:ext>
            </a:extLst>
          </p:cNvPr>
          <p:cNvSpPr txBox="1"/>
          <p:nvPr/>
        </p:nvSpPr>
        <p:spPr>
          <a:xfrm>
            <a:off x="4347124" y="4286389"/>
            <a:ext cx="1169619" cy="215444"/>
          </a:xfrm>
          <a:prstGeom prst="rect">
            <a:avLst/>
          </a:prstGeom>
          <a:noFill/>
        </p:spPr>
        <p:txBody>
          <a:bodyPr wrap="square" lIns="0" tIns="0" rIns="0" bIns="0" rtlCol="0">
            <a:spAutoFit/>
          </a:bodyPr>
          <a:lstStyle/>
          <a:p>
            <a:pPr algn="ctr"/>
            <a:r>
              <a:rPr lang="en-KR" sz="1400" dirty="0">
                <a:latin typeface="Arial" panose="020B0604020202020204" pitchFamily="34" charset="0"/>
                <a:cs typeface="Arial" panose="020B0604020202020204" pitchFamily="34" charset="0"/>
              </a:rPr>
              <a:t>struct cred</a:t>
            </a:r>
          </a:p>
        </p:txBody>
      </p:sp>
      <p:sp>
        <p:nvSpPr>
          <p:cNvPr id="65" name="Rectangle 64">
            <a:extLst>
              <a:ext uri="{FF2B5EF4-FFF2-40B4-BE49-F238E27FC236}">
                <a16:creationId xmlns:a16="http://schemas.microsoft.com/office/drawing/2014/main" id="{174876FA-A9C1-E397-A24D-37A4AB2BA3C1}"/>
              </a:ext>
            </a:extLst>
          </p:cNvPr>
          <p:cNvSpPr/>
          <p:nvPr/>
        </p:nvSpPr>
        <p:spPr>
          <a:xfrm>
            <a:off x="4394413" y="4722523"/>
            <a:ext cx="1076448" cy="217198"/>
          </a:xfrm>
          <a:prstGeom prst="rect">
            <a:avLst/>
          </a:prstGeom>
          <a:solidFill>
            <a:schemeClr val="accent4">
              <a:lumMod val="40000"/>
              <a:lumOff val="6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uid</a:t>
            </a:r>
          </a:p>
        </p:txBody>
      </p:sp>
      <p:sp>
        <p:nvSpPr>
          <p:cNvPr id="66" name="Rounded Rectangle 65">
            <a:extLst>
              <a:ext uri="{FF2B5EF4-FFF2-40B4-BE49-F238E27FC236}">
                <a16:creationId xmlns:a16="http://schemas.microsoft.com/office/drawing/2014/main" id="{8D5643BF-3BA2-7E93-BB21-1758C3EA84D7}"/>
              </a:ext>
            </a:extLst>
          </p:cNvPr>
          <p:cNvSpPr/>
          <p:nvPr/>
        </p:nvSpPr>
        <p:spPr>
          <a:xfrm>
            <a:off x="6744959" y="5094382"/>
            <a:ext cx="998199" cy="662347"/>
          </a:xfrm>
          <a:prstGeom prst="roundRect">
            <a:avLst/>
          </a:prstGeom>
          <a:no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400">
              <a:latin typeface="Arial" panose="020B0604020202020204" pitchFamily="34" charset="0"/>
              <a:cs typeface="Arial" panose="020B0604020202020204" pitchFamily="34" charset="0"/>
            </a:endParaRPr>
          </a:p>
        </p:txBody>
      </p:sp>
      <p:sp>
        <p:nvSpPr>
          <p:cNvPr id="67" name="TextBox 66">
            <a:extLst>
              <a:ext uri="{FF2B5EF4-FFF2-40B4-BE49-F238E27FC236}">
                <a16:creationId xmlns:a16="http://schemas.microsoft.com/office/drawing/2014/main" id="{0C69E2D5-C20D-E409-283B-DE717278DA9C}"/>
              </a:ext>
            </a:extLst>
          </p:cNvPr>
          <p:cNvSpPr txBox="1"/>
          <p:nvPr/>
        </p:nvSpPr>
        <p:spPr>
          <a:xfrm>
            <a:off x="6733553" y="4845093"/>
            <a:ext cx="1124378" cy="241988"/>
          </a:xfrm>
          <a:prstGeom prst="rect">
            <a:avLst/>
          </a:prstGeom>
          <a:noFill/>
        </p:spPr>
        <p:txBody>
          <a:bodyPr wrap="square" lIns="0" tIns="0" rIns="0" bIns="0" rtlCol="0">
            <a:spAutoFit/>
          </a:bodyPr>
          <a:lstStyle/>
          <a:p>
            <a:pPr algn="ctr"/>
            <a:r>
              <a:rPr lang="en-KR" sz="1400" dirty="0">
                <a:latin typeface="Arial" panose="020B0604020202020204" pitchFamily="34" charset="0"/>
                <a:cs typeface="Arial" panose="020B0604020202020204" pitchFamily="34" charset="0"/>
              </a:rPr>
              <a:t>struct file</a:t>
            </a:r>
          </a:p>
        </p:txBody>
      </p:sp>
      <p:sp>
        <p:nvSpPr>
          <p:cNvPr id="68" name="Rectangle 67">
            <a:extLst>
              <a:ext uri="{FF2B5EF4-FFF2-40B4-BE49-F238E27FC236}">
                <a16:creationId xmlns:a16="http://schemas.microsoft.com/office/drawing/2014/main" id="{F2C8A4C2-A931-7BC4-821C-A0DE1DC69D6C}"/>
              </a:ext>
            </a:extLst>
          </p:cNvPr>
          <p:cNvSpPr/>
          <p:nvPr/>
        </p:nvSpPr>
        <p:spPr>
          <a:xfrm flipH="1">
            <a:off x="6744959" y="5331352"/>
            <a:ext cx="998199" cy="207151"/>
          </a:xfrm>
          <a:prstGeom prst="rect">
            <a:avLst/>
          </a:prstGeom>
          <a:solidFill>
            <a:schemeClr val="accent1">
              <a:lumMod val="20000"/>
              <a:lumOff val="8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dirty="0">
                <a:solidFill>
                  <a:schemeClr val="tx1"/>
                </a:solidFill>
                <a:latin typeface="Arial" panose="020B0604020202020204" pitchFamily="34" charset="0"/>
                <a:cs typeface="Arial" panose="020B0604020202020204" pitchFamily="34" charset="0"/>
              </a:rPr>
              <a:t>f_mode</a:t>
            </a:r>
          </a:p>
        </p:txBody>
      </p:sp>
      <p:grpSp>
        <p:nvGrpSpPr>
          <p:cNvPr id="14" name="Group 13">
            <a:extLst>
              <a:ext uri="{FF2B5EF4-FFF2-40B4-BE49-F238E27FC236}">
                <a16:creationId xmlns:a16="http://schemas.microsoft.com/office/drawing/2014/main" id="{C0A04831-CFAE-9C4C-6D16-8356F80C505B}"/>
              </a:ext>
            </a:extLst>
          </p:cNvPr>
          <p:cNvGrpSpPr/>
          <p:nvPr/>
        </p:nvGrpSpPr>
        <p:grpSpPr>
          <a:xfrm>
            <a:off x="1540061" y="3712688"/>
            <a:ext cx="4274842" cy="2301750"/>
            <a:chOff x="1540061" y="3712688"/>
            <a:chExt cx="4274842" cy="2301750"/>
          </a:xfrm>
        </p:grpSpPr>
        <p:sp>
          <p:nvSpPr>
            <p:cNvPr id="76" name="Rounded Rectangle 75">
              <a:extLst>
                <a:ext uri="{FF2B5EF4-FFF2-40B4-BE49-F238E27FC236}">
                  <a16:creationId xmlns:a16="http://schemas.microsoft.com/office/drawing/2014/main" id="{9DF1DADF-C293-5324-4D68-83AD760CFA9D}"/>
                </a:ext>
              </a:extLst>
            </p:cNvPr>
            <p:cNvSpPr/>
            <p:nvPr/>
          </p:nvSpPr>
          <p:spPr>
            <a:xfrm>
              <a:off x="4511912" y="3712688"/>
              <a:ext cx="251999" cy="251999"/>
            </a:xfrm>
            <a:prstGeom prst="roundRect">
              <a:avLst/>
            </a:prstGeom>
            <a:solidFill>
              <a:schemeClr val="accent6">
                <a:lumMod val="40000"/>
                <a:lumOff val="6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P</a:t>
              </a:r>
            </a:p>
          </p:txBody>
        </p:sp>
        <p:sp>
          <p:nvSpPr>
            <p:cNvPr id="77" name="Rounded Rectangle 76">
              <a:extLst>
                <a:ext uri="{FF2B5EF4-FFF2-40B4-BE49-F238E27FC236}">
                  <a16:creationId xmlns:a16="http://schemas.microsoft.com/office/drawing/2014/main" id="{E1F07F97-0FFF-C23C-748D-88C8B2188326}"/>
                </a:ext>
              </a:extLst>
            </p:cNvPr>
            <p:cNvSpPr/>
            <p:nvPr/>
          </p:nvSpPr>
          <p:spPr>
            <a:xfrm>
              <a:off x="1540061" y="4524848"/>
              <a:ext cx="251999" cy="251999"/>
            </a:xfrm>
            <a:prstGeom prst="roundRect">
              <a:avLst/>
            </a:prstGeom>
            <a:solidFill>
              <a:schemeClr val="accent6">
                <a:lumMod val="40000"/>
                <a:lumOff val="6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P</a:t>
              </a:r>
            </a:p>
          </p:txBody>
        </p:sp>
        <p:sp>
          <p:nvSpPr>
            <p:cNvPr id="78" name="Rounded Rectangle 77">
              <a:extLst>
                <a:ext uri="{FF2B5EF4-FFF2-40B4-BE49-F238E27FC236}">
                  <a16:creationId xmlns:a16="http://schemas.microsoft.com/office/drawing/2014/main" id="{0FC64514-7521-4824-000E-D68DC8348D57}"/>
                </a:ext>
              </a:extLst>
            </p:cNvPr>
            <p:cNvSpPr/>
            <p:nvPr/>
          </p:nvSpPr>
          <p:spPr>
            <a:xfrm>
              <a:off x="2710871" y="4787556"/>
              <a:ext cx="230528" cy="230529"/>
            </a:xfrm>
            <a:prstGeom prst="roundRect">
              <a:avLst/>
            </a:prstGeom>
            <a:solidFill>
              <a:schemeClr val="accent6">
                <a:lumMod val="40000"/>
                <a:lumOff val="6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P</a:t>
              </a:r>
            </a:p>
          </p:txBody>
        </p:sp>
        <p:sp>
          <p:nvSpPr>
            <p:cNvPr id="79" name="Rounded Rectangle 78">
              <a:extLst>
                <a:ext uri="{FF2B5EF4-FFF2-40B4-BE49-F238E27FC236}">
                  <a16:creationId xmlns:a16="http://schemas.microsoft.com/office/drawing/2014/main" id="{70C21D2D-210E-B054-917C-0CC477B92561}"/>
                </a:ext>
              </a:extLst>
            </p:cNvPr>
            <p:cNvSpPr/>
            <p:nvPr/>
          </p:nvSpPr>
          <p:spPr>
            <a:xfrm>
              <a:off x="2710871" y="5043882"/>
              <a:ext cx="230528" cy="230529"/>
            </a:xfrm>
            <a:prstGeom prst="roundRect">
              <a:avLst/>
            </a:prstGeom>
            <a:solidFill>
              <a:schemeClr val="accent6">
                <a:lumMod val="40000"/>
                <a:lumOff val="6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P</a:t>
              </a:r>
            </a:p>
          </p:txBody>
        </p:sp>
        <p:sp>
          <p:nvSpPr>
            <p:cNvPr id="80" name="Rounded Rectangle 79">
              <a:extLst>
                <a:ext uri="{FF2B5EF4-FFF2-40B4-BE49-F238E27FC236}">
                  <a16:creationId xmlns:a16="http://schemas.microsoft.com/office/drawing/2014/main" id="{099046A7-3E7B-336E-6EF7-89A47C92FCA1}"/>
                </a:ext>
              </a:extLst>
            </p:cNvPr>
            <p:cNvSpPr/>
            <p:nvPr/>
          </p:nvSpPr>
          <p:spPr>
            <a:xfrm>
              <a:off x="4200586" y="5751004"/>
              <a:ext cx="252001" cy="251999"/>
            </a:xfrm>
            <a:prstGeom prst="roundRect">
              <a:avLst/>
            </a:prstGeom>
            <a:solidFill>
              <a:schemeClr val="accent6">
                <a:lumMod val="40000"/>
                <a:lumOff val="6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P</a:t>
              </a:r>
            </a:p>
          </p:txBody>
        </p:sp>
        <p:sp>
          <p:nvSpPr>
            <p:cNvPr id="81" name="Rounded Rectangle 80">
              <a:extLst>
                <a:ext uri="{FF2B5EF4-FFF2-40B4-BE49-F238E27FC236}">
                  <a16:creationId xmlns:a16="http://schemas.microsoft.com/office/drawing/2014/main" id="{30C83607-E5BA-F2BF-258D-BFB109B2A2D0}"/>
                </a:ext>
              </a:extLst>
            </p:cNvPr>
            <p:cNvSpPr/>
            <p:nvPr/>
          </p:nvSpPr>
          <p:spPr>
            <a:xfrm>
              <a:off x="5562902" y="5762439"/>
              <a:ext cx="252001" cy="251999"/>
            </a:xfrm>
            <a:prstGeom prst="roundRect">
              <a:avLst/>
            </a:prstGeom>
            <a:solidFill>
              <a:schemeClr val="accent6">
                <a:lumMod val="40000"/>
                <a:lumOff val="60000"/>
              </a:schemeClr>
            </a:solid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P</a:t>
              </a:r>
            </a:p>
          </p:txBody>
        </p:sp>
      </p:grpSp>
      <p:grpSp>
        <p:nvGrpSpPr>
          <p:cNvPr id="11" name="Group 10">
            <a:extLst>
              <a:ext uri="{FF2B5EF4-FFF2-40B4-BE49-F238E27FC236}">
                <a16:creationId xmlns:a16="http://schemas.microsoft.com/office/drawing/2014/main" id="{82458575-4EB2-F7F9-A253-417A81810551}"/>
              </a:ext>
            </a:extLst>
          </p:cNvPr>
          <p:cNvGrpSpPr/>
          <p:nvPr/>
        </p:nvGrpSpPr>
        <p:grpSpPr>
          <a:xfrm>
            <a:off x="3899328" y="3823547"/>
            <a:ext cx="4014263" cy="2542783"/>
            <a:chOff x="3899328" y="3823547"/>
            <a:chExt cx="4014263" cy="2542783"/>
          </a:xfrm>
          <a:solidFill>
            <a:schemeClr val="accent2">
              <a:lumMod val="60000"/>
              <a:lumOff val="40000"/>
            </a:schemeClr>
          </a:solidFill>
        </p:grpSpPr>
        <p:sp>
          <p:nvSpPr>
            <p:cNvPr id="85" name="Rounded Rectangle 84">
              <a:extLst>
                <a:ext uri="{FF2B5EF4-FFF2-40B4-BE49-F238E27FC236}">
                  <a16:creationId xmlns:a16="http://schemas.microsoft.com/office/drawing/2014/main" id="{87F39159-6287-0A62-DA56-2654F74622DD}"/>
                </a:ext>
              </a:extLst>
            </p:cNvPr>
            <p:cNvSpPr/>
            <p:nvPr/>
          </p:nvSpPr>
          <p:spPr>
            <a:xfrm>
              <a:off x="7661592" y="3823547"/>
              <a:ext cx="251999" cy="251999"/>
            </a:xfrm>
            <a:prstGeom prst="roundRect">
              <a:avLst/>
            </a:prstGeom>
            <a:grp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T</a:t>
              </a:r>
            </a:p>
          </p:txBody>
        </p:sp>
        <p:sp>
          <p:nvSpPr>
            <p:cNvPr id="86" name="Rounded Rectangle 85">
              <a:extLst>
                <a:ext uri="{FF2B5EF4-FFF2-40B4-BE49-F238E27FC236}">
                  <a16:creationId xmlns:a16="http://schemas.microsoft.com/office/drawing/2014/main" id="{5DB2FCD0-39E3-A59D-524E-1023066391A5}"/>
                </a:ext>
              </a:extLst>
            </p:cNvPr>
            <p:cNvSpPr/>
            <p:nvPr/>
          </p:nvSpPr>
          <p:spPr>
            <a:xfrm>
              <a:off x="5340193" y="4509142"/>
              <a:ext cx="251999" cy="251999"/>
            </a:xfrm>
            <a:prstGeom prst="roundRect">
              <a:avLst/>
            </a:prstGeom>
            <a:grp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T</a:t>
              </a:r>
            </a:p>
          </p:txBody>
        </p:sp>
        <p:sp>
          <p:nvSpPr>
            <p:cNvPr id="87" name="Rounded Rectangle 86">
              <a:extLst>
                <a:ext uri="{FF2B5EF4-FFF2-40B4-BE49-F238E27FC236}">
                  <a16:creationId xmlns:a16="http://schemas.microsoft.com/office/drawing/2014/main" id="{B4DB0D19-417C-41F7-29EC-04A1B15F64A1}"/>
                </a:ext>
              </a:extLst>
            </p:cNvPr>
            <p:cNvSpPr/>
            <p:nvPr/>
          </p:nvSpPr>
          <p:spPr>
            <a:xfrm>
              <a:off x="7586714" y="5020255"/>
              <a:ext cx="251999" cy="251999"/>
            </a:xfrm>
            <a:prstGeom prst="roundRect">
              <a:avLst/>
            </a:prstGeom>
            <a:grp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T</a:t>
              </a:r>
            </a:p>
          </p:txBody>
        </p:sp>
        <p:sp>
          <p:nvSpPr>
            <p:cNvPr id="89" name="Rounded Rectangle 88">
              <a:extLst>
                <a:ext uri="{FF2B5EF4-FFF2-40B4-BE49-F238E27FC236}">
                  <a16:creationId xmlns:a16="http://schemas.microsoft.com/office/drawing/2014/main" id="{55CFAE20-579F-2AED-2D28-E728770BBFD4}"/>
                </a:ext>
              </a:extLst>
            </p:cNvPr>
            <p:cNvSpPr/>
            <p:nvPr/>
          </p:nvSpPr>
          <p:spPr>
            <a:xfrm>
              <a:off x="6400719" y="6095597"/>
              <a:ext cx="251999" cy="251999"/>
            </a:xfrm>
            <a:prstGeom prst="roundRect">
              <a:avLst/>
            </a:prstGeom>
            <a:grp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T</a:t>
              </a:r>
            </a:p>
          </p:txBody>
        </p:sp>
        <p:sp>
          <p:nvSpPr>
            <p:cNvPr id="90" name="Rounded Rectangle 89">
              <a:extLst>
                <a:ext uri="{FF2B5EF4-FFF2-40B4-BE49-F238E27FC236}">
                  <a16:creationId xmlns:a16="http://schemas.microsoft.com/office/drawing/2014/main" id="{02EEB09F-B7CB-3CE0-41CB-A658F1AB6FEC}"/>
                </a:ext>
              </a:extLst>
            </p:cNvPr>
            <p:cNvSpPr/>
            <p:nvPr/>
          </p:nvSpPr>
          <p:spPr>
            <a:xfrm>
              <a:off x="5247922" y="6114331"/>
              <a:ext cx="251999" cy="251999"/>
            </a:xfrm>
            <a:prstGeom prst="roundRect">
              <a:avLst/>
            </a:prstGeom>
            <a:grp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T</a:t>
              </a:r>
            </a:p>
          </p:txBody>
        </p:sp>
        <p:sp>
          <p:nvSpPr>
            <p:cNvPr id="91" name="Rounded Rectangle 90">
              <a:extLst>
                <a:ext uri="{FF2B5EF4-FFF2-40B4-BE49-F238E27FC236}">
                  <a16:creationId xmlns:a16="http://schemas.microsoft.com/office/drawing/2014/main" id="{6FEDAFF1-A1F7-BEBF-E675-DFB5872F895B}"/>
                </a:ext>
              </a:extLst>
            </p:cNvPr>
            <p:cNvSpPr/>
            <p:nvPr/>
          </p:nvSpPr>
          <p:spPr>
            <a:xfrm>
              <a:off x="3899328" y="4596395"/>
              <a:ext cx="251999" cy="251999"/>
            </a:xfrm>
            <a:prstGeom prst="roundRect">
              <a:avLst/>
            </a:prstGeom>
            <a:grpFill/>
            <a:ln w="1905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KR" sz="1400" dirty="0">
                  <a:solidFill>
                    <a:schemeClr val="tx1"/>
                  </a:solidFill>
                  <a:latin typeface="Arial" panose="020B0604020202020204" pitchFamily="34" charset="0"/>
                  <a:cs typeface="Arial" panose="020B0604020202020204" pitchFamily="34" charset="0"/>
                </a:rPr>
                <a:t>T</a:t>
              </a:r>
            </a:p>
          </p:txBody>
        </p:sp>
      </p:grpSp>
      <p:sp>
        <p:nvSpPr>
          <p:cNvPr id="5" name="Rounded Rectangle 4">
            <a:extLst>
              <a:ext uri="{FF2B5EF4-FFF2-40B4-BE49-F238E27FC236}">
                <a16:creationId xmlns:a16="http://schemas.microsoft.com/office/drawing/2014/main" id="{888E9496-AB6B-1F4D-6877-E8B557E88DCF}"/>
              </a:ext>
            </a:extLst>
          </p:cNvPr>
          <p:cNvSpPr/>
          <p:nvPr/>
        </p:nvSpPr>
        <p:spPr>
          <a:xfrm>
            <a:off x="8569780" y="4899065"/>
            <a:ext cx="466600" cy="269076"/>
          </a:xfrm>
          <a:prstGeom prst="roundRect">
            <a:avLst>
              <a:gd name="adj" fmla="val 24563"/>
            </a:avLst>
          </a:prstGeom>
          <a:noFill/>
          <a:ln w="22225"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1600" dirty="0">
              <a:latin typeface="Courier Prime" pitchFamily="49" charset="77"/>
              <a:cs typeface="Arial" panose="020B0604020202020204" pitchFamily="34" charset="0"/>
            </a:endParaRPr>
          </a:p>
        </p:txBody>
      </p:sp>
      <p:sp>
        <p:nvSpPr>
          <p:cNvPr id="6" name="Parallelogram 5">
            <a:extLst>
              <a:ext uri="{FF2B5EF4-FFF2-40B4-BE49-F238E27FC236}">
                <a16:creationId xmlns:a16="http://schemas.microsoft.com/office/drawing/2014/main" id="{B24F2C87-0A06-99A9-24F8-D58BA6DD6944}"/>
              </a:ext>
            </a:extLst>
          </p:cNvPr>
          <p:cNvSpPr/>
          <p:nvPr/>
        </p:nvSpPr>
        <p:spPr>
          <a:xfrm>
            <a:off x="8569780" y="5370699"/>
            <a:ext cx="452560" cy="248296"/>
          </a:xfrm>
          <a:prstGeom prst="parallelogram">
            <a:avLst/>
          </a:prstGeom>
          <a:noFill/>
          <a:ln w="22225"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800" dirty="0">
              <a:solidFill>
                <a:schemeClr val="tx1"/>
              </a:solidFill>
              <a:latin typeface="Courier Prime" pitchFamily="49" charset="77"/>
              <a:cs typeface="Arial" panose="020B0604020202020204" pitchFamily="34" charset="0"/>
            </a:endParaRPr>
          </a:p>
        </p:txBody>
      </p:sp>
      <p:sp>
        <p:nvSpPr>
          <p:cNvPr id="7" name="TextBox 6">
            <a:extLst>
              <a:ext uri="{FF2B5EF4-FFF2-40B4-BE49-F238E27FC236}">
                <a16:creationId xmlns:a16="http://schemas.microsoft.com/office/drawing/2014/main" id="{10455A24-AAF1-D580-0574-EA3008BF512B}"/>
              </a:ext>
            </a:extLst>
          </p:cNvPr>
          <p:cNvSpPr txBox="1"/>
          <p:nvPr/>
        </p:nvSpPr>
        <p:spPr>
          <a:xfrm>
            <a:off x="9240882" y="4903361"/>
            <a:ext cx="1258169" cy="246221"/>
          </a:xfrm>
          <a:prstGeom prst="rect">
            <a:avLst/>
          </a:prstGeom>
          <a:noFill/>
        </p:spPr>
        <p:txBody>
          <a:bodyPr wrap="square" lIns="0" tIns="0" rIns="0" bIns="0" rtlCol="0">
            <a:spAutoFit/>
          </a:bodyPr>
          <a:lstStyle/>
          <a:p>
            <a:r>
              <a:rPr lang="en-KR" sz="1600" dirty="0">
                <a:latin typeface="Arial" panose="020B0604020202020204" pitchFamily="34" charset="0"/>
                <a:cs typeface="Arial" panose="020B0604020202020204" pitchFamily="34" charset="0"/>
              </a:rPr>
              <a:t>Heap object </a:t>
            </a:r>
          </a:p>
        </p:txBody>
      </p:sp>
      <p:sp>
        <p:nvSpPr>
          <p:cNvPr id="8" name="TextBox 7">
            <a:extLst>
              <a:ext uri="{FF2B5EF4-FFF2-40B4-BE49-F238E27FC236}">
                <a16:creationId xmlns:a16="http://schemas.microsoft.com/office/drawing/2014/main" id="{53EE61A5-F8A9-4C15-50FF-C2C1897D1390}"/>
              </a:ext>
            </a:extLst>
          </p:cNvPr>
          <p:cNvSpPr txBox="1"/>
          <p:nvPr/>
        </p:nvSpPr>
        <p:spPr>
          <a:xfrm>
            <a:off x="9240882" y="5801733"/>
            <a:ext cx="1168524" cy="246221"/>
          </a:xfrm>
          <a:prstGeom prst="rect">
            <a:avLst/>
          </a:prstGeom>
          <a:noFill/>
        </p:spPr>
        <p:txBody>
          <a:bodyPr wrap="square" lIns="0" tIns="0" rIns="0" bIns="0" rtlCol="0">
            <a:spAutoFit/>
          </a:bodyPr>
          <a:lstStyle/>
          <a:p>
            <a:r>
              <a:rPr lang="en-KR" sz="1600" dirty="0">
                <a:latin typeface="Arial" panose="020B0604020202020204" pitchFamily="34" charset="0"/>
                <a:cs typeface="Arial" panose="020B0604020202020204" pitchFamily="34" charset="0"/>
              </a:rPr>
              <a:t>Pointer</a:t>
            </a:r>
          </a:p>
        </p:txBody>
      </p:sp>
      <p:sp>
        <p:nvSpPr>
          <p:cNvPr id="9" name="Rectangle 8">
            <a:extLst>
              <a:ext uri="{FF2B5EF4-FFF2-40B4-BE49-F238E27FC236}">
                <a16:creationId xmlns:a16="http://schemas.microsoft.com/office/drawing/2014/main" id="{B434E1E9-C2D0-EC28-359F-E896652D64F2}"/>
              </a:ext>
            </a:extLst>
          </p:cNvPr>
          <p:cNvSpPr/>
          <p:nvPr/>
        </p:nvSpPr>
        <p:spPr>
          <a:xfrm>
            <a:off x="8569780" y="5808646"/>
            <a:ext cx="524507" cy="246220"/>
          </a:xfrm>
          <a:prstGeom prst="rect">
            <a:avLst/>
          </a:prstGeom>
          <a:noFill/>
          <a:ln w="22225"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700" dirty="0">
              <a:solidFill>
                <a:schemeClr val="tx1"/>
              </a:solidFill>
              <a:latin typeface="Courier Prime" pitchFamily="49" charset="77"/>
              <a:cs typeface="Arial" panose="020B0604020202020204" pitchFamily="34" charset="0"/>
            </a:endParaRPr>
          </a:p>
        </p:txBody>
      </p:sp>
      <p:sp>
        <p:nvSpPr>
          <p:cNvPr id="10" name="TextBox 9">
            <a:extLst>
              <a:ext uri="{FF2B5EF4-FFF2-40B4-BE49-F238E27FC236}">
                <a16:creationId xmlns:a16="http://schemas.microsoft.com/office/drawing/2014/main" id="{1BA2A857-E633-74B7-83C1-866CE9813F6A}"/>
              </a:ext>
            </a:extLst>
          </p:cNvPr>
          <p:cNvSpPr txBox="1"/>
          <p:nvPr/>
        </p:nvSpPr>
        <p:spPr>
          <a:xfrm>
            <a:off x="9240882" y="5364453"/>
            <a:ext cx="1471403" cy="246221"/>
          </a:xfrm>
          <a:prstGeom prst="rect">
            <a:avLst/>
          </a:prstGeom>
          <a:noFill/>
        </p:spPr>
        <p:txBody>
          <a:bodyPr wrap="square" lIns="0" tIns="0" rIns="0" bIns="0" rtlCol="0">
            <a:spAutoFit/>
          </a:bodyPr>
          <a:lstStyle/>
          <a:p>
            <a:r>
              <a:rPr lang="en-KR" sz="1600" dirty="0">
                <a:latin typeface="Arial" panose="020B0604020202020204" pitchFamily="34" charset="0"/>
                <a:cs typeface="Arial" panose="020B0604020202020204" pitchFamily="34" charset="0"/>
              </a:rPr>
              <a:t>Global Variable</a:t>
            </a:r>
          </a:p>
        </p:txBody>
      </p:sp>
      <p:sp>
        <p:nvSpPr>
          <p:cNvPr id="17" name="TextBox 16">
            <a:extLst>
              <a:ext uri="{FF2B5EF4-FFF2-40B4-BE49-F238E27FC236}">
                <a16:creationId xmlns:a16="http://schemas.microsoft.com/office/drawing/2014/main" id="{6DFB6824-FC0B-3CD1-D301-41D49E042F89}"/>
              </a:ext>
            </a:extLst>
          </p:cNvPr>
          <p:cNvSpPr txBox="1"/>
          <p:nvPr/>
        </p:nvSpPr>
        <p:spPr>
          <a:xfrm>
            <a:off x="829035" y="1291814"/>
            <a:ext cx="5717593" cy="400110"/>
          </a:xfrm>
          <a:prstGeom prst="rect">
            <a:avLst/>
          </a:prstGeom>
          <a:noFill/>
        </p:spPr>
        <p:txBody>
          <a:bodyPr wrap="square">
            <a:spAutoFit/>
          </a:bodyPr>
          <a:lstStyle/>
          <a:p>
            <a:pPr algn="l"/>
            <a:r>
              <a:rPr lang="en-KR" sz="2000" b="1" i="1" dirty="0">
                <a:latin typeface="Arial" panose="020B0604020202020204" pitchFamily="34" charset="0"/>
                <a:cs typeface="Arial" panose="020B0604020202020204" pitchFamily="34" charset="0"/>
              </a:rPr>
              <a:t>2. How should they be protected?</a:t>
            </a:r>
          </a:p>
        </p:txBody>
      </p:sp>
      <p:sp>
        <p:nvSpPr>
          <p:cNvPr id="20" name="Content Placeholder 2">
            <a:extLst>
              <a:ext uri="{FF2B5EF4-FFF2-40B4-BE49-F238E27FC236}">
                <a16:creationId xmlns:a16="http://schemas.microsoft.com/office/drawing/2014/main" id="{D92916BE-1C66-B526-96BC-A92CB48AA1EB}"/>
              </a:ext>
            </a:extLst>
          </p:cNvPr>
          <p:cNvSpPr txBox="1">
            <a:spLocks/>
          </p:cNvSpPr>
          <p:nvPr/>
        </p:nvSpPr>
        <p:spPr>
          <a:xfrm>
            <a:off x="838200" y="2152270"/>
            <a:ext cx="10515600" cy="10138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KR" sz="2400" b="1" dirty="0">
                <a:sym typeface="Wingdings" pitchFamily="2" charset="2"/>
              </a:rPr>
              <a:t>Selectively</a:t>
            </a:r>
            <a:r>
              <a:rPr lang="en-KR" sz="2400" dirty="0">
                <a:sym typeface="Wingdings" pitchFamily="2" charset="2"/>
              </a:rPr>
              <a:t> protect </a:t>
            </a:r>
            <a:r>
              <a:rPr lang="en-KR" sz="2400" b="1" i="1" dirty="0">
                <a:solidFill>
                  <a:schemeClr val="accent1">
                    <a:lumMod val="75000"/>
                  </a:schemeClr>
                </a:solidFill>
                <a:sym typeface="Wingdings" pitchFamily="2" charset="2"/>
              </a:rPr>
              <a:t>access control-related data</a:t>
            </a:r>
          </a:p>
          <a:p>
            <a:r>
              <a:rPr lang="en-KR" sz="2400" dirty="0">
                <a:sym typeface="Wingdings" pitchFamily="2" charset="2"/>
              </a:rPr>
              <a:t>Leverage </a:t>
            </a:r>
            <a:r>
              <a:rPr lang="en-KR" sz="2400" b="1" dirty="0">
                <a:sym typeface="Wingdings" pitchFamily="2" charset="2"/>
              </a:rPr>
              <a:t>hardware extensions </a:t>
            </a:r>
            <a:r>
              <a:rPr lang="en-KR" sz="2400" dirty="0">
                <a:sym typeface="Wingdings" pitchFamily="2" charset="2"/>
              </a:rPr>
              <a:t>: </a:t>
            </a:r>
            <a:r>
              <a:rPr lang="en-KR" sz="2400" b="1" dirty="0">
                <a:sym typeface="Wingdings" pitchFamily="2" charset="2"/>
              </a:rPr>
              <a:t>ARM </a:t>
            </a:r>
            <a:r>
              <a:rPr lang="en-KR" sz="2400" b="1" dirty="0">
                <a:solidFill>
                  <a:schemeClr val="accent2"/>
                </a:solidFill>
                <a:sym typeface="Wingdings" pitchFamily="2" charset="2"/>
              </a:rPr>
              <a:t>MTE</a:t>
            </a:r>
            <a:r>
              <a:rPr lang="en-KR" sz="2400" dirty="0">
                <a:sym typeface="Wingdings" pitchFamily="2" charset="2"/>
              </a:rPr>
              <a:t> for objects, </a:t>
            </a:r>
            <a:r>
              <a:rPr lang="en-KR" sz="2400" b="1" dirty="0">
                <a:solidFill>
                  <a:schemeClr val="accent6">
                    <a:lumMod val="75000"/>
                  </a:schemeClr>
                </a:solidFill>
                <a:sym typeface="Wingdings" pitchFamily="2" charset="2"/>
              </a:rPr>
              <a:t>PAC</a:t>
            </a:r>
            <a:r>
              <a:rPr lang="en-KR" sz="2400" b="1" dirty="0">
                <a:sym typeface="Wingdings" pitchFamily="2" charset="2"/>
              </a:rPr>
              <a:t> </a:t>
            </a:r>
            <a:r>
              <a:rPr lang="en-KR" sz="2400" dirty="0">
                <a:sym typeface="Wingdings" pitchFamily="2" charset="2"/>
              </a:rPr>
              <a:t>for pointers</a:t>
            </a:r>
          </a:p>
        </p:txBody>
      </p:sp>
    </p:spTree>
    <p:extLst>
      <p:ext uri="{BB962C8B-B14F-4D97-AF65-F5344CB8AC3E}">
        <p14:creationId xmlns:p14="http://schemas.microsoft.com/office/powerpoint/2010/main" val="657921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199A3-F195-35B4-E66F-9618BD3C164A}"/>
              </a:ext>
            </a:extLst>
          </p:cNvPr>
          <p:cNvSpPr>
            <a:spLocks noGrp="1"/>
          </p:cNvSpPr>
          <p:nvPr>
            <p:ph type="title"/>
          </p:nvPr>
        </p:nvSpPr>
        <p:spPr/>
        <p:txBody>
          <a:bodyPr/>
          <a:lstStyle/>
          <a:p>
            <a:r>
              <a:rPr lang="en-KR" dirty="0"/>
              <a:t>ARM MTE and PAC</a:t>
            </a:r>
          </a:p>
        </p:txBody>
      </p:sp>
      <p:sp>
        <p:nvSpPr>
          <p:cNvPr id="3" name="Content Placeholder 2">
            <a:extLst>
              <a:ext uri="{FF2B5EF4-FFF2-40B4-BE49-F238E27FC236}">
                <a16:creationId xmlns:a16="http://schemas.microsoft.com/office/drawing/2014/main" id="{63793155-895D-2CB9-A9A8-A9C64404663D}"/>
              </a:ext>
            </a:extLst>
          </p:cNvPr>
          <p:cNvSpPr>
            <a:spLocks noGrp="1"/>
          </p:cNvSpPr>
          <p:nvPr>
            <p:ph idx="1"/>
          </p:nvPr>
        </p:nvSpPr>
        <p:spPr>
          <a:xfrm>
            <a:off x="740780" y="1660400"/>
            <a:ext cx="5355220" cy="1974661"/>
          </a:xfrm>
        </p:spPr>
        <p:txBody>
          <a:bodyPr>
            <a:normAutofit/>
          </a:bodyPr>
          <a:lstStyle/>
          <a:p>
            <a:pPr marL="0" indent="0">
              <a:buNone/>
            </a:pPr>
            <a:r>
              <a:rPr lang="en-KR" sz="2400" b="1" dirty="0"/>
              <a:t>Memory Tagging Extensions (MTE)</a:t>
            </a:r>
          </a:p>
          <a:p>
            <a:r>
              <a:rPr lang="en-KR" sz="2000" b="1" dirty="0"/>
              <a:t>Memory object protection</a:t>
            </a:r>
          </a:p>
          <a:p>
            <a:r>
              <a:rPr lang="en-KR" sz="2000" dirty="0"/>
              <a:t>Hardware </a:t>
            </a:r>
            <a:r>
              <a:rPr lang="en-KR" sz="2000" b="1" dirty="0"/>
              <a:t>memory tagging/tag checking</a:t>
            </a:r>
          </a:p>
          <a:p>
            <a:r>
              <a:rPr lang="en-KR" sz="2000" dirty="0"/>
              <a:t>Dedicated tag storage in physical memory</a:t>
            </a:r>
            <a:endParaRPr lang="en-KR" sz="1600" dirty="0"/>
          </a:p>
        </p:txBody>
      </p:sp>
      <p:sp>
        <p:nvSpPr>
          <p:cNvPr id="6" name="Slide Number Placeholder 5">
            <a:extLst>
              <a:ext uri="{FF2B5EF4-FFF2-40B4-BE49-F238E27FC236}">
                <a16:creationId xmlns:a16="http://schemas.microsoft.com/office/drawing/2014/main" id="{C288780F-A953-2546-4ED8-0F0F5070F391}"/>
              </a:ext>
            </a:extLst>
          </p:cNvPr>
          <p:cNvSpPr>
            <a:spLocks noGrp="1"/>
          </p:cNvSpPr>
          <p:nvPr>
            <p:ph type="sldNum" sz="quarter" idx="12"/>
          </p:nvPr>
        </p:nvSpPr>
        <p:spPr/>
        <p:txBody>
          <a:bodyPr/>
          <a:lstStyle/>
          <a:p>
            <a:fld id="{9ED31AF7-B9C1-7944-AC45-A988640FDEFC}" type="slidenum">
              <a:rPr lang="en-KR" smtClean="0"/>
              <a:t>15</a:t>
            </a:fld>
            <a:endParaRPr lang="en-KR" dirty="0"/>
          </a:p>
        </p:txBody>
      </p:sp>
      <p:cxnSp>
        <p:nvCxnSpPr>
          <p:cNvPr id="12" name="Google Shape;281;p27">
            <a:extLst>
              <a:ext uri="{FF2B5EF4-FFF2-40B4-BE49-F238E27FC236}">
                <a16:creationId xmlns:a16="http://schemas.microsoft.com/office/drawing/2014/main" id="{E5B903D3-09FD-E6BE-76BD-38590F79A669}"/>
              </a:ext>
            </a:extLst>
          </p:cNvPr>
          <p:cNvCxnSpPr>
            <a:cxnSpLocks/>
            <a:stCxn id="15" idx="3"/>
          </p:cNvCxnSpPr>
          <p:nvPr/>
        </p:nvCxnSpPr>
        <p:spPr>
          <a:xfrm flipV="1">
            <a:off x="2431122" y="4339946"/>
            <a:ext cx="1584000" cy="1"/>
          </a:xfrm>
          <a:prstGeom prst="straightConnector1">
            <a:avLst/>
          </a:prstGeom>
          <a:noFill/>
          <a:ln w="25400" cap="flat" cmpd="sng">
            <a:solidFill>
              <a:schemeClr val="tx1"/>
            </a:solidFill>
            <a:prstDash val="solid"/>
            <a:round/>
            <a:headEnd type="none" w="med" len="med"/>
            <a:tailEnd type="triangle" w="med" len="med"/>
          </a:ln>
        </p:spPr>
      </p:cxnSp>
      <p:sp>
        <p:nvSpPr>
          <p:cNvPr id="13" name="Google Shape;283;p27">
            <a:extLst>
              <a:ext uri="{FF2B5EF4-FFF2-40B4-BE49-F238E27FC236}">
                <a16:creationId xmlns:a16="http://schemas.microsoft.com/office/drawing/2014/main" id="{6B17A849-F8D1-B9D0-B974-5962ACA0FF21}"/>
              </a:ext>
            </a:extLst>
          </p:cNvPr>
          <p:cNvSpPr/>
          <p:nvPr/>
        </p:nvSpPr>
        <p:spPr>
          <a:xfrm>
            <a:off x="4025007" y="4844543"/>
            <a:ext cx="1534906" cy="609708"/>
          </a:xfrm>
          <a:prstGeom prst="roundRect">
            <a:avLst>
              <a:gd name="adj" fmla="val 16667"/>
            </a:avLst>
          </a:prstGeom>
          <a:noFill/>
          <a:ln w="254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pPr algn="ctr"/>
            <a:r>
              <a:rPr lang="en">
                <a:solidFill>
                  <a:schemeClr val="dk1"/>
                </a:solidFill>
                <a:latin typeface="Arial" panose="020B0604020202020204" pitchFamily="34" charset="0"/>
                <a:ea typeface="Fira Code Medium"/>
                <a:cs typeface="Arial" panose="020B0604020202020204" pitchFamily="34" charset="0"/>
                <a:sym typeface="Fira Code Medium"/>
              </a:rPr>
              <a:t>obj2</a:t>
            </a:r>
            <a:endParaRPr>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15" name="Google Shape;282;p27">
            <a:extLst>
              <a:ext uri="{FF2B5EF4-FFF2-40B4-BE49-F238E27FC236}">
                <a16:creationId xmlns:a16="http://schemas.microsoft.com/office/drawing/2014/main" id="{42627920-4F55-8107-5253-8F17BC9E22CD}"/>
              </a:ext>
            </a:extLst>
          </p:cNvPr>
          <p:cNvSpPr/>
          <p:nvPr/>
        </p:nvSpPr>
        <p:spPr>
          <a:xfrm>
            <a:off x="1226400" y="4150139"/>
            <a:ext cx="1204725" cy="379614"/>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&amp;obj1</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16" name="Google Shape;285;p27">
            <a:extLst>
              <a:ext uri="{FF2B5EF4-FFF2-40B4-BE49-F238E27FC236}">
                <a16:creationId xmlns:a16="http://schemas.microsoft.com/office/drawing/2014/main" id="{B40F8A2A-22E1-4B90-B044-86E873F10E4F}"/>
              </a:ext>
            </a:extLst>
          </p:cNvPr>
          <p:cNvSpPr/>
          <p:nvPr/>
        </p:nvSpPr>
        <p:spPr>
          <a:xfrm>
            <a:off x="988826" y="4053872"/>
            <a:ext cx="302268" cy="302268"/>
          </a:xfrm>
          <a:prstGeom prst="roundRect">
            <a:avLst>
              <a:gd name="adj" fmla="val 16667"/>
            </a:avLst>
          </a:prstGeom>
          <a:solidFill>
            <a:srgbClr val="EEB4B4"/>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400" dirty="0">
                <a:latin typeface="Arial" panose="020B0604020202020204" pitchFamily="34" charset="0"/>
                <a:cs typeface="Arial" panose="020B0604020202020204" pitchFamily="34" charset="0"/>
              </a:rPr>
              <a:t>T1</a:t>
            </a:r>
            <a:endParaRPr sz="1400" dirty="0">
              <a:latin typeface="Arial" panose="020B0604020202020204" pitchFamily="34" charset="0"/>
              <a:cs typeface="Arial" panose="020B0604020202020204" pitchFamily="34" charset="0"/>
            </a:endParaRPr>
          </a:p>
        </p:txBody>
      </p:sp>
      <p:sp>
        <p:nvSpPr>
          <p:cNvPr id="17" name="Google Shape;291;p27">
            <a:extLst>
              <a:ext uri="{FF2B5EF4-FFF2-40B4-BE49-F238E27FC236}">
                <a16:creationId xmlns:a16="http://schemas.microsoft.com/office/drawing/2014/main" id="{C8E5EA1E-BBE7-7586-4DFD-E6D2EFB5C636}"/>
              </a:ext>
            </a:extLst>
          </p:cNvPr>
          <p:cNvSpPr txBox="1"/>
          <p:nvPr/>
        </p:nvSpPr>
        <p:spPr>
          <a:xfrm>
            <a:off x="1068020" y="3652796"/>
            <a:ext cx="1363104" cy="379614"/>
          </a:xfrm>
          <a:prstGeom prst="rect">
            <a:avLst/>
          </a:prstGeom>
          <a:noFill/>
          <a:ln>
            <a:noFill/>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cs typeface="Arial" panose="020B0604020202020204" pitchFamily="34" charset="0"/>
              </a:rPr>
              <a:t>Pointer</a:t>
            </a:r>
            <a:endParaRPr dirty="0">
              <a:solidFill>
                <a:schemeClr val="dk1"/>
              </a:solidFill>
              <a:latin typeface="Arial" panose="020B0604020202020204" pitchFamily="34" charset="0"/>
              <a:cs typeface="Arial" panose="020B0604020202020204" pitchFamily="34" charset="0"/>
            </a:endParaRPr>
          </a:p>
        </p:txBody>
      </p:sp>
      <p:sp>
        <p:nvSpPr>
          <p:cNvPr id="19" name="Google Shape;295;p27">
            <a:extLst>
              <a:ext uri="{FF2B5EF4-FFF2-40B4-BE49-F238E27FC236}">
                <a16:creationId xmlns:a16="http://schemas.microsoft.com/office/drawing/2014/main" id="{E9317D16-3331-80D8-CC97-21479EA2F6B8}"/>
              </a:ext>
            </a:extLst>
          </p:cNvPr>
          <p:cNvSpPr/>
          <p:nvPr/>
        </p:nvSpPr>
        <p:spPr>
          <a:xfrm>
            <a:off x="4020686" y="4139861"/>
            <a:ext cx="1534906" cy="609708"/>
          </a:xfrm>
          <a:prstGeom prst="roundRect">
            <a:avLst>
              <a:gd name="adj" fmla="val 16667"/>
            </a:avLst>
          </a:prstGeom>
          <a:noFill/>
          <a:ln w="254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obj1</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24" name="Google Shape;283;p27">
            <a:extLst>
              <a:ext uri="{FF2B5EF4-FFF2-40B4-BE49-F238E27FC236}">
                <a16:creationId xmlns:a16="http://schemas.microsoft.com/office/drawing/2014/main" id="{FED3F7BD-2C93-BC5A-CD69-62CF81E4E9E0}"/>
              </a:ext>
            </a:extLst>
          </p:cNvPr>
          <p:cNvSpPr/>
          <p:nvPr/>
        </p:nvSpPr>
        <p:spPr>
          <a:xfrm>
            <a:off x="4025007" y="5533320"/>
            <a:ext cx="1534906" cy="609708"/>
          </a:xfrm>
          <a:prstGeom prst="roundRect">
            <a:avLst>
              <a:gd name="adj" fmla="val 16667"/>
            </a:avLst>
          </a:prstGeom>
          <a:noFill/>
          <a:ln w="254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obj3</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cxnSp>
        <p:nvCxnSpPr>
          <p:cNvPr id="26" name="Google Shape;281;p27">
            <a:extLst>
              <a:ext uri="{FF2B5EF4-FFF2-40B4-BE49-F238E27FC236}">
                <a16:creationId xmlns:a16="http://schemas.microsoft.com/office/drawing/2014/main" id="{5DC07BDB-7F2E-522E-D0B9-7B6BBE9D3DFC}"/>
              </a:ext>
            </a:extLst>
          </p:cNvPr>
          <p:cNvCxnSpPr>
            <a:cxnSpLocks/>
            <a:stCxn id="28" idx="3"/>
          </p:cNvCxnSpPr>
          <p:nvPr/>
        </p:nvCxnSpPr>
        <p:spPr>
          <a:xfrm>
            <a:off x="2431122" y="5008662"/>
            <a:ext cx="1584000" cy="0"/>
          </a:xfrm>
          <a:prstGeom prst="straightConnector1">
            <a:avLst/>
          </a:prstGeom>
          <a:noFill/>
          <a:ln w="25400" cap="flat" cmpd="sng">
            <a:solidFill>
              <a:schemeClr val="tx1"/>
            </a:solidFill>
            <a:prstDash val="solid"/>
            <a:round/>
            <a:headEnd type="none" w="med" len="med"/>
            <a:tailEnd type="triangle" w="med" len="med"/>
          </a:ln>
        </p:spPr>
      </p:cxnSp>
      <p:sp>
        <p:nvSpPr>
          <p:cNvPr id="28" name="Google Shape;282;p27">
            <a:extLst>
              <a:ext uri="{FF2B5EF4-FFF2-40B4-BE49-F238E27FC236}">
                <a16:creationId xmlns:a16="http://schemas.microsoft.com/office/drawing/2014/main" id="{EE134D10-9C28-3F2A-85FC-5D61182C2D91}"/>
              </a:ext>
            </a:extLst>
          </p:cNvPr>
          <p:cNvSpPr/>
          <p:nvPr/>
        </p:nvSpPr>
        <p:spPr>
          <a:xfrm>
            <a:off x="1226400" y="4818854"/>
            <a:ext cx="1204725" cy="379614"/>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&amp;obj2</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29" name="Google Shape;285;p27">
            <a:extLst>
              <a:ext uri="{FF2B5EF4-FFF2-40B4-BE49-F238E27FC236}">
                <a16:creationId xmlns:a16="http://schemas.microsoft.com/office/drawing/2014/main" id="{FC7781CE-B416-E990-9E89-60DF7111F3E9}"/>
              </a:ext>
            </a:extLst>
          </p:cNvPr>
          <p:cNvSpPr/>
          <p:nvPr/>
        </p:nvSpPr>
        <p:spPr>
          <a:xfrm>
            <a:off x="988826" y="4722588"/>
            <a:ext cx="302268" cy="302268"/>
          </a:xfrm>
          <a:prstGeom prst="roundRect">
            <a:avLst>
              <a:gd name="adj" fmla="val 16667"/>
            </a:avLst>
          </a:prstGeom>
          <a:solidFill>
            <a:schemeClr val="accent4">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600" dirty="0">
                <a:solidFill>
                  <a:schemeClr val="dk1"/>
                </a:solidFill>
                <a:latin typeface="Arial" panose="020B0604020202020204" pitchFamily="34" charset="0"/>
                <a:cs typeface="Arial" panose="020B0604020202020204" pitchFamily="34" charset="0"/>
              </a:rPr>
              <a:t>T2</a:t>
            </a:r>
          </a:p>
        </p:txBody>
      </p:sp>
      <p:cxnSp>
        <p:nvCxnSpPr>
          <p:cNvPr id="31" name="Google Shape;281;p27">
            <a:extLst>
              <a:ext uri="{FF2B5EF4-FFF2-40B4-BE49-F238E27FC236}">
                <a16:creationId xmlns:a16="http://schemas.microsoft.com/office/drawing/2014/main" id="{8EB0667D-DC1A-0723-6E92-5520AB58E24D}"/>
              </a:ext>
            </a:extLst>
          </p:cNvPr>
          <p:cNvCxnSpPr>
            <a:cxnSpLocks/>
            <a:stCxn id="32" idx="3"/>
          </p:cNvCxnSpPr>
          <p:nvPr/>
        </p:nvCxnSpPr>
        <p:spPr>
          <a:xfrm>
            <a:off x="2431122" y="5681940"/>
            <a:ext cx="1584000" cy="0"/>
          </a:xfrm>
          <a:prstGeom prst="straightConnector1">
            <a:avLst/>
          </a:prstGeom>
          <a:noFill/>
          <a:ln w="25400" cap="flat" cmpd="sng">
            <a:solidFill>
              <a:schemeClr val="tx1"/>
            </a:solidFill>
            <a:prstDash val="solid"/>
            <a:round/>
            <a:headEnd type="none" w="med" len="med"/>
            <a:tailEnd type="triangle" w="med" len="med"/>
          </a:ln>
        </p:spPr>
      </p:cxnSp>
      <p:sp>
        <p:nvSpPr>
          <p:cNvPr id="32" name="Google Shape;282;p27">
            <a:extLst>
              <a:ext uri="{FF2B5EF4-FFF2-40B4-BE49-F238E27FC236}">
                <a16:creationId xmlns:a16="http://schemas.microsoft.com/office/drawing/2014/main" id="{393D3CC2-2F41-DC4C-A190-43E431FE4ED8}"/>
              </a:ext>
            </a:extLst>
          </p:cNvPr>
          <p:cNvSpPr/>
          <p:nvPr/>
        </p:nvSpPr>
        <p:spPr>
          <a:xfrm>
            <a:off x="1226400" y="5492132"/>
            <a:ext cx="1204725" cy="379614"/>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&amp;obj2</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33" name="Google Shape;285;p27">
            <a:extLst>
              <a:ext uri="{FF2B5EF4-FFF2-40B4-BE49-F238E27FC236}">
                <a16:creationId xmlns:a16="http://schemas.microsoft.com/office/drawing/2014/main" id="{4290CE34-6A71-B173-3368-EBDED8485DD2}"/>
              </a:ext>
            </a:extLst>
          </p:cNvPr>
          <p:cNvSpPr/>
          <p:nvPr/>
        </p:nvSpPr>
        <p:spPr>
          <a:xfrm>
            <a:off x="988826" y="5395866"/>
            <a:ext cx="302268" cy="302268"/>
          </a:xfrm>
          <a:prstGeom prst="roundRect">
            <a:avLst>
              <a:gd name="adj" fmla="val 16667"/>
            </a:avLst>
          </a:prstGeom>
          <a:solidFill>
            <a:schemeClr val="accent5">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600" dirty="0">
                <a:solidFill>
                  <a:schemeClr val="dk1"/>
                </a:solidFill>
                <a:latin typeface="Arial" panose="020B0604020202020204" pitchFamily="34" charset="0"/>
                <a:cs typeface="Arial" panose="020B0604020202020204" pitchFamily="34" charset="0"/>
              </a:rPr>
              <a:t>T3</a:t>
            </a:r>
            <a:endParaRPr sz="1600" dirty="0">
              <a:solidFill>
                <a:schemeClr val="dk1"/>
              </a:solidFill>
              <a:latin typeface="Arial" panose="020B0604020202020204" pitchFamily="34" charset="0"/>
              <a:cs typeface="Arial" panose="020B0604020202020204" pitchFamily="34" charset="0"/>
            </a:endParaRPr>
          </a:p>
        </p:txBody>
      </p:sp>
      <p:sp>
        <p:nvSpPr>
          <p:cNvPr id="40" name="Google Shape;285;p27">
            <a:extLst>
              <a:ext uri="{FF2B5EF4-FFF2-40B4-BE49-F238E27FC236}">
                <a16:creationId xmlns:a16="http://schemas.microsoft.com/office/drawing/2014/main" id="{EB028E8B-5535-C54F-DCF1-693729AD5FBB}"/>
              </a:ext>
            </a:extLst>
          </p:cNvPr>
          <p:cNvSpPr/>
          <p:nvPr/>
        </p:nvSpPr>
        <p:spPr>
          <a:xfrm>
            <a:off x="5436834" y="4037679"/>
            <a:ext cx="302268" cy="302268"/>
          </a:xfrm>
          <a:prstGeom prst="roundRect">
            <a:avLst>
              <a:gd name="adj" fmla="val 16667"/>
            </a:avLst>
          </a:prstGeom>
          <a:solidFill>
            <a:srgbClr val="EEB4B4"/>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400" dirty="0">
                <a:latin typeface="Arial" panose="020B0604020202020204" pitchFamily="34" charset="0"/>
                <a:cs typeface="Arial" panose="020B0604020202020204" pitchFamily="34" charset="0"/>
              </a:rPr>
              <a:t>T1</a:t>
            </a:r>
            <a:endParaRPr sz="1400" dirty="0">
              <a:latin typeface="Arial" panose="020B0604020202020204" pitchFamily="34" charset="0"/>
              <a:cs typeface="Arial" panose="020B0604020202020204" pitchFamily="34" charset="0"/>
            </a:endParaRPr>
          </a:p>
        </p:txBody>
      </p:sp>
      <p:sp>
        <p:nvSpPr>
          <p:cNvPr id="41" name="Google Shape;285;p27">
            <a:extLst>
              <a:ext uri="{FF2B5EF4-FFF2-40B4-BE49-F238E27FC236}">
                <a16:creationId xmlns:a16="http://schemas.microsoft.com/office/drawing/2014/main" id="{797E535F-A146-EE29-6F3D-314CAB148848}"/>
              </a:ext>
            </a:extLst>
          </p:cNvPr>
          <p:cNvSpPr/>
          <p:nvPr/>
        </p:nvSpPr>
        <p:spPr>
          <a:xfrm>
            <a:off x="5436834" y="4706395"/>
            <a:ext cx="302268" cy="302268"/>
          </a:xfrm>
          <a:prstGeom prst="roundRect">
            <a:avLst>
              <a:gd name="adj" fmla="val 16667"/>
            </a:avLst>
          </a:prstGeom>
          <a:solidFill>
            <a:schemeClr val="accent4">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600" dirty="0">
                <a:solidFill>
                  <a:schemeClr val="dk1"/>
                </a:solidFill>
                <a:latin typeface="Arial" panose="020B0604020202020204" pitchFamily="34" charset="0"/>
                <a:cs typeface="Arial" panose="020B0604020202020204" pitchFamily="34" charset="0"/>
              </a:rPr>
              <a:t>T2</a:t>
            </a:r>
          </a:p>
        </p:txBody>
      </p:sp>
      <p:sp>
        <p:nvSpPr>
          <p:cNvPr id="42" name="Google Shape;285;p27">
            <a:extLst>
              <a:ext uri="{FF2B5EF4-FFF2-40B4-BE49-F238E27FC236}">
                <a16:creationId xmlns:a16="http://schemas.microsoft.com/office/drawing/2014/main" id="{10130DB1-014A-7A78-08B1-65A1A5E5A134}"/>
              </a:ext>
            </a:extLst>
          </p:cNvPr>
          <p:cNvSpPr/>
          <p:nvPr/>
        </p:nvSpPr>
        <p:spPr>
          <a:xfrm>
            <a:off x="5436834" y="5412484"/>
            <a:ext cx="302268" cy="302268"/>
          </a:xfrm>
          <a:prstGeom prst="roundRect">
            <a:avLst>
              <a:gd name="adj" fmla="val 16667"/>
            </a:avLst>
          </a:prstGeom>
          <a:solidFill>
            <a:schemeClr val="accent5">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600" dirty="0">
                <a:solidFill>
                  <a:schemeClr val="dk1"/>
                </a:solidFill>
                <a:latin typeface="Arial" panose="020B0604020202020204" pitchFamily="34" charset="0"/>
                <a:cs typeface="Arial" panose="020B0604020202020204" pitchFamily="34" charset="0"/>
              </a:rPr>
              <a:t>T3</a:t>
            </a:r>
            <a:endParaRPr sz="1600" dirty="0">
              <a:solidFill>
                <a:schemeClr val="dk1"/>
              </a:solidFill>
              <a:latin typeface="Arial" panose="020B0604020202020204" pitchFamily="34" charset="0"/>
              <a:cs typeface="Arial" panose="020B0604020202020204" pitchFamily="34" charset="0"/>
            </a:endParaRPr>
          </a:p>
        </p:txBody>
      </p:sp>
      <p:sp>
        <p:nvSpPr>
          <p:cNvPr id="46" name="Google Shape;291;p27">
            <a:extLst>
              <a:ext uri="{FF2B5EF4-FFF2-40B4-BE49-F238E27FC236}">
                <a16:creationId xmlns:a16="http://schemas.microsoft.com/office/drawing/2014/main" id="{FEC3E145-403E-794B-190D-BCBBBF0D4912}"/>
              </a:ext>
            </a:extLst>
          </p:cNvPr>
          <p:cNvSpPr txBox="1"/>
          <p:nvPr/>
        </p:nvSpPr>
        <p:spPr>
          <a:xfrm>
            <a:off x="3987695" y="3652796"/>
            <a:ext cx="1751408" cy="379614"/>
          </a:xfrm>
          <a:prstGeom prst="rect">
            <a:avLst/>
          </a:prstGeom>
          <a:noFill/>
          <a:ln>
            <a:noFill/>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cs typeface="Arial" panose="020B0604020202020204" pitchFamily="34" charset="0"/>
              </a:rPr>
              <a:t>Object</a:t>
            </a:r>
            <a:endParaRPr dirty="0">
              <a:solidFill>
                <a:schemeClr val="dk1"/>
              </a:solidFill>
              <a:latin typeface="Arial" panose="020B0604020202020204" pitchFamily="34" charset="0"/>
              <a:cs typeface="Arial" panose="020B0604020202020204" pitchFamily="34" charset="0"/>
            </a:endParaRPr>
          </a:p>
        </p:txBody>
      </p:sp>
      <p:sp>
        <p:nvSpPr>
          <p:cNvPr id="21" name="Google Shape;291;p27">
            <a:extLst>
              <a:ext uri="{FF2B5EF4-FFF2-40B4-BE49-F238E27FC236}">
                <a16:creationId xmlns:a16="http://schemas.microsoft.com/office/drawing/2014/main" id="{DD224C81-69B0-64B2-D8BA-72F58ECB74A6}"/>
              </a:ext>
            </a:extLst>
          </p:cNvPr>
          <p:cNvSpPr txBox="1"/>
          <p:nvPr/>
        </p:nvSpPr>
        <p:spPr>
          <a:xfrm>
            <a:off x="2506093" y="3747699"/>
            <a:ext cx="1363104" cy="379614"/>
          </a:xfrm>
          <a:prstGeom prst="rect">
            <a:avLst/>
          </a:prstGeom>
          <a:noFill/>
          <a:ln>
            <a:noFill/>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cs typeface="Arial" panose="020B0604020202020204" pitchFamily="34" charset="0"/>
              </a:rPr>
              <a:t>Access</a:t>
            </a:r>
            <a:endParaRPr dirty="0">
              <a:solidFill>
                <a:schemeClr val="dk1"/>
              </a:solidFill>
              <a:latin typeface="Arial" panose="020B0604020202020204" pitchFamily="34" charset="0"/>
              <a:cs typeface="Arial" panose="020B0604020202020204" pitchFamily="34" charset="0"/>
            </a:endParaRPr>
          </a:p>
        </p:txBody>
      </p:sp>
      <p:grpSp>
        <p:nvGrpSpPr>
          <p:cNvPr id="70" name="Group 69">
            <a:extLst>
              <a:ext uri="{FF2B5EF4-FFF2-40B4-BE49-F238E27FC236}">
                <a16:creationId xmlns:a16="http://schemas.microsoft.com/office/drawing/2014/main" id="{7FCEC747-1584-6468-469D-44A0554185E1}"/>
              </a:ext>
            </a:extLst>
          </p:cNvPr>
          <p:cNvGrpSpPr/>
          <p:nvPr/>
        </p:nvGrpSpPr>
        <p:grpSpPr>
          <a:xfrm>
            <a:off x="1809738" y="4339946"/>
            <a:ext cx="2205384" cy="2108600"/>
            <a:chOff x="1809738" y="4339946"/>
            <a:chExt cx="2205384" cy="2108600"/>
          </a:xfrm>
        </p:grpSpPr>
        <p:cxnSp>
          <p:nvCxnSpPr>
            <p:cNvPr id="9" name="Google Shape;281;p27">
              <a:extLst>
                <a:ext uri="{FF2B5EF4-FFF2-40B4-BE49-F238E27FC236}">
                  <a16:creationId xmlns:a16="http://schemas.microsoft.com/office/drawing/2014/main" id="{E29FCE9A-9273-3F42-2C85-BB6E13CFC599}"/>
                </a:ext>
              </a:extLst>
            </p:cNvPr>
            <p:cNvCxnSpPr>
              <a:cxnSpLocks/>
              <a:stCxn id="15" idx="3"/>
            </p:cNvCxnSpPr>
            <p:nvPr/>
          </p:nvCxnSpPr>
          <p:spPr>
            <a:xfrm>
              <a:off x="2431122" y="4339946"/>
              <a:ext cx="1584000" cy="604309"/>
            </a:xfrm>
            <a:prstGeom prst="straightConnector1">
              <a:avLst/>
            </a:prstGeom>
            <a:noFill/>
            <a:ln w="25400" cap="flat" cmpd="sng">
              <a:solidFill>
                <a:srgbClr val="C00000"/>
              </a:solidFill>
              <a:prstDash val="solid"/>
              <a:round/>
              <a:headEnd type="none" w="med" len="med"/>
              <a:tailEnd type="triangle" w="med" len="med"/>
            </a:ln>
          </p:spPr>
        </p:cxnSp>
        <p:cxnSp>
          <p:nvCxnSpPr>
            <p:cNvPr id="14" name="Google Shape;281;p27">
              <a:extLst>
                <a:ext uri="{FF2B5EF4-FFF2-40B4-BE49-F238E27FC236}">
                  <a16:creationId xmlns:a16="http://schemas.microsoft.com/office/drawing/2014/main" id="{8DF8F2FA-AFF9-CF15-84C1-5AF57B6BDC96}"/>
                </a:ext>
              </a:extLst>
            </p:cNvPr>
            <p:cNvCxnSpPr>
              <a:cxnSpLocks/>
              <a:stCxn id="15" idx="3"/>
            </p:cNvCxnSpPr>
            <p:nvPr/>
          </p:nvCxnSpPr>
          <p:spPr>
            <a:xfrm>
              <a:off x="2431122" y="4339946"/>
              <a:ext cx="1584000" cy="1341994"/>
            </a:xfrm>
            <a:prstGeom prst="straightConnector1">
              <a:avLst/>
            </a:prstGeom>
            <a:noFill/>
            <a:ln w="25400" cap="flat" cmpd="sng">
              <a:solidFill>
                <a:srgbClr val="C00000"/>
              </a:solidFill>
              <a:prstDash val="solid"/>
              <a:round/>
              <a:headEnd type="none" w="med" len="med"/>
              <a:tailEnd type="triangle" w="med" len="med"/>
            </a:ln>
          </p:spPr>
        </p:cxnSp>
        <p:sp>
          <p:nvSpPr>
            <p:cNvPr id="22" name="&quot;No&quot; Symbol 21">
              <a:extLst>
                <a:ext uri="{FF2B5EF4-FFF2-40B4-BE49-F238E27FC236}">
                  <a16:creationId xmlns:a16="http://schemas.microsoft.com/office/drawing/2014/main" id="{15BEF989-E76D-FDCB-E566-F4C0545AE195}"/>
                </a:ext>
              </a:extLst>
            </p:cNvPr>
            <p:cNvSpPr/>
            <p:nvPr/>
          </p:nvSpPr>
          <p:spPr>
            <a:xfrm>
              <a:off x="3118076" y="4453184"/>
              <a:ext cx="343044" cy="343044"/>
            </a:xfrm>
            <a:prstGeom prst="noSmoking">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23" name="&quot;No&quot; Symbol 22">
              <a:extLst>
                <a:ext uri="{FF2B5EF4-FFF2-40B4-BE49-F238E27FC236}">
                  <a16:creationId xmlns:a16="http://schemas.microsoft.com/office/drawing/2014/main" id="{91DEC6CC-C768-D16E-6257-F29976B0C523}"/>
                </a:ext>
              </a:extLst>
            </p:cNvPr>
            <p:cNvSpPr/>
            <p:nvPr/>
          </p:nvSpPr>
          <p:spPr>
            <a:xfrm>
              <a:off x="3228109" y="5002258"/>
              <a:ext cx="343044" cy="343044"/>
            </a:xfrm>
            <a:prstGeom prst="noSmoking">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20C9CFF5-A6F7-C7A2-5760-EB1BFA81820A}"/>
                </a:ext>
              </a:extLst>
            </p:cNvPr>
            <p:cNvSpPr txBox="1"/>
            <p:nvPr/>
          </p:nvSpPr>
          <p:spPr>
            <a:xfrm>
              <a:off x="1809738" y="6048436"/>
              <a:ext cx="2184908" cy="400110"/>
            </a:xfrm>
            <a:prstGeom prst="rect">
              <a:avLst/>
            </a:prstGeom>
            <a:noFill/>
          </p:spPr>
          <p:txBody>
            <a:bodyPr wrap="square" rtlCol="0">
              <a:spAutoFit/>
            </a:bodyPr>
            <a:lstStyle/>
            <a:p>
              <a:pPr algn="l"/>
              <a:r>
                <a:rPr lang="en-KR" sz="2000" b="1" dirty="0">
                  <a:solidFill>
                    <a:srgbClr val="C00000"/>
                  </a:solidFill>
                  <a:latin typeface="Arial" panose="020B0604020202020204" pitchFamily="34" charset="0"/>
                  <a:cs typeface="Arial" panose="020B0604020202020204" pitchFamily="34" charset="0"/>
                </a:rPr>
                <a:t>Tag Check Fault</a:t>
              </a:r>
            </a:p>
          </p:txBody>
        </p:sp>
      </p:grpSp>
      <p:sp>
        <p:nvSpPr>
          <p:cNvPr id="49" name="Content Placeholder 2">
            <a:extLst>
              <a:ext uri="{FF2B5EF4-FFF2-40B4-BE49-F238E27FC236}">
                <a16:creationId xmlns:a16="http://schemas.microsoft.com/office/drawing/2014/main" id="{3A293010-64E4-BD65-FA92-3A1D0F4F613B}"/>
              </a:ext>
            </a:extLst>
          </p:cNvPr>
          <p:cNvSpPr txBox="1">
            <a:spLocks/>
          </p:cNvSpPr>
          <p:nvPr/>
        </p:nvSpPr>
        <p:spPr>
          <a:xfrm>
            <a:off x="6320741" y="1660400"/>
            <a:ext cx="5257801" cy="197466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KR" sz="2600" b="1" dirty="0"/>
              <a:t>Pointer Authentication Code (PAC)</a:t>
            </a:r>
          </a:p>
          <a:p>
            <a:r>
              <a:rPr lang="en-KR" sz="2000" b="1" dirty="0"/>
              <a:t>Pointer protection</a:t>
            </a:r>
          </a:p>
          <a:p>
            <a:r>
              <a:rPr lang="en-KR" sz="2000" dirty="0"/>
              <a:t>Hardware </a:t>
            </a:r>
            <a:r>
              <a:rPr lang="en-KR" sz="2000" b="1" dirty="0"/>
              <a:t>pointer signing/authentication</a:t>
            </a:r>
          </a:p>
          <a:p>
            <a:r>
              <a:rPr lang="en-KR" sz="2000" dirty="0"/>
              <a:t>PAC key + PAC context + Pointer value </a:t>
            </a:r>
            <a:br>
              <a:rPr lang="en-KR" sz="2000" dirty="0"/>
            </a:br>
            <a:r>
              <a:rPr lang="en-KR" sz="2000" dirty="0">
                <a:sym typeface="Wingdings" pitchFamily="2" charset="2"/>
              </a:rPr>
              <a:t> PAC Signiture</a:t>
            </a:r>
            <a:endParaRPr lang="en-KR" sz="2000" dirty="0"/>
          </a:p>
        </p:txBody>
      </p:sp>
      <p:sp>
        <p:nvSpPr>
          <p:cNvPr id="8" name="Google Shape;295;p27">
            <a:extLst>
              <a:ext uri="{FF2B5EF4-FFF2-40B4-BE49-F238E27FC236}">
                <a16:creationId xmlns:a16="http://schemas.microsoft.com/office/drawing/2014/main" id="{8B3E72FF-F5FA-FD42-FA2F-946DD85A4B7C}"/>
              </a:ext>
            </a:extLst>
          </p:cNvPr>
          <p:cNvSpPr/>
          <p:nvPr/>
        </p:nvSpPr>
        <p:spPr>
          <a:xfrm>
            <a:off x="9619599" y="4420737"/>
            <a:ext cx="1390625" cy="1060063"/>
          </a:xfrm>
          <a:prstGeom prst="roundRect">
            <a:avLst>
              <a:gd name="adj" fmla="val 12299"/>
            </a:avLst>
          </a:prstGeom>
          <a:noFill/>
          <a:ln w="254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pPr algn="ct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grpSp>
        <p:nvGrpSpPr>
          <p:cNvPr id="61" name="Group 60">
            <a:extLst>
              <a:ext uri="{FF2B5EF4-FFF2-40B4-BE49-F238E27FC236}">
                <a16:creationId xmlns:a16="http://schemas.microsoft.com/office/drawing/2014/main" id="{E6AC88D3-7C67-4DDB-D959-E93E8771D837}"/>
              </a:ext>
            </a:extLst>
          </p:cNvPr>
          <p:cNvGrpSpPr/>
          <p:nvPr/>
        </p:nvGrpSpPr>
        <p:grpSpPr>
          <a:xfrm>
            <a:off x="6480313" y="3868668"/>
            <a:ext cx="4529911" cy="1293237"/>
            <a:chOff x="6480313" y="3868668"/>
            <a:chExt cx="4529911" cy="1293237"/>
          </a:xfrm>
        </p:grpSpPr>
        <p:sp>
          <p:nvSpPr>
            <p:cNvPr id="5" name="Google Shape;282;p27">
              <a:extLst>
                <a:ext uri="{FF2B5EF4-FFF2-40B4-BE49-F238E27FC236}">
                  <a16:creationId xmlns:a16="http://schemas.microsoft.com/office/drawing/2014/main" id="{06D361E3-7D82-7F31-24D6-F2CEC66747C2}"/>
                </a:ext>
              </a:extLst>
            </p:cNvPr>
            <p:cNvSpPr/>
            <p:nvPr/>
          </p:nvSpPr>
          <p:spPr>
            <a:xfrm>
              <a:off x="6668005" y="4340072"/>
              <a:ext cx="1286133" cy="396276"/>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US" dirty="0">
                  <a:solidFill>
                    <a:schemeClr val="dk1"/>
                  </a:solidFill>
                  <a:latin typeface="Arial" panose="020B0604020202020204" pitchFamily="34" charset="0"/>
                  <a:ea typeface="Fira Code Medium"/>
                  <a:cs typeface="Arial" panose="020B0604020202020204" pitchFamily="34" charset="0"/>
                  <a:sym typeface="Fira Code Medium"/>
                </a:rPr>
                <a:t>&amp;obj</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7" name="Google Shape;291;p27">
              <a:extLst>
                <a:ext uri="{FF2B5EF4-FFF2-40B4-BE49-F238E27FC236}">
                  <a16:creationId xmlns:a16="http://schemas.microsoft.com/office/drawing/2014/main" id="{6F3ED872-0203-EE2B-1997-0D9424F9C0A4}"/>
                </a:ext>
              </a:extLst>
            </p:cNvPr>
            <p:cNvSpPr txBox="1"/>
            <p:nvPr/>
          </p:nvSpPr>
          <p:spPr>
            <a:xfrm>
              <a:off x="6573864" y="3868668"/>
              <a:ext cx="1492964" cy="385831"/>
            </a:xfrm>
            <a:prstGeom prst="rect">
              <a:avLst/>
            </a:prstGeom>
            <a:noFill/>
            <a:ln>
              <a:noFill/>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cs typeface="Arial" panose="020B0604020202020204" pitchFamily="34" charset="0"/>
                </a:rPr>
                <a:t>Pointer</a:t>
              </a:r>
              <a:endParaRPr dirty="0">
                <a:solidFill>
                  <a:schemeClr val="dk1"/>
                </a:solidFill>
                <a:latin typeface="Arial" panose="020B0604020202020204" pitchFamily="34" charset="0"/>
                <a:cs typeface="Arial" panose="020B0604020202020204" pitchFamily="34" charset="0"/>
              </a:endParaRPr>
            </a:p>
          </p:txBody>
        </p:sp>
        <p:sp>
          <p:nvSpPr>
            <p:cNvPr id="10" name="Google Shape;291;p27">
              <a:extLst>
                <a:ext uri="{FF2B5EF4-FFF2-40B4-BE49-F238E27FC236}">
                  <a16:creationId xmlns:a16="http://schemas.microsoft.com/office/drawing/2014/main" id="{CF049D7D-D7FE-4420-85BD-4F4BC19E96FA}"/>
                </a:ext>
              </a:extLst>
            </p:cNvPr>
            <p:cNvSpPr txBox="1"/>
            <p:nvPr/>
          </p:nvSpPr>
          <p:spPr>
            <a:xfrm>
              <a:off x="9651319" y="4105982"/>
              <a:ext cx="1261035" cy="396816"/>
            </a:xfrm>
            <a:prstGeom prst="rect">
              <a:avLst/>
            </a:prstGeom>
            <a:noFill/>
            <a:ln>
              <a:noFill/>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cs typeface="Arial" panose="020B0604020202020204" pitchFamily="34" charset="0"/>
                </a:rPr>
                <a:t>Memory</a:t>
              </a:r>
              <a:endParaRPr dirty="0">
                <a:solidFill>
                  <a:schemeClr val="dk1"/>
                </a:solidFill>
                <a:latin typeface="Arial" panose="020B0604020202020204" pitchFamily="34" charset="0"/>
                <a:cs typeface="Arial" panose="020B0604020202020204" pitchFamily="34" charset="0"/>
              </a:endParaRPr>
            </a:p>
          </p:txBody>
        </p:sp>
        <p:sp>
          <p:nvSpPr>
            <p:cNvPr id="11" name="Google Shape;282;p27">
              <a:extLst>
                <a:ext uri="{FF2B5EF4-FFF2-40B4-BE49-F238E27FC236}">
                  <a16:creationId xmlns:a16="http://schemas.microsoft.com/office/drawing/2014/main" id="{6483D36E-7761-D792-B008-83B326B1B35F}"/>
                </a:ext>
              </a:extLst>
            </p:cNvPr>
            <p:cNvSpPr/>
            <p:nvPr/>
          </p:nvSpPr>
          <p:spPr>
            <a:xfrm>
              <a:off x="9626683" y="4759614"/>
              <a:ext cx="1383541" cy="402291"/>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US" dirty="0">
                  <a:solidFill>
                    <a:schemeClr val="dk1"/>
                  </a:solidFill>
                  <a:latin typeface="Arial" panose="020B0604020202020204" pitchFamily="34" charset="0"/>
                  <a:ea typeface="Fira Code Medium"/>
                  <a:cs typeface="Arial" panose="020B0604020202020204" pitchFamily="34" charset="0"/>
                  <a:sym typeface="Fira Code Medium"/>
                </a:rPr>
                <a:t>&amp;obj</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27" name="Google Shape;285;p27">
              <a:extLst>
                <a:ext uri="{FF2B5EF4-FFF2-40B4-BE49-F238E27FC236}">
                  <a16:creationId xmlns:a16="http://schemas.microsoft.com/office/drawing/2014/main" id="{020C3F24-09EF-DB38-CA1F-4250BBFFDAC7}"/>
                </a:ext>
              </a:extLst>
            </p:cNvPr>
            <p:cNvSpPr/>
            <p:nvPr/>
          </p:nvSpPr>
          <p:spPr>
            <a:xfrm>
              <a:off x="6480313" y="4270745"/>
              <a:ext cx="283333" cy="307217"/>
            </a:xfrm>
            <a:prstGeom prst="roundRect">
              <a:avLst>
                <a:gd name="adj" fmla="val 16667"/>
              </a:avLst>
            </a:prstGeom>
            <a:solidFill>
              <a:schemeClr val="accent6">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b="1" dirty="0">
                  <a:latin typeface="Arial" panose="020B0604020202020204" pitchFamily="34" charset="0"/>
                  <a:cs typeface="Arial" panose="020B0604020202020204" pitchFamily="34" charset="0"/>
                </a:rPr>
                <a:t>✓</a:t>
              </a:r>
              <a:endParaRPr sz="1400" b="1" dirty="0">
                <a:latin typeface="Arial" panose="020B0604020202020204" pitchFamily="34" charset="0"/>
                <a:cs typeface="Arial" panose="020B0604020202020204" pitchFamily="34" charset="0"/>
              </a:endParaRPr>
            </a:p>
          </p:txBody>
        </p:sp>
        <p:cxnSp>
          <p:nvCxnSpPr>
            <p:cNvPr id="36" name="Straight Arrow Connector 35">
              <a:extLst>
                <a:ext uri="{FF2B5EF4-FFF2-40B4-BE49-F238E27FC236}">
                  <a16:creationId xmlns:a16="http://schemas.microsoft.com/office/drawing/2014/main" id="{BC633B5E-E1C4-2ED0-604C-58B481F92A43}"/>
                </a:ext>
              </a:extLst>
            </p:cNvPr>
            <p:cNvCxnSpPr>
              <a:cxnSpLocks/>
              <a:stCxn id="5" idx="3"/>
              <a:endCxn id="11" idx="1"/>
            </p:cNvCxnSpPr>
            <p:nvPr/>
          </p:nvCxnSpPr>
          <p:spPr>
            <a:xfrm>
              <a:off x="7954139" y="4538210"/>
              <a:ext cx="1672545" cy="422549"/>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7" name="Google Shape;285;p27">
              <a:extLst>
                <a:ext uri="{FF2B5EF4-FFF2-40B4-BE49-F238E27FC236}">
                  <a16:creationId xmlns:a16="http://schemas.microsoft.com/office/drawing/2014/main" id="{7F694F04-CA68-09BA-5457-AE8F77F19E70}"/>
                </a:ext>
              </a:extLst>
            </p:cNvPr>
            <p:cNvSpPr/>
            <p:nvPr/>
          </p:nvSpPr>
          <p:spPr>
            <a:xfrm>
              <a:off x="8283548" y="4536911"/>
              <a:ext cx="927358" cy="307217"/>
            </a:xfrm>
            <a:prstGeom prst="roundRect">
              <a:avLst>
                <a:gd name="adj" fmla="val 16667"/>
              </a:avLst>
            </a:prstGeom>
            <a:solidFill>
              <a:schemeClr val="accent6">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dirty="0">
                  <a:latin typeface="Arial" panose="020B0604020202020204" pitchFamily="34" charset="0"/>
                  <a:cs typeface="Arial" panose="020B0604020202020204" pitchFamily="34" charset="0"/>
                </a:rPr>
                <a:t>Sign</a:t>
              </a:r>
              <a:endParaRPr dirty="0">
                <a:latin typeface="Arial" panose="020B0604020202020204" pitchFamily="34" charset="0"/>
                <a:cs typeface="Arial" panose="020B0604020202020204" pitchFamily="34" charset="0"/>
              </a:endParaRPr>
            </a:p>
          </p:txBody>
        </p:sp>
        <p:sp>
          <p:nvSpPr>
            <p:cNvPr id="38" name="Google Shape;291;p27">
              <a:extLst>
                <a:ext uri="{FF2B5EF4-FFF2-40B4-BE49-F238E27FC236}">
                  <a16:creationId xmlns:a16="http://schemas.microsoft.com/office/drawing/2014/main" id="{F258F0EA-7A47-426D-CA0E-46D8B5490B5A}"/>
                </a:ext>
              </a:extLst>
            </p:cNvPr>
            <p:cNvSpPr txBox="1"/>
            <p:nvPr/>
          </p:nvSpPr>
          <p:spPr>
            <a:xfrm>
              <a:off x="8304957" y="4092445"/>
              <a:ext cx="905124" cy="396816"/>
            </a:xfrm>
            <a:prstGeom prst="rect">
              <a:avLst/>
            </a:prstGeom>
            <a:noFill/>
            <a:ln>
              <a:noFill/>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cs typeface="Arial" panose="020B0604020202020204" pitchFamily="34" charset="0"/>
                </a:rPr>
                <a:t>Store</a:t>
              </a:r>
              <a:endParaRPr dirty="0">
                <a:solidFill>
                  <a:schemeClr val="dk1"/>
                </a:solidFill>
                <a:latin typeface="Arial" panose="020B0604020202020204" pitchFamily="34" charset="0"/>
                <a:cs typeface="Arial" panose="020B0604020202020204" pitchFamily="34" charset="0"/>
              </a:endParaRPr>
            </a:p>
          </p:txBody>
        </p:sp>
      </p:grpSp>
      <p:grpSp>
        <p:nvGrpSpPr>
          <p:cNvPr id="62" name="Group 61">
            <a:extLst>
              <a:ext uri="{FF2B5EF4-FFF2-40B4-BE49-F238E27FC236}">
                <a16:creationId xmlns:a16="http://schemas.microsoft.com/office/drawing/2014/main" id="{8470D3FF-3F51-E432-D032-EFCE8B661BCD}"/>
              </a:ext>
            </a:extLst>
          </p:cNvPr>
          <p:cNvGrpSpPr/>
          <p:nvPr/>
        </p:nvGrpSpPr>
        <p:grpSpPr>
          <a:xfrm>
            <a:off x="9476568" y="4615278"/>
            <a:ext cx="1524232" cy="545291"/>
            <a:chOff x="9476568" y="4615278"/>
            <a:chExt cx="1524232" cy="545291"/>
          </a:xfrm>
        </p:grpSpPr>
        <p:sp>
          <p:nvSpPr>
            <p:cNvPr id="43" name="Google Shape;282;p27">
              <a:extLst>
                <a:ext uri="{FF2B5EF4-FFF2-40B4-BE49-F238E27FC236}">
                  <a16:creationId xmlns:a16="http://schemas.microsoft.com/office/drawing/2014/main" id="{5B03F27D-103E-9FD0-5820-B74E82EF192D}"/>
                </a:ext>
              </a:extLst>
            </p:cNvPr>
            <p:cNvSpPr/>
            <p:nvPr/>
          </p:nvSpPr>
          <p:spPr>
            <a:xfrm>
              <a:off x="9617259" y="4758278"/>
              <a:ext cx="1383541" cy="402291"/>
            </a:xfrm>
            <a:custGeom>
              <a:avLst/>
              <a:gdLst>
                <a:gd name="connsiteX0" fmla="*/ 0 w 1383541"/>
                <a:gd name="connsiteY0" fmla="*/ 0 h 402291"/>
                <a:gd name="connsiteX1" fmla="*/ 0 w 1383541"/>
                <a:gd name="connsiteY1" fmla="*/ 0 h 402291"/>
                <a:gd name="connsiteX2" fmla="*/ 719441 w 1383541"/>
                <a:gd name="connsiteY2" fmla="*/ 0 h 402291"/>
                <a:gd name="connsiteX3" fmla="*/ 1383541 w 1383541"/>
                <a:gd name="connsiteY3" fmla="*/ 0 h 402291"/>
                <a:gd name="connsiteX4" fmla="*/ 1383541 w 1383541"/>
                <a:gd name="connsiteY4" fmla="*/ 0 h 402291"/>
                <a:gd name="connsiteX5" fmla="*/ 1383541 w 1383541"/>
                <a:gd name="connsiteY5" fmla="*/ 402291 h 402291"/>
                <a:gd name="connsiteX6" fmla="*/ 1383541 w 1383541"/>
                <a:gd name="connsiteY6" fmla="*/ 402291 h 402291"/>
                <a:gd name="connsiteX7" fmla="*/ 705606 w 1383541"/>
                <a:gd name="connsiteY7" fmla="*/ 402291 h 402291"/>
                <a:gd name="connsiteX8" fmla="*/ 0 w 1383541"/>
                <a:gd name="connsiteY8" fmla="*/ 402291 h 402291"/>
                <a:gd name="connsiteX9" fmla="*/ 0 w 1383541"/>
                <a:gd name="connsiteY9" fmla="*/ 402291 h 402291"/>
                <a:gd name="connsiteX10" fmla="*/ 0 w 1383541"/>
                <a:gd name="connsiteY10" fmla="*/ 0 h 402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3541" h="402291" fill="none" extrusionOk="0">
                  <a:moveTo>
                    <a:pt x="0" y="0"/>
                  </a:moveTo>
                  <a:lnTo>
                    <a:pt x="0" y="0"/>
                  </a:lnTo>
                  <a:cubicBezTo>
                    <a:pt x="185470" y="25905"/>
                    <a:pt x="441315" y="27940"/>
                    <a:pt x="719441" y="0"/>
                  </a:cubicBezTo>
                  <a:cubicBezTo>
                    <a:pt x="997567" y="-27940"/>
                    <a:pt x="1206061" y="-5742"/>
                    <a:pt x="1383541" y="0"/>
                  </a:cubicBezTo>
                  <a:lnTo>
                    <a:pt x="1383541" y="0"/>
                  </a:lnTo>
                  <a:cubicBezTo>
                    <a:pt x="1392426" y="162557"/>
                    <a:pt x="1395445" y="267739"/>
                    <a:pt x="1383541" y="402291"/>
                  </a:cubicBezTo>
                  <a:lnTo>
                    <a:pt x="1383541" y="402291"/>
                  </a:lnTo>
                  <a:cubicBezTo>
                    <a:pt x="1217676" y="404088"/>
                    <a:pt x="985692" y="429807"/>
                    <a:pt x="705606" y="402291"/>
                  </a:cubicBezTo>
                  <a:cubicBezTo>
                    <a:pt x="425521" y="374775"/>
                    <a:pt x="308242" y="367604"/>
                    <a:pt x="0" y="402291"/>
                  </a:cubicBezTo>
                  <a:lnTo>
                    <a:pt x="0" y="402291"/>
                  </a:lnTo>
                  <a:cubicBezTo>
                    <a:pt x="10105" y="280798"/>
                    <a:pt x="-14948" y="97224"/>
                    <a:pt x="0" y="0"/>
                  </a:cubicBezTo>
                  <a:close/>
                </a:path>
                <a:path w="1383541" h="402291" stroke="0" extrusionOk="0">
                  <a:moveTo>
                    <a:pt x="0" y="0"/>
                  </a:moveTo>
                  <a:lnTo>
                    <a:pt x="0" y="0"/>
                  </a:lnTo>
                  <a:cubicBezTo>
                    <a:pt x="138730" y="-12119"/>
                    <a:pt x="378384" y="-21093"/>
                    <a:pt x="677935" y="0"/>
                  </a:cubicBezTo>
                  <a:cubicBezTo>
                    <a:pt x="977486" y="21093"/>
                    <a:pt x="1038662" y="-8542"/>
                    <a:pt x="1383541" y="0"/>
                  </a:cubicBezTo>
                  <a:lnTo>
                    <a:pt x="1383541" y="0"/>
                  </a:lnTo>
                  <a:cubicBezTo>
                    <a:pt x="1376984" y="106149"/>
                    <a:pt x="1376546" y="316710"/>
                    <a:pt x="1383541" y="402291"/>
                  </a:cubicBezTo>
                  <a:lnTo>
                    <a:pt x="1383541" y="402291"/>
                  </a:lnTo>
                  <a:cubicBezTo>
                    <a:pt x="1204911" y="388588"/>
                    <a:pt x="1004303" y="410217"/>
                    <a:pt x="691771" y="402291"/>
                  </a:cubicBezTo>
                  <a:cubicBezTo>
                    <a:pt x="379239" y="394366"/>
                    <a:pt x="241318" y="420427"/>
                    <a:pt x="0" y="402291"/>
                  </a:cubicBezTo>
                  <a:lnTo>
                    <a:pt x="0" y="402291"/>
                  </a:lnTo>
                  <a:cubicBezTo>
                    <a:pt x="-19103" y="302891"/>
                    <a:pt x="5970" y="190302"/>
                    <a:pt x="0" y="0"/>
                  </a:cubicBezTo>
                  <a:close/>
                </a:path>
              </a:pathLst>
            </a:custGeom>
            <a:solidFill>
              <a:srgbClr val="FFCBCF"/>
            </a:solidFill>
            <a:ln w="25400" cap="flat" cmpd="sng">
              <a:solidFill>
                <a:schemeClr val="tx1"/>
              </a:solidFill>
              <a:prstDash val="solid"/>
              <a:round/>
              <a:headEnd type="none" w="sm" len="sm"/>
              <a:tailEnd type="none" w="sm" len="sm"/>
              <a:extLst>
                <a:ext uri="{C807C97D-BFC1-408E-A445-0C87EB9F89A2}">
                  <ask:lineSketchStyleProps xmlns:ask="http://schemas.microsoft.com/office/drawing/2018/sketchyshapes" sd="1219033472">
                    <a:prstGeom prst="roundRect">
                      <a:avLst>
                        <a:gd name="adj" fmla="val 0"/>
                      </a:avLst>
                    </a:prstGeom>
                    <ask:type>
                      <ask:lineSketchFreehand/>
                    </ask:type>
                  </ask:lineSketchStyleProps>
                </a:ext>
              </a:extLst>
            </a:ln>
          </p:spPr>
          <p:txBody>
            <a:bodyPr spcFirstLastPara="1" wrap="square" lIns="0" tIns="0" rIns="0" bIns="0" anchor="ctr" anchorCtr="0">
              <a:noAutofit/>
            </a:bodyPr>
            <a:lstStyle/>
            <a:p>
              <a:pPr algn="ctr"/>
              <a:r>
                <a:rPr lang="en-US" b="1" dirty="0">
                  <a:solidFill>
                    <a:srgbClr val="C00000"/>
                  </a:solidFill>
                  <a:latin typeface="Arial" panose="020B0604020202020204" pitchFamily="34" charset="0"/>
                  <a:ea typeface="Fira Code Medium"/>
                  <a:cs typeface="Arial" panose="020B0604020202020204" pitchFamily="34" charset="0"/>
                  <a:sym typeface="Fira Code Medium"/>
                </a:rPr>
                <a:t>&amp;</a:t>
              </a:r>
              <a:r>
                <a:rPr lang="en-US" b="1" dirty="0" err="1">
                  <a:solidFill>
                    <a:srgbClr val="C00000"/>
                  </a:solidFill>
                  <a:latin typeface="Arial" panose="020B0604020202020204" pitchFamily="34" charset="0"/>
                  <a:ea typeface="Fira Code Medium"/>
                  <a:cs typeface="Arial" panose="020B0604020202020204" pitchFamily="34" charset="0"/>
                  <a:sym typeface="Fira Code Medium"/>
                </a:rPr>
                <a:t>other_obj</a:t>
              </a:r>
              <a:endParaRPr b="1" dirty="0">
                <a:solidFill>
                  <a:srgbClr val="C00000"/>
                </a:solidFill>
                <a:latin typeface="Arial" panose="020B0604020202020204" pitchFamily="34" charset="0"/>
                <a:ea typeface="Fira Code Medium"/>
                <a:cs typeface="Arial" panose="020B0604020202020204" pitchFamily="34" charset="0"/>
                <a:sym typeface="Fira Code Medium"/>
              </a:endParaRPr>
            </a:p>
          </p:txBody>
        </p:sp>
        <p:sp>
          <p:nvSpPr>
            <p:cNvPr id="44" name="Explosion 1 43">
              <a:extLst>
                <a:ext uri="{FF2B5EF4-FFF2-40B4-BE49-F238E27FC236}">
                  <a16:creationId xmlns:a16="http://schemas.microsoft.com/office/drawing/2014/main" id="{72687BFF-2585-8825-2792-027A4EB23EED}"/>
                </a:ext>
              </a:extLst>
            </p:cNvPr>
            <p:cNvSpPr/>
            <p:nvPr/>
          </p:nvSpPr>
          <p:spPr>
            <a:xfrm>
              <a:off x="9476568" y="4615278"/>
              <a:ext cx="332726" cy="368269"/>
            </a:xfrm>
            <a:prstGeom prst="irregularSeal1">
              <a:avLst/>
            </a:prstGeom>
            <a:solidFill>
              <a:srgbClr val="FFCBC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grpSp>
      <p:grpSp>
        <p:nvGrpSpPr>
          <p:cNvPr id="68" name="Group 67">
            <a:extLst>
              <a:ext uri="{FF2B5EF4-FFF2-40B4-BE49-F238E27FC236}">
                <a16:creationId xmlns:a16="http://schemas.microsoft.com/office/drawing/2014/main" id="{53949008-8F55-2CD9-B75C-2F84A64634F5}"/>
              </a:ext>
            </a:extLst>
          </p:cNvPr>
          <p:cNvGrpSpPr/>
          <p:nvPr/>
        </p:nvGrpSpPr>
        <p:grpSpPr>
          <a:xfrm>
            <a:off x="6477941" y="4980062"/>
            <a:ext cx="4009778" cy="1434362"/>
            <a:chOff x="6477941" y="4960759"/>
            <a:chExt cx="4009778" cy="1434362"/>
          </a:xfrm>
        </p:grpSpPr>
        <p:sp>
          <p:nvSpPr>
            <p:cNvPr id="18" name="Google Shape;282;p27">
              <a:extLst>
                <a:ext uri="{FF2B5EF4-FFF2-40B4-BE49-F238E27FC236}">
                  <a16:creationId xmlns:a16="http://schemas.microsoft.com/office/drawing/2014/main" id="{ED1D6109-BB84-3EC7-4204-83B43FC597D9}"/>
                </a:ext>
              </a:extLst>
            </p:cNvPr>
            <p:cNvSpPr/>
            <p:nvPr/>
          </p:nvSpPr>
          <p:spPr>
            <a:xfrm>
              <a:off x="6668005" y="5365815"/>
              <a:ext cx="1286133" cy="396276"/>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US" sz="1600" dirty="0">
                  <a:solidFill>
                    <a:schemeClr val="dk1"/>
                  </a:solidFill>
                  <a:latin typeface="Arial" panose="020B0604020202020204" pitchFamily="34" charset="0"/>
                  <a:ea typeface="Fira Code Medium"/>
                  <a:cs typeface="Arial" panose="020B0604020202020204" pitchFamily="34" charset="0"/>
                  <a:sym typeface="Fira Code Medium"/>
                </a:rPr>
                <a:t>&amp;</a:t>
              </a:r>
              <a:r>
                <a:rPr lang="en-US" sz="1600" dirty="0" err="1">
                  <a:solidFill>
                    <a:schemeClr val="dk1"/>
                  </a:solidFill>
                  <a:latin typeface="Arial" panose="020B0604020202020204" pitchFamily="34" charset="0"/>
                  <a:ea typeface="Fira Code Medium"/>
                  <a:cs typeface="Arial" panose="020B0604020202020204" pitchFamily="34" charset="0"/>
                  <a:sym typeface="Fira Code Medium"/>
                </a:rPr>
                <a:t>other_obj</a:t>
              </a:r>
              <a:endParaRPr sz="1600" dirty="0">
                <a:solidFill>
                  <a:schemeClr val="dk1"/>
                </a:solidFill>
                <a:latin typeface="Arial" panose="020B0604020202020204" pitchFamily="34" charset="0"/>
                <a:ea typeface="Fira Code Medium"/>
                <a:cs typeface="Arial" panose="020B0604020202020204" pitchFamily="34" charset="0"/>
                <a:sym typeface="Fira Code Medium"/>
              </a:endParaRPr>
            </a:p>
          </p:txBody>
        </p:sp>
        <p:cxnSp>
          <p:nvCxnSpPr>
            <p:cNvPr id="20" name="Google Shape;281;p27">
              <a:extLst>
                <a:ext uri="{FF2B5EF4-FFF2-40B4-BE49-F238E27FC236}">
                  <a16:creationId xmlns:a16="http://schemas.microsoft.com/office/drawing/2014/main" id="{EA94642F-EDFA-2B35-47E2-6AA32B790C51}"/>
                </a:ext>
              </a:extLst>
            </p:cNvPr>
            <p:cNvCxnSpPr>
              <a:cxnSpLocks/>
              <a:stCxn id="11" idx="1"/>
              <a:endCxn id="18" idx="3"/>
            </p:cNvCxnSpPr>
            <p:nvPr/>
          </p:nvCxnSpPr>
          <p:spPr>
            <a:xfrm flipH="1">
              <a:off x="7954139" y="4960759"/>
              <a:ext cx="1672545" cy="603194"/>
            </a:xfrm>
            <a:prstGeom prst="straightConnector1">
              <a:avLst/>
            </a:prstGeom>
            <a:noFill/>
            <a:ln w="25400" cap="flat" cmpd="sng">
              <a:solidFill>
                <a:schemeClr val="tx1"/>
              </a:solidFill>
              <a:prstDash val="sysDash"/>
              <a:round/>
              <a:headEnd type="none" w="med" len="med"/>
              <a:tailEnd type="triangle" w="lg" len="lg"/>
            </a:ln>
          </p:spPr>
        </p:cxnSp>
        <p:sp>
          <p:nvSpPr>
            <p:cNvPr id="35" name="Google Shape;291;p27">
              <a:extLst>
                <a:ext uri="{FF2B5EF4-FFF2-40B4-BE49-F238E27FC236}">
                  <a16:creationId xmlns:a16="http://schemas.microsoft.com/office/drawing/2014/main" id="{C39DCA7D-4DE4-5FBB-FFE2-2E689526AE3F}"/>
                </a:ext>
              </a:extLst>
            </p:cNvPr>
            <p:cNvSpPr txBox="1"/>
            <p:nvPr/>
          </p:nvSpPr>
          <p:spPr>
            <a:xfrm>
              <a:off x="8304957" y="5490763"/>
              <a:ext cx="905124" cy="396816"/>
            </a:xfrm>
            <a:prstGeom prst="rect">
              <a:avLst/>
            </a:prstGeom>
            <a:noFill/>
            <a:ln>
              <a:noFill/>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cs typeface="Arial" panose="020B0604020202020204" pitchFamily="34" charset="0"/>
                </a:rPr>
                <a:t>Load</a:t>
              </a:r>
              <a:endParaRPr dirty="0">
                <a:solidFill>
                  <a:schemeClr val="dk1"/>
                </a:solidFill>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75EF1C1F-8712-8698-65DE-50D991C6B824}"/>
                </a:ext>
              </a:extLst>
            </p:cNvPr>
            <p:cNvSpPr txBox="1"/>
            <p:nvPr/>
          </p:nvSpPr>
          <p:spPr>
            <a:xfrm>
              <a:off x="7131148" y="5995011"/>
              <a:ext cx="3356571" cy="400110"/>
            </a:xfrm>
            <a:prstGeom prst="rect">
              <a:avLst/>
            </a:prstGeom>
            <a:noFill/>
          </p:spPr>
          <p:txBody>
            <a:bodyPr wrap="square" rtlCol="0">
              <a:spAutoFit/>
            </a:bodyPr>
            <a:lstStyle/>
            <a:p>
              <a:pPr algn="ctr"/>
              <a:r>
                <a:rPr lang="en-KR" sz="2000" b="1" dirty="0">
                  <a:solidFill>
                    <a:srgbClr val="C00000"/>
                  </a:solidFill>
                  <a:latin typeface="Arial" panose="020B0604020202020204" pitchFamily="34" charset="0"/>
                  <a:cs typeface="Arial" panose="020B0604020202020204" pitchFamily="34" charset="0"/>
                </a:rPr>
                <a:t>Authentication Failure</a:t>
              </a:r>
            </a:p>
          </p:txBody>
        </p:sp>
        <p:sp>
          <p:nvSpPr>
            <p:cNvPr id="47" name="Google Shape;285;p27">
              <a:extLst>
                <a:ext uri="{FF2B5EF4-FFF2-40B4-BE49-F238E27FC236}">
                  <a16:creationId xmlns:a16="http://schemas.microsoft.com/office/drawing/2014/main" id="{E7A7371A-12C4-340D-E771-A617AD9FE1E8}"/>
                </a:ext>
              </a:extLst>
            </p:cNvPr>
            <p:cNvSpPr/>
            <p:nvPr/>
          </p:nvSpPr>
          <p:spPr>
            <a:xfrm>
              <a:off x="8282722" y="5181181"/>
              <a:ext cx="927358" cy="307217"/>
            </a:xfrm>
            <a:prstGeom prst="roundRect">
              <a:avLst>
                <a:gd name="adj" fmla="val 16667"/>
              </a:avLst>
            </a:prstGeom>
            <a:solidFill>
              <a:srgbClr val="FFCBCF"/>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dirty="0">
                  <a:solidFill>
                    <a:srgbClr val="C00000"/>
                  </a:solidFill>
                  <a:latin typeface="Arial" panose="020B0604020202020204" pitchFamily="34" charset="0"/>
                  <a:cs typeface="Arial" panose="020B0604020202020204" pitchFamily="34" charset="0"/>
                </a:rPr>
                <a:t>Auth</a:t>
              </a:r>
              <a:endParaRPr dirty="0">
                <a:solidFill>
                  <a:srgbClr val="C00000"/>
                </a:solidFill>
                <a:latin typeface="Arial" panose="020B0604020202020204" pitchFamily="34" charset="0"/>
                <a:cs typeface="Arial" panose="020B0604020202020204" pitchFamily="34" charset="0"/>
              </a:endParaRPr>
            </a:p>
          </p:txBody>
        </p:sp>
        <p:sp>
          <p:nvSpPr>
            <p:cNvPr id="48" name="Google Shape;285;p27">
              <a:extLst>
                <a:ext uri="{FF2B5EF4-FFF2-40B4-BE49-F238E27FC236}">
                  <a16:creationId xmlns:a16="http://schemas.microsoft.com/office/drawing/2014/main" id="{8C1A1134-FF5E-0662-E98B-CB3719FB467A}"/>
                </a:ext>
              </a:extLst>
            </p:cNvPr>
            <p:cNvSpPr/>
            <p:nvPr/>
          </p:nvSpPr>
          <p:spPr>
            <a:xfrm>
              <a:off x="6477941" y="5298638"/>
              <a:ext cx="283333" cy="307217"/>
            </a:xfrm>
            <a:prstGeom prst="roundRect">
              <a:avLst>
                <a:gd name="adj" fmla="val 16667"/>
              </a:avLst>
            </a:prstGeom>
            <a:solidFill>
              <a:srgbClr val="FFCBCF"/>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400" b="1" dirty="0">
                  <a:latin typeface="Arial" panose="020B0604020202020204" pitchFamily="34" charset="0"/>
                  <a:cs typeface="Arial" panose="020B0604020202020204" pitchFamily="34" charset="0"/>
                </a:rPr>
                <a:t>𝙓</a:t>
              </a:r>
              <a:endParaRPr sz="1400" b="1" dirty="0">
                <a:latin typeface="Arial" panose="020B0604020202020204" pitchFamily="34" charset="0"/>
                <a:cs typeface="Arial" panose="020B0604020202020204" pitchFamily="34" charset="0"/>
              </a:endParaRPr>
            </a:p>
          </p:txBody>
        </p:sp>
      </p:grpSp>
      <p:grpSp>
        <p:nvGrpSpPr>
          <p:cNvPr id="75" name="Group 74">
            <a:extLst>
              <a:ext uri="{FF2B5EF4-FFF2-40B4-BE49-F238E27FC236}">
                <a16:creationId xmlns:a16="http://schemas.microsoft.com/office/drawing/2014/main" id="{F9604510-E4E1-7602-E587-BAA22CEC7170}"/>
              </a:ext>
            </a:extLst>
          </p:cNvPr>
          <p:cNvGrpSpPr/>
          <p:nvPr/>
        </p:nvGrpSpPr>
        <p:grpSpPr>
          <a:xfrm>
            <a:off x="10622952" y="4127313"/>
            <a:ext cx="1225215" cy="750191"/>
            <a:chOff x="10622952" y="4127313"/>
            <a:chExt cx="1225215" cy="750191"/>
          </a:xfrm>
        </p:grpSpPr>
        <p:sp>
          <p:nvSpPr>
            <p:cNvPr id="51" name="Google Shape;285;p27">
              <a:extLst>
                <a:ext uri="{FF2B5EF4-FFF2-40B4-BE49-F238E27FC236}">
                  <a16:creationId xmlns:a16="http://schemas.microsoft.com/office/drawing/2014/main" id="{3F1B9D55-D309-4434-1322-944227BD9984}"/>
                </a:ext>
              </a:extLst>
            </p:cNvPr>
            <p:cNvSpPr/>
            <p:nvPr/>
          </p:nvSpPr>
          <p:spPr>
            <a:xfrm>
              <a:off x="11041944" y="4127313"/>
              <a:ext cx="806223" cy="450649"/>
            </a:xfrm>
            <a:prstGeom prst="roundRect">
              <a:avLst>
                <a:gd name="adj" fmla="val 16667"/>
              </a:avLst>
            </a:prstGeom>
            <a:noFill/>
            <a:ln w="25400" cap="flat" cmpd="sng">
              <a:noFill/>
              <a:prstDash val="solid"/>
              <a:round/>
              <a:headEnd type="none" w="sm" len="sm"/>
              <a:tailEnd type="none" w="sm" len="sm"/>
            </a:ln>
          </p:spPr>
          <p:txBody>
            <a:bodyPr spcFirstLastPara="1" wrap="square" lIns="0" tIns="0" rIns="0" bIns="0" anchor="ctr" anchorCtr="0">
              <a:noAutofit/>
            </a:bodyPr>
            <a:lstStyle/>
            <a:p>
              <a:pPr algn="ctr"/>
              <a:r>
                <a:rPr lang="en-US" sz="1400" b="1" i="1" dirty="0">
                  <a:solidFill>
                    <a:schemeClr val="accent6">
                      <a:lumMod val="75000"/>
                    </a:schemeClr>
                  </a:solidFill>
                  <a:latin typeface="Arial" panose="020B0604020202020204" pitchFamily="34" charset="0"/>
                  <a:cs typeface="Arial" panose="020B0604020202020204" pitchFamily="34" charset="0"/>
                </a:rPr>
                <a:t>PAC Context</a:t>
              </a:r>
              <a:endParaRPr sz="1400" b="1" i="1" dirty="0">
                <a:solidFill>
                  <a:schemeClr val="accent6">
                    <a:lumMod val="75000"/>
                  </a:schemeClr>
                </a:solidFill>
                <a:latin typeface="Arial" panose="020B0604020202020204" pitchFamily="34" charset="0"/>
                <a:cs typeface="Arial" panose="020B0604020202020204" pitchFamily="34" charset="0"/>
              </a:endParaRPr>
            </a:p>
          </p:txBody>
        </p:sp>
        <p:sp>
          <p:nvSpPr>
            <p:cNvPr id="45" name="Google Shape;285;p27">
              <a:extLst>
                <a:ext uri="{FF2B5EF4-FFF2-40B4-BE49-F238E27FC236}">
                  <a16:creationId xmlns:a16="http://schemas.microsoft.com/office/drawing/2014/main" id="{1D1FF431-2326-BFC6-4828-423C02212A0B}"/>
                </a:ext>
              </a:extLst>
            </p:cNvPr>
            <p:cNvSpPr/>
            <p:nvPr/>
          </p:nvSpPr>
          <p:spPr>
            <a:xfrm>
              <a:off x="10622952" y="4570287"/>
              <a:ext cx="577319" cy="307217"/>
            </a:xfrm>
            <a:prstGeom prst="roundRect">
              <a:avLst>
                <a:gd name="adj" fmla="val 16667"/>
              </a:avLst>
            </a:prstGeom>
            <a:solidFill>
              <a:schemeClr val="accent6">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b="1" dirty="0">
                  <a:latin typeface="Arial" panose="020B0604020202020204" pitchFamily="34" charset="0"/>
                  <a:cs typeface="Arial" panose="020B0604020202020204" pitchFamily="34" charset="0"/>
                </a:rPr>
                <a:t>PAC</a:t>
              </a:r>
              <a:endParaRPr b="1" dirty="0">
                <a:latin typeface="Arial" panose="020B0604020202020204" pitchFamily="34" charset="0"/>
                <a:cs typeface="Arial" panose="020B0604020202020204" pitchFamily="34" charset="0"/>
              </a:endParaRPr>
            </a:p>
          </p:txBody>
        </p:sp>
        <p:cxnSp>
          <p:nvCxnSpPr>
            <p:cNvPr id="72" name="Curved Connector 71">
              <a:extLst>
                <a:ext uri="{FF2B5EF4-FFF2-40B4-BE49-F238E27FC236}">
                  <a16:creationId xmlns:a16="http://schemas.microsoft.com/office/drawing/2014/main" id="{A912CE5A-B229-8506-99B6-C5E6D3AE3E35}"/>
                </a:ext>
              </a:extLst>
            </p:cNvPr>
            <p:cNvCxnSpPr>
              <a:cxnSpLocks/>
              <a:stCxn id="45" idx="3"/>
              <a:endCxn id="51" idx="2"/>
            </p:cNvCxnSpPr>
            <p:nvPr/>
          </p:nvCxnSpPr>
          <p:spPr>
            <a:xfrm flipV="1">
              <a:off x="11200271" y="4577962"/>
              <a:ext cx="244785" cy="145934"/>
            </a:xfrm>
            <a:prstGeom prst="curvedConnector2">
              <a:avLst/>
            </a:prstGeom>
            <a:ln w="22225">
              <a:solidFill>
                <a:schemeClr val="accent6">
                  <a:lumMod val="75000"/>
                </a:schemeClr>
              </a:solidFill>
              <a:tailEnd type="none" w="sm"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6725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199A3-F195-35B4-E66F-9618BD3C164A}"/>
              </a:ext>
            </a:extLst>
          </p:cNvPr>
          <p:cNvSpPr>
            <a:spLocks noGrp="1"/>
          </p:cNvSpPr>
          <p:nvPr>
            <p:ph type="title"/>
          </p:nvPr>
        </p:nvSpPr>
        <p:spPr/>
        <p:txBody>
          <a:bodyPr/>
          <a:lstStyle/>
          <a:p>
            <a:r>
              <a:rPr lang="en-KR" dirty="0"/>
              <a:t>Protecting Objects with ARM MTE</a:t>
            </a:r>
          </a:p>
        </p:txBody>
      </p:sp>
      <p:sp>
        <p:nvSpPr>
          <p:cNvPr id="6" name="Slide Number Placeholder 5">
            <a:extLst>
              <a:ext uri="{FF2B5EF4-FFF2-40B4-BE49-F238E27FC236}">
                <a16:creationId xmlns:a16="http://schemas.microsoft.com/office/drawing/2014/main" id="{C288780F-A953-2546-4ED8-0F0F5070F391}"/>
              </a:ext>
            </a:extLst>
          </p:cNvPr>
          <p:cNvSpPr>
            <a:spLocks noGrp="1"/>
          </p:cNvSpPr>
          <p:nvPr>
            <p:ph type="sldNum" sz="quarter" idx="12"/>
          </p:nvPr>
        </p:nvSpPr>
        <p:spPr/>
        <p:txBody>
          <a:bodyPr/>
          <a:lstStyle/>
          <a:p>
            <a:fld id="{9ED31AF7-B9C1-7944-AC45-A988640FDEFC}" type="slidenum">
              <a:rPr lang="en-KR" smtClean="0"/>
              <a:t>16</a:t>
            </a:fld>
            <a:endParaRPr lang="en-KR" dirty="0"/>
          </a:p>
        </p:txBody>
      </p:sp>
      <p:grpSp>
        <p:nvGrpSpPr>
          <p:cNvPr id="27" name="Group 26">
            <a:extLst>
              <a:ext uri="{FF2B5EF4-FFF2-40B4-BE49-F238E27FC236}">
                <a16:creationId xmlns:a16="http://schemas.microsoft.com/office/drawing/2014/main" id="{FECD8EF1-9734-36BA-16F9-DBAC064DE26D}"/>
              </a:ext>
            </a:extLst>
          </p:cNvPr>
          <p:cNvGrpSpPr/>
          <p:nvPr/>
        </p:nvGrpSpPr>
        <p:grpSpPr>
          <a:xfrm>
            <a:off x="945625" y="3808551"/>
            <a:ext cx="4431045" cy="2490232"/>
            <a:chOff x="945625" y="3808551"/>
            <a:chExt cx="4431045" cy="2490232"/>
          </a:xfrm>
        </p:grpSpPr>
        <p:cxnSp>
          <p:nvCxnSpPr>
            <p:cNvPr id="12" name="Google Shape;281;p27">
              <a:extLst>
                <a:ext uri="{FF2B5EF4-FFF2-40B4-BE49-F238E27FC236}">
                  <a16:creationId xmlns:a16="http://schemas.microsoft.com/office/drawing/2014/main" id="{E5B903D3-09FD-E6BE-76BD-38590F79A669}"/>
                </a:ext>
              </a:extLst>
            </p:cNvPr>
            <p:cNvCxnSpPr>
              <a:cxnSpLocks/>
              <a:stCxn id="15" idx="3"/>
            </p:cNvCxnSpPr>
            <p:nvPr/>
          </p:nvCxnSpPr>
          <p:spPr>
            <a:xfrm flipV="1">
              <a:off x="2677765" y="4495701"/>
              <a:ext cx="873219" cy="1"/>
            </a:xfrm>
            <a:prstGeom prst="straightConnector1">
              <a:avLst/>
            </a:prstGeom>
            <a:noFill/>
            <a:ln w="25400" cap="flat" cmpd="sng">
              <a:solidFill>
                <a:schemeClr val="tx1"/>
              </a:solidFill>
              <a:prstDash val="solid"/>
              <a:round/>
              <a:headEnd type="none" w="med" len="med"/>
              <a:tailEnd type="triangle" w="med" len="med"/>
            </a:ln>
          </p:spPr>
        </p:cxnSp>
        <p:sp>
          <p:nvSpPr>
            <p:cNvPr id="13" name="Google Shape;283;p27">
              <a:extLst>
                <a:ext uri="{FF2B5EF4-FFF2-40B4-BE49-F238E27FC236}">
                  <a16:creationId xmlns:a16="http://schemas.microsoft.com/office/drawing/2014/main" id="{6B17A849-F8D1-B9D0-B974-5962ACA0FF21}"/>
                </a:ext>
              </a:extLst>
            </p:cNvPr>
            <p:cNvSpPr/>
            <p:nvPr/>
          </p:nvSpPr>
          <p:spPr>
            <a:xfrm>
              <a:off x="3559920" y="5000298"/>
              <a:ext cx="1534906" cy="609708"/>
            </a:xfrm>
            <a:prstGeom prst="roundRect">
              <a:avLst>
                <a:gd name="adj" fmla="val 16667"/>
              </a:avLst>
            </a:prstGeom>
            <a:noFill/>
            <a:ln w="254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pPr algn="ctr"/>
              <a:r>
                <a:rPr lang="en">
                  <a:solidFill>
                    <a:schemeClr val="dk1"/>
                  </a:solidFill>
                  <a:latin typeface="Arial" panose="020B0604020202020204" pitchFamily="34" charset="0"/>
                  <a:ea typeface="Fira Code Medium"/>
                  <a:cs typeface="Arial" panose="020B0604020202020204" pitchFamily="34" charset="0"/>
                  <a:sym typeface="Fira Code Medium"/>
                </a:rPr>
                <a:t>obj2</a:t>
              </a:r>
              <a:endParaRPr>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15" name="Google Shape;282;p27">
              <a:extLst>
                <a:ext uri="{FF2B5EF4-FFF2-40B4-BE49-F238E27FC236}">
                  <a16:creationId xmlns:a16="http://schemas.microsoft.com/office/drawing/2014/main" id="{42627920-4F55-8107-5253-8F17BC9E22CD}"/>
                </a:ext>
              </a:extLst>
            </p:cNvPr>
            <p:cNvSpPr/>
            <p:nvPr/>
          </p:nvSpPr>
          <p:spPr>
            <a:xfrm>
              <a:off x="1473040" y="4305894"/>
              <a:ext cx="1204725" cy="379614"/>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&amp;obj1</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17" name="Google Shape;291;p27">
              <a:extLst>
                <a:ext uri="{FF2B5EF4-FFF2-40B4-BE49-F238E27FC236}">
                  <a16:creationId xmlns:a16="http://schemas.microsoft.com/office/drawing/2014/main" id="{C8E5EA1E-BBE7-7586-4DFD-E6D2EFB5C636}"/>
                </a:ext>
              </a:extLst>
            </p:cNvPr>
            <p:cNvSpPr txBox="1"/>
            <p:nvPr/>
          </p:nvSpPr>
          <p:spPr>
            <a:xfrm>
              <a:off x="945625" y="3808551"/>
              <a:ext cx="2101174" cy="379614"/>
            </a:xfrm>
            <a:prstGeom prst="rect">
              <a:avLst/>
            </a:prstGeom>
            <a:noFill/>
            <a:ln>
              <a:noFill/>
            </a:ln>
          </p:spPr>
          <p:txBody>
            <a:bodyPr spcFirstLastPara="1" wrap="square" lIns="146280" tIns="146280" rIns="146280" bIns="146280" anchor="ctr" anchorCtr="0">
              <a:noAutofit/>
            </a:bodyPr>
            <a:lstStyle/>
            <a:p>
              <a:pPr algn="ctr"/>
              <a:r>
                <a:rPr lang="en" sz="1600" dirty="0">
                  <a:solidFill>
                    <a:schemeClr val="dk1"/>
                  </a:solidFill>
                  <a:latin typeface="Arial" panose="020B0604020202020204" pitchFamily="34" charset="0"/>
                  <a:cs typeface="Arial" panose="020B0604020202020204" pitchFamily="34" charset="0"/>
                </a:rPr>
                <a:t>Privileged Pointer</a:t>
              </a:r>
              <a:endParaRPr sz="1600" dirty="0">
                <a:solidFill>
                  <a:schemeClr val="dk1"/>
                </a:solidFill>
                <a:latin typeface="Arial" panose="020B0604020202020204" pitchFamily="34" charset="0"/>
                <a:cs typeface="Arial" panose="020B0604020202020204" pitchFamily="34" charset="0"/>
              </a:endParaRPr>
            </a:p>
          </p:txBody>
        </p:sp>
        <p:sp>
          <p:nvSpPr>
            <p:cNvPr id="19" name="Google Shape;295;p27">
              <a:extLst>
                <a:ext uri="{FF2B5EF4-FFF2-40B4-BE49-F238E27FC236}">
                  <a16:creationId xmlns:a16="http://schemas.microsoft.com/office/drawing/2014/main" id="{E9317D16-3331-80D8-CC97-21479EA2F6B8}"/>
                </a:ext>
              </a:extLst>
            </p:cNvPr>
            <p:cNvSpPr/>
            <p:nvPr/>
          </p:nvSpPr>
          <p:spPr>
            <a:xfrm>
              <a:off x="3555599" y="4295616"/>
              <a:ext cx="1534906" cy="609708"/>
            </a:xfrm>
            <a:prstGeom prst="roundRect">
              <a:avLst>
                <a:gd name="adj" fmla="val 16667"/>
              </a:avLst>
            </a:prstGeom>
            <a:noFill/>
            <a:ln w="254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obj1</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24" name="Google Shape;283;p27">
              <a:extLst>
                <a:ext uri="{FF2B5EF4-FFF2-40B4-BE49-F238E27FC236}">
                  <a16:creationId xmlns:a16="http://schemas.microsoft.com/office/drawing/2014/main" id="{FED3F7BD-2C93-BC5A-CD69-62CF81E4E9E0}"/>
                </a:ext>
              </a:extLst>
            </p:cNvPr>
            <p:cNvSpPr/>
            <p:nvPr/>
          </p:nvSpPr>
          <p:spPr>
            <a:xfrm>
              <a:off x="3559920" y="5689075"/>
              <a:ext cx="1534906" cy="609708"/>
            </a:xfrm>
            <a:prstGeom prst="roundRect">
              <a:avLst>
                <a:gd name="adj" fmla="val 16667"/>
              </a:avLst>
            </a:prstGeom>
            <a:noFill/>
            <a:ln w="254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obj3</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cxnSp>
          <p:nvCxnSpPr>
            <p:cNvPr id="26" name="Google Shape;281;p27">
              <a:extLst>
                <a:ext uri="{FF2B5EF4-FFF2-40B4-BE49-F238E27FC236}">
                  <a16:creationId xmlns:a16="http://schemas.microsoft.com/office/drawing/2014/main" id="{5DC07BDB-7F2E-522E-D0B9-7B6BBE9D3DFC}"/>
                </a:ext>
              </a:extLst>
            </p:cNvPr>
            <p:cNvCxnSpPr>
              <a:cxnSpLocks/>
              <a:stCxn id="28" idx="3"/>
            </p:cNvCxnSpPr>
            <p:nvPr/>
          </p:nvCxnSpPr>
          <p:spPr>
            <a:xfrm>
              <a:off x="2677765" y="5164417"/>
              <a:ext cx="873219" cy="0"/>
            </a:xfrm>
            <a:prstGeom prst="straightConnector1">
              <a:avLst/>
            </a:prstGeom>
            <a:noFill/>
            <a:ln w="25400" cap="flat" cmpd="sng">
              <a:solidFill>
                <a:schemeClr val="tx1"/>
              </a:solidFill>
              <a:prstDash val="solid"/>
              <a:round/>
              <a:headEnd type="none" w="med" len="med"/>
              <a:tailEnd type="triangle" w="med" len="med"/>
            </a:ln>
          </p:spPr>
        </p:cxnSp>
        <p:sp>
          <p:nvSpPr>
            <p:cNvPr id="28" name="Google Shape;282;p27">
              <a:extLst>
                <a:ext uri="{FF2B5EF4-FFF2-40B4-BE49-F238E27FC236}">
                  <a16:creationId xmlns:a16="http://schemas.microsoft.com/office/drawing/2014/main" id="{EE134D10-9C28-3F2A-85FC-5D61182C2D91}"/>
                </a:ext>
              </a:extLst>
            </p:cNvPr>
            <p:cNvSpPr/>
            <p:nvPr/>
          </p:nvSpPr>
          <p:spPr>
            <a:xfrm>
              <a:off x="1473040" y="4974609"/>
              <a:ext cx="1204725" cy="379614"/>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&amp;obj2</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cxnSp>
          <p:nvCxnSpPr>
            <p:cNvPr id="31" name="Google Shape;281;p27">
              <a:extLst>
                <a:ext uri="{FF2B5EF4-FFF2-40B4-BE49-F238E27FC236}">
                  <a16:creationId xmlns:a16="http://schemas.microsoft.com/office/drawing/2014/main" id="{8EB0667D-DC1A-0723-6E92-5520AB58E24D}"/>
                </a:ext>
              </a:extLst>
            </p:cNvPr>
            <p:cNvCxnSpPr>
              <a:cxnSpLocks/>
              <a:stCxn id="32" idx="3"/>
            </p:cNvCxnSpPr>
            <p:nvPr/>
          </p:nvCxnSpPr>
          <p:spPr>
            <a:xfrm>
              <a:off x="2677765" y="5837695"/>
              <a:ext cx="873219" cy="0"/>
            </a:xfrm>
            <a:prstGeom prst="straightConnector1">
              <a:avLst/>
            </a:prstGeom>
            <a:noFill/>
            <a:ln w="25400" cap="flat" cmpd="sng">
              <a:solidFill>
                <a:schemeClr val="tx1"/>
              </a:solidFill>
              <a:prstDash val="solid"/>
              <a:round/>
              <a:headEnd type="none" w="med" len="med"/>
              <a:tailEnd type="triangle" w="med" len="med"/>
            </a:ln>
          </p:spPr>
        </p:cxnSp>
        <p:sp>
          <p:nvSpPr>
            <p:cNvPr id="32" name="Google Shape;282;p27">
              <a:extLst>
                <a:ext uri="{FF2B5EF4-FFF2-40B4-BE49-F238E27FC236}">
                  <a16:creationId xmlns:a16="http://schemas.microsoft.com/office/drawing/2014/main" id="{393D3CC2-2F41-DC4C-A190-43E431FE4ED8}"/>
                </a:ext>
              </a:extLst>
            </p:cNvPr>
            <p:cNvSpPr/>
            <p:nvPr/>
          </p:nvSpPr>
          <p:spPr>
            <a:xfrm>
              <a:off x="1473040" y="5647887"/>
              <a:ext cx="1204725" cy="379614"/>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&amp;obj2</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40" name="Google Shape;285;p27">
              <a:extLst>
                <a:ext uri="{FF2B5EF4-FFF2-40B4-BE49-F238E27FC236}">
                  <a16:creationId xmlns:a16="http://schemas.microsoft.com/office/drawing/2014/main" id="{EB028E8B-5535-C54F-DCF1-693729AD5FBB}"/>
                </a:ext>
              </a:extLst>
            </p:cNvPr>
            <p:cNvSpPr/>
            <p:nvPr/>
          </p:nvSpPr>
          <p:spPr>
            <a:xfrm>
              <a:off x="4971747" y="4193434"/>
              <a:ext cx="302268" cy="302268"/>
            </a:xfrm>
            <a:prstGeom prst="roundRect">
              <a:avLst>
                <a:gd name="adj" fmla="val 16667"/>
              </a:avLst>
            </a:prstGeom>
            <a:solidFill>
              <a:srgbClr val="FFCBCF"/>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600" dirty="0">
                  <a:latin typeface="Arial" panose="020B0604020202020204" pitchFamily="34" charset="0"/>
                  <a:cs typeface="Arial" panose="020B0604020202020204" pitchFamily="34" charset="0"/>
                </a:rPr>
                <a:t>T1</a:t>
              </a:r>
              <a:endParaRPr sz="1600" dirty="0">
                <a:latin typeface="Arial" panose="020B0604020202020204" pitchFamily="34" charset="0"/>
                <a:cs typeface="Arial" panose="020B0604020202020204" pitchFamily="34" charset="0"/>
              </a:endParaRPr>
            </a:p>
          </p:txBody>
        </p:sp>
        <p:sp>
          <p:nvSpPr>
            <p:cNvPr id="41" name="Google Shape;285;p27">
              <a:extLst>
                <a:ext uri="{FF2B5EF4-FFF2-40B4-BE49-F238E27FC236}">
                  <a16:creationId xmlns:a16="http://schemas.microsoft.com/office/drawing/2014/main" id="{797E535F-A146-EE29-6F3D-314CAB148848}"/>
                </a:ext>
              </a:extLst>
            </p:cNvPr>
            <p:cNvSpPr/>
            <p:nvPr/>
          </p:nvSpPr>
          <p:spPr>
            <a:xfrm>
              <a:off x="4971747" y="4862150"/>
              <a:ext cx="302268" cy="302268"/>
            </a:xfrm>
            <a:prstGeom prst="roundRect">
              <a:avLst>
                <a:gd name="adj" fmla="val 16667"/>
              </a:avLst>
            </a:prstGeom>
            <a:solidFill>
              <a:schemeClr val="accent4">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600" dirty="0">
                  <a:solidFill>
                    <a:schemeClr val="dk1"/>
                  </a:solidFill>
                  <a:latin typeface="Arial" panose="020B0604020202020204" pitchFamily="34" charset="0"/>
                  <a:cs typeface="Arial" panose="020B0604020202020204" pitchFamily="34" charset="0"/>
                </a:rPr>
                <a:t>T2</a:t>
              </a:r>
            </a:p>
          </p:txBody>
        </p:sp>
        <p:sp>
          <p:nvSpPr>
            <p:cNvPr id="42" name="Google Shape;285;p27">
              <a:extLst>
                <a:ext uri="{FF2B5EF4-FFF2-40B4-BE49-F238E27FC236}">
                  <a16:creationId xmlns:a16="http://schemas.microsoft.com/office/drawing/2014/main" id="{10130DB1-014A-7A78-08B1-65A1A5E5A134}"/>
                </a:ext>
              </a:extLst>
            </p:cNvPr>
            <p:cNvSpPr/>
            <p:nvPr/>
          </p:nvSpPr>
          <p:spPr>
            <a:xfrm>
              <a:off x="4971747" y="5568239"/>
              <a:ext cx="302268" cy="302268"/>
            </a:xfrm>
            <a:prstGeom prst="roundRect">
              <a:avLst>
                <a:gd name="adj" fmla="val 16667"/>
              </a:avLst>
            </a:prstGeom>
            <a:solidFill>
              <a:schemeClr val="accent5">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600" dirty="0">
                  <a:solidFill>
                    <a:schemeClr val="dk1"/>
                  </a:solidFill>
                  <a:latin typeface="Arial" panose="020B0604020202020204" pitchFamily="34" charset="0"/>
                  <a:cs typeface="Arial" panose="020B0604020202020204" pitchFamily="34" charset="0"/>
                </a:rPr>
                <a:t>T3</a:t>
              </a:r>
              <a:endParaRPr sz="1600" dirty="0">
                <a:solidFill>
                  <a:schemeClr val="dk1"/>
                </a:solidFill>
                <a:latin typeface="Arial" panose="020B0604020202020204" pitchFamily="34" charset="0"/>
                <a:cs typeface="Arial" panose="020B0604020202020204" pitchFamily="34" charset="0"/>
              </a:endParaRPr>
            </a:p>
          </p:txBody>
        </p:sp>
        <p:sp>
          <p:nvSpPr>
            <p:cNvPr id="46" name="Google Shape;291;p27">
              <a:extLst>
                <a:ext uri="{FF2B5EF4-FFF2-40B4-BE49-F238E27FC236}">
                  <a16:creationId xmlns:a16="http://schemas.microsoft.com/office/drawing/2014/main" id="{FEC3E145-403E-794B-190D-BCBBBF0D4912}"/>
                </a:ext>
              </a:extLst>
            </p:cNvPr>
            <p:cNvSpPr txBox="1"/>
            <p:nvPr/>
          </p:nvSpPr>
          <p:spPr>
            <a:xfrm>
              <a:off x="3419954" y="3808551"/>
              <a:ext cx="1956716" cy="379614"/>
            </a:xfrm>
            <a:prstGeom prst="rect">
              <a:avLst/>
            </a:prstGeom>
            <a:noFill/>
            <a:ln>
              <a:noFill/>
            </a:ln>
          </p:spPr>
          <p:txBody>
            <a:bodyPr spcFirstLastPara="1" wrap="square" lIns="146280" tIns="146280" rIns="146280" bIns="146280" anchor="ctr" anchorCtr="0">
              <a:noAutofit/>
            </a:bodyPr>
            <a:lstStyle/>
            <a:p>
              <a:pPr algn="ctr"/>
              <a:r>
                <a:rPr lang="en" sz="1600" dirty="0">
                  <a:solidFill>
                    <a:schemeClr val="dk1"/>
                  </a:solidFill>
                  <a:latin typeface="Arial" panose="020B0604020202020204" pitchFamily="34" charset="0"/>
                  <a:cs typeface="Arial" panose="020B0604020202020204" pitchFamily="34" charset="0"/>
                </a:rPr>
                <a:t>Privileged object</a:t>
              </a:r>
              <a:endParaRPr sz="1600" dirty="0">
                <a:solidFill>
                  <a:schemeClr val="dk1"/>
                </a:solidFill>
                <a:latin typeface="Arial" panose="020B0604020202020204" pitchFamily="34" charset="0"/>
                <a:cs typeface="Arial" panose="020B0604020202020204" pitchFamily="34" charset="0"/>
              </a:endParaRPr>
            </a:p>
          </p:txBody>
        </p:sp>
      </p:grpSp>
      <p:grpSp>
        <p:nvGrpSpPr>
          <p:cNvPr id="14" name="Group 13">
            <a:extLst>
              <a:ext uri="{FF2B5EF4-FFF2-40B4-BE49-F238E27FC236}">
                <a16:creationId xmlns:a16="http://schemas.microsoft.com/office/drawing/2014/main" id="{FD08CEC4-217C-0A67-6CF3-6CCD2A7DA0AD}"/>
              </a:ext>
            </a:extLst>
          </p:cNvPr>
          <p:cNvGrpSpPr/>
          <p:nvPr/>
        </p:nvGrpSpPr>
        <p:grpSpPr>
          <a:xfrm>
            <a:off x="6828979" y="3808551"/>
            <a:ext cx="4121821" cy="2490232"/>
            <a:chOff x="6828979" y="3808551"/>
            <a:chExt cx="4121821" cy="2490232"/>
          </a:xfrm>
        </p:grpSpPr>
        <p:sp>
          <p:nvSpPr>
            <p:cNvPr id="69" name="Google Shape;291;p27">
              <a:extLst>
                <a:ext uri="{FF2B5EF4-FFF2-40B4-BE49-F238E27FC236}">
                  <a16:creationId xmlns:a16="http://schemas.microsoft.com/office/drawing/2014/main" id="{F293218C-A7C0-9534-5078-BFF666CE361C}"/>
                </a:ext>
              </a:extLst>
            </p:cNvPr>
            <p:cNvSpPr txBox="1"/>
            <p:nvPr/>
          </p:nvSpPr>
          <p:spPr>
            <a:xfrm>
              <a:off x="6828979" y="3808551"/>
              <a:ext cx="1781622" cy="379614"/>
            </a:xfrm>
            <a:prstGeom prst="rect">
              <a:avLst/>
            </a:prstGeom>
            <a:noFill/>
            <a:ln>
              <a:noFill/>
            </a:ln>
          </p:spPr>
          <p:txBody>
            <a:bodyPr spcFirstLastPara="1" wrap="square" lIns="146280" tIns="146280" rIns="146280" bIns="146280" anchor="ctr" anchorCtr="0">
              <a:noAutofit/>
            </a:bodyPr>
            <a:lstStyle/>
            <a:p>
              <a:pPr algn="ctr"/>
              <a:r>
                <a:rPr lang="en" sz="1600" dirty="0">
                  <a:solidFill>
                    <a:schemeClr val="dk1"/>
                  </a:solidFill>
                  <a:latin typeface="Arial" panose="020B0604020202020204" pitchFamily="34" charset="0"/>
                  <a:cs typeface="Arial" panose="020B0604020202020204" pitchFamily="34" charset="0"/>
                </a:rPr>
                <a:t>Non-privileged Pointer</a:t>
              </a:r>
              <a:endParaRPr sz="1600" dirty="0">
                <a:solidFill>
                  <a:schemeClr val="dk1"/>
                </a:solidFill>
                <a:latin typeface="Arial" panose="020B0604020202020204" pitchFamily="34" charset="0"/>
                <a:cs typeface="Arial" panose="020B0604020202020204" pitchFamily="34" charset="0"/>
              </a:endParaRPr>
            </a:p>
          </p:txBody>
        </p:sp>
        <p:cxnSp>
          <p:nvCxnSpPr>
            <p:cNvPr id="65" name="Google Shape;281;p27">
              <a:extLst>
                <a:ext uri="{FF2B5EF4-FFF2-40B4-BE49-F238E27FC236}">
                  <a16:creationId xmlns:a16="http://schemas.microsoft.com/office/drawing/2014/main" id="{8E69142B-2F94-FE24-DE95-12F3E5726135}"/>
                </a:ext>
              </a:extLst>
            </p:cNvPr>
            <p:cNvCxnSpPr>
              <a:cxnSpLocks/>
              <a:stCxn id="67" idx="3"/>
            </p:cNvCxnSpPr>
            <p:nvPr/>
          </p:nvCxnSpPr>
          <p:spPr>
            <a:xfrm flipV="1">
              <a:off x="8377991" y="4495701"/>
              <a:ext cx="873219" cy="1"/>
            </a:xfrm>
            <a:prstGeom prst="straightConnector1">
              <a:avLst/>
            </a:prstGeom>
            <a:noFill/>
            <a:ln w="25400" cap="flat" cmpd="sng">
              <a:solidFill>
                <a:schemeClr val="tx1"/>
              </a:solidFill>
              <a:prstDash val="solid"/>
              <a:round/>
              <a:headEnd type="none" w="med" len="med"/>
              <a:tailEnd type="triangle" w="med" len="med"/>
            </a:ln>
          </p:spPr>
        </p:cxnSp>
        <p:sp>
          <p:nvSpPr>
            <p:cNvPr id="66" name="Google Shape;283;p27">
              <a:extLst>
                <a:ext uri="{FF2B5EF4-FFF2-40B4-BE49-F238E27FC236}">
                  <a16:creationId xmlns:a16="http://schemas.microsoft.com/office/drawing/2014/main" id="{9BCF779B-C0EF-BA04-925A-67A1FA381903}"/>
                </a:ext>
              </a:extLst>
            </p:cNvPr>
            <p:cNvSpPr/>
            <p:nvPr/>
          </p:nvSpPr>
          <p:spPr>
            <a:xfrm>
              <a:off x="9260146" y="5000298"/>
              <a:ext cx="1534906" cy="609708"/>
            </a:xfrm>
            <a:prstGeom prst="roundRect">
              <a:avLst>
                <a:gd name="adj" fmla="val 16667"/>
              </a:avLst>
            </a:prstGeom>
            <a:noFill/>
            <a:ln w="254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pPr algn="ctr"/>
              <a:r>
                <a:rPr lang="en">
                  <a:solidFill>
                    <a:schemeClr val="dk1"/>
                  </a:solidFill>
                  <a:latin typeface="Arial" panose="020B0604020202020204" pitchFamily="34" charset="0"/>
                  <a:ea typeface="Fira Code Medium"/>
                  <a:cs typeface="Arial" panose="020B0604020202020204" pitchFamily="34" charset="0"/>
                  <a:sym typeface="Fira Code Medium"/>
                </a:rPr>
                <a:t>obj2</a:t>
              </a:r>
              <a:endParaRPr>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67" name="Google Shape;282;p27">
              <a:extLst>
                <a:ext uri="{FF2B5EF4-FFF2-40B4-BE49-F238E27FC236}">
                  <a16:creationId xmlns:a16="http://schemas.microsoft.com/office/drawing/2014/main" id="{5826305E-226C-2E7A-2178-C3BF0C8460DC}"/>
                </a:ext>
              </a:extLst>
            </p:cNvPr>
            <p:cNvSpPr/>
            <p:nvPr/>
          </p:nvSpPr>
          <p:spPr>
            <a:xfrm>
              <a:off x="7173266" y="4305894"/>
              <a:ext cx="1204725" cy="379614"/>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&amp;obj1</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70" name="Google Shape;295;p27">
              <a:extLst>
                <a:ext uri="{FF2B5EF4-FFF2-40B4-BE49-F238E27FC236}">
                  <a16:creationId xmlns:a16="http://schemas.microsoft.com/office/drawing/2014/main" id="{8E111585-81C9-93D1-73FD-C2EED0671316}"/>
                </a:ext>
              </a:extLst>
            </p:cNvPr>
            <p:cNvSpPr/>
            <p:nvPr/>
          </p:nvSpPr>
          <p:spPr>
            <a:xfrm>
              <a:off x="9255825" y="4295616"/>
              <a:ext cx="1534906" cy="609708"/>
            </a:xfrm>
            <a:prstGeom prst="roundRect">
              <a:avLst>
                <a:gd name="adj" fmla="val 16667"/>
              </a:avLst>
            </a:prstGeom>
            <a:noFill/>
            <a:ln w="254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obj1</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71" name="Google Shape;283;p27">
              <a:extLst>
                <a:ext uri="{FF2B5EF4-FFF2-40B4-BE49-F238E27FC236}">
                  <a16:creationId xmlns:a16="http://schemas.microsoft.com/office/drawing/2014/main" id="{ECD8F6CC-DF0A-2479-D0A5-5DEF3A1AA376}"/>
                </a:ext>
              </a:extLst>
            </p:cNvPr>
            <p:cNvSpPr/>
            <p:nvPr/>
          </p:nvSpPr>
          <p:spPr>
            <a:xfrm>
              <a:off x="9260146" y="5689075"/>
              <a:ext cx="1534906" cy="609708"/>
            </a:xfrm>
            <a:prstGeom prst="roundRect">
              <a:avLst>
                <a:gd name="adj" fmla="val 16667"/>
              </a:avLst>
            </a:prstGeom>
            <a:noFill/>
            <a:ln w="254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obj3</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cxnSp>
          <p:nvCxnSpPr>
            <p:cNvPr id="72" name="Google Shape;281;p27">
              <a:extLst>
                <a:ext uri="{FF2B5EF4-FFF2-40B4-BE49-F238E27FC236}">
                  <a16:creationId xmlns:a16="http://schemas.microsoft.com/office/drawing/2014/main" id="{56021A94-99EB-6E43-A6CE-C5F82B34FCED}"/>
                </a:ext>
              </a:extLst>
            </p:cNvPr>
            <p:cNvCxnSpPr>
              <a:cxnSpLocks/>
              <a:stCxn id="73" idx="3"/>
            </p:cNvCxnSpPr>
            <p:nvPr/>
          </p:nvCxnSpPr>
          <p:spPr>
            <a:xfrm>
              <a:off x="8377991" y="5164417"/>
              <a:ext cx="873219" cy="0"/>
            </a:xfrm>
            <a:prstGeom prst="straightConnector1">
              <a:avLst/>
            </a:prstGeom>
            <a:noFill/>
            <a:ln w="25400" cap="flat" cmpd="sng">
              <a:solidFill>
                <a:schemeClr val="tx1"/>
              </a:solidFill>
              <a:prstDash val="solid"/>
              <a:round/>
              <a:headEnd type="none" w="med" len="med"/>
              <a:tailEnd type="triangle" w="med" len="med"/>
            </a:ln>
          </p:spPr>
        </p:cxnSp>
        <p:sp>
          <p:nvSpPr>
            <p:cNvPr id="73" name="Google Shape;282;p27">
              <a:extLst>
                <a:ext uri="{FF2B5EF4-FFF2-40B4-BE49-F238E27FC236}">
                  <a16:creationId xmlns:a16="http://schemas.microsoft.com/office/drawing/2014/main" id="{3A329C69-91DA-7E3D-B740-421E2A0D3085}"/>
                </a:ext>
              </a:extLst>
            </p:cNvPr>
            <p:cNvSpPr/>
            <p:nvPr/>
          </p:nvSpPr>
          <p:spPr>
            <a:xfrm>
              <a:off x="7173266" y="4974609"/>
              <a:ext cx="1204725" cy="379614"/>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&amp;obj2</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cxnSp>
          <p:nvCxnSpPr>
            <p:cNvPr id="75" name="Google Shape;281;p27">
              <a:extLst>
                <a:ext uri="{FF2B5EF4-FFF2-40B4-BE49-F238E27FC236}">
                  <a16:creationId xmlns:a16="http://schemas.microsoft.com/office/drawing/2014/main" id="{1E7221DC-7983-3702-148A-BBC7EF61BF5E}"/>
                </a:ext>
              </a:extLst>
            </p:cNvPr>
            <p:cNvCxnSpPr>
              <a:cxnSpLocks/>
              <a:stCxn id="76" idx="3"/>
            </p:cNvCxnSpPr>
            <p:nvPr/>
          </p:nvCxnSpPr>
          <p:spPr>
            <a:xfrm>
              <a:off x="8377991" y="5837695"/>
              <a:ext cx="873219" cy="0"/>
            </a:xfrm>
            <a:prstGeom prst="straightConnector1">
              <a:avLst/>
            </a:prstGeom>
            <a:noFill/>
            <a:ln w="25400" cap="flat" cmpd="sng">
              <a:solidFill>
                <a:schemeClr val="tx1"/>
              </a:solidFill>
              <a:prstDash val="solid"/>
              <a:round/>
              <a:headEnd type="none" w="med" len="med"/>
              <a:tailEnd type="triangle" w="med" len="med"/>
            </a:ln>
          </p:spPr>
        </p:cxnSp>
        <p:sp>
          <p:nvSpPr>
            <p:cNvPr id="76" name="Google Shape;282;p27">
              <a:extLst>
                <a:ext uri="{FF2B5EF4-FFF2-40B4-BE49-F238E27FC236}">
                  <a16:creationId xmlns:a16="http://schemas.microsoft.com/office/drawing/2014/main" id="{2495ED90-EC12-7011-582D-80CE91D4E0B1}"/>
                </a:ext>
              </a:extLst>
            </p:cNvPr>
            <p:cNvSpPr/>
            <p:nvPr/>
          </p:nvSpPr>
          <p:spPr>
            <a:xfrm>
              <a:off x="7173266" y="5647887"/>
              <a:ext cx="1204725" cy="379614"/>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&amp;obj2</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78" name="Google Shape;285;p27">
              <a:extLst>
                <a:ext uri="{FF2B5EF4-FFF2-40B4-BE49-F238E27FC236}">
                  <a16:creationId xmlns:a16="http://schemas.microsoft.com/office/drawing/2014/main" id="{91F39F34-95B0-B9DE-F045-73C342E8440B}"/>
                </a:ext>
              </a:extLst>
            </p:cNvPr>
            <p:cNvSpPr/>
            <p:nvPr/>
          </p:nvSpPr>
          <p:spPr>
            <a:xfrm>
              <a:off x="10648532" y="4193434"/>
              <a:ext cx="302268" cy="302268"/>
            </a:xfrm>
            <a:prstGeom prst="roundRect">
              <a:avLst>
                <a:gd name="adj" fmla="val 16667"/>
              </a:avLst>
            </a:prstGeom>
            <a:solidFill>
              <a:schemeClr val="bg1">
                <a:lumMod val="95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600" dirty="0">
                  <a:latin typeface="Arial" panose="020B0604020202020204" pitchFamily="34" charset="0"/>
                  <a:cs typeface="Arial" panose="020B0604020202020204" pitchFamily="34" charset="0"/>
                </a:rPr>
                <a:t>T0</a:t>
              </a:r>
              <a:endParaRPr sz="1600" dirty="0">
                <a:latin typeface="Arial" panose="020B0604020202020204" pitchFamily="34" charset="0"/>
                <a:cs typeface="Arial" panose="020B0604020202020204" pitchFamily="34" charset="0"/>
              </a:endParaRPr>
            </a:p>
          </p:txBody>
        </p:sp>
        <p:sp>
          <p:nvSpPr>
            <p:cNvPr id="79" name="Google Shape;285;p27">
              <a:extLst>
                <a:ext uri="{FF2B5EF4-FFF2-40B4-BE49-F238E27FC236}">
                  <a16:creationId xmlns:a16="http://schemas.microsoft.com/office/drawing/2014/main" id="{120E5C3B-2322-9E3A-879C-58FC9E962B2D}"/>
                </a:ext>
              </a:extLst>
            </p:cNvPr>
            <p:cNvSpPr/>
            <p:nvPr/>
          </p:nvSpPr>
          <p:spPr>
            <a:xfrm>
              <a:off x="10648532" y="4862150"/>
              <a:ext cx="302268" cy="302268"/>
            </a:xfrm>
            <a:prstGeom prst="roundRect">
              <a:avLst>
                <a:gd name="adj" fmla="val 16667"/>
              </a:avLst>
            </a:prstGeom>
            <a:solidFill>
              <a:schemeClr val="bg1">
                <a:lumMod val="95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600" dirty="0">
                  <a:solidFill>
                    <a:schemeClr val="dk1"/>
                  </a:solidFill>
                  <a:latin typeface="Arial" panose="020B0604020202020204" pitchFamily="34" charset="0"/>
                  <a:cs typeface="Arial" panose="020B0604020202020204" pitchFamily="34" charset="0"/>
                </a:rPr>
                <a:t>T0</a:t>
              </a:r>
            </a:p>
          </p:txBody>
        </p:sp>
        <p:sp>
          <p:nvSpPr>
            <p:cNvPr id="80" name="Google Shape;285;p27">
              <a:extLst>
                <a:ext uri="{FF2B5EF4-FFF2-40B4-BE49-F238E27FC236}">
                  <a16:creationId xmlns:a16="http://schemas.microsoft.com/office/drawing/2014/main" id="{4F78E8FC-D961-9A65-BDED-E3566D15F5AA}"/>
                </a:ext>
              </a:extLst>
            </p:cNvPr>
            <p:cNvSpPr/>
            <p:nvPr/>
          </p:nvSpPr>
          <p:spPr>
            <a:xfrm>
              <a:off x="10648532" y="5568239"/>
              <a:ext cx="302268" cy="302268"/>
            </a:xfrm>
            <a:prstGeom prst="roundRect">
              <a:avLst>
                <a:gd name="adj" fmla="val 16667"/>
              </a:avLst>
            </a:prstGeom>
            <a:solidFill>
              <a:schemeClr val="bg1">
                <a:lumMod val="95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600" dirty="0">
                  <a:solidFill>
                    <a:schemeClr val="dk1"/>
                  </a:solidFill>
                  <a:latin typeface="Arial" panose="020B0604020202020204" pitchFamily="34" charset="0"/>
                  <a:cs typeface="Arial" panose="020B0604020202020204" pitchFamily="34" charset="0"/>
                </a:rPr>
                <a:t>T0</a:t>
              </a:r>
              <a:endParaRPr sz="1600" dirty="0">
                <a:solidFill>
                  <a:schemeClr val="dk1"/>
                </a:solidFill>
                <a:latin typeface="Arial" panose="020B0604020202020204" pitchFamily="34" charset="0"/>
                <a:cs typeface="Arial" panose="020B0604020202020204" pitchFamily="34" charset="0"/>
              </a:endParaRPr>
            </a:p>
          </p:txBody>
        </p:sp>
        <p:sp>
          <p:nvSpPr>
            <p:cNvPr id="81" name="Google Shape;291;p27">
              <a:extLst>
                <a:ext uri="{FF2B5EF4-FFF2-40B4-BE49-F238E27FC236}">
                  <a16:creationId xmlns:a16="http://schemas.microsoft.com/office/drawing/2014/main" id="{8BDA4BB6-1B60-AE51-2B4A-169700EA9034}"/>
                </a:ext>
              </a:extLst>
            </p:cNvPr>
            <p:cNvSpPr txBox="1"/>
            <p:nvPr/>
          </p:nvSpPr>
          <p:spPr>
            <a:xfrm>
              <a:off x="9169178" y="3808551"/>
              <a:ext cx="1708200" cy="379614"/>
            </a:xfrm>
            <a:prstGeom prst="rect">
              <a:avLst/>
            </a:prstGeom>
            <a:noFill/>
            <a:ln>
              <a:noFill/>
            </a:ln>
          </p:spPr>
          <p:txBody>
            <a:bodyPr spcFirstLastPara="1" wrap="square" lIns="146280" tIns="146280" rIns="146280" bIns="146280" anchor="ctr" anchorCtr="0">
              <a:noAutofit/>
            </a:bodyPr>
            <a:lstStyle/>
            <a:p>
              <a:pPr algn="ctr"/>
              <a:r>
                <a:rPr lang="en" sz="1600" dirty="0">
                  <a:solidFill>
                    <a:schemeClr val="dk1"/>
                  </a:solidFill>
                  <a:latin typeface="Arial" panose="020B0604020202020204" pitchFamily="34" charset="0"/>
                  <a:cs typeface="Arial" panose="020B0604020202020204" pitchFamily="34" charset="0"/>
                </a:rPr>
                <a:t>Non-privileged object</a:t>
              </a:r>
              <a:endParaRPr sz="1600" dirty="0">
                <a:solidFill>
                  <a:schemeClr val="dk1"/>
                </a:solidFill>
                <a:latin typeface="Arial" panose="020B0604020202020204" pitchFamily="34" charset="0"/>
                <a:cs typeface="Arial" panose="020B0604020202020204" pitchFamily="34" charset="0"/>
              </a:endParaRPr>
            </a:p>
          </p:txBody>
        </p:sp>
      </p:grpSp>
      <p:sp>
        <p:nvSpPr>
          <p:cNvPr id="5" name="TextBox 4">
            <a:extLst>
              <a:ext uri="{FF2B5EF4-FFF2-40B4-BE49-F238E27FC236}">
                <a16:creationId xmlns:a16="http://schemas.microsoft.com/office/drawing/2014/main" id="{D2952878-1296-044F-1E49-FAD2A74E6F54}"/>
              </a:ext>
            </a:extLst>
          </p:cNvPr>
          <p:cNvSpPr txBox="1"/>
          <p:nvPr/>
        </p:nvSpPr>
        <p:spPr>
          <a:xfrm>
            <a:off x="1230837" y="2817390"/>
            <a:ext cx="3932850" cy="850874"/>
          </a:xfrm>
          <a:prstGeom prst="rect">
            <a:avLst/>
          </a:prstGeom>
          <a:noFill/>
        </p:spPr>
        <p:txBody>
          <a:bodyPr wrap="square">
            <a:spAutoFit/>
          </a:bodyPr>
          <a:lstStyle/>
          <a:p>
            <a:pPr algn="ctr">
              <a:lnSpc>
                <a:spcPct val="130000"/>
              </a:lnSpc>
            </a:pPr>
            <a:r>
              <a:rPr lang="en-KR" sz="2000" b="1" dirty="0">
                <a:gradFill flip="none" rotWithShape="1">
                  <a:gsLst>
                    <a:gs pos="0">
                      <a:srgbClr val="C00000"/>
                    </a:gs>
                    <a:gs pos="36000">
                      <a:schemeClr val="accent4"/>
                    </a:gs>
                    <a:gs pos="100000">
                      <a:srgbClr val="0070C0"/>
                    </a:gs>
                  </a:gsLst>
                  <a:lin ang="0" scaled="0"/>
                  <a:tileRect/>
                </a:gradFill>
                <a:latin typeface="Arial" panose="020B0604020202020204" pitchFamily="34" charset="0"/>
                <a:cs typeface="Arial" panose="020B0604020202020204" pitchFamily="34" charset="0"/>
              </a:rPr>
              <a:t>Random Tag (Tag 1-14)</a:t>
            </a:r>
          </a:p>
          <a:p>
            <a:pPr algn="ctr">
              <a:lnSpc>
                <a:spcPct val="130000"/>
              </a:lnSpc>
            </a:pPr>
            <a:r>
              <a:rPr lang="en-KR" sz="2000" dirty="0">
                <a:latin typeface="Arial" panose="020B0604020202020204" pitchFamily="34" charset="0"/>
                <a:cs typeface="Arial" panose="020B0604020202020204" pitchFamily="34" charset="0"/>
              </a:rPr>
              <a:t>Enforce Pointer’s tag on access</a:t>
            </a:r>
          </a:p>
        </p:txBody>
      </p:sp>
      <p:sp>
        <p:nvSpPr>
          <p:cNvPr id="8" name="TextBox 7">
            <a:extLst>
              <a:ext uri="{FF2B5EF4-FFF2-40B4-BE49-F238E27FC236}">
                <a16:creationId xmlns:a16="http://schemas.microsoft.com/office/drawing/2014/main" id="{32EA5AAC-CAA8-5B49-0851-BCB4BF932ABE}"/>
              </a:ext>
            </a:extLst>
          </p:cNvPr>
          <p:cNvSpPr txBox="1"/>
          <p:nvPr/>
        </p:nvSpPr>
        <p:spPr>
          <a:xfrm>
            <a:off x="7170605" y="2855542"/>
            <a:ext cx="3620126" cy="774571"/>
          </a:xfrm>
          <a:prstGeom prst="rect">
            <a:avLst/>
          </a:prstGeom>
          <a:noFill/>
        </p:spPr>
        <p:txBody>
          <a:bodyPr wrap="square">
            <a:spAutoFit/>
          </a:bodyPr>
          <a:lstStyle/>
          <a:p>
            <a:pPr marR="0" lvl="0" algn="ctr" defTabSz="914400" rtl="0" eaLnBrk="1" fontAlgn="auto" latinLnBrk="0" hangingPunct="1">
              <a:lnSpc>
                <a:spcPct val="90000"/>
              </a:lnSpc>
              <a:spcBef>
                <a:spcPts val="1000"/>
              </a:spcBef>
              <a:spcAft>
                <a:spcPts val="0"/>
              </a:spcAft>
              <a:buClrTx/>
              <a:buSzTx/>
              <a:tabLst/>
              <a:defRPr/>
            </a:pPr>
            <a:r>
              <a:rPr kumimoji="0" lang="en-KR" sz="2000" b="1" i="0" u="none" strike="noStrike" kern="1200" cap="none" spc="0" normalizeH="0" baseline="0" noProof="0" dirty="0">
                <a:ln>
                  <a:noFill/>
                </a:ln>
                <a:solidFill>
                  <a:schemeClr val="bg1">
                    <a:lumMod val="50000"/>
                  </a:schemeClr>
                </a:solidFill>
                <a:effectLst/>
                <a:uLnTx/>
                <a:uFillTx/>
                <a:latin typeface="Arial" panose="020B0604020202020204" pitchFamily="34" charset="0"/>
                <a:ea typeface="+mn-ea"/>
                <a:cs typeface="Arial" panose="020B0604020202020204" pitchFamily="34" charset="0"/>
              </a:rPr>
              <a:t>Fixed</a:t>
            </a:r>
            <a:r>
              <a:rPr kumimoji="0" lang="en-KR" sz="2000" b="1" i="0" u="none" strike="noStrike" kern="1200" cap="none" spc="0" normalizeH="0" noProof="0" dirty="0">
                <a:ln>
                  <a:noFill/>
                </a:ln>
                <a:solidFill>
                  <a:schemeClr val="bg1">
                    <a:lumMod val="50000"/>
                  </a:schemeClr>
                </a:solidFill>
                <a:effectLst/>
                <a:uLnTx/>
                <a:uFillTx/>
                <a:latin typeface="Arial" panose="020B0604020202020204" pitchFamily="34" charset="0"/>
                <a:ea typeface="+mn-ea"/>
                <a:cs typeface="Arial" panose="020B0604020202020204" pitchFamily="34" charset="0"/>
              </a:rPr>
              <a:t> Tag </a:t>
            </a:r>
            <a:r>
              <a:rPr kumimoji="0" lang="en-KR" sz="2000" b="1" i="0" u="none" strike="noStrike" kern="1200" cap="none" spc="0" normalizeH="0" baseline="0" noProof="0" dirty="0">
                <a:ln>
                  <a:noFill/>
                </a:ln>
                <a:solidFill>
                  <a:schemeClr val="bg1">
                    <a:lumMod val="50000"/>
                  </a:schemeClr>
                </a:solidFill>
                <a:effectLst/>
                <a:uLnTx/>
                <a:uFillTx/>
                <a:latin typeface="Arial" panose="020B0604020202020204" pitchFamily="34" charset="0"/>
                <a:ea typeface="+mn-ea"/>
                <a:cs typeface="Arial" panose="020B0604020202020204" pitchFamily="34" charset="0"/>
              </a:rPr>
              <a:t>(Tag 0)</a:t>
            </a:r>
          </a:p>
          <a:p>
            <a:pPr marR="0" lvl="0" algn="ctr" defTabSz="914400" rtl="0" eaLnBrk="1" fontAlgn="auto" latinLnBrk="0" hangingPunct="1">
              <a:lnSpc>
                <a:spcPct val="90000"/>
              </a:lnSpc>
              <a:spcBef>
                <a:spcPts val="1000"/>
              </a:spcBef>
              <a:spcAft>
                <a:spcPts val="0"/>
              </a:spcAft>
              <a:buClrTx/>
              <a:buSzTx/>
              <a:tabLst/>
              <a:defRPr/>
            </a:pPr>
            <a:r>
              <a:rPr lang="en-KR" sz="2000" dirty="0">
                <a:solidFill>
                  <a:prstClr val="black"/>
                </a:solidFill>
                <a:latin typeface="Arial" panose="020B0604020202020204" pitchFamily="34" charset="0"/>
                <a:cs typeface="Arial" panose="020B0604020202020204" pitchFamily="34" charset="0"/>
              </a:rPr>
              <a:t>Enforce tag 0 on access</a:t>
            </a:r>
            <a:endParaRPr kumimoji="0" lang="en-KR"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TextBox 8">
            <a:extLst>
              <a:ext uri="{FF2B5EF4-FFF2-40B4-BE49-F238E27FC236}">
                <a16:creationId xmlns:a16="http://schemas.microsoft.com/office/drawing/2014/main" id="{D3DCB3DB-BA7F-59A8-C73B-6A4A8AE4E275}"/>
              </a:ext>
            </a:extLst>
          </p:cNvPr>
          <p:cNvSpPr txBox="1"/>
          <p:nvPr/>
        </p:nvSpPr>
        <p:spPr>
          <a:xfrm>
            <a:off x="874664" y="1647959"/>
            <a:ext cx="4946120" cy="1015663"/>
          </a:xfrm>
          <a:prstGeom prst="rect">
            <a:avLst/>
          </a:prstGeom>
          <a:noFill/>
        </p:spPr>
        <p:txBody>
          <a:bodyPr wrap="square">
            <a:spAutoFit/>
          </a:bodyPr>
          <a:lstStyle/>
          <a:p>
            <a:pPr algn="ctr"/>
            <a:r>
              <a:rPr lang="en-KR" sz="2000" b="1" dirty="0">
                <a:latin typeface="Arial" panose="020B0604020202020204" pitchFamily="34" charset="0"/>
                <a:cs typeface="Arial" panose="020B0604020202020204" pitchFamily="34" charset="0"/>
              </a:rPr>
              <a:t>Privileged Objects: </a:t>
            </a:r>
          </a:p>
          <a:p>
            <a:pPr algn="ctr"/>
            <a:r>
              <a:rPr lang="en-KR" sz="2000" dirty="0">
                <a:latin typeface="Arial" panose="020B0604020202020204" pitchFamily="34" charset="0"/>
                <a:cs typeface="Arial" panose="020B0604020202020204" pitchFamily="34" charset="0"/>
              </a:rPr>
              <a:t>Objects that contain </a:t>
            </a:r>
            <a:r>
              <a:rPr lang="en-KR" sz="2000" b="1" dirty="0">
                <a:solidFill>
                  <a:schemeClr val="accent4">
                    <a:lumMod val="75000"/>
                  </a:schemeClr>
                </a:solidFill>
                <a:latin typeface="Arial" panose="020B0604020202020204" pitchFamily="34" charset="0"/>
                <a:cs typeface="Arial" panose="020B0604020202020204" pitchFamily="34" charset="0"/>
              </a:rPr>
              <a:t>policy</a:t>
            </a:r>
            <a:r>
              <a:rPr lang="en-KR" sz="2000" dirty="0">
                <a:latin typeface="Arial" panose="020B0604020202020204" pitchFamily="34" charset="0"/>
                <a:cs typeface="Arial" panose="020B0604020202020204" pitchFamily="34" charset="0"/>
              </a:rPr>
              <a:t>, </a:t>
            </a:r>
            <a:r>
              <a:rPr lang="en-KR" sz="2000" b="1" dirty="0">
                <a:solidFill>
                  <a:schemeClr val="accent1"/>
                </a:solidFill>
                <a:latin typeface="Arial" panose="020B0604020202020204" pitchFamily="34" charset="0"/>
                <a:cs typeface="Arial" panose="020B0604020202020204" pitchFamily="34" charset="0"/>
              </a:rPr>
              <a:t>resource</a:t>
            </a:r>
            <a:r>
              <a:rPr lang="en-KR" sz="2000" dirty="0">
                <a:latin typeface="Arial" panose="020B0604020202020204" pitchFamily="34" charset="0"/>
                <a:cs typeface="Arial" panose="020B0604020202020204" pitchFamily="34" charset="0"/>
              </a:rPr>
              <a:t>, or their </a:t>
            </a:r>
            <a:r>
              <a:rPr lang="en-KR" sz="2000" b="1" dirty="0">
                <a:solidFill>
                  <a:schemeClr val="accent6">
                    <a:lumMod val="75000"/>
                  </a:schemeClr>
                </a:solidFill>
                <a:latin typeface="Arial" panose="020B0604020202020204" pitchFamily="34" charset="0"/>
                <a:cs typeface="Arial" panose="020B0604020202020204" pitchFamily="34" charset="0"/>
              </a:rPr>
              <a:t>pointer</a:t>
            </a:r>
          </a:p>
        </p:txBody>
      </p:sp>
      <p:sp>
        <p:nvSpPr>
          <p:cNvPr id="10" name="TextBox 9">
            <a:extLst>
              <a:ext uri="{FF2B5EF4-FFF2-40B4-BE49-F238E27FC236}">
                <a16:creationId xmlns:a16="http://schemas.microsoft.com/office/drawing/2014/main" id="{8B15D599-3756-6AAF-9C4A-B52B032EA044}"/>
              </a:ext>
            </a:extLst>
          </p:cNvPr>
          <p:cNvSpPr txBox="1"/>
          <p:nvPr/>
        </p:nvSpPr>
        <p:spPr>
          <a:xfrm>
            <a:off x="6567236" y="1748255"/>
            <a:ext cx="4665129" cy="707886"/>
          </a:xfrm>
          <a:prstGeom prst="rect">
            <a:avLst/>
          </a:prstGeom>
          <a:noFill/>
        </p:spPr>
        <p:txBody>
          <a:bodyPr wrap="square">
            <a:spAutoFit/>
          </a:bodyPr>
          <a:lstStyle/>
          <a:p>
            <a:pPr algn="ctr"/>
            <a:r>
              <a:rPr lang="en-KR" sz="2000" b="1" dirty="0">
                <a:latin typeface="Arial" panose="020B0604020202020204" pitchFamily="34" charset="0"/>
                <a:cs typeface="Arial" panose="020B0604020202020204" pitchFamily="34" charset="0"/>
              </a:rPr>
              <a:t>Non-privileged Objects: </a:t>
            </a:r>
          </a:p>
          <a:p>
            <a:pPr algn="ctr"/>
            <a:r>
              <a:rPr lang="en-KR" sz="2000" dirty="0">
                <a:latin typeface="Arial" panose="020B0604020202020204" pitchFamily="34" charset="0"/>
                <a:cs typeface="Arial" panose="020B0604020202020204" pitchFamily="34" charset="0"/>
              </a:rPr>
              <a:t>Other objects</a:t>
            </a:r>
          </a:p>
        </p:txBody>
      </p:sp>
      <p:cxnSp>
        <p:nvCxnSpPr>
          <p:cNvPr id="20" name="Straight Connector 19">
            <a:extLst>
              <a:ext uri="{FF2B5EF4-FFF2-40B4-BE49-F238E27FC236}">
                <a16:creationId xmlns:a16="http://schemas.microsoft.com/office/drawing/2014/main" id="{F7E19E08-AD3C-AB20-D561-1C8316133635}"/>
              </a:ext>
            </a:extLst>
          </p:cNvPr>
          <p:cNvCxnSpPr>
            <a:cxnSpLocks/>
          </p:cNvCxnSpPr>
          <p:nvPr/>
        </p:nvCxnSpPr>
        <p:spPr>
          <a:xfrm>
            <a:off x="6055659" y="1690688"/>
            <a:ext cx="0" cy="4751152"/>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 name="Right Arrow 2">
            <a:extLst>
              <a:ext uri="{FF2B5EF4-FFF2-40B4-BE49-F238E27FC236}">
                <a16:creationId xmlns:a16="http://schemas.microsoft.com/office/drawing/2014/main" id="{0CA8774D-513C-32D1-9D6F-126E80787EE2}"/>
              </a:ext>
            </a:extLst>
          </p:cNvPr>
          <p:cNvSpPr/>
          <p:nvPr/>
        </p:nvSpPr>
        <p:spPr>
          <a:xfrm>
            <a:off x="5620927" y="4468155"/>
            <a:ext cx="854968" cy="374722"/>
          </a:xfrm>
          <a:prstGeom prst="rightArrow">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4" name="&quot;No&quot; Symbol 3">
            <a:extLst>
              <a:ext uri="{FF2B5EF4-FFF2-40B4-BE49-F238E27FC236}">
                <a16:creationId xmlns:a16="http://schemas.microsoft.com/office/drawing/2014/main" id="{2DCC6989-4E03-EFE3-560A-AB0DD6BE9C3E}"/>
              </a:ext>
            </a:extLst>
          </p:cNvPr>
          <p:cNvSpPr/>
          <p:nvPr/>
        </p:nvSpPr>
        <p:spPr>
          <a:xfrm>
            <a:off x="5862430" y="4483994"/>
            <a:ext cx="343044" cy="343044"/>
          </a:xfrm>
          <a:prstGeom prst="noSmoking">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7" name="Right Arrow 6">
            <a:extLst>
              <a:ext uri="{FF2B5EF4-FFF2-40B4-BE49-F238E27FC236}">
                <a16:creationId xmlns:a16="http://schemas.microsoft.com/office/drawing/2014/main" id="{8F20F96A-3578-2399-1DD3-E2E2A717F73B}"/>
              </a:ext>
            </a:extLst>
          </p:cNvPr>
          <p:cNvSpPr/>
          <p:nvPr/>
        </p:nvSpPr>
        <p:spPr>
          <a:xfrm flipH="1">
            <a:off x="5620927" y="5380878"/>
            <a:ext cx="854968" cy="374722"/>
          </a:xfrm>
          <a:prstGeom prst="rightArrow">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18" name="&quot;No&quot; Symbol 17">
            <a:extLst>
              <a:ext uri="{FF2B5EF4-FFF2-40B4-BE49-F238E27FC236}">
                <a16:creationId xmlns:a16="http://schemas.microsoft.com/office/drawing/2014/main" id="{5AB386D3-8FF0-57D1-42B1-02BBA42832BB}"/>
              </a:ext>
            </a:extLst>
          </p:cNvPr>
          <p:cNvSpPr/>
          <p:nvPr/>
        </p:nvSpPr>
        <p:spPr>
          <a:xfrm>
            <a:off x="5862430" y="5396717"/>
            <a:ext cx="343044" cy="343044"/>
          </a:xfrm>
          <a:prstGeom prst="noSmoking">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grpSp>
        <p:nvGrpSpPr>
          <p:cNvPr id="44" name="Group 43">
            <a:extLst>
              <a:ext uri="{FF2B5EF4-FFF2-40B4-BE49-F238E27FC236}">
                <a16:creationId xmlns:a16="http://schemas.microsoft.com/office/drawing/2014/main" id="{A173DF2C-0010-8BB3-47CC-97200C369CA9}"/>
              </a:ext>
            </a:extLst>
          </p:cNvPr>
          <p:cNvGrpSpPr/>
          <p:nvPr/>
        </p:nvGrpSpPr>
        <p:grpSpPr>
          <a:xfrm>
            <a:off x="1235466" y="4209627"/>
            <a:ext cx="302268" cy="1644262"/>
            <a:chOff x="1235466" y="4209627"/>
            <a:chExt cx="302268" cy="1644262"/>
          </a:xfrm>
        </p:grpSpPr>
        <p:sp>
          <p:nvSpPr>
            <p:cNvPr id="30" name="Google Shape;285;p27">
              <a:extLst>
                <a:ext uri="{FF2B5EF4-FFF2-40B4-BE49-F238E27FC236}">
                  <a16:creationId xmlns:a16="http://schemas.microsoft.com/office/drawing/2014/main" id="{6DE99D4E-C163-40F5-C966-D4863B287D1D}"/>
                </a:ext>
              </a:extLst>
            </p:cNvPr>
            <p:cNvSpPr/>
            <p:nvPr/>
          </p:nvSpPr>
          <p:spPr>
            <a:xfrm>
              <a:off x="1235466" y="4209627"/>
              <a:ext cx="302268" cy="302268"/>
            </a:xfrm>
            <a:prstGeom prst="roundRect">
              <a:avLst>
                <a:gd name="adj" fmla="val 16667"/>
              </a:avLst>
            </a:prstGeom>
            <a:solidFill>
              <a:srgbClr val="FFCBCF"/>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600" dirty="0">
                  <a:latin typeface="Arial" panose="020B0604020202020204" pitchFamily="34" charset="0"/>
                  <a:cs typeface="Arial" panose="020B0604020202020204" pitchFamily="34" charset="0"/>
                </a:rPr>
                <a:t>T1</a:t>
              </a:r>
              <a:endParaRPr sz="1600" dirty="0">
                <a:latin typeface="Arial" panose="020B0604020202020204" pitchFamily="34" charset="0"/>
                <a:cs typeface="Arial" panose="020B0604020202020204" pitchFamily="34" charset="0"/>
              </a:endParaRPr>
            </a:p>
          </p:txBody>
        </p:sp>
        <p:sp>
          <p:nvSpPr>
            <p:cNvPr id="39" name="Google Shape;285;p27">
              <a:extLst>
                <a:ext uri="{FF2B5EF4-FFF2-40B4-BE49-F238E27FC236}">
                  <a16:creationId xmlns:a16="http://schemas.microsoft.com/office/drawing/2014/main" id="{F880E201-0E5B-A8FF-D75B-4DDEA87C4C4C}"/>
                </a:ext>
              </a:extLst>
            </p:cNvPr>
            <p:cNvSpPr/>
            <p:nvPr/>
          </p:nvSpPr>
          <p:spPr>
            <a:xfrm>
              <a:off x="1235466" y="4878343"/>
              <a:ext cx="302268" cy="302268"/>
            </a:xfrm>
            <a:prstGeom prst="roundRect">
              <a:avLst>
                <a:gd name="adj" fmla="val 16667"/>
              </a:avLst>
            </a:prstGeom>
            <a:solidFill>
              <a:schemeClr val="accent4">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600" dirty="0">
                  <a:solidFill>
                    <a:schemeClr val="dk1"/>
                  </a:solidFill>
                  <a:latin typeface="Arial" panose="020B0604020202020204" pitchFamily="34" charset="0"/>
                  <a:cs typeface="Arial" panose="020B0604020202020204" pitchFamily="34" charset="0"/>
                </a:rPr>
                <a:t>T2</a:t>
              </a:r>
            </a:p>
          </p:txBody>
        </p:sp>
        <p:sp>
          <p:nvSpPr>
            <p:cNvPr id="43" name="Google Shape;285;p27">
              <a:extLst>
                <a:ext uri="{FF2B5EF4-FFF2-40B4-BE49-F238E27FC236}">
                  <a16:creationId xmlns:a16="http://schemas.microsoft.com/office/drawing/2014/main" id="{D7B7333B-7064-4A69-E78B-99C2060B53CA}"/>
                </a:ext>
              </a:extLst>
            </p:cNvPr>
            <p:cNvSpPr/>
            <p:nvPr/>
          </p:nvSpPr>
          <p:spPr>
            <a:xfrm>
              <a:off x="1235466" y="5551621"/>
              <a:ext cx="302268" cy="302268"/>
            </a:xfrm>
            <a:prstGeom prst="roundRect">
              <a:avLst>
                <a:gd name="adj" fmla="val 16667"/>
              </a:avLst>
            </a:prstGeom>
            <a:solidFill>
              <a:schemeClr val="accent5">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600" dirty="0">
                  <a:solidFill>
                    <a:schemeClr val="dk1"/>
                  </a:solidFill>
                  <a:latin typeface="Arial" panose="020B0604020202020204" pitchFamily="34" charset="0"/>
                  <a:cs typeface="Arial" panose="020B0604020202020204" pitchFamily="34" charset="0"/>
                </a:rPr>
                <a:t>T3</a:t>
              </a:r>
              <a:endParaRPr sz="1600" dirty="0">
                <a:solidFill>
                  <a:schemeClr val="dk1"/>
                </a:solidFill>
                <a:latin typeface="Arial" panose="020B0604020202020204" pitchFamily="34" charset="0"/>
                <a:cs typeface="Arial" panose="020B0604020202020204" pitchFamily="34" charset="0"/>
              </a:endParaRPr>
            </a:p>
          </p:txBody>
        </p:sp>
      </p:grpSp>
      <p:grpSp>
        <p:nvGrpSpPr>
          <p:cNvPr id="50" name="Group 49">
            <a:extLst>
              <a:ext uri="{FF2B5EF4-FFF2-40B4-BE49-F238E27FC236}">
                <a16:creationId xmlns:a16="http://schemas.microsoft.com/office/drawing/2014/main" id="{587F813A-DB82-9176-D4BE-D595FC26006D}"/>
              </a:ext>
            </a:extLst>
          </p:cNvPr>
          <p:cNvGrpSpPr/>
          <p:nvPr/>
        </p:nvGrpSpPr>
        <p:grpSpPr>
          <a:xfrm>
            <a:off x="2677765" y="4495701"/>
            <a:ext cx="890431" cy="1311221"/>
            <a:chOff x="2677765" y="4495701"/>
            <a:chExt cx="890431" cy="1311221"/>
          </a:xfrm>
        </p:grpSpPr>
        <p:cxnSp>
          <p:nvCxnSpPr>
            <p:cNvPr id="21" name="Google Shape;281;p27">
              <a:extLst>
                <a:ext uri="{FF2B5EF4-FFF2-40B4-BE49-F238E27FC236}">
                  <a16:creationId xmlns:a16="http://schemas.microsoft.com/office/drawing/2014/main" id="{694B6C94-B345-BC1D-3899-870FC62EEC97}"/>
                </a:ext>
              </a:extLst>
            </p:cNvPr>
            <p:cNvCxnSpPr>
              <a:cxnSpLocks/>
              <a:stCxn id="15" idx="3"/>
            </p:cNvCxnSpPr>
            <p:nvPr/>
          </p:nvCxnSpPr>
          <p:spPr>
            <a:xfrm>
              <a:off x="2677765" y="4495701"/>
              <a:ext cx="890431" cy="668716"/>
            </a:xfrm>
            <a:prstGeom prst="straightConnector1">
              <a:avLst/>
            </a:prstGeom>
            <a:noFill/>
            <a:ln w="25400" cap="flat" cmpd="sng">
              <a:solidFill>
                <a:srgbClr val="C00000"/>
              </a:solidFill>
              <a:prstDash val="solid"/>
              <a:round/>
              <a:headEnd type="none" w="med" len="med"/>
              <a:tailEnd type="triangle" w="med" len="med"/>
            </a:ln>
          </p:spPr>
        </p:cxnSp>
        <p:cxnSp>
          <p:nvCxnSpPr>
            <p:cNvPr id="22" name="Google Shape;281;p27">
              <a:extLst>
                <a:ext uri="{FF2B5EF4-FFF2-40B4-BE49-F238E27FC236}">
                  <a16:creationId xmlns:a16="http://schemas.microsoft.com/office/drawing/2014/main" id="{E384EEEA-05A1-C677-F9EF-00E3162F0E5D}"/>
                </a:ext>
              </a:extLst>
            </p:cNvPr>
            <p:cNvCxnSpPr>
              <a:cxnSpLocks/>
              <a:stCxn id="15" idx="3"/>
            </p:cNvCxnSpPr>
            <p:nvPr/>
          </p:nvCxnSpPr>
          <p:spPr>
            <a:xfrm>
              <a:off x="2677765" y="4495701"/>
              <a:ext cx="890431" cy="1311221"/>
            </a:xfrm>
            <a:prstGeom prst="straightConnector1">
              <a:avLst/>
            </a:prstGeom>
            <a:noFill/>
            <a:ln w="25400" cap="flat" cmpd="sng">
              <a:solidFill>
                <a:srgbClr val="C00000"/>
              </a:solidFill>
              <a:prstDash val="solid"/>
              <a:round/>
              <a:headEnd type="none" w="med" len="med"/>
              <a:tailEnd type="triangle" w="med" len="med"/>
            </a:ln>
          </p:spPr>
        </p:cxnSp>
        <p:sp>
          <p:nvSpPr>
            <p:cNvPr id="23" name="&quot;No&quot; Symbol 22">
              <a:extLst>
                <a:ext uri="{FF2B5EF4-FFF2-40B4-BE49-F238E27FC236}">
                  <a16:creationId xmlns:a16="http://schemas.microsoft.com/office/drawing/2014/main" id="{A9E8E50E-A1BE-C260-07FB-F0B6106156AD}"/>
                </a:ext>
              </a:extLst>
            </p:cNvPr>
            <p:cNvSpPr/>
            <p:nvPr/>
          </p:nvSpPr>
          <p:spPr>
            <a:xfrm>
              <a:off x="2981447" y="4631716"/>
              <a:ext cx="343044" cy="343044"/>
            </a:xfrm>
            <a:prstGeom prst="noSmoking">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25" name="&quot;No&quot; Symbol 24">
              <a:extLst>
                <a:ext uri="{FF2B5EF4-FFF2-40B4-BE49-F238E27FC236}">
                  <a16:creationId xmlns:a16="http://schemas.microsoft.com/office/drawing/2014/main" id="{75695EC9-A255-9DD0-E556-9E500C49BF02}"/>
                </a:ext>
              </a:extLst>
            </p:cNvPr>
            <p:cNvSpPr/>
            <p:nvPr/>
          </p:nvSpPr>
          <p:spPr>
            <a:xfrm>
              <a:off x="3004680" y="5195190"/>
              <a:ext cx="343044" cy="343044"/>
            </a:xfrm>
            <a:prstGeom prst="noSmoking">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grpSp>
      <p:grpSp>
        <p:nvGrpSpPr>
          <p:cNvPr id="51" name="Group 50">
            <a:extLst>
              <a:ext uri="{FF2B5EF4-FFF2-40B4-BE49-F238E27FC236}">
                <a16:creationId xmlns:a16="http://schemas.microsoft.com/office/drawing/2014/main" id="{31D1FD50-0B2B-15E2-541B-0A8292B60F0E}"/>
              </a:ext>
            </a:extLst>
          </p:cNvPr>
          <p:cNvGrpSpPr/>
          <p:nvPr/>
        </p:nvGrpSpPr>
        <p:grpSpPr>
          <a:xfrm>
            <a:off x="6982340" y="4205065"/>
            <a:ext cx="302268" cy="1644262"/>
            <a:chOff x="6935692" y="4209627"/>
            <a:chExt cx="302268" cy="1644262"/>
          </a:xfrm>
        </p:grpSpPr>
        <p:sp>
          <p:nvSpPr>
            <p:cNvPr id="52" name="Google Shape;285;p27">
              <a:extLst>
                <a:ext uri="{FF2B5EF4-FFF2-40B4-BE49-F238E27FC236}">
                  <a16:creationId xmlns:a16="http://schemas.microsoft.com/office/drawing/2014/main" id="{27E22648-212C-0219-B22E-77FD363A4D53}"/>
                </a:ext>
              </a:extLst>
            </p:cNvPr>
            <p:cNvSpPr/>
            <p:nvPr/>
          </p:nvSpPr>
          <p:spPr>
            <a:xfrm>
              <a:off x="6935692" y="4209627"/>
              <a:ext cx="302268" cy="302268"/>
            </a:xfrm>
            <a:prstGeom prst="roundRect">
              <a:avLst>
                <a:gd name="adj" fmla="val 16667"/>
              </a:avLst>
            </a:prstGeom>
            <a:solidFill>
              <a:schemeClr val="bg1">
                <a:lumMod val="95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600" dirty="0">
                  <a:latin typeface="Arial" panose="020B0604020202020204" pitchFamily="34" charset="0"/>
                  <a:cs typeface="Arial" panose="020B0604020202020204" pitchFamily="34" charset="0"/>
                </a:rPr>
                <a:t>T0</a:t>
              </a:r>
              <a:endParaRPr sz="1600" dirty="0">
                <a:latin typeface="Arial" panose="020B0604020202020204" pitchFamily="34" charset="0"/>
                <a:cs typeface="Arial" panose="020B0604020202020204" pitchFamily="34" charset="0"/>
              </a:endParaRPr>
            </a:p>
          </p:txBody>
        </p:sp>
        <p:sp>
          <p:nvSpPr>
            <p:cNvPr id="53" name="Google Shape;285;p27">
              <a:extLst>
                <a:ext uri="{FF2B5EF4-FFF2-40B4-BE49-F238E27FC236}">
                  <a16:creationId xmlns:a16="http://schemas.microsoft.com/office/drawing/2014/main" id="{D05A103E-D3C0-28CB-CB72-9D5E7D98779D}"/>
                </a:ext>
              </a:extLst>
            </p:cNvPr>
            <p:cNvSpPr/>
            <p:nvPr/>
          </p:nvSpPr>
          <p:spPr>
            <a:xfrm>
              <a:off x="6935692" y="4878343"/>
              <a:ext cx="302268" cy="302268"/>
            </a:xfrm>
            <a:prstGeom prst="roundRect">
              <a:avLst>
                <a:gd name="adj" fmla="val 16667"/>
              </a:avLst>
            </a:prstGeom>
            <a:solidFill>
              <a:schemeClr val="bg1">
                <a:lumMod val="95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600" dirty="0">
                  <a:solidFill>
                    <a:schemeClr val="dk1"/>
                  </a:solidFill>
                  <a:latin typeface="Arial" panose="020B0604020202020204" pitchFamily="34" charset="0"/>
                  <a:cs typeface="Arial" panose="020B0604020202020204" pitchFamily="34" charset="0"/>
                </a:rPr>
                <a:t>T0</a:t>
              </a:r>
            </a:p>
          </p:txBody>
        </p:sp>
        <p:sp>
          <p:nvSpPr>
            <p:cNvPr id="54" name="Google Shape;285;p27">
              <a:extLst>
                <a:ext uri="{FF2B5EF4-FFF2-40B4-BE49-F238E27FC236}">
                  <a16:creationId xmlns:a16="http://schemas.microsoft.com/office/drawing/2014/main" id="{120F09BC-7808-B975-76D2-B86FE1E37CA8}"/>
                </a:ext>
              </a:extLst>
            </p:cNvPr>
            <p:cNvSpPr/>
            <p:nvPr/>
          </p:nvSpPr>
          <p:spPr>
            <a:xfrm>
              <a:off x="6935692" y="5551621"/>
              <a:ext cx="302268" cy="302268"/>
            </a:xfrm>
            <a:prstGeom prst="roundRect">
              <a:avLst>
                <a:gd name="adj" fmla="val 16667"/>
              </a:avLst>
            </a:prstGeom>
            <a:solidFill>
              <a:schemeClr val="bg1">
                <a:lumMod val="95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600" dirty="0">
                  <a:solidFill>
                    <a:schemeClr val="dk1"/>
                  </a:solidFill>
                  <a:latin typeface="Arial" panose="020B0604020202020204" pitchFamily="34" charset="0"/>
                  <a:cs typeface="Arial" panose="020B0604020202020204" pitchFamily="34" charset="0"/>
                </a:rPr>
                <a:t>T0</a:t>
              </a:r>
              <a:endParaRPr sz="1600" dirty="0">
                <a:solidFill>
                  <a:schemeClr val="dk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135845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3" grpId="0" animBg="1"/>
      <p:bldP spid="4" grpId="0" animBg="1"/>
      <p:bldP spid="7"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B4793-1E53-D12E-AC32-B49DB6E603F8}"/>
              </a:ext>
            </a:extLst>
          </p:cNvPr>
          <p:cNvSpPr>
            <a:spLocks noGrp="1"/>
          </p:cNvSpPr>
          <p:nvPr>
            <p:ph type="title"/>
          </p:nvPr>
        </p:nvSpPr>
        <p:spPr/>
        <p:txBody>
          <a:bodyPr/>
          <a:lstStyle/>
          <a:p>
            <a:r>
              <a:rPr lang="en-KR" dirty="0"/>
              <a:t>Protecting Pointers with ARM PAC</a:t>
            </a:r>
          </a:p>
        </p:txBody>
      </p:sp>
      <p:sp>
        <p:nvSpPr>
          <p:cNvPr id="4" name="Slide Number Placeholder 3">
            <a:extLst>
              <a:ext uri="{FF2B5EF4-FFF2-40B4-BE49-F238E27FC236}">
                <a16:creationId xmlns:a16="http://schemas.microsoft.com/office/drawing/2014/main" id="{A0615D2A-A07A-894D-DAE1-6E31CB057176}"/>
              </a:ext>
            </a:extLst>
          </p:cNvPr>
          <p:cNvSpPr>
            <a:spLocks noGrp="1"/>
          </p:cNvSpPr>
          <p:nvPr>
            <p:ph type="sldNum" sz="quarter" idx="12"/>
          </p:nvPr>
        </p:nvSpPr>
        <p:spPr/>
        <p:txBody>
          <a:bodyPr/>
          <a:lstStyle/>
          <a:p>
            <a:fld id="{9ED31AF7-B9C1-7944-AC45-A988640FDEFC}" type="slidenum">
              <a:rPr lang="en-KR" smtClean="0"/>
              <a:t>17</a:t>
            </a:fld>
            <a:endParaRPr lang="en-KR"/>
          </a:p>
        </p:txBody>
      </p:sp>
      <p:grpSp>
        <p:nvGrpSpPr>
          <p:cNvPr id="88" name="Group 87">
            <a:extLst>
              <a:ext uri="{FF2B5EF4-FFF2-40B4-BE49-F238E27FC236}">
                <a16:creationId xmlns:a16="http://schemas.microsoft.com/office/drawing/2014/main" id="{0DBD4397-C10C-C467-95C1-6F2CAC681DC2}"/>
              </a:ext>
            </a:extLst>
          </p:cNvPr>
          <p:cNvGrpSpPr/>
          <p:nvPr/>
        </p:nvGrpSpPr>
        <p:grpSpPr>
          <a:xfrm>
            <a:off x="6637135" y="3824854"/>
            <a:ext cx="4803805" cy="2045512"/>
            <a:chOff x="6545082" y="4143516"/>
            <a:chExt cx="5149376" cy="2192660"/>
          </a:xfrm>
        </p:grpSpPr>
        <p:cxnSp>
          <p:nvCxnSpPr>
            <p:cNvPr id="43" name="Google Shape;281;p27">
              <a:extLst>
                <a:ext uri="{FF2B5EF4-FFF2-40B4-BE49-F238E27FC236}">
                  <a16:creationId xmlns:a16="http://schemas.microsoft.com/office/drawing/2014/main" id="{25269BE0-12BA-54CD-4C29-629ABBA1FC5D}"/>
                </a:ext>
              </a:extLst>
            </p:cNvPr>
            <p:cNvCxnSpPr>
              <a:cxnSpLocks/>
              <a:stCxn id="44" idx="3"/>
              <a:endCxn id="47" idx="1"/>
            </p:cNvCxnSpPr>
            <p:nvPr/>
          </p:nvCxnSpPr>
          <p:spPr>
            <a:xfrm>
              <a:off x="8907331" y="4888781"/>
              <a:ext cx="939977" cy="539565"/>
            </a:xfrm>
            <a:prstGeom prst="straightConnector1">
              <a:avLst/>
            </a:prstGeom>
            <a:noFill/>
            <a:ln w="25400" cap="flat" cmpd="sng">
              <a:solidFill>
                <a:schemeClr val="tx1"/>
              </a:solidFill>
              <a:prstDash val="sysDash"/>
              <a:round/>
              <a:headEnd type="none" w="med" len="med"/>
              <a:tailEnd type="triangle" w="lg" len="lg"/>
            </a:ln>
          </p:spPr>
        </p:cxnSp>
        <p:sp>
          <p:nvSpPr>
            <p:cNvPr id="44" name="Google Shape;282;p27">
              <a:extLst>
                <a:ext uri="{FF2B5EF4-FFF2-40B4-BE49-F238E27FC236}">
                  <a16:creationId xmlns:a16="http://schemas.microsoft.com/office/drawing/2014/main" id="{4CB0FF8A-8762-57BF-22B4-7BEAFCEE3F9E}"/>
                </a:ext>
              </a:extLst>
            </p:cNvPr>
            <p:cNvSpPr/>
            <p:nvPr/>
          </p:nvSpPr>
          <p:spPr>
            <a:xfrm>
              <a:off x="7248459" y="4693834"/>
              <a:ext cx="1658872" cy="389893"/>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US" sz="1600" dirty="0">
                  <a:solidFill>
                    <a:schemeClr val="dk1"/>
                  </a:solidFill>
                  <a:latin typeface="Arial" panose="020B0604020202020204" pitchFamily="34" charset="0"/>
                  <a:ea typeface="Fira Code Medium"/>
                  <a:cs typeface="Arial" panose="020B0604020202020204" pitchFamily="34" charset="0"/>
                  <a:sym typeface="Fira Code Medium"/>
                </a:rPr>
                <a:t>&amp;</a:t>
              </a:r>
              <a:r>
                <a:rPr lang="en-US" sz="1600" dirty="0" err="1">
                  <a:solidFill>
                    <a:schemeClr val="dk1"/>
                  </a:solidFill>
                  <a:latin typeface="Arial" panose="020B0604020202020204" pitchFamily="34" charset="0"/>
                  <a:ea typeface="Fira Code Medium"/>
                  <a:cs typeface="Arial" panose="020B0604020202020204" pitchFamily="34" charset="0"/>
                  <a:sym typeface="Fira Code Medium"/>
                </a:rPr>
                <a:t>nonpriv_obj</a:t>
              </a:r>
              <a:endParaRPr sz="1600"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45" name="Google Shape;291;p27">
              <a:extLst>
                <a:ext uri="{FF2B5EF4-FFF2-40B4-BE49-F238E27FC236}">
                  <a16:creationId xmlns:a16="http://schemas.microsoft.com/office/drawing/2014/main" id="{CE9DB859-17B0-6788-867D-4F344526B487}"/>
                </a:ext>
              </a:extLst>
            </p:cNvPr>
            <p:cNvSpPr txBox="1"/>
            <p:nvPr/>
          </p:nvSpPr>
          <p:spPr>
            <a:xfrm>
              <a:off x="6545082" y="4143516"/>
              <a:ext cx="2730998" cy="379615"/>
            </a:xfrm>
            <a:prstGeom prst="rect">
              <a:avLst/>
            </a:prstGeom>
            <a:noFill/>
            <a:ln>
              <a:noFill/>
            </a:ln>
          </p:spPr>
          <p:txBody>
            <a:bodyPr spcFirstLastPara="1" wrap="square" lIns="146280" tIns="146280" rIns="146280" bIns="146280" anchor="ctr" anchorCtr="0">
              <a:noAutofit/>
            </a:bodyPr>
            <a:lstStyle/>
            <a:p>
              <a:pPr algn="ctr"/>
              <a:r>
                <a:rPr lang="en" sz="1600" dirty="0">
                  <a:solidFill>
                    <a:schemeClr val="dk1"/>
                  </a:solidFill>
                  <a:latin typeface="Arial" panose="020B0604020202020204" pitchFamily="34" charset="0"/>
                  <a:cs typeface="Arial" panose="020B0604020202020204" pitchFamily="34" charset="0"/>
                </a:rPr>
                <a:t>Non-privileged Pointer</a:t>
              </a:r>
              <a:endParaRPr sz="1600" dirty="0">
                <a:solidFill>
                  <a:schemeClr val="dk1"/>
                </a:solidFill>
                <a:latin typeface="Arial" panose="020B0604020202020204" pitchFamily="34" charset="0"/>
                <a:cs typeface="Arial" panose="020B0604020202020204" pitchFamily="34" charset="0"/>
              </a:endParaRPr>
            </a:p>
          </p:txBody>
        </p:sp>
        <p:sp>
          <p:nvSpPr>
            <p:cNvPr id="47" name="Google Shape;295;p27">
              <a:extLst>
                <a:ext uri="{FF2B5EF4-FFF2-40B4-BE49-F238E27FC236}">
                  <a16:creationId xmlns:a16="http://schemas.microsoft.com/office/drawing/2014/main" id="{8DAE67F8-1D29-3A3C-BC30-4F6BC2C92D0A}"/>
                </a:ext>
              </a:extLst>
            </p:cNvPr>
            <p:cNvSpPr/>
            <p:nvPr/>
          </p:nvSpPr>
          <p:spPr>
            <a:xfrm>
              <a:off x="9847308" y="4906852"/>
              <a:ext cx="1653811" cy="1042987"/>
            </a:xfrm>
            <a:prstGeom prst="roundRect">
              <a:avLst>
                <a:gd name="adj" fmla="val 16667"/>
              </a:avLst>
            </a:prstGeom>
            <a:noFill/>
            <a:ln w="254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pPr algn="ctr"/>
              <a:endParaRPr sz="1600"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48" name="Google Shape;291;p27">
              <a:extLst>
                <a:ext uri="{FF2B5EF4-FFF2-40B4-BE49-F238E27FC236}">
                  <a16:creationId xmlns:a16="http://schemas.microsoft.com/office/drawing/2014/main" id="{2E064210-B859-0ACE-8657-B4E6531DF035}"/>
                </a:ext>
              </a:extLst>
            </p:cNvPr>
            <p:cNvSpPr txBox="1"/>
            <p:nvPr/>
          </p:nvSpPr>
          <p:spPr>
            <a:xfrm>
              <a:off x="9994088" y="4421585"/>
              <a:ext cx="1345308" cy="390424"/>
            </a:xfrm>
            <a:prstGeom prst="rect">
              <a:avLst/>
            </a:prstGeom>
            <a:noFill/>
            <a:ln>
              <a:noFill/>
            </a:ln>
          </p:spPr>
          <p:txBody>
            <a:bodyPr spcFirstLastPara="1" wrap="square" lIns="146280" tIns="146280" rIns="146280" bIns="146280" anchor="ctr" anchorCtr="0">
              <a:noAutofit/>
            </a:bodyPr>
            <a:lstStyle/>
            <a:p>
              <a:pPr algn="ctr"/>
              <a:r>
                <a:rPr lang="en" sz="1600" dirty="0">
                  <a:solidFill>
                    <a:schemeClr val="dk1"/>
                  </a:solidFill>
                  <a:latin typeface="Arial" panose="020B0604020202020204" pitchFamily="34" charset="0"/>
                  <a:cs typeface="Arial" panose="020B0604020202020204" pitchFamily="34" charset="0"/>
                </a:rPr>
                <a:t>Memory</a:t>
              </a:r>
              <a:endParaRPr sz="1600" dirty="0">
                <a:solidFill>
                  <a:schemeClr val="dk1"/>
                </a:solidFill>
                <a:latin typeface="Arial" panose="020B0604020202020204" pitchFamily="34" charset="0"/>
                <a:cs typeface="Arial" panose="020B0604020202020204" pitchFamily="34" charset="0"/>
              </a:endParaRPr>
            </a:p>
          </p:txBody>
        </p:sp>
        <p:sp>
          <p:nvSpPr>
            <p:cNvPr id="51" name="Google Shape;282;p27">
              <a:extLst>
                <a:ext uri="{FF2B5EF4-FFF2-40B4-BE49-F238E27FC236}">
                  <a16:creationId xmlns:a16="http://schemas.microsoft.com/office/drawing/2014/main" id="{E950C7CB-0D66-94B2-B51F-45D93D3CD68D}"/>
                </a:ext>
              </a:extLst>
            </p:cNvPr>
            <p:cNvSpPr/>
            <p:nvPr/>
          </p:nvSpPr>
          <p:spPr>
            <a:xfrm>
              <a:off x="9856244" y="5183019"/>
              <a:ext cx="1644875" cy="395810"/>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US" sz="1600" dirty="0">
                  <a:solidFill>
                    <a:schemeClr val="dk1"/>
                  </a:solidFill>
                  <a:latin typeface="Arial" panose="020B0604020202020204" pitchFamily="34" charset="0"/>
                  <a:ea typeface="Fira Code Medium"/>
                  <a:cs typeface="Arial" panose="020B0604020202020204" pitchFamily="34" charset="0"/>
                  <a:sym typeface="Fira Code Medium"/>
                </a:rPr>
                <a:t>&amp;</a:t>
              </a:r>
              <a:r>
                <a:rPr lang="en-US" sz="1600" dirty="0" err="1">
                  <a:solidFill>
                    <a:schemeClr val="dk1"/>
                  </a:solidFill>
                  <a:latin typeface="Arial" panose="020B0604020202020204" pitchFamily="34" charset="0"/>
                  <a:ea typeface="Fira Code Medium"/>
                  <a:cs typeface="Arial" panose="020B0604020202020204" pitchFamily="34" charset="0"/>
                  <a:sym typeface="Fira Code Medium"/>
                </a:rPr>
                <a:t>nonpriv_obj</a:t>
              </a:r>
              <a:endParaRPr sz="1600"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52" name="Google Shape;282;p27">
              <a:extLst>
                <a:ext uri="{FF2B5EF4-FFF2-40B4-BE49-F238E27FC236}">
                  <a16:creationId xmlns:a16="http://schemas.microsoft.com/office/drawing/2014/main" id="{635B61CB-5187-E2E7-7F7B-9B0C86794AF6}"/>
                </a:ext>
              </a:extLst>
            </p:cNvPr>
            <p:cNvSpPr/>
            <p:nvPr/>
          </p:nvSpPr>
          <p:spPr>
            <a:xfrm>
              <a:off x="7248459" y="5887207"/>
              <a:ext cx="1658872" cy="389893"/>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US" sz="1600" dirty="0">
                  <a:solidFill>
                    <a:schemeClr val="dk1"/>
                  </a:solidFill>
                  <a:latin typeface="Arial" panose="020B0604020202020204" pitchFamily="34" charset="0"/>
                  <a:ea typeface="Fira Code Medium"/>
                  <a:cs typeface="Arial" panose="020B0604020202020204" pitchFamily="34" charset="0"/>
                  <a:sym typeface="Fira Code Medium"/>
                </a:rPr>
                <a:t>&amp;</a:t>
              </a:r>
              <a:r>
                <a:rPr lang="en-US" sz="1600" dirty="0" err="1">
                  <a:solidFill>
                    <a:schemeClr val="dk1"/>
                  </a:solidFill>
                  <a:latin typeface="Arial" panose="020B0604020202020204" pitchFamily="34" charset="0"/>
                  <a:ea typeface="Fira Code Medium"/>
                  <a:cs typeface="Arial" panose="020B0604020202020204" pitchFamily="34" charset="0"/>
                  <a:sym typeface="Fira Code Medium"/>
                </a:rPr>
                <a:t>nonpriv_obj</a:t>
              </a:r>
              <a:endParaRPr sz="1600" dirty="0">
                <a:solidFill>
                  <a:schemeClr val="dk1"/>
                </a:solidFill>
                <a:latin typeface="Arial" panose="020B0604020202020204" pitchFamily="34" charset="0"/>
                <a:ea typeface="Fira Code Medium"/>
                <a:cs typeface="Arial" panose="020B0604020202020204" pitchFamily="34" charset="0"/>
                <a:sym typeface="Fira Code Medium"/>
              </a:endParaRPr>
            </a:p>
          </p:txBody>
        </p:sp>
        <p:cxnSp>
          <p:nvCxnSpPr>
            <p:cNvPr id="53" name="Google Shape;281;p27">
              <a:extLst>
                <a:ext uri="{FF2B5EF4-FFF2-40B4-BE49-F238E27FC236}">
                  <a16:creationId xmlns:a16="http://schemas.microsoft.com/office/drawing/2014/main" id="{3CFB1A3B-3857-D30E-F620-F644D8C53DF7}"/>
                </a:ext>
              </a:extLst>
            </p:cNvPr>
            <p:cNvCxnSpPr>
              <a:cxnSpLocks/>
              <a:stCxn id="51" idx="1"/>
              <a:endCxn id="52" idx="3"/>
            </p:cNvCxnSpPr>
            <p:nvPr/>
          </p:nvCxnSpPr>
          <p:spPr>
            <a:xfrm flipH="1">
              <a:off x="8907331" y="5380924"/>
              <a:ext cx="948913" cy="701230"/>
            </a:xfrm>
            <a:prstGeom prst="straightConnector1">
              <a:avLst/>
            </a:prstGeom>
            <a:noFill/>
            <a:ln w="25400" cap="flat" cmpd="sng">
              <a:solidFill>
                <a:schemeClr val="tx1"/>
              </a:solidFill>
              <a:prstDash val="sysDash"/>
              <a:round/>
              <a:headEnd type="none" w="med" len="med"/>
              <a:tailEnd type="triangle" w="lg" len="lg"/>
            </a:ln>
          </p:spPr>
        </p:cxnSp>
        <p:sp>
          <p:nvSpPr>
            <p:cNvPr id="54" name="Google Shape;285;p27">
              <a:extLst>
                <a:ext uri="{FF2B5EF4-FFF2-40B4-BE49-F238E27FC236}">
                  <a16:creationId xmlns:a16="http://schemas.microsoft.com/office/drawing/2014/main" id="{62868213-510F-E532-E576-01C7A577FB8D}"/>
                </a:ext>
              </a:extLst>
            </p:cNvPr>
            <p:cNvSpPr/>
            <p:nvPr/>
          </p:nvSpPr>
          <p:spPr>
            <a:xfrm>
              <a:off x="7011687" y="4597189"/>
              <a:ext cx="302268" cy="302268"/>
            </a:xfrm>
            <a:prstGeom prst="roundRect">
              <a:avLst>
                <a:gd name="adj" fmla="val 16667"/>
              </a:avLst>
            </a:prstGeom>
            <a:solidFill>
              <a:schemeClr val="bg1">
                <a:lumMod val="95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200" b="1" dirty="0">
                  <a:latin typeface="Arial" panose="020B0604020202020204" pitchFamily="34" charset="0"/>
                  <a:cs typeface="Arial" panose="020B0604020202020204" pitchFamily="34" charset="0"/>
                </a:rPr>
                <a:t>?</a:t>
              </a:r>
              <a:endParaRPr sz="1200" b="1" dirty="0">
                <a:latin typeface="Arial" panose="020B0604020202020204" pitchFamily="34" charset="0"/>
                <a:cs typeface="Arial" panose="020B0604020202020204" pitchFamily="34" charset="0"/>
              </a:endParaRPr>
            </a:p>
          </p:txBody>
        </p:sp>
        <p:sp>
          <p:nvSpPr>
            <p:cNvPr id="55" name="Google Shape;285;p27">
              <a:extLst>
                <a:ext uri="{FF2B5EF4-FFF2-40B4-BE49-F238E27FC236}">
                  <a16:creationId xmlns:a16="http://schemas.microsoft.com/office/drawing/2014/main" id="{EA8FBE37-88D7-EA99-5697-4F39CB40FFD9}"/>
                </a:ext>
              </a:extLst>
            </p:cNvPr>
            <p:cNvSpPr/>
            <p:nvPr/>
          </p:nvSpPr>
          <p:spPr>
            <a:xfrm>
              <a:off x="7011687" y="5794618"/>
              <a:ext cx="302268" cy="302268"/>
            </a:xfrm>
            <a:prstGeom prst="roundRect">
              <a:avLst>
                <a:gd name="adj" fmla="val 16667"/>
              </a:avLst>
            </a:prstGeom>
            <a:solidFill>
              <a:schemeClr val="bg1">
                <a:lumMod val="95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200" b="1" dirty="0">
                  <a:latin typeface="Arial" panose="020B0604020202020204" pitchFamily="34" charset="0"/>
                  <a:cs typeface="Arial" panose="020B0604020202020204" pitchFamily="34" charset="0"/>
                </a:rPr>
                <a:t>?</a:t>
              </a:r>
              <a:endParaRPr sz="1200" b="1" dirty="0">
                <a:latin typeface="Arial" panose="020B0604020202020204" pitchFamily="34" charset="0"/>
                <a:cs typeface="Arial" panose="020B0604020202020204" pitchFamily="34" charset="0"/>
              </a:endParaRPr>
            </a:p>
          </p:txBody>
        </p:sp>
        <p:sp>
          <p:nvSpPr>
            <p:cNvPr id="56" name="Google Shape;285;p27">
              <a:extLst>
                <a:ext uri="{FF2B5EF4-FFF2-40B4-BE49-F238E27FC236}">
                  <a16:creationId xmlns:a16="http://schemas.microsoft.com/office/drawing/2014/main" id="{614494A5-A408-168A-D167-BFB0F371DB44}"/>
                </a:ext>
              </a:extLst>
            </p:cNvPr>
            <p:cNvSpPr/>
            <p:nvPr/>
          </p:nvSpPr>
          <p:spPr>
            <a:xfrm>
              <a:off x="11369156" y="5043197"/>
              <a:ext cx="325302" cy="302268"/>
            </a:xfrm>
            <a:prstGeom prst="roundRect">
              <a:avLst>
                <a:gd name="adj" fmla="val 16667"/>
              </a:avLst>
            </a:prstGeom>
            <a:solidFill>
              <a:schemeClr val="bg1">
                <a:lumMod val="95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200" b="1" dirty="0">
                  <a:latin typeface="Arial" panose="020B0604020202020204" pitchFamily="34" charset="0"/>
                  <a:cs typeface="Arial" panose="020B0604020202020204" pitchFamily="34" charset="0"/>
                </a:rPr>
                <a:t>-</a:t>
              </a:r>
            </a:p>
          </p:txBody>
        </p:sp>
        <p:sp>
          <p:nvSpPr>
            <p:cNvPr id="58" name="Google Shape;291;p27">
              <a:extLst>
                <a:ext uri="{FF2B5EF4-FFF2-40B4-BE49-F238E27FC236}">
                  <a16:creationId xmlns:a16="http://schemas.microsoft.com/office/drawing/2014/main" id="{87B5ECEE-BF7D-E3B2-CB35-64A62ECA9A26}"/>
                </a:ext>
              </a:extLst>
            </p:cNvPr>
            <p:cNvSpPr txBox="1"/>
            <p:nvPr/>
          </p:nvSpPr>
          <p:spPr>
            <a:xfrm>
              <a:off x="8977645" y="4652773"/>
              <a:ext cx="860728" cy="390424"/>
            </a:xfrm>
            <a:prstGeom prst="rect">
              <a:avLst/>
            </a:prstGeom>
            <a:noFill/>
            <a:ln>
              <a:noFill/>
            </a:ln>
          </p:spPr>
          <p:txBody>
            <a:bodyPr spcFirstLastPara="1" wrap="square" lIns="146280" tIns="146280" rIns="146280" bIns="146280" anchor="ctr" anchorCtr="0">
              <a:noAutofit/>
            </a:bodyPr>
            <a:lstStyle/>
            <a:p>
              <a:pPr algn="ctr"/>
              <a:r>
                <a:rPr lang="en" sz="1600" dirty="0">
                  <a:solidFill>
                    <a:schemeClr val="dk1"/>
                  </a:solidFill>
                  <a:latin typeface="Arial" panose="020B0604020202020204" pitchFamily="34" charset="0"/>
                  <a:cs typeface="Arial" panose="020B0604020202020204" pitchFamily="34" charset="0"/>
                </a:rPr>
                <a:t>Store</a:t>
              </a:r>
              <a:endParaRPr sz="1600" dirty="0">
                <a:solidFill>
                  <a:schemeClr val="dk1"/>
                </a:solidFill>
                <a:latin typeface="Arial" panose="020B0604020202020204" pitchFamily="34" charset="0"/>
                <a:cs typeface="Arial" panose="020B0604020202020204" pitchFamily="34" charset="0"/>
              </a:endParaRPr>
            </a:p>
          </p:txBody>
        </p:sp>
        <p:sp>
          <p:nvSpPr>
            <p:cNvPr id="60" name="Google Shape;291;p27">
              <a:extLst>
                <a:ext uri="{FF2B5EF4-FFF2-40B4-BE49-F238E27FC236}">
                  <a16:creationId xmlns:a16="http://schemas.microsoft.com/office/drawing/2014/main" id="{E2A6E15D-73BB-65B1-7F05-A78559C0C763}"/>
                </a:ext>
              </a:extLst>
            </p:cNvPr>
            <p:cNvSpPr txBox="1"/>
            <p:nvPr/>
          </p:nvSpPr>
          <p:spPr>
            <a:xfrm>
              <a:off x="8946956" y="5945752"/>
              <a:ext cx="860728" cy="390424"/>
            </a:xfrm>
            <a:prstGeom prst="rect">
              <a:avLst/>
            </a:prstGeom>
            <a:noFill/>
            <a:ln>
              <a:noFill/>
            </a:ln>
          </p:spPr>
          <p:txBody>
            <a:bodyPr spcFirstLastPara="1" wrap="square" lIns="146280" tIns="146280" rIns="146280" bIns="146280" anchor="ctr" anchorCtr="0">
              <a:noAutofit/>
            </a:bodyPr>
            <a:lstStyle/>
            <a:p>
              <a:pPr algn="ctr"/>
              <a:r>
                <a:rPr lang="en" sz="1600" dirty="0">
                  <a:solidFill>
                    <a:schemeClr val="dk1"/>
                  </a:solidFill>
                  <a:latin typeface="Arial" panose="020B0604020202020204" pitchFamily="34" charset="0"/>
                  <a:cs typeface="Arial" panose="020B0604020202020204" pitchFamily="34" charset="0"/>
                </a:rPr>
                <a:t>Load</a:t>
              </a:r>
              <a:endParaRPr sz="1600" dirty="0">
                <a:solidFill>
                  <a:schemeClr val="dk1"/>
                </a:solidFill>
                <a:latin typeface="Arial" panose="020B0604020202020204" pitchFamily="34" charset="0"/>
                <a:cs typeface="Arial" panose="020B0604020202020204" pitchFamily="34" charset="0"/>
              </a:endParaRPr>
            </a:p>
          </p:txBody>
        </p:sp>
      </p:grpSp>
      <p:sp>
        <p:nvSpPr>
          <p:cNvPr id="86" name="Content Placeholder 2">
            <a:extLst>
              <a:ext uri="{FF2B5EF4-FFF2-40B4-BE49-F238E27FC236}">
                <a16:creationId xmlns:a16="http://schemas.microsoft.com/office/drawing/2014/main" id="{31E27D87-5B82-AAE0-5690-3DAD35134CAD}"/>
              </a:ext>
            </a:extLst>
          </p:cNvPr>
          <p:cNvSpPr txBox="1">
            <a:spLocks/>
          </p:cNvSpPr>
          <p:nvPr/>
        </p:nvSpPr>
        <p:spPr>
          <a:xfrm>
            <a:off x="1228575" y="2453788"/>
            <a:ext cx="4101188" cy="409285"/>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en-KR" sz="2000" b="1" dirty="0"/>
              <a:t>PAC Sign/Authentication</a:t>
            </a:r>
          </a:p>
        </p:txBody>
      </p:sp>
      <p:sp>
        <p:nvSpPr>
          <p:cNvPr id="87" name="Content Placeholder 2">
            <a:extLst>
              <a:ext uri="{FF2B5EF4-FFF2-40B4-BE49-F238E27FC236}">
                <a16:creationId xmlns:a16="http://schemas.microsoft.com/office/drawing/2014/main" id="{6ADE9809-C38D-8004-3E8D-FC20B7AB826B}"/>
              </a:ext>
            </a:extLst>
          </p:cNvPr>
          <p:cNvSpPr txBox="1">
            <a:spLocks/>
          </p:cNvSpPr>
          <p:nvPr/>
        </p:nvSpPr>
        <p:spPr>
          <a:xfrm>
            <a:off x="6869624" y="2553848"/>
            <a:ext cx="4338828" cy="313500"/>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KR" sz="2000" b="1" dirty="0"/>
              <a:t>No PAC Sign/Authentication</a:t>
            </a:r>
          </a:p>
        </p:txBody>
      </p:sp>
      <p:sp>
        <p:nvSpPr>
          <p:cNvPr id="8" name="TextBox 7">
            <a:extLst>
              <a:ext uri="{FF2B5EF4-FFF2-40B4-BE49-F238E27FC236}">
                <a16:creationId xmlns:a16="http://schemas.microsoft.com/office/drawing/2014/main" id="{642DB99D-4481-0E28-05BF-7136EBDC2200}"/>
              </a:ext>
            </a:extLst>
          </p:cNvPr>
          <p:cNvSpPr txBox="1"/>
          <p:nvPr/>
        </p:nvSpPr>
        <p:spPr>
          <a:xfrm>
            <a:off x="946605" y="1665961"/>
            <a:ext cx="4665129" cy="707886"/>
          </a:xfrm>
          <a:prstGeom prst="rect">
            <a:avLst/>
          </a:prstGeom>
          <a:noFill/>
        </p:spPr>
        <p:txBody>
          <a:bodyPr wrap="square">
            <a:spAutoFit/>
          </a:bodyPr>
          <a:lstStyle/>
          <a:p>
            <a:pPr algn="ctr"/>
            <a:r>
              <a:rPr lang="en-KR" sz="2000" b="1" dirty="0">
                <a:latin typeface="Arial" panose="020B0604020202020204" pitchFamily="34" charset="0"/>
                <a:cs typeface="Arial" panose="020B0604020202020204" pitchFamily="34" charset="0"/>
              </a:rPr>
              <a:t>Privileged Pointers: </a:t>
            </a:r>
          </a:p>
          <a:p>
            <a:pPr algn="ctr"/>
            <a:r>
              <a:rPr lang="en-KR" sz="2000" dirty="0">
                <a:latin typeface="Arial" panose="020B0604020202020204" pitchFamily="34" charset="0"/>
                <a:cs typeface="Arial" panose="020B0604020202020204" pitchFamily="34" charset="0"/>
              </a:rPr>
              <a:t>Pointers to privileged objects</a:t>
            </a:r>
          </a:p>
        </p:txBody>
      </p:sp>
      <p:sp>
        <p:nvSpPr>
          <p:cNvPr id="10" name="TextBox 9">
            <a:extLst>
              <a:ext uri="{FF2B5EF4-FFF2-40B4-BE49-F238E27FC236}">
                <a16:creationId xmlns:a16="http://schemas.microsoft.com/office/drawing/2014/main" id="{8C3628AC-8837-0C3D-9A61-A638461AB220}"/>
              </a:ext>
            </a:extLst>
          </p:cNvPr>
          <p:cNvSpPr txBox="1"/>
          <p:nvPr/>
        </p:nvSpPr>
        <p:spPr>
          <a:xfrm>
            <a:off x="6706474" y="1665961"/>
            <a:ext cx="4665129" cy="707886"/>
          </a:xfrm>
          <a:prstGeom prst="rect">
            <a:avLst/>
          </a:prstGeom>
          <a:noFill/>
        </p:spPr>
        <p:txBody>
          <a:bodyPr wrap="square">
            <a:spAutoFit/>
          </a:bodyPr>
          <a:lstStyle/>
          <a:p>
            <a:pPr algn="ctr"/>
            <a:r>
              <a:rPr lang="en-KR" sz="2000" b="1" dirty="0">
                <a:latin typeface="Arial" panose="020B0604020202020204" pitchFamily="34" charset="0"/>
                <a:cs typeface="Arial" panose="020B0604020202020204" pitchFamily="34" charset="0"/>
              </a:rPr>
              <a:t>Non-privileged Pointers: </a:t>
            </a:r>
          </a:p>
          <a:p>
            <a:pPr algn="ctr"/>
            <a:r>
              <a:rPr lang="en-KR" sz="2000" dirty="0">
                <a:latin typeface="Arial" panose="020B0604020202020204" pitchFamily="34" charset="0"/>
                <a:cs typeface="Arial" panose="020B0604020202020204" pitchFamily="34" charset="0"/>
              </a:rPr>
              <a:t>Other pointers</a:t>
            </a:r>
          </a:p>
        </p:txBody>
      </p:sp>
      <p:cxnSp>
        <p:nvCxnSpPr>
          <p:cNvPr id="21" name="Straight Connector 20">
            <a:extLst>
              <a:ext uri="{FF2B5EF4-FFF2-40B4-BE49-F238E27FC236}">
                <a16:creationId xmlns:a16="http://schemas.microsoft.com/office/drawing/2014/main" id="{E24FFA15-31AD-1A91-A346-B764B1CA9DD9}"/>
              </a:ext>
            </a:extLst>
          </p:cNvPr>
          <p:cNvCxnSpPr>
            <a:cxnSpLocks/>
          </p:cNvCxnSpPr>
          <p:nvPr/>
        </p:nvCxnSpPr>
        <p:spPr>
          <a:xfrm>
            <a:off x="6299499" y="1516125"/>
            <a:ext cx="0" cy="4751152"/>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23262F4B-00F0-EAAB-54ED-949944F34999}"/>
              </a:ext>
            </a:extLst>
          </p:cNvPr>
          <p:cNvGrpSpPr/>
          <p:nvPr/>
        </p:nvGrpSpPr>
        <p:grpSpPr>
          <a:xfrm>
            <a:off x="694034" y="3799207"/>
            <a:ext cx="4665130" cy="2043456"/>
            <a:chOff x="483199" y="3249114"/>
            <a:chExt cx="5204189" cy="2279579"/>
          </a:xfrm>
        </p:grpSpPr>
        <p:sp>
          <p:nvSpPr>
            <p:cNvPr id="46" name="Google Shape;282;p27">
              <a:extLst>
                <a:ext uri="{FF2B5EF4-FFF2-40B4-BE49-F238E27FC236}">
                  <a16:creationId xmlns:a16="http://schemas.microsoft.com/office/drawing/2014/main" id="{5993CD79-5FD6-014F-19A0-16409A1EC529}"/>
                </a:ext>
              </a:extLst>
            </p:cNvPr>
            <p:cNvSpPr/>
            <p:nvPr/>
          </p:nvSpPr>
          <p:spPr>
            <a:xfrm>
              <a:off x="4202454" y="4288617"/>
              <a:ext cx="1475999" cy="395810"/>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US" sz="1600" dirty="0">
                  <a:solidFill>
                    <a:schemeClr val="dk1"/>
                  </a:solidFill>
                  <a:latin typeface="Arial" panose="020B0604020202020204" pitchFamily="34" charset="0"/>
                  <a:ea typeface="Fira Code Medium"/>
                  <a:cs typeface="Arial" panose="020B0604020202020204" pitchFamily="34" charset="0"/>
                  <a:sym typeface="Fira Code Medium"/>
                </a:rPr>
                <a:t>&amp;</a:t>
              </a:r>
              <a:r>
                <a:rPr lang="en-US" sz="1600" dirty="0" err="1">
                  <a:solidFill>
                    <a:schemeClr val="dk1"/>
                  </a:solidFill>
                  <a:latin typeface="Arial" panose="020B0604020202020204" pitchFamily="34" charset="0"/>
                  <a:ea typeface="Fira Code Medium"/>
                  <a:cs typeface="Arial" panose="020B0604020202020204" pitchFamily="34" charset="0"/>
                  <a:sym typeface="Fira Code Medium"/>
                </a:rPr>
                <a:t>priv_obj</a:t>
              </a:r>
              <a:endParaRPr sz="1600" dirty="0">
                <a:solidFill>
                  <a:schemeClr val="dk1"/>
                </a:solidFill>
                <a:latin typeface="Arial" panose="020B0604020202020204" pitchFamily="34" charset="0"/>
                <a:ea typeface="Fira Code Medium"/>
                <a:cs typeface="Arial" panose="020B0604020202020204" pitchFamily="34" charset="0"/>
                <a:sym typeface="Fira Code Medium"/>
              </a:endParaRPr>
            </a:p>
          </p:txBody>
        </p:sp>
        <p:cxnSp>
          <p:nvCxnSpPr>
            <p:cNvPr id="24" name="Google Shape;281;p27">
              <a:extLst>
                <a:ext uri="{FF2B5EF4-FFF2-40B4-BE49-F238E27FC236}">
                  <a16:creationId xmlns:a16="http://schemas.microsoft.com/office/drawing/2014/main" id="{D69DD388-7F7B-0E52-1219-83DF06745C0C}"/>
                </a:ext>
              </a:extLst>
            </p:cNvPr>
            <p:cNvCxnSpPr>
              <a:cxnSpLocks/>
              <a:stCxn id="25" idx="3"/>
              <a:endCxn id="27" idx="1"/>
            </p:cNvCxnSpPr>
            <p:nvPr/>
          </p:nvCxnSpPr>
          <p:spPr>
            <a:xfrm>
              <a:off x="2461459" y="3994379"/>
              <a:ext cx="1732059" cy="539565"/>
            </a:xfrm>
            <a:prstGeom prst="straightConnector1">
              <a:avLst/>
            </a:prstGeom>
            <a:noFill/>
            <a:ln w="25400" cap="flat" cmpd="sng">
              <a:solidFill>
                <a:schemeClr val="tx1"/>
              </a:solidFill>
              <a:prstDash val="sysDash"/>
              <a:round/>
              <a:headEnd type="none" w="med" len="med"/>
              <a:tailEnd type="triangle" w="lg" len="lg"/>
            </a:ln>
          </p:spPr>
        </p:cxnSp>
        <p:sp>
          <p:nvSpPr>
            <p:cNvPr id="25" name="Google Shape;282;p27">
              <a:extLst>
                <a:ext uri="{FF2B5EF4-FFF2-40B4-BE49-F238E27FC236}">
                  <a16:creationId xmlns:a16="http://schemas.microsoft.com/office/drawing/2014/main" id="{2A290FAB-F23B-DC57-6505-ED4ACB3E1D13}"/>
                </a:ext>
              </a:extLst>
            </p:cNvPr>
            <p:cNvSpPr/>
            <p:nvPr/>
          </p:nvSpPr>
          <p:spPr>
            <a:xfrm>
              <a:off x="1089376" y="3799432"/>
              <a:ext cx="1372083" cy="389893"/>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US" sz="1600" dirty="0">
                  <a:solidFill>
                    <a:schemeClr val="dk1"/>
                  </a:solidFill>
                  <a:latin typeface="Arial" panose="020B0604020202020204" pitchFamily="34" charset="0"/>
                  <a:ea typeface="Fira Code Medium"/>
                  <a:cs typeface="Arial" panose="020B0604020202020204" pitchFamily="34" charset="0"/>
                  <a:sym typeface="Fira Code Medium"/>
                </a:rPr>
                <a:t>&amp;</a:t>
              </a:r>
              <a:r>
                <a:rPr lang="en-US" sz="1600" dirty="0" err="1">
                  <a:solidFill>
                    <a:schemeClr val="dk1"/>
                  </a:solidFill>
                  <a:latin typeface="Arial" panose="020B0604020202020204" pitchFamily="34" charset="0"/>
                  <a:ea typeface="Fira Code Medium"/>
                  <a:cs typeface="Arial" panose="020B0604020202020204" pitchFamily="34" charset="0"/>
                  <a:sym typeface="Fira Code Medium"/>
                </a:rPr>
                <a:t>priv_obj</a:t>
              </a:r>
              <a:endParaRPr sz="1600"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26" name="Google Shape;291;p27">
              <a:extLst>
                <a:ext uri="{FF2B5EF4-FFF2-40B4-BE49-F238E27FC236}">
                  <a16:creationId xmlns:a16="http://schemas.microsoft.com/office/drawing/2014/main" id="{859E3709-E687-C6E6-C44F-DE3D9CCEB723}"/>
                </a:ext>
              </a:extLst>
            </p:cNvPr>
            <p:cNvSpPr txBox="1"/>
            <p:nvPr/>
          </p:nvSpPr>
          <p:spPr>
            <a:xfrm>
              <a:off x="483199" y="3249114"/>
              <a:ext cx="2397470" cy="379615"/>
            </a:xfrm>
            <a:prstGeom prst="rect">
              <a:avLst/>
            </a:prstGeom>
            <a:noFill/>
            <a:ln>
              <a:noFill/>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cs typeface="Arial" panose="020B0604020202020204" pitchFamily="34" charset="0"/>
                </a:rPr>
                <a:t>Privileged Pointer</a:t>
              </a:r>
              <a:endParaRPr dirty="0">
                <a:solidFill>
                  <a:schemeClr val="dk1"/>
                </a:solidFill>
                <a:latin typeface="Arial" panose="020B0604020202020204" pitchFamily="34" charset="0"/>
                <a:cs typeface="Arial" panose="020B0604020202020204" pitchFamily="34" charset="0"/>
              </a:endParaRPr>
            </a:p>
          </p:txBody>
        </p:sp>
        <p:sp>
          <p:nvSpPr>
            <p:cNvPr id="27" name="Google Shape;295;p27">
              <a:extLst>
                <a:ext uri="{FF2B5EF4-FFF2-40B4-BE49-F238E27FC236}">
                  <a16:creationId xmlns:a16="http://schemas.microsoft.com/office/drawing/2014/main" id="{32895AF8-EA32-EA70-E59D-EC98A0314B87}"/>
                </a:ext>
              </a:extLst>
            </p:cNvPr>
            <p:cNvSpPr/>
            <p:nvPr/>
          </p:nvSpPr>
          <p:spPr>
            <a:xfrm>
              <a:off x="4193518" y="4012450"/>
              <a:ext cx="1493870" cy="1042987"/>
            </a:xfrm>
            <a:prstGeom prst="roundRect">
              <a:avLst>
                <a:gd name="adj" fmla="val 16667"/>
              </a:avLst>
            </a:prstGeom>
            <a:noFill/>
            <a:ln w="254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pPr algn="ct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28" name="Google Shape;291;p27">
              <a:extLst>
                <a:ext uri="{FF2B5EF4-FFF2-40B4-BE49-F238E27FC236}">
                  <a16:creationId xmlns:a16="http://schemas.microsoft.com/office/drawing/2014/main" id="{0F599F24-F5D7-846F-C2A4-CD67085551BA}"/>
                </a:ext>
              </a:extLst>
            </p:cNvPr>
            <p:cNvSpPr txBox="1"/>
            <p:nvPr/>
          </p:nvSpPr>
          <p:spPr>
            <a:xfrm>
              <a:off x="4199170" y="3432477"/>
              <a:ext cx="1345308" cy="390424"/>
            </a:xfrm>
            <a:prstGeom prst="rect">
              <a:avLst/>
            </a:prstGeom>
            <a:noFill/>
            <a:ln>
              <a:noFill/>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cs typeface="Arial" panose="020B0604020202020204" pitchFamily="34" charset="0"/>
                </a:rPr>
                <a:t>Memory</a:t>
              </a:r>
              <a:endParaRPr dirty="0">
                <a:solidFill>
                  <a:schemeClr val="dk1"/>
                </a:solidFill>
                <a:latin typeface="Arial" panose="020B0604020202020204" pitchFamily="34" charset="0"/>
                <a:cs typeface="Arial" panose="020B0604020202020204" pitchFamily="34" charset="0"/>
              </a:endParaRPr>
            </a:p>
          </p:txBody>
        </p:sp>
        <p:sp>
          <p:nvSpPr>
            <p:cNvPr id="29" name="Google Shape;282;p27">
              <a:extLst>
                <a:ext uri="{FF2B5EF4-FFF2-40B4-BE49-F238E27FC236}">
                  <a16:creationId xmlns:a16="http://schemas.microsoft.com/office/drawing/2014/main" id="{C9CD2E3B-239F-C2F0-7B3F-A9A684563BEC}"/>
                </a:ext>
              </a:extLst>
            </p:cNvPr>
            <p:cNvSpPr/>
            <p:nvPr/>
          </p:nvSpPr>
          <p:spPr>
            <a:xfrm>
              <a:off x="1089376" y="4992805"/>
              <a:ext cx="1372083" cy="389893"/>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US" sz="1600" dirty="0">
                  <a:solidFill>
                    <a:schemeClr val="dk1"/>
                  </a:solidFill>
                  <a:latin typeface="Arial" panose="020B0604020202020204" pitchFamily="34" charset="0"/>
                  <a:ea typeface="Fira Code Medium"/>
                  <a:cs typeface="Arial" panose="020B0604020202020204" pitchFamily="34" charset="0"/>
                  <a:sym typeface="Fira Code Medium"/>
                </a:rPr>
                <a:t>&amp;</a:t>
              </a:r>
              <a:r>
                <a:rPr lang="en-US" sz="1600" dirty="0" err="1">
                  <a:solidFill>
                    <a:schemeClr val="dk1"/>
                  </a:solidFill>
                  <a:latin typeface="Arial" panose="020B0604020202020204" pitchFamily="34" charset="0"/>
                  <a:ea typeface="Fira Code Medium"/>
                  <a:cs typeface="Arial" panose="020B0604020202020204" pitchFamily="34" charset="0"/>
                  <a:sym typeface="Fira Code Medium"/>
                </a:rPr>
                <a:t>priv_obj</a:t>
              </a:r>
              <a:endParaRPr sz="1600" dirty="0">
                <a:solidFill>
                  <a:schemeClr val="dk1"/>
                </a:solidFill>
                <a:latin typeface="Arial" panose="020B0604020202020204" pitchFamily="34" charset="0"/>
                <a:ea typeface="Fira Code Medium"/>
                <a:cs typeface="Arial" panose="020B0604020202020204" pitchFamily="34" charset="0"/>
                <a:sym typeface="Fira Code Medium"/>
              </a:endParaRPr>
            </a:p>
          </p:txBody>
        </p:sp>
        <p:cxnSp>
          <p:nvCxnSpPr>
            <p:cNvPr id="30" name="Google Shape;281;p27">
              <a:extLst>
                <a:ext uri="{FF2B5EF4-FFF2-40B4-BE49-F238E27FC236}">
                  <a16:creationId xmlns:a16="http://schemas.microsoft.com/office/drawing/2014/main" id="{37BD351F-C455-7127-4F74-18704AC9268B}"/>
                </a:ext>
              </a:extLst>
            </p:cNvPr>
            <p:cNvCxnSpPr>
              <a:cxnSpLocks/>
              <a:endCxn id="29" idx="3"/>
            </p:cNvCxnSpPr>
            <p:nvPr/>
          </p:nvCxnSpPr>
          <p:spPr>
            <a:xfrm flipH="1">
              <a:off x="2461459" y="4486522"/>
              <a:ext cx="1740995" cy="701230"/>
            </a:xfrm>
            <a:prstGeom prst="straightConnector1">
              <a:avLst/>
            </a:prstGeom>
            <a:noFill/>
            <a:ln w="25400" cap="flat" cmpd="sng">
              <a:solidFill>
                <a:schemeClr val="tx1"/>
              </a:solidFill>
              <a:prstDash val="sysDash"/>
              <a:round/>
              <a:headEnd type="none" w="med" len="med"/>
              <a:tailEnd type="triangle" w="lg" len="lg"/>
            </a:ln>
          </p:spPr>
        </p:cxnSp>
        <p:sp>
          <p:nvSpPr>
            <p:cNvPr id="31" name="Google Shape;285;p27">
              <a:extLst>
                <a:ext uri="{FF2B5EF4-FFF2-40B4-BE49-F238E27FC236}">
                  <a16:creationId xmlns:a16="http://schemas.microsoft.com/office/drawing/2014/main" id="{D10C9994-BEFB-EEF0-D9B7-DDF5C83021D6}"/>
                </a:ext>
              </a:extLst>
            </p:cNvPr>
            <p:cNvSpPr/>
            <p:nvPr/>
          </p:nvSpPr>
          <p:spPr>
            <a:xfrm>
              <a:off x="852604" y="3702787"/>
              <a:ext cx="302268" cy="302268"/>
            </a:xfrm>
            <a:prstGeom prst="roundRect">
              <a:avLst>
                <a:gd name="adj" fmla="val 16667"/>
              </a:avLst>
            </a:prstGeom>
            <a:solidFill>
              <a:schemeClr val="accent6">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b="1" dirty="0">
                  <a:latin typeface="Arial" panose="020B0604020202020204" pitchFamily="34" charset="0"/>
                  <a:cs typeface="Arial" panose="020B0604020202020204" pitchFamily="34" charset="0"/>
                </a:rPr>
                <a:t>✓</a:t>
              </a:r>
              <a:endParaRPr sz="1400" b="1" dirty="0">
                <a:latin typeface="Arial" panose="020B0604020202020204" pitchFamily="34" charset="0"/>
                <a:cs typeface="Arial" panose="020B0604020202020204" pitchFamily="34" charset="0"/>
              </a:endParaRPr>
            </a:p>
          </p:txBody>
        </p:sp>
        <p:sp>
          <p:nvSpPr>
            <p:cNvPr id="32" name="Google Shape;285;p27">
              <a:extLst>
                <a:ext uri="{FF2B5EF4-FFF2-40B4-BE49-F238E27FC236}">
                  <a16:creationId xmlns:a16="http://schemas.microsoft.com/office/drawing/2014/main" id="{E6C5CFE9-B36B-9BE0-0577-35455E08E68B}"/>
                </a:ext>
              </a:extLst>
            </p:cNvPr>
            <p:cNvSpPr/>
            <p:nvPr/>
          </p:nvSpPr>
          <p:spPr>
            <a:xfrm>
              <a:off x="852604" y="4900216"/>
              <a:ext cx="302268" cy="302268"/>
            </a:xfrm>
            <a:prstGeom prst="roundRect">
              <a:avLst>
                <a:gd name="adj" fmla="val 16667"/>
              </a:avLst>
            </a:prstGeom>
            <a:solidFill>
              <a:schemeClr val="accent6">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b="1" dirty="0">
                  <a:latin typeface="Arial" panose="020B0604020202020204" pitchFamily="34" charset="0"/>
                  <a:cs typeface="Arial" panose="020B0604020202020204" pitchFamily="34" charset="0"/>
                </a:rPr>
                <a:t>✓</a:t>
              </a:r>
              <a:endParaRPr sz="1400" b="1" dirty="0">
                <a:latin typeface="Arial" panose="020B0604020202020204" pitchFamily="34" charset="0"/>
                <a:cs typeface="Arial" panose="020B0604020202020204" pitchFamily="34" charset="0"/>
              </a:endParaRPr>
            </a:p>
          </p:txBody>
        </p:sp>
        <p:sp>
          <p:nvSpPr>
            <p:cNvPr id="33" name="Google Shape;285;p27">
              <a:extLst>
                <a:ext uri="{FF2B5EF4-FFF2-40B4-BE49-F238E27FC236}">
                  <a16:creationId xmlns:a16="http://schemas.microsoft.com/office/drawing/2014/main" id="{97163708-9F78-FDA5-2CC7-E0D8EDE3273C}"/>
                </a:ext>
              </a:extLst>
            </p:cNvPr>
            <p:cNvSpPr/>
            <p:nvPr/>
          </p:nvSpPr>
          <p:spPr>
            <a:xfrm>
              <a:off x="2798157" y="4012450"/>
              <a:ext cx="940029" cy="302269"/>
            </a:xfrm>
            <a:prstGeom prst="roundRect">
              <a:avLst>
                <a:gd name="adj" fmla="val 16667"/>
              </a:avLst>
            </a:prstGeom>
            <a:solidFill>
              <a:schemeClr val="bg1">
                <a:lumMod val="95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600" dirty="0">
                  <a:latin typeface="Arial" panose="020B0604020202020204" pitchFamily="34" charset="0"/>
                  <a:cs typeface="Arial" panose="020B0604020202020204" pitchFamily="34" charset="0"/>
                </a:rPr>
                <a:t>Sign</a:t>
              </a:r>
              <a:endParaRPr sz="1200" dirty="0">
                <a:latin typeface="Arial" panose="020B0604020202020204" pitchFamily="34" charset="0"/>
                <a:cs typeface="Arial" panose="020B0604020202020204" pitchFamily="34" charset="0"/>
              </a:endParaRPr>
            </a:p>
          </p:txBody>
        </p:sp>
        <p:sp>
          <p:nvSpPr>
            <p:cNvPr id="34" name="Google Shape;291;p27">
              <a:extLst>
                <a:ext uri="{FF2B5EF4-FFF2-40B4-BE49-F238E27FC236}">
                  <a16:creationId xmlns:a16="http://schemas.microsoft.com/office/drawing/2014/main" id="{7A1D629C-0C07-73FC-C43D-78A8748AFDF0}"/>
                </a:ext>
              </a:extLst>
            </p:cNvPr>
            <p:cNvSpPr txBox="1"/>
            <p:nvPr/>
          </p:nvSpPr>
          <p:spPr>
            <a:xfrm>
              <a:off x="2600675" y="3603988"/>
              <a:ext cx="1345308" cy="390424"/>
            </a:xfrm>
            <a:prstGeom prst="rect">
              <a:avLst/>
            </a:prstGeom>
            <a:noFill/>
            <a:ln>
              <a:noFill/>
            </a:ln>
          </p:spPr>
          <p:txBody>
            <a:bodyPr spcFirstLastPara="1" wrap="square" lIns="146280" tIns="146280" rIns="146280" bIns="146280" anchor="ctr" anchorCtr="0">
              <a:noAutofit/>
            </a:bodyPr>
            <a:lstStyle/>
            <a:p>
              <a:pPr algn="ctr"/>
              <a:r>
                <a:rPr lang="en" sz="1600" dirty="0">
                  <a:solidFill>
                    <a:schemeClr val="dk1"/>
                  </a:solidFill>
                  <a:latin typeface="Arial" panose="020B0604020202020204" pitchFamily="34" charset="0"/>
                  <a:cs typeface="Arial" panose="020B0604020202020204" pitchFamily="34" charset="0"/>
                </a:rPr>
                <a:t>Store</a:t>
              </a:r>
              <a:endParaRPr sz="1600" dirty="0">
                <a:solidFill>
                  <a:schemeClr val="dk1"/>
                </a:solidFill>
                <a:latin typeface="Arial" panose="020B0604020202020204" pitchFamily="34" charset="0"/>
                <a:cs typeface="Arial" panose="020B0604020202020204" pitchFamily="34" charset="0"/>
              </a:endParaRPr>
            </a:p>
          </p:txBody>
        </p:sp>
        <p:sp>
          <p:nvSpPr>
            <p:cNvPr id="35" name="Google Shape;291;p27">
              <a:extLst>
                <a:ext uri="{FF2B5EF4-FFF2-40B4-BE49-F238E27FC236}">
                  <a16:creationId xmlns:a16="http://schemas.microsoft.com/office/drawing/2014/main" id="{EAC72709-CE70-1495-8613-89B428E1144B}"/>
                </a:ext>
              </a:extLst>
            </p:cNvPr>
            <p:cNvSpPr txBox="1"/>
            <p:nvPr/>
          </p:nvSpPr>
          <p:spPr>
            <a:xfrm>
              <a:off x="2600675" y="5138269"/>
              <a:ext cx="1345308" cy="390424"/>
            </a:xfrm>
            <a:prstGeom prst="rect">
              <a:avLst/>
            </a:prstGeom>
            <a:noFill/>
            <a:ln>
              <a:noFill/>
            </a:ln>
          </p:spPr>
          <p:txBody>
            <a:bodyPr spcFirstLastPara="1" wrap="square" lIns="146280" tIns="146280" rIns="146280" bIns="146280" anchor="ctr" anchorCtr="0">
              <a:noAutofit/>
            </a:bodyPr>
            <a:lstStyle/>
            <a:p>
              <a:pPr algn="ctr"/>
              <a:r>
                <a:rPr lang="en" sz="1600" dirty="0">
                  <a:solidFill>
                    <a:schemeClr val="dk1"/>
                  </a:solidFill>
                  <a:latin typeface="Arial" panose="020B0604020202020204" pitchFamily="34" charset="0"/>
                  <a:cs typeface="Arial" panose="020B0604020202020204" pitchFamily="34" charset="0"/>
                </a:rPr>
                <a:t>Load</a:t>
              </a:r>
              <a:endParaRPr sz="1600" dirty="0">
                <a:solidFill>
                  <a:schemeClr val="dk1"/>
                </a:solidFill>
                <a:latin typeface="Arial" panose="020B0604020202020204" pitchFamily="34" charset="0"/>
                <a:cs typeface="Arial" panose="020B0604020202020204" pitchFamily="34" charset="0"/>
              </a:endParaRPr>
            </a:p>
          </p:txBody>
        </p:sp>
      </p:grpSp>
      <p:sp>
        <p:nvSpPr>
          <p:cNvPr id="36" name="Google Shape;285;p27">
            <a:extLst>
              <a:ext uri="{FF2B5EF4-FFF2-40B4-BE49-F238E27FC236}">
                <a16:creationId xmlns:a16="http://schemas.microsoft.com/office/drawing/2014/main" id="{6DF512FE-2225-7AA5-0C92-775BA28E6B79}"/>
              </a:ext>
            </a:extLst>
          </p:cNvPr>
          <p:cNvSpPr/>
          <p:nvPr/>
        </p:nvSpPr>
        <p:spPr>
          <a:xfrm>
            <a:off x="2757995" y="5132993"/>
            <a:ext cx="848029" cy="259096"/>
          </a:xfrm>
          <a:prstGeom prst="roundRect">
            <a:avLst>
              <a:gd name="adj" fmla="val 16667"/>
            </a:avLst>
          </a:prstGeom>
          <a:solidFill>
            <a:schemeClr val="bg1">
              <a:lumMod val="95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600" dirty="0">
                <a:latin typeface="Arial" panose="020B0604020202020204" pitchFamily="34" charset="0"/>
                <a:cs typeface="Arial" panose="020B0604020202020204" pitchFamily="34" charset="0"/>
              </a:rPr>
              <a:t>Auth</a:t>
            </a:r>
            <a:endParaRPr sz="1200" dirty="0">
              <a:latin typeface="Arial" panose="020B0604020202020204" pitchFamily="34" charset="0"/>
              <a:cs typeface="Arial" panose="020B0604020202020204" pitchFamily="34" charset="0"/>
            </a:endParaRPr>
          </a:p>
        </p:txBody>
      </p:sp>
      <p:sp>
        <p:nvSpPr>
          <p:cNvPr id="38" name="Right Arrow 37">
            <a:extLst>
              <a:ext uri="{FF2B5EF4-FFF2-40B4-BE49-F238E27FC236}">
                <a16:creationId xmlns:a16="http://schemas.microsoft.com/office/drawing/2014/main" id="{F04FE04E-B5AF-C0FB-EC78-1911B052E1BB}"/>
              </a:ext>
            </a:extLst>
          </p:cNvPr>
          <p:cNvSpPr/>
          <p:nvPr/>
        </p:nvSpPr>
        <p:spPr>
          <a:xfrm rot="16200000">
            <a:off x="4540510" y="5391979"/>
            <a:ext cx="665729" cy="291044"/>
          </a:xfrm>
          <a:prstGeom prst="rightArrow">
            <a:avLst/>
          </a:prstGeom>
          <a:solidFill>
            <a:schemeClr val="bg1"/>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A9F16536-A940-8C58-4D9E-E4BEEBB4B7D7}"/>
              </a:ext>
            </a:extLst>
          </p:cNvPr>
          <p:cNvSpPr txBox="1"/>
          <p:nvPr/>
        </p:nvSpPr>
        <p:spPr>
          <a:xfrm>
            <a:off x="3935724" y="5903397"/>
            <a:ext cx="1929751" cy="707886"/>
          </a:xfrm>
          <a:prstGeom prst="rect">
            <a:avLst/>
          </a:prstGeom>
          <a:noFill/>
        </p:spPr>
        <p:txBody>
          <a:bodyPr wrap="square" rtlCol="0">
            <a:spAutoFit/>
          </a:bodyPr>
          <a:lstStyle/>
          <a:p>
            <a:pPr algn="ctr"/>
            <a:r>
              <a:rPr lang="en-KR" sz="2000" dirty="0">
                <a:solidFill>
                  <a:srgbClr val="C00000"/>
                </a:solidFill>
                <a:latin typeface="Arial" panose="020B0604020202020204" pitchFamily="34" charset="0"/>
                <a:cs typeface="Arial" panose="020B0604020202020204" pitchFamily="34" charset="0"/>
              </a:rPr>
              <a:t>Arbitrary read/write</a:t>
            </a:r>
          </a:p>
        </p:txBody>
      </p:sp>
      <p:sp>
        <p:nvSpPr>
          <p:cNvPr id="40" name="Google Shape;282;p27">
            <a:extLst>
              <a:ext uri="{FF2B5EF4-FFF2-40B4-BE49-F238E27FC236}">
                <a16:creationId xmlns:a16="http://schemas.microsoft.com/office/drawing/2014/main" id="{ADB4B773-0EBE-4507-8CD3-5D4D8974C4A5}"/>
              </a:ext>
            </a:extLst>
          </p:cNvPr>
          <p:cNvSpPr/>
          <p:nvPr/>
        </p:nvSpPr>
        <p:spPr>
          <a:xfrm>
            <a:off x="4030637" y="4733847"/>
            <a:ext cx="1323112" cy="354811"/>
          </a:xfrm>
          <a:custGeom>
            <a:avLst/>
            <a:gdLst>
              <a:gd name="connsiteX0" fmla="*/ 0 w 1323112"/>
              <a:gd name="connsiteY0" fmla="*/ 0 h 354811"/>
              <a:gd name="connsiteX1" fmla="*/ 0 w 1323112"/>
              <a:gd name="connsiteY1" fmla="*/ 0 h 354811"/>
              <a:gd name="connsiteX2" fmla="*/ 688018 w 1323112"/>
              <a:gd name="connsiteY2" fmla="*/ 0 h 354811"/>
              <a:gd name="connsiteX3" fmla="*/ 1323112 w 1323112"/>
              <a:gd name="connsiteY3" fmla="*/ 0 h 354811"/>
              <a:gd name="connsiteX4" fmla="*/ 1323112 w 1323112"/>
              <a:gd name="connsiteY4" fmla="*/ 0 h 354811"/>
              <a:gd name="connsiteX5" fmla="*/ 1323112 w 1323112"/>
              <a:gd name="connsiteY5" fmla="*/ 354811 h 354811"/>
              <a:gd name="connsiteX6" fmla="*/ 1323112 w 1323112"/>
              <a:gd name="connsiteY6" fmla="*/ 354811 h 354811"/>
              <a:gd name="connsiteX7" fmla="*/ 674787 w 1323112"/>
              <a:gd name="connsiteY7" fmla="*/ 354811 h 354811"/>
              <a:gd name="connsiteX8" fmla="*/ 0 w 1323112"/>
              <a:gd name="connsiteY8" fmla="*/ 354811 h 354811"/>
              <a:gd name="connsiteX9" fmla="*/ 0 w 1323112"/>
              <a:gd name="connsiteY9" fmla="*/ 354811 h 354811"/>
              <a:gd name="connsiteX10" fmla="*/ 0 w 1323112"/>
              <a:gd name="connsiteY10" fmla="*/ 0 h 354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3112" h="354811" fill="none" extrusionOk="0">
                <a:moveTo>
                  <a:pt x="0" y="0"/>
                </a:moveTo>
                <a:lnTo>
                  <a:pt x="0" y="0"/>
                </a:lnTo>
                <a:cubicBezTo>
                  <a:pt x="255161" y="1473"/>
                  <a:pt x="548977" y="-22080"/>
                  <a:pt x="688018" y="0"/>
                </a:cubicBezTo>
                <a:cubicBezTo>
                  <a:pt x="827059" y="22080"/>
                  <a:pt x="1164834" y="15912"/>
                  <a:pt x="1323112" y="0"/>
                </a:cubicBezTo>
                <a:lnTo>
                  <a:pt x="1323112" y="0"/>
                </a:lnTo>
                <a:cubicBezTo>
                  <a:pt x="1310513" y="143704"/>
                  <a:pt x="1318124" y="235791"/>
                  <a:pt x="1323112" y="354811"/>
                </a:cubicBezTo>
                <a:lnTo>
                  <a:pt x="1323112" y="354811"/>
                </a:lnTo>
                <a:cubicBezTo>
                  <a:pt x="1144027" y="337322"/>
                  <a:pt x="913898" y="339375"/>
                  <a:pt x="674787" y="354811"/>
                </a:cubicBezTo>
                <a:cubicBezTo>
                  <a:pt x="435676" y="370247"/>
                  <a:pt x="163112" y="338423"/>
                  <a:pt x="0" y="354811"/>
                </a:cubicBezTo>
                <a:lnTo>
                  <a:pt x="0" y="354811"/>
                </a:lnTo>
                <a:cubicBezTo>
                  <a:pt x="-8939" y="243146"/>
                  <a:pt x="-3425" y="158625"/>
                  <a:pt x="0" y="0"/>
                </a:cubicBezTo>
                <a:close/>
              </a:path>
              <a:path w="1323112" h="354811" stroke="0" extrusionOk="0">
                <a:moveTo>
                  <a:pt x="0" y="0"/>
                </a:moveTo>
                <a:lnTo>
                  <a:pt x="0" y="0"/>
                </a:lnTo>
                <a:cubicBezTo>
                  <a:pt x="170433" y="7446"/>
                  <a:pt x="442655" y="21036"/>
                  <a:pt x="648325" y="0"/>
                </a:cubicBezTo>
                <a:cubicBezTo>
                  <a:pt x="853996" y="-21036"/>
                  <a:pt x="1116273" y="-6385"/>
                  <a:pt x="1323112" y="0"/>
                </a:cubicBezTo>
                <a:lnTo>
                  <a:pt x="1323112" y="0"/>
                </a:lnTo>
                <a:cubicBezTo>
                  <a:pt x="1318523" y="117328"/>
                  <a:pt x="1329601" y="268168"/>
                  <a:pt x="1323112" y="354811"/>
                </a:cubicBezTo>
                <a:lnTo>
                  <a:pt x="1323112" y="354811"/>
                </a:lnTo>
                <a:cubicBezTo>
                  <a:pt x="993221" y="386677"/>
                  <a:pt x="915874" y="362647"/>
                  <a:pt x="661556" y="354811"/>
                </a:cubicBezTo>
                <a:cubicBezTo>
                  <a:pt x="407238" y="346975"/>
                  <a:pt x="175637" y="323573"/>
                  <a:pt x="0" y="354811"/>
                </a:cubicBezTo>
                <a:lnTo>
                  <a:pt x="0" y="354811"/>
                </a:lnTo>
                <a:cubicBezTo>
                  <a:pt x="3363" y="276074"/>
                  <a:pt x="5335" y="94213"/>
                  <a:pt x="0" y="0"/>
                </a:cubicBezTo>
                <a:close/>
              </a:path>
            </a:pathLst>
          </a:custGeom>
          <a:solidFill>
            <a:srgbClr val="FFCBCF"/>
          </a:solidFill>
          <a:ln w="25400" cap="flat" cmpd="sng">
            <a:solidFill>
              <a:schemeClr val="tx1"/>
            </a:solidFill>
            <a:prstDash val="solid"/>
            <a:round/>
            <a:headEnd type="none" w="sm" len="sm"/>
            <a:tailEnd type="none" w="sm" len="sm"/>
            <a:extLst>
              <a:ext uri="{C807C97D-BFC1-408E-A445-0C87EB9F89A2}">
                <ask:lineSketchStyleProps xmlns:ask="http://schemas.microsoft.com/office/drawing/2018/sketchyshapes" sd="1219033472">
                  <a:prstGeom prst="roundRect">
                    <a:avLst>
                      <a:gd name="adj" fmla="val 0"/>
                    </a:avLst>
                  </a:prstGeom>
                  <ask:type>
                    <ask:lineSketchFreehand/>
                  </ask:type>
                </ask:lineSketchStyleProps>
              </a:ext>
            </a:extLst>
          </a:ln>
        </p:spPr>
        <p:txBody>
          <a:bodyPr spcFirstLastPara="1" wrap="square" lIns="146280" tIns="146280" rIns="146280" bIns="146280" anchor="ctr" anchorCtr="0">
            <a:noAutofit/>
          </a:bodyPr>
          <a:lstStyle/>
          <a:p>
            <a:pPr algn="ctr"/>
            <a:r>
              <a:rPr lang="en-US" dirty="0">
                <a:solidFill>
                  <a:schemeClr val="dk1"/>
                </a:solidFill>
                <a:latin typeface="Arial" panose="020B0604020202020204" pitchFamily="34" charset="0"/>
                <a:ea typeface="Fira Code Medium"/>
                <a:cs typeface="Arial" panose="020B0604020202020204" pitchFamily="34" charset="0"/>
                <a:sym typeface="Fira Code Medium"/>
              </a:rPr>
              <a:t>&amp;</a:t>
            </a:r>
            <a:r>
              <a:rPr lang="en-US" dirty="0" err="1">
                <a:solidFill>
                  <a:schemeClr val="dk1"/>
                </a:solidFill>
                <a:latin typeface="Arial" panose="020B0604020202020204" pitchFamily="34" charset="0"/>
                <a:ea typeface="Fira Code Medium"/>
                <a:cs typeface="Arial" panose="020B0604020202020204" pitchFamily="34" charset="0"/>
                <a:sym typeface="Fira Code Medium"/>
              </a:rPr>
              <a:t>priv_obj</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57" name="Explosion 1 56">
            <a:extLst>
              <a:ext uri="{FF2B5EF4-FFF2-40B4-BE49-F238E27FC236}">
                <a16:creationId xmlns:a16="http://schemas.microsoft.com/office/drawing/2014/main" id="{BB12E579-B19C-60BC-3A0B-A4345E8D1F5C}"/>
              </a:ext>
            </a:extLst>
          </p:cNvPr>
          <p:cNvSpPr/>
          <p:nvPr/>
        </p:nvSpPr>
        <p:spPr>
          <a:xfrm>
            <a:off x="3795710" y="4542551"/>
            <a:ext cx="376255" cy="384072"/>
          </a:xfrm>
          <a:prstGeom prst="irregularSeal1">
            <a:avLst/>
          </a:prstGeom>
          <a:solidFill>
            <a:srgbClr val="FFCBC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4CDAE34-BF5D-826F-A338-306DE9A69CA7}"/>
              </a:ext>
            </a:extLst>
          </p:cNvPr>
          <p:cNvSpPr txBox="1"/>
          <p:nvPr/>
        </p:nvSpPr>
        <p:spPr>
          <a:xfrm>
            <a:off x="1208041" y="6055812"/>
            <a:ext cx="2727678" cy="369332"/>
          </a:xfrm>
          <a:prstGeom prst="rect">
            <a:avLst/>
          </a:prstGeom>
          <a:noFill/>
        </p:spPr>
        <p:txBody>
          <a:bodyPr wrap="square" rtlCol="0">
            <a:spAutoFit/>
          </a:bodyPr>
          <a:lstStyle/>
          <a:p>
            <a:pPr algn="ctr"/>
            <a:r>
              <a:rPr lang="en-KR" b="1" dirty="0">
                <a:solidFill>
                  <a:srgbClr val="C00000"/>
                </a:solidFill>
                <a:latin typeface="Arial" panose="020B0604020202020204" pitchFamily="34" charset="0"/>
                <a:cs typeface="Arial" panose="020B0604020202020204" pitchFamily="34" charset="0"/>
              </a:rPr>
              <a:t>Authentication Failure</a:t>
            </a:r>
          </a:p>
        </p:txBody>
      </p:sp>
      <p:cxnSp>
        <p:nvCxnSpPr>
          <p:cNvPr id="7" name="Curved Connector 6">
            <a:extLst>
              <a:ext uri="{FF2B5EF4-FFF2-40B4-BE49-F238E27FC236}">
                <a16:creationId xmlns:a16="http://schemas.microsoft.com/office/drawing/2014/main" id="{9A273903-2E44-D2D7-4348-2A506564ABCE}"/>
              </a:ext>
            </a:extLst>
          </p:cNvPr>
          <p:cNvCxnSpPr>
            <a:cxnSpLocks/>
            <a:stCxn id="27" idx="3"/>
            <a:endCxn id="40" idx="0"/>
          </p:cNvCxnSpPr>
          <p:nvPr/>
        </p:nvCxnSpPr>
        <p:spPr>
          <a:xfrm flipH="1" flipV="1">
            <a:off x="4692193" y="4733847"/>
            <a:ext cx="666971" cy="217104"/>
          </a:xfrm>
          <a:prstGeom prst="curvedConnector4">
            <a:avLst>
              <a:gd name="adj1" fmla="val -34274"/>
              <a:gd name="adj2" fmla="val 320619"/>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Google Shape;285;p27">
            <a:extLst>
              <a:ext uri="{FF2B5EF4-FFF2-40B4-BE49-F238E27FC236}">
                <a16:creationId xmlns:a16="http://schemas.microsoft.com/office/drawing/2014/main" id="{F8F5070E-51A8-344E-59A7-4DA7008383AB}"/>
              </a:ext>
            </a:extLst>
          </p:cNvPr>
          <p:cNvSpPr/>
          <p:nvPr/>
        </p:nvSpPr>
        <p:spPr>
          <a:xfrm>
            <a:off x="5150758" y="4444943"/>
            <a:ext cx="615900" cy="302268"/>
          </a:xfrm>
          <a:prstGeom prst="roundRect">
            <a:avLst>
              <a:gd name="adj" fmla="val 16667"/>
            </a:avLst>
          </a:prstGeom>
          <a:solidFill>
            <a:schemeClr val="accent6">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b="1" dirty="0">
                <a:latin typeface="Arial" panose="020B0604020202020204" pitchFamily="34" charset="0"/>
                <a:cs typeface="Arial" panose="020B0604020202020204" pitchFamily="34" charset="0"/>
              </a:rPr>
              <a:t>PAC</a:t>
            </a:r>
            <a:endParaRPr sz="1400" b="1" dirty="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45F7279F-F042-5220-ADB5-26B3BFFE8FCB}"/>
              </a:ext>
            </a:extLst>
          </p:cNvPr>
          <p:cNvSpPr txBox="1"/>
          <p:nvPr/>
        </p:nvSpPr>
        <p:spPr>
          <a:xfrm>
            <a:off x="791682" y="2960887"/>
            <a:ext cx="4974974" cy="646331"/>
          </a:xfrm>
          <a:prstGeom prst="rect">
            <a:avLst/>
          </a:prstGeom>
          <a:noFill/>
        </p:spPr>
        <p:txBody>
          <a:bodyPr wrap="square">
            <a:spAutoFit/>
          </a:bodyPr>
          <a:lstStyle/>
          <a:p>
            <a:pPr marL="0" indent="0" algn="ctr">
              <a:lnSpc>
                <a:spcPct val="100000"/>
              </a:lnSpc>
              <a:buFont typeface="Arial" panose="020B0604020202020204" pitchFamily="34" charset="0"/>
              <a:buNone/>
            </a:pPr>
            <a:r>
              <a:rPr lang="en-KR" b="1" dirty="0">
                <a:solidFill>
                  <a:schemeClr val="accent6">
                    <a:lumMod val="75000"/>
                  </a:schemeClr>
                </a:solidFill>
                <a:latin typeface="Arial" panose="020B0604020202020204" pitchFamily="34" charset="0"/>
                <a:cs typeface="Arial" panose="020B0604020202020204" pitchFamily="34" charset="0"/>
              </a:rPr>
              <a:t>Pointer storage </a:t>
            </a:r>
            <a:r>
              <a:rPr lang="en-KR" sz="1800" b="1" dirty="0">
                <a:solidFill>
                  <a:schemeClr val="accent6">
                    <a:lumMod val="75000"/>
                  </a:schemeClr>
                </a:solidFill>
                <a:latin typeface="Arial" panose="020B0604020202020204" pitchFamily="34" charset="0"/>
                <a:cs typeface="Arial" panose="020B0604020202020204" pitchFamily="34" charset="0"/>
              </a:rPr>
              <a:t>address as PAC Context</a:t>
            </a:r>
            <a:br>
              <a:rPr lang="en-KR" sz="1800" dirty="0">
                <a:solidFill>
                  <a:schemeClr val="accent6">
                    <a:lumMod val="75000"/>
                  </a:schemeClr>
                </a:solidFill>
                <a:latin typeface="Arial" panose="020B0604020202020204" pitchFamily="34" charset="0"/>
                <a:cs typeface="Arial" panose="020B0604020202020204" pitchFamily="34" charset="0"/>
              </a:rPr>
            </a:br>
            <a:r>
              <a:rPr lang="en-KR" sz="1800" dirty="0">
                <a:latin typeface="Arial" panose="020B0604020202020204" pitchFamily="34" charset="0"/>
                <a:cs typeface="Arial" panose="020B0604020202020204" pitchFamily="34" charset="0"/>
                <a:sym typeface="Wingdings" pitchFamily="2" charset="2"/>
              </a:rPr>
              <a:t> Bind PAC to the stored address</a:t>
            </a:r>
            <a:endParaRPr lang="en-KR" sz="1800" dirty="0">
              <a:latin typeface="Arial" panose="020B0604020202020204" pitchFamily="34" charset="0"/>
              <a:cs typeface="Arial" panose="020B0604020202020204" pitchFamily="34" charset="0"/>
            </a:endParaRPr>
          </a:p>
        </p:txBody>
      </p:sp>
      <p:sp>
        <p:nvSpPr>
          <p:cNvPr id="12" name="Google Shape;285;p27">
            <a:extLst>
              <a:ext uri="{FF2B5EF4-FFF2-40B4-BE49-F238E27FC236}">
                <a16:creationId xmlns:a16="http://schemas.microsoft.com/office/drawing/2014/main" id="{A0084D6B-6575-A11E-F810-77C04DF2EA58}"/>
              </a:ext>
            </a:extLst>
          </p:cNvPr>
          <p:cNvSpPr/>
          <p:nvPr/>
        </p:nvSpPr>
        <p:spPr>
          <a:xfrm>
            <a:off x="1012801" y="5271877"/>
            <a:ext cx="283333" cy="307217"/>
          </a:xfrm>
          <a:prstGeom prst="roundRect">
            <a:avLst>
              <a:gd name="adj" fmla="val 16667"/>
            </a:avLst>
          </a:prstGeom>
          <a:solidFill>
            <a:srgbClr val="FFCBCF"/>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400" b="1" dirty="0">
                <a:latin typeface="Arial" panose="020B0604020202020204" pitchFamily="34" charset="0"/>
                <a:cs typeface="Arial" panose="020B0604020202020204" pitchFamily="34" charset="0"/>
              </a:rPr>
              <a:t>𝙓</a:t>
            </a:r>
            <a:endParaRPr sz="1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8055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1" nodeType="withEffect">
                                  <p:stCondLst>
                                    <p:cond delay="0"/>
                                  </p:stCondLst>
                                  <p:childTnLst>
                                    <p:set>
                                      <p:cBhvr>
                                        <p:cTn id="30" dur="1" fill="hold">
                                          <p:stCondLst>
                                            <p:cond delay="0"/>
                                          </p:stCondLst>
                                        </p:cTn>
                                        <p:tgtEl>
                                          <p:spTgt spid="5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mph" presetSubtype="2" fill="hold" nodeType="clickEffect">
                                  <p:stCondLst>
                                    <p:cond delay="0"/>
                                  </p:stCondLst>
                                  <p:childTnLst>
                                    <p:animClr clrSpc="rgb" dir="cw">
                                      <p:cBhvr>
                                        <p:cTn id="34" dur="10" fill="hold"/>
                                        <p:tgtEl>
                                          <p:spTgt spid="36"/>
                                        </p:tgtEl>
                                        <p:attrNameLst>
                                          <p:attrName>fillcolor</p:attrName>
                                        </p:attrNameLst>
                                      </p:cBhvr>
                                      <p:to>
                                        <a:srgbClr val="FFCBD0"/>
                                      </p:to>
                                    </p:animClr>
                                    <p:set>
                                      <p:cBhvr>
                                        <p:cTn id="35" dur="10" fill="hold"/>
                                        <p:tgtEl>
                                          <p:spTgt spid="36"/>
                                        </p:tgtEl>
                                        <p:attrNameLst>
                                          <p:attrName>fill.type</p:attrName>
                                        </p:attrNameLst>
                                      </p:cBhvr>
                                      <p:to>
                                        <p:strVal val="solid"/>
                                      </p:to>
                                    </p:set>
                                    <p:set>
                                      <p:cBhvr>
                                        <p:cTn id="36" dur="10" fill="hold"/>
                                        <p:tgtEl>
                                          <p:spTgt spid="36"/>
                                        </p:tgtEl>
                                        <p:attrNameLst>
                                          <p:attrName>fill.on</p:attrName>
                                        </p:attrNameLst>
                                      </p:cBhvr>
                                      <p:to>
                                        <p:strVal val="true"/>
                                      </p:to>
                                    </p:set>
                                  </p:childTnLst>
                                </p:cTn>
                              </p:par>
                              <p:par>
                                <p:cTn id="37" presetID="3" presetClass="emph" presetSubtype="2" fill="hold" grpId="1" nodeType="withEffect">
                                  <p:stCondLst>
                                    <p:cond delay="0"/>
                                  </p:stCondLst>
                                  <p:childTnLst>
                                    <p:animClr clrSpc="rgb" dir="cw">
                                      <p:cBhvr override="childStyle">
                                        <p:cTn id="38" dur="10" fill="hold"/>
                                        <p:tgtEl>
                                          <p:spTgt spid="36"/>
                                        </p:tgtEl>
                                        <p:attrNameLst>
                                          <p:attrName>style.color</p:attrName>
                                        </p:attrNameLst>
                                      </p:cBhvr>
                                      <p:to>
                                        <a:srgbClr val="C00000"/>
                                      </p:to>
                                    </p:animClr>
                                  </p:childTnLst>
                                </p:cTn>
                              </p:par>
                              <p:par>
                                <p:cTn id="39" presetID="1" presetClass="entr" presetSubtype="0" fill="hold" grpId="0" nodeType="withEffect">
                                  <p:stCondLst>
                                    <p:cond delay="0"/>
                                  </p:stCondLst>
                                  <p:childTnLst>
                                    <p:set>
                                      <p:cBhvr>
                                        <p:cTn id="40" dur="1" fill="hold">
                                          <p:stCondLst>
                                            <p:cond delay="0"/>
                                          </p:stCondLst>
                                        </p:cTn>
                                        <p:tgtEl>
                                          <p:spTgt spid="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87" grpId="0"/>
      <p:bldP spid="36" grpId="0" animBg="1"/>
      <p:bldP spid="36" grpId="1" animBg="1"/>
      <p:bldP spid="38" grpId="0" animBg="1"/>
      <p:bldP spid="39" grpId="0"/>
      <p:bldP spid="40" grpId="0" animBg="1"/>
      <p:bldP spid="57" grpId="0" animBg="1"/>
      <p:bldP spid="57" grpId="1" animBg="1"/>
      <p:bldP spid="3" grpId="0"/>
      <p:bldP spid="37" grpId="0" animBg="1"/>
      <p:bldP spid="41" grpId="0"/>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6352F-A5A6-3DD3-2751-33FD0047CD03}"/>
              </a:ext>
            </a:extLst>
          </p:cNvPr>
          <p:cNvSpPr>
            <a:spLocks noGrp="1"/>
          </p:cNvSpPr>
          <p:nvPr>
            <p:ph type="title"/>
          </p:nvPr>
        </p:nvSpPr>
        <p:spPr/>
        <p:txBody>
          <a:bodyPr>
            <a:normAutofit/>
          </a:bodyPr>
          <a:lstStyle/>
          <a:p>
            <a:r>
              <a:rPr lang="en-KR" sz="3600" dirty="0"/>
              <a:t>Complementary Relationship of MTE and PAC</a:t>
            </a:r>
          </a:p>
        </p:txBody>
      </p:sp>
      <p:sp>
        <p:nvSpPr>
          <p:cNvPr id="3" name="Content Placeholder 2">
            <a:extLst>
              <a:ext uri="{FF2B5EF4-FFF2-40B4-BE49-F238E27FC236}">
                <a16:creationId xmlns:a16="http://schemas.microsoft.com/office/drawing/2014/main" id="{718D2883-A3FB-FC48-C86A-8016A7EF4670}"/>
              </a:ext>
            </a:extLst>
          </p:cNvPr>
          <p:cNvSpPr>
            <a:spLocks noGrp="1"/>
          </p:cNvSpPr>
          <p:nvPr>
            <p:ph idx="1"/>
          </p:nvPr>
        </p:nvSpPr>
        <p:spPr>
          <a:xfrm>
            <a:off x="1250981" y="1984771"/>
            <a:ext cx="3212939" cy="520941"/>
          </a:xfrm>
        </p:spPr>
        <p:txBody>
          <a:bodyPr>
            <a:normAutofit/>
          </a:bodyPr>
          <a:lstStyle/>
          <a:p>
            <a:pPr marL="0" indent="0" algn="ctr">
              <a:buNone/>
            </a:pPr>
            <a:r>
              <a:rPr lang="en-KR" sz="2400" b="1" dirty="0">
                <a:solidFill>
                  <a:schemeClr val="accent2"/>
                </a:solidFill>
              </a:rPr>
              <a:t>MTE Tag </a:t>
            </a:r>
            <a:r>
              <a:rPr lang="en-KR" sz="2400" b="1" dirty="0"/>
              <a:t>Reuse</a:t>
            </a:r>
          </a:p>
        </p:txBody>
      </p:sp>
      <p:sp>
        <p:nvSpPr>
          <p:cNvPr id="4" name="Slide Number Placeholder 3">
            <a:extLst>
              <a:ext uri="{FF2B5EF4-FFF2-40B4-BE49-F238E27FC236}">
                <a16:creationId xmlns:a16="http://schemas.microsoft.com/office/drawing/2014/main" id="{63F2E26F-61F1-C9DC-1627-B81C8F28258E}"/>
              </a:ext>
            </a:extLst>
          </p:cNvPr>
          <p:cNvSpPr>
            <a:spLocks noGrp="1"/>
          </p:cNvSpPr>
          <p:nvPr>
            <p:ph type="sldNum" sz="quarter" idx="12"/>
          </p:nvPr>
        </p:nvSpPr>
        <p:spPr/>
        <p:txBody>
          <a:bodyPr/>
          <a:lstStyle/>
          <a:p>
            <a:fld id="{9ED31AF7-B9C1-7944-AC45-A988640FDEFC}" type="slidenum">
              <a:rPr lang="en-KR" smtClean="0"/>
              <a:t>18</a:t>
            </a:fld>
            <a:endParaRPr lang="en-KR" dirty="0"/>
          </a:p>
        </p:txBody>
      </p:sp>
      <p:sp>
        <p:nvSpPr>
          <p:cNvPr id="7" name="Google Shape;282;p27">
            <a:extLst>
              <a:ext uri="{FF2B5EF4-FFF2-40B4-BE49-F238E27FC236}">
                <a16:creationId xmlns:a16="http://schemas.microsoft.com/office/drawing/2014/main" id="{AB11D89F-0665-790E-9B5E-83286ECB82C0}"/>
              </a:ext>
            </a:extLst>
          </p:cNvPr>
          <p:cNvSpPr/>
          <p:nvPr/>
        </p:nvSpPr>
        <p:spPr>
          <a:xfrm>
            <a:off x="1179243" y="3750116"/>
            <a:ext cx="1204725" cy="379614"/>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&amp;priv1</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8" name="Google Shape;285;p27">
            <a:extLst>
              <a:ext uri="{FF2B5EF4-FFF2-40B4-BE49-F238E27FC236}">
                <a16:creationId xmlns:a16="http://schemas.microsoft.com/office/drawing/2014/main" id="{F5755ADD-94CA-CE8F-7AE8-607BDED0A419}"/>
              </a:ext>
            </a:extLst>
          </p:cNvPr>
          <p:cNvSpPr/>
          <p:nvPr/>
        </p:nvSpPr>
        <p:spPr>
          <a:xfrm>
            <a:off x="941669" y="3653849"/>
            <a:ext cx="302268" cy="302268"/>
          </a:xfrm>
          <a:prstGeom prst="roundRect">
            <a:avLst>
              <a:gd name="adj" fmla="val 16667"/>
            </a:avLst>
          </a:prstGeom>
          <a:solidFill>
            <a:srgbClr val="EEB4B4"/>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400" dirty="0">
                <a:latin typeface="Arial" panose="020B0604020202020204" pitchFamily="34" charset="0"/>
                <a:cs typeface="Arial" panose="020B0604020202020204" pitchFamily="34" charset="0"/>
              </a:rPr>
              <a:t>T1</a:t>
            </a:r>
            <a:endParaRPr sz="1400" dirty="0">
              <a:latin typeface="Arial" panose="020B0604020202020204" pitchFamily="34" charset="0"/>
              <a:cs typeface="Arial" panose="020B0604020202020204" pitchFamily="34" charset="0"/>
            </a:endParaRPr>
          </a:p>
        </p:txBody>
      </p:sp>
      <p:sp>
        <p:nvSpPr>
          <p:cNvPr id="10" name="Google Shape;295;p27">
            <a:extLst>
              <a:ext uri="{FF2B5EF4-FFF2-40B4-BE49-F238E27FC236}">
                <a16:creationId xmlns:a16="http://schemas.microsoft.com/office/drawing/2014/main" id="{2D215630-58C7-5C7A-5E64-55D383CEE64D}"/>
              </a:ext>
            </a:extLst>
          </p:cNvPr>
          <p:cNvSpPr/>
          <p:nvPr/>
        </p:nvSpPr>
        <p:spPr>
          <a:xfrm>
            <a:off x="854871" y="3259155"/>
            <a:ext cx="1746040" cy="1101526"/>
          </a:xfrm>
          <a:prstGeom prst="roundRect">
            <a:avLst>
              <a:gd name="adj" fmla="val 12299"/>
            </a:avLst>
          </a:prstGeom>
          <a:noFill/>
          <a:ln w="254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pPr algn="ct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11" name="Google Shape;291;p27">
            <a:extLst>
              <a:ext uri="{FF2B5EF4-FFF2-40B4-BE49-F238E27FC236}">
                <a16:creationId xmlns:a16="http://schemas.microsoft.com/office/drawing/2014/main" id="{1483FEB6-2023-FA73-2B6D-7B701ECCC8A0}"/>
              </a:ext>
            </a:extLst>
          </p:cNvPr>
          <p:cNvSpPr txBox="1"/>
          <p:nvPr/>
        </p:nvSpPr>
        <p:spPr>
          <a:xfrm>
            <a:off x="854870" y="2841295"/>
            <a:ext cx="1711485" cy="394462"/>
          </a:xfrm>
          <a:prstGeom prst="rect">
            <a:avLst/>
          </a:prstGeom>
          <a:noFill/>
          <a:ln>
            <a:noFill/>
          </a:ln>
        </p:spPr>
        <p:txBody>
          <a:bodyPr spcFirstLastPara="1" wrap="square" lIns="146280" tIns="146280" rIns="146280" bIns="146280" anchor="ctr" anchorCtr="0">
            <a:noAutofit/>
          </a:bodyPr>
          <a:lstStyle/>
          <a:p>
            <a:pPr algn="ctr"/>
            <a:r>
              <a:rPr lang="en-US" dirty="0">
                <a:solidFill>
                  <a:schemeClr val="dk1"/>
                </a:solidFill>
                <a:latin typeface="Arial" panose="020B0604020202020204" pitchFamily="34" charset="0"/>
                <a:cs typeface="Arial" panose="020B0604020202020204" pitchFamily="34" charset="0"/>
              </a:rPr>
              <a:t>Object1</a:t>
            </a:r>
            <a:endParaRPr dirty="0">
              <a:solidFill>
                <a:schemeClr val="dk1"/>
              </a:solidFill>
              <a:latin typeface="Arial" panose="020B0604020202020204" pitchFamily="34" charset="0"/>
              <a:cs typeface="Arial" panose="020B0604020202020204" pitchFamily="34" charset="0"/>
            </a:endParaRPr>
          </a:p>
        </p:txBody>
      </p:sp>
      <p:sp>
        <p:nvSpPr>
          <p:cNvPr id="12" name="Google Shape;295;p27">
            <a:extLst>
              <a:ext uri="{FF2B5EF4-FFF2-40B4-BE49-F238E27FC236}">
                <a16:creationId xmlns:a16="http://schemas.microsoft.com/office/drawing/2014/main" id="{1D82E819-D8E4-F92C-35F8-5DB7FBB80E29}"/>
              </a:ext>
            </a:extLst>
          </p:cNvPr>
          <p:cNvSpPr/>
          <p:nvPr/>
        </p:nvSpPr>
        <p:spPr>
          <a:xfrm>
            <a:off x="3077210" y="3259155"/>
            <a:ext cx="1746040" cy="1101526"/>
          </a:xfrm>
          <a:prstGeom prst="roundRect">
            <a:avLst>
              <a:gd name="adj" fmla="val 12299"/>
            </a:avLst>
          </a:prstGeom>
          <a:noFill/>
          <a:ln w="254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pPr algn="ct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13" name="Google Shape;291;p27">
            <a:extLst>
              <a:ext uri="{FF2B5EF4-FFF2-40B4-BE49-F238E27FC236}">
                <a16:creationId xmlns:a16="http://schemas.microsoft.com/office/drawing/2014/main" id="{CCA89476-06A8-712D-9D03-69A8AE1D0D83}"/>
              </a:ext>
            </a:extLst>
          </p:cNvPr>
          <p:cNvSpPr txBox="1"/>
          <p:nvPr/>
        </p:nvSpPr>
        <p:spPr>
          <a:xfrm>
            <a:off x="3077209" y="2841295"/>
            <a:ext cx="1711485" cy="394462"/>
          </a:xfrm>
          <a:prstGeom prst="rect">
            <a:avLst/>
          </a:prstGeom>
          <a:noFill/>
          <a:ln>
            <a:noFill/>
          </a:ln>
        </p:spPr>
        <p:txBody>
          <a:bodyPr spcFirstLastPara="1" wrap="square" lIns="146280" tIns="146280" rIns="146280" bIns="146280" anchor="ctr" anchorCtr="0">
            <a:noAutofit/>
          </a:bodyPr>
          <a:lstStyle/>
          <a:p>
            <a:pPr algn="ctr"/>
            <a:r>
              <a:rPr lang="en-US" dirty="0">
                <a:solidFill>
                  <a:schemeClr val="dk1"/>
                </a:solidFill>
                <a:latin typeface="Arial" panose="020B0604020202020204" pitchFamily="34" charset="0"/>
                <a:cs typeface="Arial" panose="020B0604020202020204" pitchFamily="34" charset="0"/>
              </a:rPr>
              <a:t>Object2</a:t>
            </a:r>
            <a:endParaRPr dirty="0">
              <a:solidFill>
                <a:schemeClr val="dk1"/>
              </a:solidFill>
              <a:latin typeface="Arial" panose="020B0604020202020204" pitchFamily="34" charset="0"/>
              <a:cs typeface="Arial" panose="020B0604020202020204" pitchFamily="34" charset="0"/>
            </a:endParaRPr>
          </a:p>
        </p:txBody>
      </p:sp>
      <p:sp>
        <p:nvSpPr>
          <p:cNvPr id="14" name="Google Shape;282;p27">
            <a:extLst>
              <a:ext uri="{FF2B5EF4-FFF2-40B4-BE49-F238E27FC236}">
                <a16:creationId xmlns:a16="http://schemas.microsoft.com/office/drawing/2014/main" id="{8533E036-5B79-B8ED-571F-4C2ADD085275}"/>
              </a:ext>
            </a:extLst>
          </p:cNvPr>
          <p:cNvSpPr/>
          <p:nvPr/>
        </p:nvSpPr>
        <p:spPr>
          <a:xfrm>
            <a:off x="3447881" y="3750116"/>
            <a:ext cx="1204725" cy="379614"/>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&amp;priv2</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15" name="Google Shape;285;p27">
            <a:extLst>
              <a:ext uri="{FF2B5EF4-FFF2-40B4-BE49-F238E27FC236}">
                <a16:creationId xmlns:a16="http://schemas.microsoft.com/office/drawing/2014/main" id="{2D2B7DDD-6002-C748-A8E7-93041BFF2EAE}"/>
              </a:ext>
            </a:extLst>
          </p:cNvPr>
          <p:cNvSpPr/>
          <p:nvPr/>
        </p:nvSpPr>
        <p:spPr>
          <a:xfrm>
            <a:off x="3210307" y="3653849"/>
            <a:ext cx="302268" cy="302268"/>
          </a:xfrm>
          <a:prstGeom prst="roundRect">
            <a:avLst>
              <a:gd name="adj" fmla="val 16667"/>
            </a:avLst>
          </a:prstGeom>
          <a:solidFill>
            <a:schemeClr val="accent4">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400" dirty="0">
                <a:latin typeface="Arial" panose="020B0604020202020204" pitchFamily="34" charset="0"/>
                <a:cs typeface="Arial" panose="020B0604020202020204" pitchFamily="34" charset="0"/>
              </a:rPr>
              <a:t>T2</a:t>
            </a:r>
            <a:endParaRPr sz="1400" dirty="0">
              <a:latin typeface="Arial" panose="020B0604020202020204" pitchFamily="34" charset="0"/>
              <a:cs typeface="Arial" panose="020B0604020202020204" pitchFamily="34" charset="0"/>
            </a:endParaRPr>
          </a:p>
        </p:txBody>
      </p:sp>
      <p:grpSp>
        <p:nvGrpSpPr>
          <p:cNvPr id="32" name="Group 31">
            <a:extLst>
              <a:ext uri="{FF2B5EF4-FFF2-40B4-BE49-F238E27FC236}">
                <a16:creationId xmlns:a16="http://schemas.microsoft.com/office/drawing/2014/main" id="{4B4BC665-3375-9CE6-6DF4-2ED962B4DC9E}"/>
              </a:ext>
            </a:extLst>
          </p:cNvPr>
          <p:cNvGrpSpPr/>
          <p:nvPr/>
        </p:nvGrpSpPr>
        <p:grpSpPr>
          <a:xfrm>
            <a:off x="523557" y="4129729"/>
            <a:ext cx="3035995" cy="1553849"/>
            <a:chOff x="523557" y="3946849"/>
            <a:chExt cx="3035995" cy="1553849"/>
          </a:xfrm>
        </p:grpSpPr>
        <p:sp>
          <p:nvSpPr>
            <p:cNvPr id="9" name="Google Shape;291;p27">
              <a:extLst>
                <a:ext uri="{FF2B5EF4-FFF2-40B4-BE49-F238E27FC236}">
                  <a16:creationId xmlns:a16="http://schemas.microsoft.com/office/drawing/2014/main" id="{022F09A1-0C5C-A995-2E57-1757BB1396D4}"/>
                </a:ext>
              </a:extLst>
            </p:cNvPr>
            <p:cNvSpPr txBox="1"/>
            <p:nvPr/>
          </p:nvSpPr>
          <p:spPr>
            <a:xfrm>
              <a:off x="523557" y="4482264"/>
              <a:ext cx="1788555" cy="379614"/>
            </a:xfrm>
            <a:prstGeom prst="rect">
              <a:avLst/>
            </a:prstGeom>
            <a:noFill/>
            <a:ln>
              <a:noFill/>
            </a:ln>
          </p:spPr>
          <p:txBody>
            <a:bodyPr spcFirstLastPara="1" wrap="square" lIns="146280" tIns="146280" rIns="146280" bIns="146280" anchor="ctr" anchorCtr="0">
              <a:noAutofit/>
            </a:bodyPr>
            <a:lstStyle/>
            <a:p>
              <a:pPr algn="ctr"/>
              <a:r>
                <a:rPr lang="en" i="1" dirty="0">
                  <a:solidFill>
                    <a:schemeClr val="dk1"/>
                  </a:solidFill>
                  <a:latin typeface="Arial" panose="020B0604020202020204" pitchFamily="34" charset="0"/>
                  <a:cs typeface="Arial" panose="020B0604020202020204" pitchFamily="34" charset="0"/>
                </a:rPr>
                <a:t>Leak pointer</a:t>
              </a:r>
              <a:endParaRPr i="1" dirty="0">
                <a:solidFill>
                  <a:schemeClr val="dk1"/>
                </a:solidFill>
                <a:latin typeface="Arial" panose="020B0604020202020204" pitchFamily="34" charset="0"/>
                <a:cs typeface="Arial" panose="020B0604020202020204" pitchFamily="34" charset="0"/>
              </a:endParaRPr>
            </a:p>
          </p:txBody>
        </p:sp>
        <p:cxnSp>
          <p:nvCxnSpPr>
            <p:cNvPr id="17" name="Curved Connector 16">
              <a:extLst>
                <a:ext uri="{FF2B5EF4-FFF2-40B4-BE49-F238E27FC236}">
                  <a16:creationId xmlns:a16="http://schemas.microsoft.com/office/drawing/2014/main" id="{25903CD3-065F-61A9-CBF4-4D321472FF1F}"/>
                </a:ext>
              </a:extLst>
            </p:cNvPr>
            <p:cNvCxnSpPr>
              <a:cxnSpLocks/>
            </p:cNvCxnSpPr>
            <p:nvPr/>
          </p:nvCxnSpPr>
          <p:spPr>
            <a:xfrm rot="16200000" flipH="1">
              <a:off x="1677978" y="4063489"/>
              <a:ext cx="1018029" cy="784749"/>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Google Shape;282;p27">
              <a:extLst>
                <a:ext uri="{FF2B5EF4-FFF2-40B4-BE49-F238E27FC236}">
                  <a16:creationId xmlns:a16="http://schemas.microsoft.com/office/drawing/2014/main" id="{62840A3E-2EA0-40AF-8C35-F007C58665DE}"/>
                </a:ext>
              </a:extLst>
            </p:cNvPr>
            <p:cNvSpPr/>
            <p:nvPr/>
          </p:nvSpPr>
          <p:spPr>
            <a:xfrm>
              <a:off x="2354827" y="5121084"/>
              <a:ext cx="1204725" cy="379614"/>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&amp;priv1</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19" name="Google Shape;285;p27">
              <a:extLst>
                <a:ext uri="{FF2B5EF4-FFF2-40B4-BE49-F238E27FC236}">
                  <a16:creationId xmlns:a16="http://schemas.microsoft.com/office/drawing/2014/main" id="{802CDD46-0EB7-918E-D527-C23A5BC14AC5}"/>
                </a:ext>
              </a:extLst>
            </p:cNvPr>
            <p:cNvSpPr/>
            <p:nvPr/>
          </p:nvSpPr>
          <p:spPr>
            <a:xfrm>
              <a:off x="2117253" y="5024817"/>
              <a:ext cx="302268" cy="302268"/>
            </a:xfrm>
            <a:prstGeom prst="roundRect">
              <a:avLst>
                <a:gd name="adj" fmla="val 16667"/>
              </a:avLst>
            </a:prstGeom>
            <a:solidFill>
              <a:srgbClr val="EEB4B4"/>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400" dirty="0">
                  <a:latin typeface="Arial" panose="020B0604020202020204" pitchFamily="34" charset="0"/>
                  <a:cs typeface="Arial" panose="020B0604020202020204" pitchFamily="34" charset="0"/>
                </a:rPr>
                <a:t>T1</a:t>
              </a:r>
              <a:endParaRPr sz="1400" dirty="0">
                <a:latin typeface="Arial" panose="020B0604020202020204" pitchFamily="34" charset="0"/>
                <a:cs typeface="Arial" panose="020B0604020202020204" pitchFamily="34" charset="0"/>
              </a:endParaRPr>
            </a:p>
          </p:txBody>
        </p:sp>
      </p:grpSp>
      <p:grpSp>
        <p:nvGrpSpPr>
          <p:cNvPr id="33" name="Group 32">
            <a:extLst>
              <a:ext uri="{FF2B5EF4-FFF2-40B4-BE49-F238E27FC236}">
                <a16:creationId xmlns:a16="http://schemas.microsoft.com/office/drawing/2014/main" id="{88FFB741-FAA1-D8AF-C6FA-6211E0C796D0}"/>
              </a:ext>
            </a:extLst>
          </p:cNvPr>
          <p:cNvGrpSpPr/>
          <p:nvPr/>
        </p:nvGrpSpPr>
        <p:grpSpPr>
          <a:xfrm>
            <a:off x="3168720" y="3654579"/>
            <a:ext cx="2063664" cy="1493910"/>
            <a:chOff x="3168720" y="3332732"/>
            <a:chExt cx="2063664" cy="1493910"/>
          </a:xfrm>
        </p:grpSpPr>
        <p:grpSp>
          <p:nvGrpSpPr>
            <p:cNvPr id="31" name="Group 30">
              <a:extLst>
                <a:ext uri="{FF2B5EF4-FFF2-40B4-BE49-F238E27FC236}">
                  <a16:creationId xmlns:a16="http://schemas.microsoft.com/office/drawing/2014/main" id="{DB1B8416-E2AC-9220-E864-048C342B7BF5}"/>
                </a:ext>
              </a:extLst>
            </p:cNvPr>
            <p:cNvGrpSpPr/>
            <p:nvPr/>
          </p:nvGrpSpPr>
          <p:grpSpPr>
            <a:xfrm>
              <a:off x="3209189" y="3332732"/>
              <a:ext cx="1442299" cy="473319"/>
              <a:chOff x="3209189" y="3332732"/>
              <a:chExt cx="1442299" cy="473319"/>
            </a:xfrm>
          </p:grpSpPr>
          <p:sp>
            <p:nvSpPr>
              <p:cNvPr id="21" name="Google Shape;282;p27">
                <a:extLst>
                  <a:ext uri="{FF2B5EF4-FFF2-40B4-BE49-F238E27FC236}">
                    <a16:creationId xmlns:a16="http://schemas.microsoft.com/office/drawing/2014/main" id="{7543DB7E-2C24-8406-DABC-A730B205BB53}"/>
                  </a:ext>
                </a:extLst>
              </p:cNvPr>
              <p:cNvSpPr/>
              <p:nvPr/>
            </p:nvSpPr>
            <p:spPr>
              <a:xfrm>
                <a:off x="3446763" y="3426437"/>
                <a:ext cx="1204725" cy="379614"/>
              </a:xfrm>
              <a:custGeom>
                <a:avLst/>
                <a:gdLst>
                  <a:gd name="connsiteX0" fmla="*/ 0 w 1204725"/>
                  <a:gd name="connsiteY0" fmla="*/ 0 h 379614"/>
                  <a:gd name="connsiteX1" fmla="*/ 0 w 1204725"/>
                  <a:gd name="connsiteY1" fmla="*/ 0 h 379614"/>
                  <a:gd name="connsiteX2" fmla="*/ 425670 w 1204725"/>
                  <a:gd name="connsiteY2" fmla="*/ 0 h 379614"/>
                  <a:gd name="connsiteX3" fmla="*/ 839292 w 1204725"/>
                  <a:gd name="connsiteY3" fmla="*/ 0 h 379614"/>
                  <a:gd name="connsiteX4" fmla="*/ 1204725 w 1204725"/>
                  <a:gd name="connsiteY4" fmla="*/ 0 h 379614"/>
                  <a:gd name="connsiteX5" fmla="*/ 1204725 w 1204725"/>
                  <a:gd name="connsiteY5" fmla="*/ 0 h 379614"/>
                  <a:gd name="connsiteX6" fmla="*/ 1204725 w 1204725"/>
                  <a:gd name="connsiteY6" fmla="*/ 379614 h 379614"/>
                  <a:gd name="connsiteX7" fmla="*/ 1204725 w 1204725"/>
                  <a:gd name="connsiteY7" fmla="*/ 379614 h 379614"/>
                  <a:gd name="connsiteX8" fmla="*/ 827245 w 1204725"/>
                  <a:gd name="connsiteY8" fmla="*/ 379614 h 379614"/>
                  <a:gd name="connsiteX9" fmla="*/ 425670 w 1204725"/>
                  <a:gd name="connsiteY9" fmla="*/ 379614 h 379614"/>
                  <a:gd name="connsiteX10" fmla="*/ 0 w 1204725"/>
                  <a:gd name="connsiteY10" fmla="*/ 379614 h 379614"/>
                  <a:gd name="connsiteX11" fmla="*/ 0 w 1204725"/>
                  <a:gd name="connsiteY11" fmla="*/ 379614 h 379614"/>
                  <a:gd name="connsiteX12" fmla="*/ 0 w 1204725"/>
                  <a:gd name="connsiteY12" fmla="*/ 0 h 37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04725" h="379614" fill="none" extrusionOk="0">
                    <a:moveTo>
                      <a:pt x="0" y="0"/>
                    </a:moveTo>
                    <a:lnTo>
                      <a:pt x="0" y="0"/>
                    </a:lnTo>
                    <a:cubicBezTo>
                      <a:pt x="110313" y="-8158"/>
                      <a:pt x="219929" y="3859"/>
                      <a:pt x="425670" y="0"/>
                    </a:cubicBezTo>
                    <a:cubicBezTo>
                      <a:pt x="631411" y="-3859"/>
                      <a:pt x="650249" y="35749"/>
                      <a:pt x="839292" y="0"/>
                    </a:cubicBezTo>
                    <a:cubicBezTo>
                      <a:pt x="1028335" y="-35749"/>
                      <a:pt x="1072758" y="3417"/>
                      <a:pt x="1204725" y="0"/>
                    </a:cubicBezTo>
                    <a:lnTo>
                      <a:pt x="1204725" y="0"/>
                    </a:lnTo>
                    <a:cubicBezTo>
                      <a:pt x="1219846" y="179817"/>
                      <a:pt x="1182289" y="191994"/>
                      <a:pt x="1204725" y="379614"/>
                    </a:cubicBezTo>
                    <a:lnTo>
                      <a:pt x="1204725" y="379614"/>
                    </a:lnTo>
                    <a:cubicBezTo>
                      <a:pt x="1080459" y="397958"/>
                      <a:pt x="963981" y="360753"/>
                      <a:pt x="827245" y="379614"/>
                    </a:cubicBezTo>
                    <a:cubicBezTo>
                      <a:pt x="690509" y="398475"/>
                      <a:pt x="574787" y="351794"/>
                      <a:pt x="425670" y="379614"/>
                    </a:cubicBezTo>
                    <a:cubicBezTo>
                      <a:pt x="276554" y="407434"/>
                      <a:pt x="157346" y="331957"/>
                      <a:pt x="0" y="379614"/>
                    </a:cubicBezTo>
                    <a:lnTo>
                      <a:pt x="0" y="379614"/>
                    </a:lnTo>
                    <a:cubicBezTo>
                      <a:pt x="-12729" y="266867"/>
                      <a:pt x="21264" y="115365"/>
                      <a:pt x="0" y="0"/>
                    </a:cubicBezTo>
                    <a:close/>
                  </a:path>
                  <a:path w="1204725" h="379614" stroke="0" extrusionOk="0">
                    <a:moveTo>
                      <a:pt x="0" y="0"/>
                    </a:moveTo>
                    <a:lnTo>
                      <a:pt x="0" y="0"/>
                    </a:lnTo>
                    <a:cubicBezTo>
                      <a:pt x="118737" y="-43980"/>
                      <a:pt x="271805" y="24589"/>
                      <a:pt x="389528" y="0"/>
                    </a:cubicBezTo>
                    <a:cubicBezTo>
                      <a:pt x="507251" y="-24589"/>
                      <a:pt x="652031" y="39512"/>
                      <a:pt x="754961" y="0"/>
                    </a:cubicBezTo>
                    <a:cubicBezTo>
                      <a:pt x="857891" y="-39512"/>
                      <a:pt x="1047054" y="33806"/>
                      <a:pt x="1204725" y="0"/>
                    </a:cubicBezTo>
                    <a:lnTo>
                      <a:pt x="1204725" y="0"/>
                    </a:lnTo>
                    <a:cubicBezTo>
                      <a:pt x="1220027" y="122093"/>
                      <a:pt x="1186264" y="282213"/>
                      <a:pt x="1204725" y="379614"/>
                    </a:cubicBezTo>
                    <a:lnTo>
                      <a:pt x="1204725" y="379614"/>
                    </a:lnTo>
                    <a:cubicBezTo>
                      <a:pt x="1060097" y="386408"/>
                      <a:pt x="957289" y="370165"/>
                      <a:pt x="827245" y="379614"/>
                    </a:cubicBezTo>
                    <a:cubicBezTo>
                      <a:pt x="697201" y="389063"/>
                      <a:pt x="508011" y="332145"/>
                      <a:pt x="401575" y="379614"/>
                    </a:cubicBezTo>
                    <a:cubicBezTo>
                      <a:pt x="295139" y="427083"/>
                      <a:pt x="148868" y="338851"/>
                      <a:pt x="0" y="379614"/>
                    </a:cubicBezTo>
                    <a:lnTo>
                      <a:pt x="0" y="379614"/>
                    </a:lnTo>
                    <a:cubicBezTo>
                      <a:pt x="-19541" y="261589"/>
                      <a:pt x="14265" y="134759"/>
                      <a:pt x="0" y="0"/>
                    </a:cubicBezTo>
                    <a:close/>
                  </a:path>
                </a:pathLst>
              </a:custGeom>
              <a:solidFill>
                <a:srgbClr val="FFCBCF"/>
              </a:solidFill>
              <a:ln w="25400" cap="flat" cmpd="sng">
                <a:solidFill>
                  <a:schemeClr val="tx1"/>
                </a:solidFill>
                <a:prstDash val="solid"/>
                <a:round/>
                <a:headEnd type="none" w="sm" len="sm"/>
                <a:tailEnd type="none" w="sm" len="sm"/>
                <a:extLst>
                  <a:ext uri="{C807C97D-BFC1-408E-A445-0C87EB9F89A2}">
                    <ask:lineSketchStyleProps xmlns:ask="http://schemas.microsoft.com/office/drawing/2018/sketchyshapes" sd="1219033472">
                      <a:prstGeom prst="roundRect">
                        <a:avLst>
                          <a:gd name="adj" fmla="val 0"/>
                        </a:avLst>
                      </a:prstGeom>
                      <ask:type>
                        <ask:lineSketchScribble/>
                      </ask:type>
                    </ask:lineSketchStyleProps>
                  </a:ext>
                </a:extLst>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&amp;priv1</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22" name="Google Shape;285;p27">
                <a:extLst>
                  <a:ext uri="{FF2B5EF4-FFF2-40B4-BE49-F238E27FC236}">
                    <a16:creationId xmlns:a16="http://schemas.microsoft.com/office/drawing/2014/main" id="{23200114-17F5-A4F0-F210-FD3A819CBBBF}"/>
                  </a:ext>
                </a:extLst>
              </p:cNvPr>
              <p:cNvSpPr/>
              <p:nvPr/>
            </p:nvSpPr>
            <p:spPr>
              <a:xfrm>
                <a:off x="3209189" y="3332732"/>
                <a:ext cx="302268" cy="302268"/>
              </a:xfrm>
              <a:prstGeom prst="roundRect">
                <a:avLst>
                  <a:gd name="adj" fmla="val 16667"/>
                </a:avLst>
              </a:prstGeom>
              <a:solidFill>
                <a:srgbClr val="EEB4B4"/>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400" dirty="0">
                    <a:latin typeface="Arial" panose="020B0604020202020204" pitchFamily="34" charset="0"/>
                    <a:cs typeface="Arial" panose="020B0604020202020204" pitchFamily="34" charset="0"/>
                  </a:rPr>
                  <a:t>T1</a:t>
                </a:r>
                <a:endParaRPr sz="1400" dirty="0">
                  <a:latin typeface="Arial" panose="020B0604020202020204" pitchFamily="34" charset="0"/>
                  <a:cs typeface="Arial" panose="020B0604020202020204" pitchFamily="34" charset="0"/>
                </a:endParaRPr>
              </a:p>
            </p:txBody>
          </p:sp>
        </p:grpSp>
        <p:cxnSp>
          <p:nvCxnSpPr>
            <p:cNvPr id="25" name="Curved Connector 24">
              <a:extLst>
                <a:ext uri="{FF2B5EF4-FFF2-40B4-BE49-F238E27FC236}">
                  <a16:creationId xmlns:a16="http://schemas.microsoft.com/office/drawing/2014/main" id="{536F76FB-1B89-ADAE-DF2C-E4EA458754A6}"/>
                </a:ext>
              </a:extLst>
            </p:cNvPr>
            <p:cNvCxnSpPr>
              <a:cxnSpLocks/>
            </p:cNvCxnSpPr>
            <p:nvPr/>
          </p:nvCxnSpPr>
          <p:spPr>
            <a:xfrm rot="5400000" flipH="1" flipV="1">
              <a:off x="3106632" y="3884149"/>
              <a:ext cx="1004581" cy="880406"/>
            </a:xfrm>
            <a:prstGeom prst="curvedConnector3">
              <a:avLst>
                <a:gd name="adj1" fmla="val 5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0" name="Google Shape;291;p27">
              <a:extLst>
                <a:ext uri="{FF2B5EF4-FFF2-40B4-BE49-F238E27FC236}">
                  <a16:creationId xmlns:a16="http://schemas.microsoft.com/office/drawing/2014/main" id="{55AD2CF9-E593-5596-1206-4FD56FE62183}"/>
                </a:ext>
              </a:extLst>
            </p:cNvPr>
            <p:cNvSpPr txBox="1"/>
            <p:nvPr/>
          </p:nvSpPr>
          <p:spPr>
            <a:xfrm>
              <a:off x="3290804" y="4380505"/>
              <a:ext cx="1941580" cy="379614"/>
            </a:xfrm>
            <a:prstGeom prst="rect">
              <a:avLst/>
            </a:prstGeom>
            <a:noFill/>
            <a:ln>
              <a:noFill/>
            </a:ln>
          </p:spPr>
          <p:txBody>
            <a:bodyPr spcFirstLastPara="1" wrap="square" lIns="146280" tIns="146280" rIns="146280" bIns="146280" anchor="ctr" anchorCtr="0">
              <a:noAutofit/>
            </a:bodyPr>
            <a:lstStyle/>
            <a:p>
              <a:pPr algn="ctr"/>
              <a:r>
                <a:rPr lang="en" i="1" dirty="0">
                  <a:solidFill>
                    <a:srgbClr val="C00000"/>
                  </a:solidFill>
                  <a:latin typeface="Arial" panose="020B0604020202020204" pitchFamily="34" charset="0"/>
                  <a:cs typeface="Arial" panose="020B0604020202020204" pitchFamily="34" charset="0"/>
                </a:rPr>
                <a:t>Corrupt pointer</a:t>
              </a:r>
              <a:endParaRPr i="1" dirty="0">
                <a:solidFill>
                  <a:srgbClr val="C00000"/>
                </a:solidFill>
                <a:latin typeface="Arial" panose="020B0604020202020204" pitchFamily="34" charset="0"/>
                <a:cs typeface="Arial" panose="020B0604020202020204" pitchFamily="34" charset="0"/>
              </a:endParaRPr>
            </a:p>
          </p:txBody>
        </p:sp>
      </p:grpSp>
      <p:sp>
        <p:nvSpPr>
          <p:cNvPr id="34" name="Right Arrow 33">
            <a:extLst>
              <a:ext uri="{FF2B5EF4-FFF2-40B4-BE49-F238E27FC236}">
                <a16:creationId xmlns:a16="http://schemas.microsoft.com/office/drawing/2014/main" id="{9B4FDFA1-FEF5-5E6D-6434-E42DFC7A450E}"/>
              </a:ext>
            </a:extLst>
          </p:cNvPr>
          <p:cNvSpPr/>
          <p:nvPr/>
        </p:nvSpPr>
        <p:spPr>
          <a:xfrm>
            <a:off x="5353498" y="2052869"/>
            <a:ext cx="328071" cy="306624"/>
          </a:xfrm>
          <a:prstGeom prst="rightArrow">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35" name="Content Placeholder 2">
            <a:extLst>
              <a:ext uri="{FF2B5EF4-FFF2-40B4-BE49-F238E27FC236}">
                <a16:creationId xmlns:a16="http://schemas.microsoft.com/office/drawing/2014/main" id="{A24148C0-8EF5-E36C-EE7B-EFAE3C1AF361}"/>
              </a:ext>
            </a:extLst>
          </p:cNvPr>
          <p:cNvSpPr txBox="1">
            <a:spLocks/>
          </p:cNvSpPr>
          <p:nvPr/>
        </p:nvSpPr>
        <p:spPr>
          <a:xfrm>
            <a:off x="5823294" y="1944729"/>
            <a:ext cx="5706002" cy="8203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KR" sz="2400" b="1" dirty="0"/>
              <a:t>Prevent with </a:t>
            </a:r>
            <a:r>
              <a:rPr lang="en-KR" sz="2400" b="1" dirty="0">
                <a:solidFill>
                  <a:schemeClr val="accent6">
                    <a:lumMod val="75000"/>
                  </a:schemeClr>
                </a:solidFill>
              </a:rPr>
              <a:t>PAC</a:t>
            </a:r>
            <a:br>
              <a:rPr lang="en-KR" sz="2400" b="1" dirty="0"/>
            </a:br>
            <a:r>
              <a:rPr lang="en-KR" sz="2000" dirty="0"/>
              <a:t>: PAC is</a:t>
            </a:r>
            <a:r>
              <a:rPr lang="ko-KR" altLang="en-US" sz="2000" dirty="0"/>
              <a:t> </a:t>
            </a:r>
            <a:r>
              <a:rPr lang="en-US" altLang="ko-KR" sz="2000" dirty="0"/>
              <a:t>bound to the pointer stored address</a:t>
            </a:r>
            <a:endParaRPr lang="en-KR" sz="2400" dirty="0"/>
          </a:p>
        </p:txBody>
      </p:sp>
      <p:grpSp>
        <p:nvGrpSpPr>
          <p:cNvPr id="135" name="Group 134">
            <a:extLst>
              <a:ext uri="{FF2B5EF4-FFF2-40B4-BE49-F238E27FC236}">
                <a16:creationId xmlns:a16="http://schemas.microsoft.com/office/drawing/2014/main" id="{9FF39085-7778-A334-A737-1A26C28011B5}"/>
              </a:ext>
            </a:extLst>
          </p:cNvPr>
          <p:cNvGrpSpPr/>
          <p:nvPr/>
        </p:nvGrpSpPr>
        <p:grpSpPr>
          <a:xfrm>
            <a:off x="6327307" y="2868059"/>
            <a:ext cx="3968380" cy="1636594"/>
            <a:chOff x="6250646" y="2875448"/>
            <a:chExt cx="3968380" cy="1636594"/>
          </a:xfrm>
        </p:grpSpPr>
        <p:sp>
          <p:nvSpPr>
            <p:cNvPr id="56" name="Google Shape;282;p27">
              <a:extLst>
                <a:ext uri="{FF2B5EF4-FFF2-40B4-BE49-F238E27FC236}">
                  <a16:creationId xmlns:a16="http://schemas.microsoft.com/office/drawing/2014/main" id="{44BD717D-5633-05B9-C9CE-307487060F77}"/>
                </a:ext>
              </a:extLst>
            </p:cNvPr>
            <p:cNvSpPr/>
            <p:nvPr/>
          </p:nvSpPr>
          <p:spPr>
            <a:xfrm>
              <a:off x="6575019" y="3810965"/>
              <a:ext cx="1204725" cy="379614"/>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&amp;priv1</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57" name="Google Shape;285;p27">
              <a:extLst>
                <a:ext uri="{FF2B5EF4-FFF2-40B4-BE49-F238E27FC236}">
                  <a16:creationId xmlns:a16="http://schemas.microsoft.com/office/drawing/2014/main" id="{937B5317-1C70-E118-410B-CA8C443483A9}"/>
                </a:ext>
              </a:extLst>
            </p:cNvPr>
            <p:cNvSpPr/>
            <p:nvPr/>
          </p:nvSpPr>
          <p:spPr>
            <a:xfrm>
              <a:off x="6337445" y="3714698"/>
              <a:ext cx="302268" cy="302268"/>
            </a:xfrm>
            <a:prstGeom prst="roundRect">
              <a:avLst>
                <a:gd name="adj" fmla="val 16667"/>
              </a:avLst>
            </a:prstGeom>
            <a:solidFill>
              <a:srgbClr val="EEB4B4"/>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400" dirty="0">
                  <a:latin typeface="Arial" panose="020B0604020202020204" pitchFamily="34" charset="0"/>
                  <a:cs typeface="Arial" panose="020B0604020202020204" pitchFamily="34" charset="0"/>
                </a:rPr>
                <a:t>T1</a:t>
              </a:r>
              <a:endParaRPr sz="1400" dirty="0">
                <a:latin typeface="Arial" panose="020B0604020202020204" pitchFamily="34" charset="0"/>
                <a:cs typeface="Arial" panose="020B0604020202020204" pitchFamily="34" charset="0"/>
              </a:endParaRPr>
            </a:p>
          </p:txBody>
        </p:sp>
        <p:sp>
          <p:nvSpPr>
            <p:cNvPr id="58" name="Google Shape;295;p27">
              <a:extLst>
                <a:ext uri="{FF2B5EF4-FFF2-40B4-BE49-F238E27FC236}">
                  <a16:creationId xmlns:a16="http://schemas.microsoft.com/office/drawing/2014/main" id="{5CE99D60-9FD3-D756-7240-49728DA988C2}"/>
                </a:ext>
              </a:extLst>
            </p:cNvPr>
            <p:cNvSpPr/>
            <p:nvPr/>
          </p:nvSpPr>
          <p:spPr>
            <a:xfrm>
              <a:off x="6250647" y="3279959"/>
              <a:ext cx="1746040" cy="1232083"/>
            </a:xfrm>
            <a:prstGeom prst="roundRect">
              <a:avLst>
                <a:gd name="adj" fmla="val 12299"/>
              </a:avLst>
            </a:prstGeom>
            <a:noFill/>
            <a:ln w="254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pPr algn="ct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59" name="Google Shape;291;p27">
              <a:extLst>
                <a:ext uri="{FF2B5EF4-FFF2-40B4-BE49-F238E27FC236}">
                  <a16:creationId xmlns:a16="http://schemas.microsoft.com/office/drawing/2014/main" id="{F09016A6-8F29-2A76-9832-A52E0FF1DEF7}"/>
                </a:ext>
              </a:extLst>
            </p:cNvPr>
            <p:cNvSpPr txBox="1"/>
            <p:nvPr/>
          </p:nvSpPr>
          <p:spPr>
            <a:xfrm>
              <a:off x="6250646" y="2875448"/>
              <a:ext cx="1711485" cy="394462"/>
            </a:xfrm>
            <a:prstGeom prst="rect">
              <a:avLst/>
            </a:prstGeom>
            <a:noFill/>
            <a:ln>
              <a:noFill/>
            </a:ln>
          </p:spPr>
          <p:txBody>
            <a:bodyPr spcFirstLastPara="1" wrap="square" lIns="146280" tIns="146280" rIns="146280" bIns="146280" anchor="ctr" anchorCtr="0">
              <a:noAutofit/>
            </a:bodyPr>
            <a:lstStyle/>
            <a:p>
              <a:pPr algn="ctr"/>
              <a:r>
                <a:rPr lang="en-US" dirty="0">
                  <a:solidFill>
                    <a:schemeClr val="dk1"/>
                  </a:solidFill>
                  <a:latin typeface="Arial" panose="020B0604020202020204" pitchFamily="34" charset="0"/>
                  <a:cs typeface="Arial" panose="020B0604020202020204" pitchFamily="34" charset="0"/>
                </a:rPr>
                <a:t>Object1</a:t>
              </a:r>
              <a:endParaRPr dirty="0">
                <a:solidFill>
                  <a:schemeClr val="dk1"/>
                </a:solidFill>
                <a:latin typeface="Arial" panose="020B0604020202020204" pitchFamily="34" charset="0"/>
                <a:cs typeface="Arial" panose="020B0604020202020204" pitchFamily="34" charset="0"/>
              </a:endParaRPr>
            </a:p>
          </p:txBody>
        </p:sp>
        <p:sp>
          <p:nvSpPr>
            <p:cNvPr id="60" name="Google Shape;295;p27">
              <a:extLst>
                <a:ext uri="{FF2B5EF4-FFF2-40B4-BE49-F238E27FC236}">
                  <a16:creationId xmlns:a16="http://schemas.microsoft.com/office/drawing/2014/main" id="{3566EBDD-D4E0-20BD-B8D3-04A5E7578D4F}"/>
                </a:ext>
              </a:extLst>
            </p:cNvPr>
            <p:cNvSpPr/>
            <p:nvPr/>
          </p:nvSpPr>
          <p:spPr>
            <a:xfrm>
              <a:off x="8472986" y="3279959"/>
              <a:ext cx="1746040" cy="1232083"/>
            </a:xfrm>
            <a:prstGeom prst="roundRect">
              <a:avLst>
                <a:gd name="adj" fmla="val 12299"/>
              </a:avLst>
            </a:prstGeom>
            <a:noFill/>
            <a:ln w="25400" cap="flat" cmpd="sng">
              <a:solidFill>
                <a:schemeClr val="dk1"/>
              </a:solidFill>
              <a:prstDash val="solid"/>
              <a:round/>
              <a:headEnd type="none" w="sm" len="sm"/>
              <a:tailEnd type="none" w="sm" len="sm"/>
            </a:ln>
          </p:spPr>
          <p:txBody>
            <a:bodyPr spcFirstLastPara="1" wrap="square" lIns="146280" tIns="146280" rIns="146280" bIns="146280" anchor="ctr" anchorCtr="0">
              <a:noAutofit/>
            </a:bodyPr>
            <a:lstStyle/>
            <a:p>
              <a:pPr algn="ct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61" name="Google Shape;291;p27">
              <a:extLst>
                <a:ext uri="{FF2B5EF4-FFF2-40B4-BE49-F238E27FC236}">
                  <a16:creationId xmlns:a16="http://schemas.microsoft.com/office/drawing/2014/main" id="{4D4CC0F8-BADA-939C-47FC-4096BCDE8ABF}"/>
                </a:ext>
              </a:extLst>
            </p:cNvPr>
            <p:cNvSpPr txBox="1"/>
            <p:nvPr/>
          </p:nvSpPr>
          <p:spPr>
            <a:xfrm>
              <a:off x="8472985" y="2875448"/>
              <a:ext cx="1711485" cy="394462"/>
            </a:xfrm>
            <a:prstGeom prst="rect">
              <a:avLst/>
            </a:prstGeom>
            <a:noFill/>
            <a:ln>
              <a:noFill/>
            </a:ln>
          </p:spPr>
          <p:txBody>
            <a:bodyPr spcFirstLastPara="1" wrap="square" lIns="146280" tIns="146280" rIns="146280" bIns="146280" anchor="ctr" anchorCtr="0">
              <a:noAutofit/>
            </a:bodyPr>
            <a:lstStyle/>
            <a:p>
              <a:pPr algn="ctr"/>
              <a:r>
                <a:rPr lang="en-US" dirty="0">
                  <a:solidFill>
                    <a:schemeClr val="dk1"/>
                  </a:solidFill>
                  <a:latin typeface="Arial" panose="020B0604020202020204" pitchFamily="34" charset="0"/>
                  <a:cs typeface="Arial" panose="020B0604020202020204" pitchFamily="34" charset="0"/>
                </a:rPr>
                <a:t>Object2</a:t>
              </a:r>
              <a:endParaRPr dirty="0">
                <a:solidFill>
                  <a:schemeClr val="dk1"/>
                </a:solidFill>
                <a:latin typeface="Arial" panose="020B0604020202020204" pitchFamily="34" charset="0"/>
                <a:cs typeface="Arial" panose="020B0604020202020204" pitchFamily="34" charset="0"/>
              </a:endParaRPr>
            </a:p>
          </p:txBody>
        </p:sp>
        <p:sp>
          <p:nvSpPr>
            <p:cNvPr id="62" name="Google Shape;282;p27">
              <a:extLst>
                <a:ext uri="{FF2B5EF4-FFF2-40B4-BE49-F238E27FC236}">
                  <a16:creationId xmlns:a16="http://schemas.microsoft.com/office/drawing/2014/main" id="{3056953C-141A-8EE0-1FA2-145BD01B4CE3}"/>
                </a:ext>
              </a:extLst>
            </p:cNvPr>
            <p:cNvSpPr/>
            <p:nvPr/>
          </p:nvSpPr>
          <p:spPr>
            <a:xfrm>
              <a:off x="8843657" y="3810965"/>
              <a:ext cx="1204725" cy="379614"/>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&amp;priv2</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63" name="Google Shape;285;p27">
              <a:extLst>
                <a:ext uri="{FF2B5EF4-FFF2-40B4-BE49-F238E27FC236}">
                  <a16:creationId xmlns:a16="http://schemas.microsoft.com/office/drawing/2014/main" id="{8FC8C2A4-286E-EDC1-1656-399DF699DCFB}"/>
                </a:ext>
              </a:extLst>
            </p:cNvPr>
            <p:cNvSpPr/>
            <p:nvPr/>
          </p:nvSpPr>
          <p:spPr>
            <a:xfrm>
              <a:off x="8606083" y="3714698"/>
              <a:ext cx="302268" cy="302268"/>
            </a:xfrm>
            <a:prstGeom prst="roundRect">
              <a:avLst>
                <a:gd name="adj" fmla="val 16667"/>
              </a:avLst>
            </a:prstGeom>
            <a:solidFill>
              <a:schemeClr val="accent4">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400" dirty="0">
                  <a:latin typeface="Arial" panose="020B0604020202020204" pitchFamily="34" charset="0"/>
                  <a:cs typeface="Arial" panose="020B0604020202020204" pitchFamily="34" charset="0"/>
                </a:rPr>
                <a:t>T2</a:t>
              </a:r>
              <a:endParaRPr sz="1400" dirty="0">
                <a:latin typeface="Arial" panose="020B0604020202020204" pitchFamily="34" charset="0"/>
                <a:cs typeface="Arial" panose="020B0604020202020204" pitchFamily="34" charset="0"/>
              </a:endParaRPr>
            </a:p>
          </p:txBody>
        </p:sp>
      </p:grpSp>
      <p:grpSp>
        <p:nvGrpSpPr>
          <p:cNvPr id="102" name="Group 101">
            <a:extLst>
              <a:ext uri="{FF2B5EF4-FFF2-40B4-BE49-F238E27FC236}">
                <a16:creationId xmlns:a16="http://schemas.microsoft.com/office/drawing/2014/main" id="{C6D890E1-24CB-657D-F899-CD69FF01F8A0}"/>
              </a:ext>
            </a:extLst>
          </p:cNvPr>
          <p:cNvGrpSpPr/>
          <p:nvPr/>
        </p:nvGrpSpPr>
        <p:grpSpPr>
          <a:xfrm>
            <a:off x="7254043" y="3617595"/>
            <a:ext cx="951283" cy="412364"/>
            <a:chOff x="7254043" y="3240875"/>
            <a:chExt cx="951283" cy="412364"/>
          </a:xfrm>
        </p:grpSpPr>
        <p:cxnSp>
          <p:nvCxnSpPr>
            <p:cNvPr id="76" name="Curved Connector 75">
              <a:extLst>
                <a:ext uri="{FF2B5EF4-FFF2-40B4-BE49-F238E27FC236}">
                  <a16:creationId xmlns:a16="http://schemas.microsoft.com/office/drawing/2014/main" id="{2FBAEEFA-5E18-4749-42AC-EF362187F85F}"/>
                </a:ext>
              </a:extLst>
            </p:cNvPr>
            <p:cNvCxnSpPr>
              <a:cxnSpLocks/>
              <a:stCxn id="56" idx="3"/>
              <a:endCxn id="56" idx="0"/>
            </p:cNvCxnSpPr>
            <p:nvPr/>
          </p:nvCxnSpPr>
          <p:spPr>
            <a:xfrm flipH="1" flipV="1">
              <a:off x="7254043" y="3463432"/>
              <a:ext cx="602362" cy="189807"/>
            </a:xfrm>
            <a:prstGeom prst="curvedConnector4">
              <a:avLst>
                <a:gd name="adj1" fmla="val -37951"/>
                <a:gd name="adj2" fmla="val 220438"/>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7" name="Google Shape;285;p27">
              <a:extLst>
                <a:ext uri="{FF2B5EF4-FFF2-40B4-BE49-F238E27FC236}">
                  <a16:creationId xmlns:a16="http://schemas.microsoft.com/office/drawing/2014/main" id="{9FAD16AD-8309-058D-ED2D-C19626CC0920}"/>
                </a:ext>
              </a:extLst>
            </p:cNvPr>
            <p:cNvSpPr/>
            <p:nvPr/>
          </p:nvSpPr>
          <p:spPr>
            <a:xfrm>
              <a:off x="7508163" y="3240875"/>
              <a:ext cx="697163" cy="302268"/>
            </a:xfrm>
            <a:prstGeom prst="roundRect">
              <a:avLst>
                <a:gd name="adj" fmla="val 16667"/>
              </a:avLst>
            </a:prstGeom>
            <a:solidFill>
              <a:schemeClr val="accent6">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b="1" dirty="0">
                  <a:latin typeface="Arial" panose="020B0604020202020204" pitchFamily="34" charset="0"/>
                  <a:cs typeface="Arial" panose="020B0604020202020204" pitchFamily="34" charset="0"/>
                </a:rPr>
                <a:t>PAC1</a:t>
              </a:r>
              <a:endParaRPr sz="1400" b="1" dirty="0">
                <a:latin typeface="Arial" panose="020B0604020202020204" pitchFamily="34" charset="0"/>
                <a:cs typeface="Arial" panose="020B0604020202020204" pitchFamily="34" charset="0"/>
              </a:endParaRPr>
            </a:p>
          </p:txBody>
        </p:sp>
      </p:grpSp>
      <p:cxnSp>
        <p:nvCxnSpPr>
          <p:cNvPr id="88" name="Curved Connector 87">
            <a:extLst>
              <a:ext uri="{FF2B5EF4-FFF2-40B4-BE49-F238E27FC236}">
                <a16:creationId xmlns:a16="http://schemas.microsoft.com/office/drawing/2014/main" id="{CA38BF67-6A7B-F8F2-DBB7-900165A307F8}"/>
              </a:ext>
            </a:extLst>
          </p:cNvPr>
          <p:cNvCxnSpPr>
            <a:cxnSpLocks/>
            <a:stCxn id="62" idx="3"/>
            <a:endCxn id="62" idx="0"/>
          </p:cNvCxnSpPr>
          <p:nvPr/>
        </p:nvCxnSpPr>
        <p:spPr>
          <a:xfrm flipH="1" flipV="1">
            <a:off x="9522681" y="3803576"/>
            <a:ext cx="602362" cy="189807"/>
          </a:xfrm>
          <a:prstGeom prst="curvedConnector4">
            <a:avLst>
              <a:gd name="adj1" fmla="val -37951"/>
              <a:gd name="adj2" fmla="val 220438"/>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FC45B0A7-18D6-A226-CD07-741836C8F5A4}"/>
              </a:ext>
            </a:extLst>
          </p:cNvPr>
          <p:cNvSpPr txBox="1"/>
          <p:nvPr/>
        </p:nvSpPr>
        <p:spPr>
          <a:xfrm>
            <a:off x="10058861" y="2910483"/>
            <a:ext cx="1866061" cy="646331"/>
          </a:xfrm>
          <a:prstGeom prst="rect">
            <a:avLst/>
          </a:prstGeom>
          <a:noFill/>
        </p:spPr>
        <p:txBody>
          <a:bodyPr wrap="square" rtlCol="0">
            <a:spAutoFit/>
          </a:bodyPr>
          <a:lstStyle/>
          <a:p>
            <a:pPr algn="ctr"/>
            <a:r>
              <a:rPr lang="en-KR" b="1" dirty="0">
                <a:solidFill>
                  <a:srgbClr val="C00000"/>
                </a:solidFill>
                <a:latin typeface="Arial" panose="020B0604020202020204" pitchFamily="34" charset="0"/>
                <a:cs typeface="Arial" panose="020B0604020202020204" pitchFamily="34" charset="0"/>
              </a:rPr>
              <a:t>Authentication Failure</a:t>
            </a:r>
          </a:p>
        </p:txBody>
      </p:sp>
      <p:grpSp>
        <p:nvGrpSpPr>
          <p:cNvPr id="125" name="Group 124">
            <a:extLst>
              <a:ext uri="{FF2B5EF4-FFF2-40B4-BE49-F238E27FC236}">
                <a16:creationId xmlns:a16="http://schemas.microsoft.com/office/drawing/2014/main" id="{29B9F7E1-2E7A-4A09-4152-7EDA073F5C2C}"/>
              </a:ext>
            </a:extLst>
          </p:cNvPr>
          <p:cNvGrpSpPr/>
          <p:nvPr/>
        </p:nvGrpSpPr>
        <p:grpSpPr>
          <a:xfrm>
            <a:off x="6006509" y="4183189"/>
            <a:ext cx="3464539" cy="1548582"/>
            <a:chOff x="5662522" y="3808613"/>
            <a:chExt cx="3464539" cy="1548582"/>
          </a:xfrm>
        </p:grpSpPr>
        <p:sp>
          <p:nvSpPr>
            <p:cNvPr id="65" name="Google Shape;291;p27">
              <a:extLst>
                <a:ext uri="{FF2B5EF4-FFF2-40B4-BE49-F238E27FC236}">
                  <a16:creationId xmlns:a16="http://schemas.microsoft.com/office/drawing/2014/main" id="{DB4D0D16-278C-74B3-7FDB-3B9F8F72AD6D}"/>
                </a:ext>
              </a:extLst>
            </p:cNvPr>
            <p:cNvSpPr txBox="1"/>
            <p:nvPr/>
          </p:nvSpPr>
          <p:spPr>
            <a:xfrm>
              <a:off x="5662522" y="4359505"/>
              <a:ext cx="1788555" cy="379614"/>
            </a:xfrm>
            <a:prstGeom prst="rect">
              <a:avLst/>
            </a:prstGeom>
            <a:noFill/>
            <a:ln>
              <a:noFill/>
            </a:ln>
          </p:spPr>
          <p:txBody>
            <a:bodyPr spcFirstLastPara="1" wrap="square" lIns="146280" tIns="146280" rIns="146280" bIns="146280" anchor="ctr" anchorCtr="0">
              <a:noAutofit/>
            </a:bodyPr>
            <a:lstStyle/>
            <a:p>
              <a:pPr algn="ctr"/>
              <a:r>
                <a:rPr lang="en" i="1" dirty="0">
                  <a:solidFill>
                    <a:schemeClr val="dk1"/>
                  </a:solidFill>
                  <a:latin typeface="Arial" panose="020B0604020202020204" pitchFamily="34" charset="0"/>
                  <a:cs typeface="Arial" panose="020B0604020202020204" pitchFamily="34" charset="0"/>
                </a:rPr>
                <a:t>Leak pointer</a:t>
              </a:r>
              <a:endParaRPr i="1" dirty="0">
                <a:solidFill>
                  <a:schemeClr val="dk1"/>
                </a:solidFill>
                <a:latin typeface="Arial" panose="020B0604020202020204" pitchFamily="34" charset="0"/>
                <a:cs typeface="Arial" panose="020B0604020202020204" pitchFamily="34" charset="0"/>
              </a:endParaRPr>
            </a:p>
          </p:txBody>
        </p:sp>
        <p:cxnSp>
          <p:nvCxnSpPr>
            <p:cNvPr id="66" name="Curved Connector 65">
              <a:extLst>
                <a:ext uri="{FF2B5EF4-FFF2-40B4-BE49-F238E27FC236}">
                  <a16:creationId xmlns:a16="http://schemas.microsoft.com/office/drawing/2014/main" id="{F061B090-CF01-5ACB-072A-D4647FDF01EE}"/>
                </a:ext>
              </a:extLst>
            </p:cNvPr>
            <p:cNvCxnSpPr>
              <a:cxnSpLocks/>
            </p:cNvCxnSpPr>
            <p:nvPr/>
          </p:nvCxnSpPr>
          <p:spPr>
            <a:xfrm rot="16200000" flipH="1">
              <a:off x="6842835" y="3925253"/>
              <a:ext cx="1018029" cy="784749"/>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Google Shape;282;p27">
              <a:extLst>
                <a:ext uri="{FF2B5EF4-FFF2-40B4-BE49-F238E27FC236}">
                  <a16:creationId xmlns:a16="http://schemas.microsoft.com/office/drawing/2014/main" id="{EA042A2E-1999-331C-9846-AB2E6A82115D}"/>
                </a:ext>
              </a:extLst>
            </p:cNvPr>
            <p:cNvSpPr/>
            <p:nvPr/>
          </p:nvSpPr>
          <p:spPr>
            <a:xfrm>
              <a:off x="7483277" y="4977581"/>
              <a:ext cx="1204725" cy="379614"/>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&amp;priv1</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68" name="Google Shape;285;p27">
              <a:extLst>
                <a:ext uri="{FF2B5EF4-FFF2-40B4-BE49-F238E27FC236}">
                  <a16:creationId xmlns:a16="http://schemas.microsoft.com/office/drawing/2014/main" id="{77A797A7-0919-BDF3-A4A9-91B7A9207162}"/>
                </a:ext>
              </a:extLst>
            </p:cNvPr>
            <p:cNvSpPr/>
            <p:nvPr/>
          </p:nvSpPr>
          <p:spPr>
            <a:xfrm>
              <a:off x="7245703" y="4881314"/>
              <a:ext cx="302268" cy="302268"/>
            </a:xfrm>
            <a:prstGeom prst="roundRect">
              <a:avLst>
                <a:gd name="adj" fmla="val 16667"/>
              </a:avLst>
            </a:prstGeom>
            <a:solidFill>
              <a:srgbClr val="EEB4B4"/>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400" dirty="0">
                  <a:latin typeface="Arial" panose="020B0604020202020204" pitchFamily="34" charset="0"/>
                  <a:cs typeface="Arial" panose="020B0604020202020204" pitchFamily="34" charset="0"/>
                </a:rPr>
                <a:t>T1</a:t>
              </a:r>
              <a:endParaRPr sz="1400" dirty="0">
                <a:latin typeface="Arial" panose="020B0604020202020204" pitchFamily="34" charset="0"/>
                <a:cs typeface="Arial" panose="020B0604020202020204" pitchFamily="34" charset="0"/>
              </a:endParaRPr>
            </a:p>
          </p:txBody>
        </p:sp>
        <p:sp>
          <p:nvSpPr>
            <p:cNvPr id="121" name="Google Shape;285;p27">
              <a:extLst>
                <a:ext uri="{FF2B5EF4-FFF2-40B4-BE49-F238E27FC236}">
                  <a16:creationId xmlns:a16="http://schemas.microsoft.com/office/drawing/2014/main" id="{781A5EBC-97B5-37F1-65B6-46A983086AA0}"/>
                </a:ext>
              </a:extLst>
            </p:cNvPr>
            <p:cNvSpPr/>
            <p:nvPr/>
          </p:nvSpPr>
          <p:spPr>
            <a:xfrm>
              <a:off x="8429422" y="4842653"/>
              <a:ext cx="697639" cy="302268"/>
            </a:xfrm>
            <a:prstGeom prst="roundRect">
              <a:avLst>
                <a:gd name="adj" fmla="val 16667"/>
              </a:avLst>
            </a:prstGeom>
            <a:solidFill>
              <a:schemeClr val="accent6">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b="1" dirty="0">
                  <a:latin typeface="Arial" panose="020B0604020202020204" pitchFamily="34" charset="0"/>
                  <a:cs typeface="Arial" panose="020B0604020202020204" pitchFamily="34" charset="0"/>
                </a:rPr>
                <a:t>PAC1</a:t>
              </a:r>
              <a:endParaRPr sz="1400" b="1" dirty="0">
                <a:latin typeface="Arial" panose="020B0604020202020204" pitchFamily="34" charset="0"/>
                <a:cs typeface="Arial" panose="020B0604020202020204" pitchFamily="34" charset="0"/>
              </a:endParaRPr>
            </a:p>
          </p:txBody>
        </p:sp>
      </p:grpSp>
      <p:sp>
        <p:nvSpPr>
          <p:cNvPr id="93" name="Google Shape;285;p27">
            <a:extLst>
              <a:ext uri="{FF2B5EF4-FFF2-40B4-BE49-F238E27FC236}">
                <a16:creationId xmlns:a16="http://schemas.microsoft.com/office/drawing/2014/main" id="{E6B380B3-2C45-94BE-1ACC-785778D67CEE}"/>
              </a:ext>
            </a:extLst>
          </p:cNvPr>
          <p:cNvSpPr/>
          <p:nvPr/>
        </p:nvSpPr>
        <p:spPr>
          <a:xfrm>
            <a:off x="9988296" y="3615451"/>
            <a:ext cx="673298" cy="302268"/>
          </a:xfrm>
          <a:prstGeom prst="roundRect">
            <a:avLst>
              <a:gd name="adj" fmla="val 16667"/>
            </a:avLst>
          </a:prstGeom>
          <a:solidFill>
            <a:schemeClr val="accent6">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b="1" dirty="0">
                <a:latin typeface="Arial" panose="020B0604020202020204" pitchFamily="34" charset="0"/>
                <a:cs typeface="Arial" panose="020B0604020202020204" pitchFamily="34" charset="0"/>
              </a:rPr>
              <a:t>PAC2</a:t>
            </a:r>
            <a:endParaRPr sz="1400" b="1" dirty="0">
              <a:latin typeface="Arial" panose="020B0604020202020204" pitchFamily="34" charset="0"/>
              <a:cs typeface="Arial" panose="020B0604020202020204" pitchFamily="34" charset="0"/>
            </a:endParaRPr>
          </a:p>
        </p:txBody>
      </p:sp>
      <p:grpSp>
        <p:nvGrpSpPr>
          <p:cNvPr id="29" name="Group 28">
            <a:extLst>
              <a:ext uri="{FF2B5EF4-FFF2-40B4-BE49-F238E27FC236}">
                <a16:creationId xmlns:a16="http://schemas.microsoft.com/office/drawing/2014/main" id="{D55F1FE1-1D35-83CA-4D18-2BC0E3E64AA2}"/>
              </a:ext>
            </a:extLst>
          </p:cNvPr>
          <p:cNvGrpSpPr/>
          <p:nvPr/>
        </p:nvGrpSpPr>
        <p:grpSpPr>
          <a:xfrm>
            <a:off x="7254042" y="3618875"/>
            <a:ext cx="3571892" cy="1585767"/>
            <a:chOff x="7254043" y="3432571"/>
            <a:chExt cx="3571892" cy="1585767"/>
          </a:xfrm>
        </p:grpSpPr>
        <p:cxnSp>
          <p:nvCxnSpPr>
            <p:cNvPr id="126" name="Curved Connector 125">
              <a:extLst>
                <a:ext uri="{FF2B5EF4-FFF2-40B4-BE49-F238E27FC236}">
                  <a16:creationId xmlns:a16="http://schemas.microsoft.com/office/drawing/2014/main" id="{017757B3-C95B-E04A-FBB6-8A9EFF599879}"/>
                </a:ext>
              </a:extLst>
            </p:cNvPr>
            <p:cNvCxnSpPr>
              <a:cxnSpLocks/>
              <a:stCxn id="116" idx="3"/>
              <a:endCxn id="56" idx="0"/>
            </p:cNvCxnSpPr>
            <p:nvPr/>
          </p:nvCxnSpPr>
          <p:spPr>
            <a:xfrm flipH="1" flipV="1">
              <a:off x="7254043" y="3653848"/>
              <a:ext cx="2869881" cy="154092"/>
            </a:xfrm>
            <a:prstGeom prst="curvedConnector4">
              <a:avLst>
                <a:gd name="adj1" fmla="val -7965"/>
                <a:gd name="adj2" fmla="val 42258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113" name="Group 112">
              <a:extLst>
                <a:ext uri="{FF2B5EF4-FFF2-40B4-BE49-F238E27FC236}">
                  <a16:creationId xmlns:a16="http://schemas.microsoft.com/office/drawing/2014/main" id="{8F5EE693-0FB0-504E-0AAD-F4E2952BCE98}"/>
                </a:ext>
              </a:extLst>
            </p:cNvPr>
            <p:cNvGrpSpPr/>
            <p:nvPr/>
          </p:nvGrpSpPr>
          <p:grpSpPr>
            <a:xfrm>
              <a:off x="8681626" y="3524428"/>
              <a:ext cx="1442299" cy="473319"/>
              <a:chOff x="3209189" y="3332732"/>
              <a:chExt cx="1442299" cy="473319"/>
            </a:xfrm>
          </p:grpSpPr>
          <p:sp>
            <p:nvSpPr>
              <p:cNvPr id="116" name="Google Shape;282;p27">
                <a:extLst>
                  <a:ext uri="{FF2B5EF4-FFF2-40B4-BE49-F238E27FC236}">
                    <a16:creationId xmlns:a16="http://schemas.microsoft.com/office/drawing/2014/main" id="{4E57BF2F-037E-EF65-32B4-AEB6CAB9FF27}"/>
                  </a:ext>
                </a:extLst>
              </p:cNvPr>
              <p:cNvSpPr/>
              <p:nvPr/>
            </p:nvSpPr>
            <p:spPr>
              <a:xfrm>
                <a:off x="3446763" y="3426437"/>
                <a:ext cx="1204725" cy="379614"/>
              </a:xfrm>
              <a:custGeom>
                <a:avLst/>
                <a:gdLst>
                  <a:gd name="connsiteX0" fmla="*/ 0 w 1204725"/>
                  <a:gd name="connsiteY0" fmla="*/ 0 h 379614"/>
                  <a:gd name="connsiteX1" fmla="*/ 0 w 1204725"/>
                  <a:gd name="connsiteY1" fmla="*/ 0 h 379614"/>
                  <a:gd name="connsiteX2" fmla="*/ 425670 w 1204725"/>
                  <a:gd name="connsiteY2" fmla="*/ 0 h 379614"/>
                  <a:gd name="connsiteX3" fmla="*/ 839292 w 1204725"/>
                  <a:gd name="connsiteY3" fmla="*/ 0 h 379614"/>
                  <a:gd name="connsiteX4" fmla="*/ 1204725 w 1204725"/>
                  <a:gd name="connsiteY4" fmla="*/ 0 h 379614"/>
                  <a:gd name="connsiteX5" fmla="*/ 1204725 w 1204725"/>
                  <a:gd name="connsiteY5" fmla="*/ 0 h 379614"/>
                  <a:gd name="connsiteX6" fmla="*/ 1204725 w 1204725"/>
                  <a:gd name="connsiteY6" fmla="*/ 379614 h 379614"/>
                  <a:gd name="connsiteX7" fmla="*/ 1204725 w 1204725"/>
                  <a:gd name="connsiteY7" fmla="*/ 379614 h 379614"/>
                  <a:gd name="connsiteX8" fmla="*/ 827245 w 1204725"/>
                  <a:gd name="connsiteY8" fmla="*/ 379614 h 379614"/>
                  <a:gd name="connsiteX9" fmla="*/ 425670 w 1204725"/>
                  <a:gd name="connsiteY9" fmla="*/ 379614 h 379614"/>
                  <a:gd name="connsiteX10" fmla="*/ 0 w 1204725"/>
                  <a:gd name="connsiteY10" fmla="*/ 379614 h 379614"/>
                  <a:gd name="connsiteX11" fmla="*/ 0 w 1204725"/>
                  <a:gd name="connsiteY11" fmla="*/ 379614 h 379614"/>
                  <a:gd name="connsiteX12" fmla="*/ 0 w 1204725"/>
                  <a:gd name="connsiteY12" fmla="*/ 0 h 37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04725" h="379614" fill="none" extrusionOk="0">
                    <a:moveTo>
                      <a:pt x="0" y="0"/>
                    </a:moveTo>
                    <a:lnTo>
                      <a:pt x="0" y="0"/>
                    </a:lnTo>
                    <a:cubicBezTo>
                      <a:pt x="110313" y="-8158"/>
                      <a:pt x="219929" y="3859"/>
                      <a:pt x="425670" y="0"/>
                    </a:cubicBezTo>
                    <a:cubicBezTo>
                      <a:pt x="631411" y="-3859"/>
                      <a:pt x="650249" y="35749"/>
                      <a:pt x="839292" y="0"/>
                    </a:cubicBezTo>
                    <a:cubicBezTo>
                      <a:pt x="1028335" y="-35749"/>
                      <a:pt x="1072758" y="3417"/>
                      <a:pt x="1204725" y="0"/>
                    </a:cubicBezTo>
                    <a:lnTo>
                      <a:pt x="1204725" y="0"/>
                    </a:lnTo>
                    <a:cubicBezTo>
                      <a:pt x="1219846" y="179817"/>
                      <a:pt x="1182289" y="191994"/>
                      <a:pt x="1204725" y="379614"/>
                    </a:cubicBezTo>
                    <a:lnTo>
                      <a:pt x="1204725" y="379614"/>
                    </a:lnTo>
                    <a:cubicBezTo>
                      <a:pt x="1080459" y="397958"/>
                      <a:pt x="963981" y="360753"/>
                      <a:pt x="827245" y="379614"/>
                    </a:cubicBezTo>
                    <a:cubicBezTo>
                      <a:pt x="690509" y="398475"/>
                      <a:pt x="574787" y="351794"/>
                      <a:pt x="425670" y="379614"/>
                    </a:cubicBezTo>
                    <a:cubicBezTo>
                      <a:pt x="276554" y="407434"/>
                      <a:pt x="157346" y="331957"/>
                      <a:pt x="0" y="379614"/>
                    </a:cubicBezTo>
                    <a:lnTo>
                      <a:pt x="0" y="379614"/>
                    </a:lnTo>
                    <a:cubicBezTo>
                      <a:pt x="-12729" y="266867"/>
                      <a:pt x="21264" y="115365"/>
                      <a:pt x="0" y="0"/>
                    </a:cubicBezTo>
                    <a:close/>
                  </a:path>
                  <a:path w="1204725" h="379614" stroke="0" extrusionOk="0">
                    <a:moveTo>
                      <a:pt x="0" y="0"/>
                    </a:moveTo>
                    <a:lnTo>
                      <a:pt x="0" y="0"/>
                    </a:lnTo>
                    <a:cubicBezTo>
                      <a:pt x="118737" y="-43980"/>
                      <a:pt x="271805" y="24589"/>
                      <a:pt x="389528" y="0"/>
                    </a:cubicBezTo>
                    <a:cubicBezTo>
                      <a:pt x="507251" y="-24589"/>
                      <a:pt x="652031" y="39512"/>
                      <a:pt x="754961" y="0"/>
                    </a:cubicBezTo>
                    <a:cubicBezTo>
                      <a:pt x="857891" y="-39512"/>
                      <a:pt x="1047054" y="33806"/>
                      <a:pt x="1204725" y="0"/>
                    </a:cubicBezTo>
                    <a:lnTo>
                      <a:pt x="1204725" y="0"/>
                    </a:lnTo>
                    <a:cubicBezTo>
                      <a:pt x="1220027" y="122093"/>
                      <a:pt x="1186264" y="282213"/>
                      <a:pt x="1204725" y="379614"/>
                    </a:cubicBezTo>
                    <a:lnTo>
                      <a:pt x="1204725" y="379614"/>
                    </a:lnTo>
                    <a:cubicBezTo>
                      <a:pt x="1060097" y="386408"/>
                      <a:pt x="957289" y="370165"/>
                      <a:pt x="827245" y="379614"/>
                    </a:cubicBezTo>
                    <a:cubicBezTo>
                      <a:pt x="697201" y="389063"/>
                      <a:pt x="508011" y="332145"/>
                      <a:pt x="401575" y="379614"/>
                    </a:cubicBezTo>
                    <a:cubicBezTo>
                      <a:pt x="295139" y="427083"/>
                      <a:pt x="148868" y="338851"/>
                      <a:pt x="0" y="379614"/>
                    </a:cubicBezTo>
                    <a:lnTo>
                      <a:pt x="0" y="379614"/>
                    </a:lnTo>
                    <a:cubicBezTo>
                      <a:pt x="-19541" y="261589"/>
                      <a:pt x="14265" y="134759"/>
                      <a:pt x="0" y="0"/>
                    </a:cubicBezTo>
                    <a:close/>
                  </a:path>
                </a:pathLst>
              </a:custGeom>
              <a:solidFill>
                <a:srgbClr val="FFCBCF"/>
              </a:solidFill>
              <a:ln w="25400" cap="flat" cmpd="sng">
                <a:solidFill>
                  <a:schemeClr val="tx1"/>
                </a:solidFill>
                <a:prstDash val="solid"/>
                <a:round/>
                <a:headEnd type="none" w="sm" len="sm"/>
                <a:tailEnd type="none" w="sm" len="sm"/>
                <a:extLst>
                  <a:ext uri="{C807C97D-BFC1-408E-A445-0C87EB9F89A2}">
                    <ask:lineSketchStyleProps xmlns:ask="http://schemas.microsoft.com/office/drawing/2018/sketchyshapes" sd="1219033472">
                      <a:prstGeom prst="roundRect">
                        <a:avLst>
                          <a:gd name="adj" fmla="val 0"/>
                        </a:avLst>
                      </a:prstGeom>
                      <ask:type>
                        <ask:lineSketchScribble/>
                      </ask:type>
                    </ask:lineSketchStyleProps>
                  </a:ext>
                </a:extLst>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&amp;priv1</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117" name="Google Shape;285;p27">
                <a:extLst>
                  <a:ext uri="{FF2B5EF4-FFF2-40B4-BE49-F238E27FC236}">
                    <a16:creationId xmlns:a16="http://schemas.microsoft.com/office/drawing/2014/main" id="{423EAC8B-4141-565D-258D-5A54A3D143DB}"/>
                  </a:ext>
                </a:extLst>
              </p:cNvPr>
              <p:cNvSpPr/>
              <p:nvPr/>
            </p:nvSpPr>
            <p:spPr>
              <a:xfrm>
                <a:off x="3209189" y="3332732"/>
                <a:ext cx="302268" cy="302268"/>
              </a:xfrm>
              <a:prstGeom prst="roundRect">
                <a:avLst>
                  <a:gd name="adj" fmla="val 16667"/>
                </a:avLst>
              </a:prstGeom>
              <a:solidFill>
                <a:srgbClr val="EEB4B4"/>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400" dirty="0">
                    <a:latin typeface="Arial" panose="020B0604020202020204" pitchFamily="34" charset="0"/>
                    <a:cs typeface="Arial" panose="020B0604020202020204" pitchFamily="34" charset="0"/>
                  </a:rPr>
                  <a:t>T1</a:t>
                </a:r>
                <a:endParaRPr sz="1400" dirty="0">
                  <a:latin typeface="Arial" panose="020B0604020202020204" pitchFamily="34" charset="0"/>
                  <a:cs typeface="Arial" panose="020B0604020202020204" pitchFamily="34" charset="0"/>
                </a:endParaRPr>
              </a:p>
            </p:txBody>
          </p:sp>
        </p:grpSp>
        <p:cxnSp>
          <p:nvCxnSpPr>
            <p:cNvPr id="114" name="Curved Connector 113">
              <a:extLst>
                <a:ext uri="{FF2B5EF4-FFF2-40B4-BE49-F238E27FC236}">
                  <a16:creationId xmlns:a16="http://schemas.microsoft.com/office/drawing/2014/main" id="{3C3C9BC9-0F15-F4F2-02F7-A27070BF3277}"/>
                </a:ext>
              </a:extLst>
            </p:cNvPr>
            <p:cNvCxnSpPr>
              <a:cxnSpLocks/>
            </p:cNvCxnSpPr>
            <p:nvPr/>
          </p:nvCxnSpPr>
          <p:spPr>
            <a:xfrm rot="5400000" flipH="1" flipV="1">
              <a:off x="8579069" y="4075845"/>
              <a:ext cx="1004581" cy="880406"/>
            </a:xfrm>
            <a:prstGeom prst="curvedConnector3">
              <a:avLst>
                <a:gd name="adj1" fmla="val 5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5" name="Google Shape;291;p27">
              <a:extLst>
                <a:ext uri="{FF2B5EF4-FFF2-40B4-BE49-F238E27FC236}">
                  <a16:creationId xmlns:a16="http://schemas.microsoft.com/office/drawing/2014/main" id="{EC89207E-9D55-70AD-66D0-28914C3DFC60}"/>
                </a:ext>
              </a:extLst>
            </p:cNvPr>
            <p:cNvSpPr txBox="1"/>
            <p:nvPr/>
          </p:nvSpPr>
          <p:spPr>
            <a:xfrm>
              <a:off x="8884355" y="4551201"/>
              <a:ext cx="1941580" cy="379614"/>
            </a:xfrm>
            <a:prstGeom prst="rect">
              <a:avLst/>
            </a:prstGeom>
            <a:noFill/>
            <a:ln>
              <a:noFill/>
            </a:ln>
          </p:spPr>
          <p:txBody>
            <a:bodyPr spcFirstLastPara="1" wrap="square" lIns="146280" tIns="146280" rIns="146280" bIns="146280" anchor="ctr" anchorCtr="0">
              <a:noAutofit/>
            </a:bodyPr>
            <a:lstStyle/>
            <a:p>
              <a:pPr algn="ctr"/>
              <a:r>
                <a:rPr lang="en" i="1" dirty="0">
                  <a:solidFill>
                    <a:srgbClr val="C00000"/>
                  </a:solidFill>
                  <a:latin typeface="Arial" panose="020B0604020202020204" pitchFamily="34" charset="0"/>
                  <a:cs typeface="Arial" panose="020B0604020202020204" pitchFamily="34" charset="0"/>
                </a:rPr>
                <a:t>Corrupt pointer</a:t>
              </a:r>
              <a:endParaRPr i="1" dirty="0">
                <a:solidFill>
                  <a:srgbClr val="C00000"/>
                </a:solidFill>
                <a:latin typeface="Arial" panose="020B0604020202020204" pitchFamily="34" charset="0"/>
                <a:cs typeface="Arial" panose="020B0604020202020204" pitchFamily="34" charset="0"/>
              </a:endParaRPr>
            </a:p>
          </p:txBody>
        </p:sp>
        <p:sp>
          <p:nvSpPr>
            <p:cNvPr id="20" name="Google Shape;285;p27">
              <a:extLst>
                <a:ext uri="{FF2B5EF4-FFF2-40B4-BE49-F238E27FC236}">
                  <a16:creationId xmlns:a16="http://schemas.microsoft.com/office/drawing/2014/main" id="{7ECAB226-FA8D-9E4C-0E4E-E34304A5E671}"/>
                </a:ext>
              </a:extLst>
            </p:cNvPr>
            <p:cNvSpPr/>
            <p:nvPr/>
          </p:nvSpPr>
          <p:spPr>
            <a:xfrm>
              <a:off x="9989414" y="3432571"/>
              <a:ext cx="697639" cy="302268"/>
            </a:xfrm>
            <a:prstGeom prst="roundRect">
              <a:avLst>
                <a:gd name="adj" fmla="val 16667"/>
              </a:avLst>
            </a:prstGeom>
            <a:solidFill>
              <a:schemeClr val="accent6">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b="1" dirty="0">
                  <a:latin typeface="Arial" panose="020B0604020202020204" pitchFamily="34" charset="0"/>
                  <a:cs typeface="Arial" panose="020B0604020202020204" pitchFamily="34" charset="0"/>
                </a:rPr>
                <a:t>PAC1</a:t>
              </a:r>
              <a:endParaRPr sz="1400" b="1" dirty="0">
                <a:latin typeface="Arial" panose="020B0604020202020204" pitchFamily="34" charset="0"/>
                <a:cs typeface="Arial" panose="020B0604020202020204" pitchFamily="34" charset="0"/>
              </a:endParaRPr>
            </a:p>
          </p:txBody>
        </p:sp>
      </p:grpSp>
      <p:sp>
        <p:nvSpPr>
          <p:cNvPr id="36" name="TextBox 35">
            <a:extLst>
              <a:ext uri="{FF2B5EF4-FFF2-40B4-BE49-F238E27FC236}">
                <a16:creationId xmlns:a16="http://schemas.microsoft.com/office/drawing/2014/main" id="{97EE21D0-362B-37B0-D934-C0D1EAACB592}"/>
              </a:ext>
            </a:extLst>
          </p:cNvPr>
          <p:cNvSpPr txBox="1"/>
          <p:nvPr/>
        </p:nvSpPr>
        <p:spPr>
          <a:xfrm>
            <a:off x="4382708" y="2823249"/>
            <a:ext cx="1866061" cy="646331"/>
          </a:xfrm>
          <a:prstGeom prst="rect">
            <a:avLst/>
          </a:prstGeom>
          <a:noFill/>
        </p:spPr>
        <p:txBody>
          <a:bodyPr wrap="square" rtlCol="0">
            <a:spAutoFit/>
          </a:bodyPr>
          <a:lstStyle/>
          <a:p>
            <a:pPr algn="ctr"/>
            <a:r>
              <a:rPr lang="en-KR" b="1" dirty="0">
                <a:solidFill>
                  <a:schemeClr val="accent5">
                    <a:lumMod val="75000"/>
                  </a:schemeClr>
                </a:solidFill>
                <a:latin typeface="Arial" panose="020B0604020202020204" pitchFamily="34" charset="0"/>
                <a:cs typeface="Arial" panose="020B0604020202020204" pitchFamily="34" charset="0"/>
              </a:rPr>
              <a:t>No Tag Check Fault</a:t>
            </a:r>
          </a:p>
        </p:txBody>
      </p:sp>
      <p:grpSp>
        <p:nvGrpSpPr>
          <p:cNvPr id="27" name="Group 26">
            <a:extLst>
              <a:ext uri="{FF2B5EF4-FFF2-40B4-BE49-F238E27FC236}">
                <a16:creationId xmlns:a16="http://schemas.microsoft.com/office/drawing/2014/main" id="{662F8A89-39C5-7855-5FD8-44AD71176E52}"/>
              </a:ext>
            </a:extLst>
          </p:cNvPr>
          <p:cNvGrpSpPr/>
          <p:nvPr/>
        </p:nvGrpSpPr>
        <p:grpSpPr>
          <a:xfrm>
            <a:off x="4665172" y="3610900"/>
            <a:ext cx="1181379" cy="315946"/>
            <a:chOff x="4651488" y="3622145"/>
            <a:chExt cx="1181379" cy="315946"/>
          </a:xfrm>
        </p:grpSpPr>
        <p:cxnSp>
          <p:nvCxnSpPr>
            <p:cNvPr id="6" name="Straight Arrow Connector 5">
              <a:extLst>
                <a:ext uri="{FF2B5EF4-FFF2-40B4-BE49-F238E27FC236}">
                  <a16:creationId xmlns:a16="http://schemas.microsoft.com/office/drawing/2014/main" id="{87FF43C9-533D-4243-5D21-51376096DE33}"/>
                </a:ext>
              </a:extLst>
            </p:cNvPr>
            <p:cNvCxnSpPr>
              <a:cxnSpLocks/>
              <a:stCxn id="21" idx="3"/>
            </p:cNvCxnSpPr>
            <p:nvPr/>
          </p:nvCxnSpPr>
          <p:spPr>
            <a:xfrm>
              <a:off x="4651488" y="3938091"/>
              <a:ext cx="977319" cy="0"/>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6" name="Google Shape;291;p27">
              <a:extLst>
                <a:ext uri="{FF2B5EF4-FFF2-40B4-BE49-F238E27FC236}">
                  <a16:creationId xmlns:a16="http://schemas.microsoft.com/office/drawing/2014/main" id="{C28435CD-DE9E-424B-92BD-7F5C5362DB6D}"/>
                </a:ext>
              </a:extLst>
            </p:cNvPr>
            <p:cNvSpPr txBox="1"/>
            <p:nvPr/>
          </p:nvSpPr>
          <p:spPr>
            <a:xfrm>
              <a:off x="4735259" y="3622145"/>
              <a:ext cx="1097608" cy="274767"/>
            </a:xfrm>
            <a:prstGeom prst="rect">
              <a:avLst/>
            </a:prstGeom>
            <a:noFill/>
            <a:ln>
              <a:noFill/>
            </a:ln>
          </p:spPr>
          <p:txBody>
            <a:bodyPr spcFirstLastPara="1" wrap="square" lIns="146280" tIns="146280" rIns="146280" bIns="146280" anchor="ctr" anchorCtr="0">
              <a:noAutofit/>
            </a:bodyPr>
            <a:lstStyle/>
            <a:p>
              <a:pPr algn="ctr"/>
              <a:r>
                <a:rPr lang="en-US" sz="1600" i="1" dirty="0">
                  <a:solidFill>
                    <a:srgbClr val="C00000"/>
                  </a:solidFill>
                  <a:latin typeface="Arial" panose="020B0604020202020204" pitchFamily="34" charset="0"/>
                  <a:cs typeface="Arial" panose="020B0604020202020204" pitchFamily="34" charset="0"/>
                </a:rPr>
                <a:t>Use </a:t>
              </a:r>
              <a:r>
                <a:rPr lang="en-US" sz="1600" i="1" dirty="0" err="1">
                  <a:solidFill>
                    <a:srgbClr val="C00000"/>
                  </a:solidFill>
                  <a:latin typeface="Arial" panose="020B0604020202020204" pitchFamily="34" charset="0"/>
                  <a:cs typeface="Arial" panose="020B0604020202020204" pitchFamily="34" charset="0"/>
                </a:rPr>
                <a:t>ptr</a:t>
              </a:r>
              <a:endParaRPr sz="1600" i="1" dirty="0">
                <a:solidFill>
                  <a:srgbClr val="C00000"/>
                </a:solidFill>
                <a:latin typeface="Arial" panose="020B0604020202020204" pitchFamily="34" charset="0"/>
                <a:cs typeface="Arial" panose="020B0604020202020204" pitchFamily="34" charset="0"/>
              </a:endParaRPr>
            </a:p>
          </p:txBody>
        </p:sp>
      </p:grpSp>
      <p:grpSp>
        <p:nvGrpSpPr>
          <p:cNvPr id="28" name="Group 27">
            <a:extLst>
              <a:ext uri="{FF2B5EF4-FFF2-40B4-BE49-F238E27FC236}">
                <a16:creationId xmlns:a16="http://schemas.microsoft.com/office/drawing/2014/main" id="{D579BAB4-4D22-963D-EAC2-153C1806FA81}"/>
              </a:ext>
            </a:extLst>
          </p:cNvPr>
          <p:cNvGrpSpPr/>
          <p:nvPr/>
        </p:nvGrpSpPr>
        <p:grpSpPr>
          <a:xfrm>
            <a:off x="10123924" y="3632523"/>
            <a:ext cx="1540954" cy="361721"/>
            <a:chOff x="4625947" y="3588476"/>
            <a:chExt cx="1540954" cy="361721"/>
          </a:xfrm>
        </p:grpSpPr>
        <p:cxnSp>
          <p:nvCxnSpPr>
            <p:cNvPr id="37" name="Straight Arrow Connector 36">
              <a:extLst>
                <a:ext uri="{FF2B5EF4-FFF2-40B4-BE49-F238E27FC236}">
                  <a16:creationId xmlns:a16="http://schemas.microsoft.com/office/drawing/2014/main" id="{D39E941F-295B-D970-8180-F1087B5995AC}"/>
                </a:ext>
              </a:extLst>
            </p:cNvPr>
            <p:cNvCxnSpPr>
              <a:cxnSpLocks/>
              <a:stCxn id="116" idx="3"/>
            </p:cNvCxnSpPr>
            <p:nvPr/>
          </p:nvCxnSpPr>
          <p:spPr>
            <a:xfrm flipV="1">
              <a:off x="4625947" y="3938952"/>
              <a:ext cx="1229876" cy="11245"/>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8" name="Google Shape;291;p27">
              <a:extLst>
                <a:ext uri="{FF2B5EF4-FFF2-40B4-BE49-F238E27FC236}">
                  <a16:creationId xmlns:a16="http://schemas.microsoft.com/office/drawing/2014/main" id="{22EEE464-C16D-9A0C-62AE-693D3F78434D}"/>
                </a:ext>
              </a:extLst>
            </p:cNvPr>
            <p:cNvSpPr txBox="1"/>
            <p:nvPr/>
          </p:nvSpPr>
          <p:spPr>
            <a:xfrm>
              <a:off x="5202759" y="3588476"/>
              <a:ext cx="964142" cy="274767"/>
            </a:xfrm>
            <a:prstGeom prst="rect">
              <a:avLst/>
            </a:prstGeom>
            <a:noFill/>
            <a:ln>
              <a:noFill/>
            </a:ln>
          </p:spPr>
          <p:txBody>
            <a:bodyPr spcFirstLastPara="1" wrap="square" lIns="146280" tIns="146280" rIns="146280" bIns="146280" anchor="ctr" anchorCtr="0">
              <a:noAutofit/>
            </a:bodyPr>
            <a:lstStyle/>
            <a:p>
              <a:pPr algn="ctr"/>
              <a:r>
                <a:rPr lang="en-US" sz="1600" i="1" dirty="0">
                  <a:solidFill>
                    <a:srgbClr val="C00000"/>
                  </a:solidFill>
                  <a:latin typeface="Arial" panose="020B0604020202020204" pitchFamily="34" charset="0"/>
                  <a:cs typeface="Arial" panose="020B0604020202020204" pitchFamily="34" charset="0"/>
                </a:rPr>
                <a:t>Use </a:t>
              </a:r>
              <a:r>
                <a:rPr lang="en-US" sz="1600" i="1" dirty="0" err="1">
                  <a:solidFill>
                    <a:srgbClr val="C00000"/>
                  </a:solidFill>
                  <a:latin typeface="Arial" panose="020B0604020202020204" pitchFamily="34" charset="0"/>
                  <a:cs typeface="Arial" panose="020B0604020202020204" pitchFamily="34" charset="0"/>
                </a:rPr>
                <a:t>ptr</a:t>
              </a:r>
              <a:endParaRPr sz="1600" i="1" dirty="0">
                <a:solidFill>
                  <a:srgbClr val="C0000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615422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3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par>
                                <p:cTn id="59" presetID="1" presetClass="exit" presetSubtype="0" fill="hold" nodeType="withEffect">
                                  <p:stCondLst>
                                    <p:cond delay="0"/>
                                  </p:stCondLst>
                                  <p:childTnLst>
                                    <p:set>
                                      <p:cBhvr>
                                        <p:cTn id="60" dur="1" fill="hold">
                                          <p:stCondLst>
                                            <p:cond delay="0"/>
                                          </p:stCondLst>
                                        </p:cTn>
                                        <p:tgtEl>
                                          <p:spTgt spid="88"/>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2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8" grpId="0" animBg="1"/>
      <p:bldP spid="10" grpId="0" animBg="1"/>
      <p:bldP spid="11" grpId="0"/>
      <p:bldP spid="12" grpId="0" animBg="1"/>
      <p:bldP spid="13" grpId="0"/>
      <p:bldP spid="14" grpId="0" animBg="1"/>
      <p:bldP spid="15" grpId="0" animBg="1"/>
      <p:bldP spid="34" grpId="0" animBg="1"/>
      <p:bldP spid="35" grpId="0"/>
      <p:bldP spid="120" grpId="0"/>
      <p:bldP spid="93" grpId="0" animBg="1"/>
      <p:bldP spid="3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6352F-A5A6-3DD3-2751-33FD0047CD03}"/>
              </a:ext>
            </a:extLst>
          </p:cNvPr>
          <p:cNvSpPr>
            <a:spLocks noGrp="1"/>
          </p:cNvSpPr>
          <p:nvPr>
            <p:ph type="title"/>
          </p:nvPr>
        </p:nvSpPr>
        <p:spPr/>
        <p:txBody>
          <a:bodyPr>
            <a:normAutofit/>
          </a:bodyPr>
          <a:lstStyle/>
          <a:p>
            <a:r>
              <a:rPr lang="en-KR" sz="3600" dirty="0"/>
              <a:t>Complementary Relationship of MTE and PAC</a:t>
            </a:r>
          </a:p>
        </p:txBody>
      </p:sp>
      <p:sp>
        <p:nvSpPr>
          <p:cNvPr id="3" name="Content Placeholder 2">
            <a:extLst>
              <a:ext uri="{FF2B5EF4-FFF2-40B4-BE49-F238E27FC236}">
                <a16:creationId xmlns:a16="http://schemas.microsoft.com/office/drawing/2014/main" id="{718D2883-A3FB-FC48-C86A-8016A7EF4670}"/>
              </a:ext>
            </a:extLst>
          </p:cNvPr>
          <p:cNvSpPr>
            <a:spLocks noGrp="1"/>
          </p:cNvSpPr>
          <p:nvPr>
            <p:ph idx="1"/>
          </p:nvPr>
        </p:nvSpPr>
        <p:spPr>
          <a:xfrm>
            <a:off x="1237191" y="1979767"/>
            <a:ext cx="3620995" cy="520941"/>
          </a:xfrm>
        </p:spPr>
        <p:txBody>
          <a:bodyPr>
            <a:normAutofit/>
          </a:bodyPr>
          <a:lstStyle/>
          <a:p>
            <a:pPr marL="0" indent="0" algn="ctr">
              <a:buNone/>
            </a:pPr>
            <a:r>
              <a:rPr lang="en-KR" sz="2400" b="1" dirty="0">
                <a:solidFill>
                  <a:schemeClr val="accent6">
                    <a:lumMod val="75000"/>
                  </a:schemeClr>
                </a:solidFill>
              </a:rPr>
              <a:t>PAC</a:t>
            </a:r>
            <a:r>
              <a:rPr lang="en-KR" sz="2400" b="1" dirty="0"/>
              <a:t> Reuse (Temporal)</a:t>
            </a:r>
          </a:p>
        </p:txBody>
      </p:sp>
      <p:sp>
        <p:nvSpPr>
          <p:cNvPr id="4" name="Slide Number Placeholder 3">
            <a:extLst>
              <a:ext uri="{FF2B5EF4-FFF2-40B4-BE49-F238E27FC236}">
                <a16:creationId xmlns:a16="http://schemas.microsoft.com/office/drawing/2014/main" id="{63F2E26F-61F1-C9DC-1627-B81C8F28258E}"/>
              </a:ext>
            </a:extLst>
          </p:cNvPr>
          <p:cNvSpPr>
            <a:spLocks noGrp="1"/>
          </p:cNvSpPr>
          <p:nvPr>
            <p:ph type="sldNum" sz="quarter" idx="12"/>
          </p:nvPr>
        </p:nvSpPr>
        <p:spPr/>
        <p:txBody>
          <a:bodyPr/>
          <a:lstStyle/>
          <a:p>
            <a:fld id="{9ED31AF7-B9C1-7944-AC45-A988640FDEFC}" type="slidenum">
              <a:rPr lang="en-KR" smtClean="0"/>
              <a:t>19</a:t>
            </a:fld>
            <a:endParaRPr lang="en-KR"/>
          </a:p>
        </p:txBody>
      </p:sp>
      <p:sp>
        <p:nvSpPr>
          <p:cNvPr id="34" name="Right Arrow 33">
            <a:extLst>
              <a:ext uri="{FF2B5EF4-FFF2-40B4-BE49-F238E27FC236}">
                <a16:creationId xmlns:a16="http://schemas.microsoft.com/office/drawing/2014/main" id="{9B4FDFA1-FEF5-5E6D-6434-E42DFC7A450E}"/>
              </a:ext>
            </a:extLst>
          </p:cNvPr>
          <p:cNvSpPr/>
          <p:nvPr/>
        </p:nvSpPr>
        <p:spPr>
          <a:xfrm>
            <a:off x="5679291" y="2097009"/>
            <a:ext cx="328071" cy="306624"/>
          </a:xfrm>
          <a:prstGeom prst="rightArrow">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35" name="Content Placeholder 2">
            <a:extLst>
              <a:ext uri="{FF2B5EF4-FFF2-40B4-BE49-F238E27FC236}">
                <a16:creationId xmlns:a16="http://schemas.microsoft.com/office/drawing/2014/main" id="{A24148C0-8EF5-E36C-EE7B-EFAE3C1AF361}"/>
              </a:ext>
            </a:extLst>
          </p:cNvPr>
          <p:cNvSpPr txBox="1">
            <a:spLocks/>
          </p:cNvSpPr>
          <p:nvPr/>
        </p:nvSpPr>
        <p:spPr>
          <a:xfrm>
            <a:off x="7595187" y="1988869"/>
            <a:ext cx="2851964" cy="4793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KR" sz="2400" b="1" dirty="0"/>
              <a:t>Prevent with </a:t>
            </a:r>
            <a:r>
              <a:rPr lang="en-KR" sz="2400" b="1" dirty="0">
                <a:solidFill>
                  <a:schemeClr val="accent2"/>
                </a:solidFill>
              </a:rPr>
              <a:t>MTE</a:t>
            </a:r>
            <a:endParaRPr lang="en-KR" sz="2400" dirty="0">
              <a:solidFill>
                <a:schemeClr val="accent2"/>
              </a:solidFill>
            </a:endParaRPr>
          </a:p>
        </p:txBody>
      </p:sp>
      <p:sp>
        <p:nvSpPr>
          <p:cNvPr id="216" name="Google Shape;295;p27">
            <a:extLst>
              <a:ext uri="{FF2B5EF4-FFF2-40B4-BE49-F238E27FC236}">
                <a16:creationId xmlns:a16="http://schemas.microsoft.com/office/drawing/2014/main" id="{6B1188F1-B40B-CA64-7DA3-E1589AFE6B95}"/>
              </a:ext>
            </a:extLst>
          </p:cNvPr>
          <p:cNvSpPr/>
          <p:nvPr/>
        </p:nvSpPr>
        <p:spPr>
          <a:xfrm>
            <a:off x="3024836" y="3673187"/>
            <a:ext cx="2160000" cy="1260000"/>
          </a:xfrm>
          <a:prstGeom prst="roundRect">
            <a:avLst>
              <a:gd name="adj" fmla="val 12299"/>
            </a:avLst>
          </a:prstGeom>
          <a:solidFill>
            <a:schemeClr val="bg1"/>
          </a:solid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217" name="Google Shape;291;p27">
            <a:extLst>
              <a:ext uri="{FF2B5EF4-FFF2-40B4-BE49-F238E27FC236}">
                <a16:creationId xmlns:a16="http://schemas.microsoft.com/office/drawing/2014/main" id="{681862F2-EC9E-DAF8-7B23-A74EA5761060}"/>
              </a:ext>
            </a:extLst>
          </p:cNvPr>
          <p:cNvSpPr txBox="1"/>
          <p:nvPr/>
        </p:nvSpPr>
        <p:spPr>
          <a:xfrm>
            <a:off x="3431416" y="3263474"/>
            <a:ext cx="1188000" cy="350168"/>
          </a:xfrm>
          <a:prstGeom prst="rect">
            <a:avLst/>
          </a:prstGeom>
          <a:solidFill>
            <a:schemeClr val="bg1"/>
          </a:solidFill>
          <a:ln>
            <a:noFill/>
          </a:ln>
        </p:spPr>
        <p:txBody>
          <a:bodyPr spcFirstLastPara="1" wrap="square" lIns="146280" tIns="146280" rIns="146280" bIns="146280" anchor="ctr" anchorCtr="0">
            <a:noAutofit/>
          </a:bodyPr>
          <a:lstStyle/>
          <a:p>
            <a:pPr algn="ctr"/>
            <a:r>
              <a:rPr lang="en-US" dirty="0">
                <a:solidFill>
                  <a:schemeClr val="dk1"/>
                </a:solidFill>
                <a:latin typeface="Arial" panose="020B0604020202020204" pitchFamily="34" charset="0"/>
                <a:cs typeface="Arial" panose="020B0604020202020204" pitchFamily="34" charset="0"/>
              </a:rPr>
              <a:t>Object1</a:t>
            </a:r>
            <a:endParaRPr dirty="0">
              <a:solidFill>
                <a:schemeClr val="dk1"/>
              </a:solidFill>
              <a:latin typeface="Arial" panose="020B0604020202020204" pitchFamily="34" charset="0"/>
              <a:cs typeface="Arial" panose="020B0604020202020204" pitchFamily="34" charset="0"/>
            </a:endParaRPr>
          </a:p>
        </p:txBody>
      </p:sp>
      <p:sp>
        <p:nvSpPr>
          <p:cNvPr id="218" name="Google Shape;282;p27">
            <a:extLst>
              <a:ext uri="{FF2B5EF4-FFF2-40B4-BE49-F238E27FC236}">
                <a16:creationId xmlns:a16="http://schemas.microsoft.com/office/drawing/2014/main" id="{A34538A3-0B41-42EA-C734-DB834E23E70D}"/>
              </a:ext>
            </a:extLst>
          </p:cNvPr>
          <p:cNvSpPr/>
          <p:nvPr/>
        </p:nvSpPr>
        <p:spPr>
          <a:xfrm>
            <a:off x="1451418" y="3678861"/>
            <a:ext cx="1069446" cy="336987"/>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&amp;obj1</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cxnSp>
        <p:nvCxnSpPr>
          <p:cNvPr id="219" name="Straight Arrow Connector 218">
            <a:extLst>
              <a:ext uri="{FF2B5EF4-FFF2-40B4-BE49-F238E27FC236}">
                <a16:creationId xmlns:a16="http://schemas.microsoft.com/office/drawing/2014/main" id="{BDB0FEFC-C88F-3CE2-0AC5-849716DA095F}"/>
              </a:ext>
            </a:extLst>
          </p:cNvPr>
          <p:cNvCxnSpPr>
            <a:cxnSpLocks/>
            <a:stCxn id="218" idx="3"/>
          </p:cNvCxnSpPr>
          <p:nvPr/>
        </p:nvCxnSpPr>
        <p:spPr>
          <a:xfrm flipV="1">
            <a:off x="2520865" y="3847354"/>
            <a:ext cx="503999" cy="1"/>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28" name="Google Shape;291;p27">
            <a:extLst>
              <a:ext uri="{FF2B5EF4-FFF2-40B4-BE49-F238E27FC236}">
                <a16:creationId xmlns:a16="http://schemas.microsoft.com/office/drawing/2014/main" id="{AA69044E-D2D7-4F97-6E16-A0F9CCDA0C28}"/>
              </a:ext>
            </a:extLst>
          </p:cNvPr>
          <p:cNvSpPr txBox="1"/>
          <p:nvPr/>
        </p:nvSpPr>
        <p:spPr>
          <a:xfrm>
            <a:off x="3431416" y="3257927"/>
            <a:ext cx="1188000" cy="350168"/>
          </a:xfrm>
          <a:prstGeom prst="rect">
            <a:avLst/>
          </a:prstGeom>
          <a:solidFill>
            <a:schemeClr val="bg1"/>
          </a:solidFill>
          <a:ln>
            <a:noFill/>
          </a:ln>
        </p:spPr>
        <p:txBody>
          <a:bodyPr spcFirstLastPara="1" wrap="square" lIns="146280" tIns="146280" rIns="146280" bIns="146280" anchor="ctr" anchorCtr="0">
            <a:noAutofit/>
          </a:bodyPr>
          <a:lstStyle/>
          <a:p>
            <a:pPr algn="ctr"/>
            <a:r>
              <a:rPr lang="en-US" dirty="0">
                <a:solidFill>
                  <a:schemeClr val="dk1"/>
                </a:solidFill>
                <a:latin typeface="Arial" panose="020B0604020202020204" pitchFamily="34" charset="0"/>
                <a:cs typeface="Arial" panose="020B0604020202020204" pitchFamily="34" charset="0"/>
              </a:rPr>
              <a:t>Object2</a:t>
            </a:r>
            <a:endParaRPr dirty="0">
              <a:solidFill>
                <a:schemeClr val="dk1"/>
              </a:solidFill>
              <a:latin typeface="Arial" panose="020B0604020202020204" pitchFamily="34" charset="0"/>
              <a:cs typeface="Arial" panose="020B0604020202020204" pitchFamily="34" charset="0"/>
            </a:endParaRPr>
          </a:p>
        </p:txBody>
      </p:sp>
      <p:sp>
        <p:nvSpPr>
          <p:cNvPr id="230" name="Google Shape;282;p27">
            <a:extLst>
              <a:ext uri="{FF2B5EF4-FFF2-40B4-BE49-F238E27FC236}">
                <a16:creationId xmlns:a16="http://schemas.microsoft.com/office/drawing/2014/main" id="{B0A40841-F526-6E26-3A30-186212ACA3DA}"/>
              </a:ext>
            </a:extLst>
          </p:cNvPr>
          <p:cNvSpPr/>
          <p:nvPr/>
        </p:nvSpPr>
        <p:spPr>
          <a:xfrm>
            <a:off x="1466219" y="3165664"/>
            <a:ext cx="1069446" cy="336987"/>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&amp;obj2</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cxnSp>
        <p:nvCxnSpPr>
          <p:cNvPr id="231" name="Straight Arrow Connector 230">
            <a:extLst>
              <a:ext uri="{FF2B5EF4-FFF2-40B4-BE49-F238E27FC236}">
                <a16:creationId xmlns:a16="http://schemas.microsoft.com/office/drawing/2014/main" id="{3B11620A-A78A-73AB-7FF3-11275E0196B1}"/>
              </a:ext>
            </a:extLst>
          </p:cNvPr>
          <p:cNvCxnSpPr>
            <a:cxnSpLocks/>
            <a:stCxn id="230" idx="3"/>
          </p:cNvCxnSpPr>
          <p:nvPr/>
        </p:nvCxnSpPr>
        <p:spPr>
          <a:xfrm>
            <a:off x="2535665" y="3334158"/>
            <a:ext cx="487404" cy="4062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1" name="Google Shape;291;p27">
            <a:extLst>
              <a:ext uri="{FF2B5EF4-FFF2-40B4-BE49-F238E27FC236}">
                <a16:creationId xmlns:a16="http://schemas.microsoft.com/office/drawing/2014/main" id="{A3D8A550-DA69-0810-DEAA-C178F2AE423F}"/>
              </a:ext>
            </a:extLst>
          </p:cNvPr>
          <p:cNvSpPr txBox="1"/>
          <p:nvPr/>
        </p:nvSpPr>
        <p:spPr>
          <a:xfrm>
            <a:off x="1730335" y="4634187"/>
            <a:ext cx="1069446" cy="646330"/>
          </a:xfrm>
          <a:prstGeom prst="rect">
            <a:avLst/>
          </a:prstGeom>
          <a:noFill/>
          <a:ln>
            <a:noFill/>
          </a:ln>
        </p:spPr>
        <p:txBody>
          <a:bodyPr spcFirstLastPara="1" wrap="square" lIns="146280" tIns="146280" rIns="146280" bIns="146280" anchor="ctr" anchorCtr="0">
            <a:noAutofit/>
          </a:bodyPr>
          <a:lstStyle/>
          <a:p>
            <a:pPr algn="ctr"/>
            <a:r>
              <a:rPr lang="en" i="1" dirty="0">
                <a:solidFill>
                  <a:srgbClr val="C00000"/>
                </a:solidFill>
                <a:latin typeface="Arial" panose="020B0604020202020204" pitchFamily="34" charset="0"/>
                <a:cs typeface="Arial" panose="020B0604020202020204" pitchFamily="34" charset="0"/>
              </a:rPr>
              <a:t>Corrupt pointer</a:t>
            </a:r>
            <a:endParaRPr i="1" dirty="0">
              <a:solidFill>
                <a:srgbClr val="C00000"/>
              </a:solidFill>
              <a:latin typeface="Arial" panose="020B0604020202020204" pitchFamily="34" charset="0"/>
              <a:cs typeface="Arial" panose="020B0604020202020204" pitchFamily="34" charset="0"/>
            </a:endParaRPr>
          </a:p>
        </p:txBody>
      </p:sp>
      <p:grpSp>
        <p:nvGrpSpPr>
          <p:cNvPr id="252" name="Group 251">
            <a:extLst>
              <a:ext uri="{FF2B5EF4-FFF2-40B4-BE49-F238E27FC236}">
                <a16:creationId xmlns:a16="http://schemas.microsoft.com/office/drawing/2014/main" id="{1A09FB3C-6A82-5635-2957-944611DD7F80}"/>
              </a:ext>
            </a:extLst>
          </p:cNvPr>
          <p:cNvGrpSpPr/>
          <p:nvPr/>
        </p:nvGrpSpPr>
        <p:grpSpPr>
          <a:xfrm>
            <a:off x="450391" y="4061729"/>
            <a:ext cx="2579284" cy="359261"/>
            <a:chOff x="451283" y="3554387"/>
            <a:chExt cx="2655647" cy="359261"/>
          </a:xfrm>
        </p:grpSpPr>
        <p:sp>
          <p:nvSpPr>
            <p:cNvPr id="249" name="Google Shape;291;p27">
              <a:extLst>
                <a:ext uri="{FF2B5EF4-FFF2-40B4-BE49-F238E27FC236}">
                  <a16:creationId xmlns:a16="http://schemas.microsoft.com/office/drawing/2014/main" id="{42470AB6-C4E7-6BC2-88A7-739F314E48BD}"/>
                </a:ext>
              </a:extLst>
            </p:cNvPr>
            <p:cNvSpPr txBox="1"/>
            <p:nvPr/>
          </p:nvSpPr>
          <p:spPr>
            <a:xfrm>
              <a:off x="451283" y="3563480"/>
              <a:ext cx="1658811" cy="350168"/>
            </a:xfrm>
            <a:prstGeom prst="rect">
              <a:avLst/>
            </a:prstGeom>
            <a:noFill/>
            <a:ln>
              <a:noFill/>
            </a:ln>
          </p:spPr>
          <p:txBody>
            <a:bodyPr spcFirstLastPara="1" wrap="square" lIns="146280" tIns="146280" rIns="146280" bIns="146280" anchor="ctr" anchorCtr="0">
              <a:noAutofit/>
            </a:bodyPr>
            <a:lstStyle/>
            <a:p>
              <a:pPr algn="ctr"/>
              <a:r>
                <a:rPr lang="en-US" i="1" dirty="0">
                  <a:solidFill>
                    <a:schemeClr val="dk1"/>
                  </a:solidFill>
                  <a:latin typeface="Arial" panose="020B0604020202020204" pitchFamily="34" charset="0"/>
                  <a:cs typeface="Arial" panose="020B0604020202020204" pitchFamily="34" charset="0"/>
                </a:rPr>
                <a:t>Leak Pointer</a:t>
              </a:r>
              <a:endParaRPr i="1" dirty="0">
                <a:solidFill>
                  <a:schemeClr val="dk1"/>
                </a:solidFill>
                <a:latin typeface="Arial" panose="020B0604020202020204" pitchFamily="34" charset="0"/>
                <a:cs typeface="Arial" panose="020B0604020202020204" pitchFamily="34" charset="0"/>
              </a:endParaRPr>
            </a:p>
          </p:txBody>
        </p:sp>
        <p:cxnSp>
          <p:nvCxnSpPr>
            <p:cNvPr id="251" name="Curved Connector 250">
              <a:extLst>
                <a:ext uri="{FF2B5EF4-FFF2-40B4-BE49-F238E27FC236}">
                  <a16:creationId xmlns:a16="http://schemas.microsoft.com/office/drawing/2014/main" id="{5DEFA747-A1F4-4040-2330-DFDC4F8BA5FB}"/>
                </a:ext>
              </a:extLst>
            </p:cNvPr>
            <p:cNvCxnSpPr>
              <a:cxnSpLocks/>
            </p:cNvCxnSpPr>
            <p:nvPr/>
          </p:nvCxnSpPr>
          <p:spPr>
            <a:xfrm rot="10800000" flipV="1">
              <a:off x="2164722" y="3554387"/>
              <a:ext cx="942208" cy="285500"/>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53" name="Google Shape;295;p27">
            <a:extLst>
              <a:ext uri="{FF2B5EF4-FFF2-40B4-BE49-F238E27FC236}">
                <a16:creationId xmlns:a16="http://schemas.microsoft.com/office/drawing/2014/main" id="{77F72736-F5F3-9536-3F97-366F083C1865}"/>
              </a:ext>
            </a:extLst>
          </p:cNvPr>
          <p:cNvSpPr/>
          <p:nvPr/>
        </p:nvSpPr>
        <p:spPr>
          <a:xfrm>
            <a:off x="3024836" y="3671947"/>
            <a:ext cx="2160000" cy="1260000"/>
          </a:xfrm>
          <a:prstGeom prst="roundRect">
            <a:avLst>
              <a:gd name="adj" fmla="val 12299"/>
            </a:avLst>
          </a:prstGeom>
          <a:noFill/>
          <a:ln w="25400" cap="flat" cmpd="sng">
            <a:solidFill>
              <a:schemeClr val="tx1"/>
            </a:solidFill>
            <a:prstDash val="sysDot"/>
            <a:round/>
            <a:headEnd type="none" w="sm" len="sm"/>
            <a:tailEnd type="none" w="sm" len="sm"/>
          </a:ln>
        </p:spPr>
        <p:txBody>
          <a:bodyPr spcFirstLastPara="1" wrap="square" lIns="146280" tIns="146280" rIns="146280" bIns="146280" anchor="ctr" anchorCtr="0">
            <a:noAutofit/>
          </a:bodyPr>
          <a:lstStyle/>
          <a:p>
            <a:pPr algn="ct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254" name="Google Shape;291;p27">
            <a:extLst>
              <a:ext uri="{FF2B5EF4-FFF2-40B4-BE49-F238E27FC236}">
                <a16:creationId xmlns:a16="http://schemas.microsoft.com/office/drawing/2014/main" id="{C4856A57-30CC-E2E0-1B43-89ED2D747590}"/>
              </a:ext>
            </a:extLst>
          </p:cNvPr>
          <p:cNvSpPr txBox="1"/>
          <p:nvPr/>
        </p:nvSpPr>
        <p:spPr>
          <a:xfrm>
            <a:off x="3519626" y="3685948"/>
            <a:ext cx="1062217" cy="350168"/>
          </a:xfrm>
          <a:prstGeom prst="rect">
            <a:avLst/>
          </a:prstGeom>
          <a:noFill/>
          <a:ln>
            <a:noFill/>
          </a:ln>
        </p:spPr>
        <p:txBody>
          <a:bodyPr spcFirstLastPara="1" wrap="square" lIns="146280" tIns="146280" rIns="146280" bIns="146280" anchor="ctr" anchorCtr="0">
            <a:noAutofit/>
          </a:bodyPr>
          <a:lstStyle/>
          <a:p>
            <a:pPr algn="ctr"/>
            <a:r>
              <a:rPr lang="en-US" dirty="0">
                <a:solidFill>
                  <a:schemeClr val="dk1"/>
                </a:solidFill>
                <a:latin typeface="Arial" panose="020B0604020202020204" pitchFamily="34" charset="0"/>
                <a:cs typeface="Arial" panose="020B0604020202020204" pitchFamily="34" charset="0"/>
              </a:rPr>
              <a:t>Freed</a:t>
            </a:r>
            <a:endParaRPr dirty="0">
              <a:solidFill>
                <a:schemeClr val="dk1"/>
              </a:solidFill>
              <a:latin typeface="Arial" panose="020B0604020202020204" pitchFamily="34" charset="0"/>
              <a:cs typeface="Arial" panose="020B0604020202020204" pitchFamily="34" charset="0"/>
            </a:endParaRPr>
          </a:p>
        </p:txBody>
      </p:sp>
      <p:sp>
        <p:nvSpPr>
          <p:cNvPr id="255" name="Google Shape;282;p27">
            <a:extLst>
              <a:ext uri="{FF2B5EF4-FFF2-40B4-BE49-F238E27FC236}">
                <a16:creationId xmlns:a16="http://schemas.microsoft.com/office/drawing/2014/main" id="{7145C380-E991-EDD6-2E2B-514A2BC24FDE}"/>
              </a:ext>
            </a:extLst>
          </p:cNvPr>
          <p:cNvSpPr/>
          <p:nvPr/>
        </p:nvSpPr>
        <p:spPr>
          <a:xfrm>
            <a:off x="3438912" y="4141067"/>
            <a:ext cx="1180883" cy="336987"/>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&amp;priv1</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cxnSp>
        <p:nvCxnSpPr>
          <p:cNvPr id="259" name="Straight Arrow Connector 258">
            <a:extLst>
              <a:ext uri="{FF2B5EF4-FFF2-40B4-BE49-F238E27FC236}">
                <a16:creationId xmlns:a16="http://schemas.microsoft.com/office/drawing/2014/main" id="{F3192D72-92BB-6A2E-46FF-3C94C10F347F}"/>
              </a:ext>
            </a:extLst>
          </p:cNvPr>
          <p:cNvCxnSpPr>
            <a:cxnSpLocks/>
          </p:cNvCxnSpPr>
          <p:nvPr/>
        </p:nvCxnSpPr>
        <p:spPr>
          <a:xfrm flipV="1">
            <a:off x="2521438" y="3846580"/>
            <a:ext cx="503999" cy="2"/>
          </a:xfrm>
          <a:prstGeom prst="straightConnector1">
            <a:avLst/>
          </a:prstGeom>
          <a:ln w="254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FC709C7B-998E-32A1-15BF-B0AFCD8DDC63}"/>
              </a:ext>
            </a:extLst>
          </p:cNvPr>
          <p:cNvGrpSpPr/>
          <p:nvPr/>
        </p:nvGrpSpPr>
        <p:grpSpPr>
          <a:xfrm>
            <a:off x="256195" y="4463420"/>
            <a:ext cx="1590457" cy="525828"/>
            <a:chOff x="793059" y="4114236"/>
            <a:chExt cx="1590457" cy="525828"/>
          </a:xfrm>
        </p:grpSpPr>
        <p:sp>
          <p:nvSpPr>
            <p:cNvPr id="269" name="Google Shape;282;p27">
              <a:extLst>
                <a:ext uri="{FF2B5EF4-FFF2-40B4-BE49-F238E27FC236}">
                  <a16:creationId xmlns:a16="http://schemas.microsoft.com/office/drawing/2014/main" id="{5BF3E7E7-3847-77AD-DBA6-AC19F4012CAB}"/>
                </a:ext>
              </a:extLst>
            </p:cNvPr>
            <p:cNvSpPr/>
            <p:nvPr/>
          </p:nvSpPr>
          <p:spPr>
            <a:xfrm>
              <a:off x="793059" y="4303077"/>
              <a:ext cx="1180883" cy="336987"/>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&amp;priv1</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272" name="Google Shape;285;p27">
              <a:extLst>
                <a:ext uri="{FF2B5EF4-FFF2-40B4-BE49-F238E27FC236}">
                  <a16:creationId xmlns:a16="http://schemas.microsoft.com/office/drawing/2014/main" id="{DAFEBE00-3979-2A3D-D8D5-853D4A3EE930}"/>
                </a:ext>
              </a:extLst>
            </p:cNvPr>
            <p:cNvSpPr/>
            <p:nvPr/>
          </p:nvSpPr>
          <p:spPr>
            <a:xfrm>
              <a:off x="1767616" y="4114236"/>
              <a:ext cx="615900" cy="302268"/>
            </a:xfrm>
            <a:prstGeom prst="roundRect">
              <a:avLst>
                <a:gd name="adj" fmla="val 16667"/>
              </a:avLst>
            </a:prstGeom>
            <a:solidFill>
              <a:schemeClr val="accent6">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b="1" dirty="0">
                  <a:latin typeface="Arial" panose="020B0604020202020204" pitchFamily="34" charset="0"/>
                  <a:cs typeface="Arial" panose="020B0604020202020204" pitchFamily="34" charset="0"/>
                </a:rPr>
                <a:t>PAC</a:t>
              </a:r>
              <a:endParaRPr sz="1400" b="1" dirty="0">
                <a:latin typeface="Arial" panose="020B0604020202020204" pitchFamily="34" charset="0"/>
                <a:cs typeface="Arial" panose="020B0604020202020204" pitchFamily="34" charset="0"/>
              </a:endParaRPr>
            </a:p>
          </p:txBody>
        </p:sp>
      </p:grpSp>
      <p:cxnSp>
        <p:nvCxnSpPr>
          <p:cNvPr id="10" name="Curved Connector 9">
            <a:extLst>
              <a:ext uri="{FF2B5EF4-FFF2-40B4-BE49-F238E27FC236}">
                <a16:creationId xmlns:a16="http://schemas.microsoft.com/office/drawing/2014/main" id="{D3207737-7496-B2C6-36FC-AEF6EAE3C879}"/>
              </a:ext>
            </a:extLst>
          </p:cNvPr>
          <p:cNvCxnSpPr>
            <a:cxnSpLocks/>
            <a:stCxn id="216" idx="1"/>
          </p:cNvCxnSpPr>
          <p:nvPr/>
        </p:nvCxnSpPr>
        <p:spPr>
          <a:xfrm rot="10800000" flipV="1">
            <a:off x="2164792" y="4303187"/>
            <a:ext cx="860044" cy="258416"/>
          </a:xfrm>
          <a:prstGeom prst="curvedConnector3">
            <a:avLst>
              <a:gd name="adj1" fmla="val 50000"/>
            </a:avLst>
          </a:prstGeom>
          <a:ln w="1905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38" name="Google Shape;282;p27">
            <a:extLst>
              <a:ext uri="{FF2B5EF4-FFF2-40B4-BE49-F238E27FC236}">
                <a16:creationId xmlns:a16="http://schemas.microsoft.com/office/drawing/2014/main" id="{B768A0A2-873A-7EAF-7B35-5BAA36FFFA03}"/>
              </a:ext>
            </a:extLst>
          </p:cNvPr>
          <p:cNvSpPr/>
          <p:nvPr/>
        </p:nvSpPr>
        <p:spPr>
          <a:xfrm>
            <a:off x="3436518" y="4141067"/>
            <a:ext cx="1180883" cy="336987"/>
          </a:xfrm>
          <a:prstGeom prst="roundRect">
            <a:avLst>
              <a:gd name="adj" fmla="val 0"/>
            </a:avLst>
          </a:prstGeom>
          <a:solidFill>
            <a:schemeClr val="bg1"/>
          </a:solid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&amp;priv2</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265" name="Google Shape;282;p27">
            <a:extLst>
              <a:ext uri="{FF2B5EF4-FFF2-40B4-BE49-F238E27FC236}">
                <a16:creationId xmlns:a16="http://schemas.microsoft.com/office/drawing/2014/main" id="{65A6F02C-1E7F-8045-CFDD-AD83B2A31651}"/>
              </a:ext>
            </a:extLst>
          </p:cNvPr>
          <p:cNvSpPr/>
          <p:nvPr/>
        </p:nvSpPr>
        <p:spPr>
          <a:xfrm>
            <a:off x="3436897" y="4135520"/>
            <a:ext cx="1180883" cy="336987"/>
          </a:xfrm>
          <a:custGeom>
            <a:avLst/>
            <a:gdLst>
              <a:gd name="connsiteX0" fmla="*/ 0 w 1180883"/>
              <a:gd name="connsiteY0" fmla="*/ 0 h 336987"/>
              <a:gd name="connsiteX1" fmla="*/ 0 w 1180883"/>
              <a:gd name="connsiteY1" fmla="*/ 0 h 336987"/>
              <a:gd name="connsiteX2" fmla="*/ 614059 w 1180883"/>
              <a:gd name="connsiteY2" fmla="*/ 0 h 336987"/>
              <a:gd name="connsiteX3" fmla="*/ 1180883 w 1180883"/>
              <a:gd name="connsiteY3" fmla="*/ 0 h 336987"/>
              <a:gd name="connsiteX4" fmla="*/ 1180883 w 1180883"/>
              <a:gd name="connsiteY4" fmla="*/ 0 h 336987"/>
              <a:gd name="connsiteX5" fmla="*/ 1180883 w 1180883"/>
              <a:gd name="connsiteY5" fmla="*/ 336987 h 336987"/>
              <a:gd name="connsiteX6" fmla="*/ 1180883 w 1180883"/>
              <a:gd name="connsiteY6" fmla="*/ 336987 h 336987"/>
              <a:gd name="connsiteX7" fmla="*/ 602250 w 1180883"/>
              <a:gd name="connsiteY7" fmla="*/ 336987 h 336987"/>
              <a:gd name="connsiteX8" fmla="*/ 0 w 1180883"/>
              <a:gd name="connsiteY8" fmla="*/ 336987 h 336987"/>
              <a:gd name="connsiteX9" fmla="*/ 0 w 1180883"/>
              <a:gd name="connsiteY9" fmla="*/ 336987 h 336987"/>
              <a:gd name="connsiteX10" fmla="*/ 0 w 1180883"/>
              <a:gd name="connsiteY10" fmla="*/ 0 h 336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0883" h="336987" fill="none" extrusionOk="0">
                <a:moveTo>
                  <a:pt x="0" y="0"/>
                </a:moveTo>
                <a:lnTo>
                  <a:pt x="0" y="0"/>
                </a:lnTo>
                <a:cubicBezTo>
                  <a:pt x="162620" y="18609"/>
                  <a:pt x="400632" y="-12647"/>
                  <a:pt x="614059" y="0"/>
                </a:cubicBezTo>
                <a:cubicBezTo>
                  <a:pt x="827486" y="12647"/>
                  <a:pt x="974919" y="3235"/>
                  <a:pt x="1180883" y="0"/>
                </a:cubicBezTo>
                <a:lnTo>
                  <a:pt x="1180883" y="0"/>
                </a:lnTo>
                <a:cubicBezTo>
                  <a:pt x="1192790" y="73118"/>
                  <a:pt x="1168301" y="233115"/>
                  <a:pt x="1180883" y="336987"/>
                </a:cubicBezTo>
                <a:lnTo>
                  <a:pt x="1180883" y="336987"/>
                </a:lnTo>
                <a:cubicBezTo>
                  <a:pt x="954258" y="349956"/>
                  <a:pt x="817924" y="361732"/>
                  <a:pt x="602250" y="336987"/>
                </a:cubicBezTo>
                <a:cubicBezTo>
                  <a:pt x="386576" y="312242"/>
                  <a:pt x="128926" y="335426"/>
                  <a:pt x="0" y="336987"/>
                </a:cubicBezTo>
                <a:lnTo>
                  <a:pt x="0" y="336987"/>
                </a:lnTo>
                <a:cubicBezTo>
                  <a:pt x="2764" y="208590"/>
                  <a:pt x="-10823" y="82856"/>
                  <a:pt x="0" y="0"/>
                </a:cubicBezTo>
                <a:close/>
              </a:path>
              <a:path w="1180883" h="336987" stroke="0" extrusionOk="0">
                <a:moveTo>
                  <a:pt x="0" y="0"/>
                </a:moveTo>
                <a:lnTo>
                  <a:pt x="0" y="0"/>
                </a:lnTo>
                <a:cubicBezTo>
                  <a:pt x="266573" y="27897"/>
                  <a:pt x="420959" y="-17058"/>
                  <a:pt x="578633" y="0"/>
                </a:cubicBezTo>
                <a:cubicBezTo>
                  <a:pt x="736307" y="17058"/>
                  <a:pt x="887285" y="-1989"/>
                  <a:pt x="1180883" y="0"/>
                </a:cubicBezTo>
                <a:lnTo>
                  <a:pt x="1180883" y="0"/>
                </a:lnTo>
                <a:cubicBezTo>
                  <a:pt x="1179144" y="71606"/>
                  <a:pt x="1180447" y="200818"/>
                  <a:pt x="1180883" y="336987"/>
                </a:cubicBezTo>
                <a:lnTo>
                  <a:pt x="1180883" y="336987"/>
                </a:lnTo>
                <a:cubicBezTo>
                  <a:pt x="929691" y="333831"/>
                  <a:pt x="759971" y="313067"/>
                  <a:pt x="590442" y="336987"/>
                </a:cubicBezTo>
                <a:cubicBezTo>
                  <a:pt x="420913" y="360907"/>
                  <a:pt x="227037" y="315733"/>
                  <a:pt x="0" y="336987"/>
                </a:cubicBezTo>
                <a:lnTo>
                  <a:pt x="0" y="336987"/>
                </a:lnTo>
                <a:cubicBezTo>
                  <a:pt x="13679" y="255241"/>
                  <a:pt x="-9381" y="151220"/>
                  <a:pt x="0" y="0"/>
                </a:cubicBezTo>
                <a:close/>
              </a:path>
            </a:pathLst>
          </a:custGeom>
          <a:solidFill>
            <a:srgbClr val="FFCBCF"/>
          </a:solidFill>
          <a:ln w="25400" cap="flat" cmpd="sng">
            <a:solidFill>
              <a:schemeClr val="tx1"/>
            </a:solidFill>
            <a:prstDash val="solid"/>
            <a:round/>
            <a:headEnd type="none" w="sm" len="sm"/>
            <a:tailEnd type="none" w="sm" len="sm"/>
            <a:extLst>
              <a:ext uri="{C807C97D-BFC1-408E-A445-0C87EB9F89A2}">
                <ask:lineSketchStyleProps xmlns:ask="http://schemas.microsoft.com/office/drawing/2018/sketchyshapes" sd="1219033472">
                  <a:prstGeom prst="roundRect">
                    <a:avLst>
                      <a:gd name="adj" fmla="val 0"/>
                    </a:avLst>
                  </a:prstGeom>
                  <ask:type>
                    <ask:lineSketchFreehand/>
                  </ask:type>
                </ask:lineSketchStyleProps>
              </a:ext>
            </a:extLst>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&amp;priv1</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cxnSp>
        <p:nvCxnSpPr>
          <p:cNvPr id="257" name="Curved Connector 256">
            <a:extLst>
              <a:ext uri="{FF2B5EF4-FFF2-40B4-BE49-F238E27FC236}">
                <a16:creationId xmlns:a16="http://schemas.microsoft.com/office/drawing/2014/main" id="{8D7EA37B-F627-2A51-FF6A-1D69455BF584}"/>
              </a:ext>
            </a:extLst>
          </p:cNvPr>
          <p:cNvCxnSpPr>
            <a:cxnSpLocks/>
            <a:stCxn id="255" idx="3"/>
            <a:endCxn id="255" idx="0"/>
          </p:cNvCxnSpPr>
          <p:nvPr/>
        </p:nvCxnSpPr>
        <p:spPr>
          <a:xfrm flipH="1" flipV="1">
            <a:off x="4029354" y="4141067"/>
            <a:ext cx="590441" cy="168494"/>
          </a:xfrm>
          <a:prstGeom prst="curvedConnector4">
            <a:avLst>
              <a:gd name="adj1" fmla="val -38717"/>
              <a:gd name="adj2" fmla="val 235672"/>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8" name="Google Shape;285;p27">
            <a:extLst>
              <a:ext uri="{FF2B5EF4-FFF2-40B4-BE49-F238E27FC236}">
                <a16:creationId xmlns:a16="http://schemas.microsoft.com/office/drawing/2014/main" id="{238469D2-50A4-6E8B-BF45-E29BE9478969}"/>
              </a:ext>
            </a:extLst>
          </p:cNvPr>
          <p:cNvSpPr/>
          <p:nvPr/>
        </p:nvSpPr>
        <p:spPr>
          <a:xfrm>
            <a:off x="4413469" y="3952226"/>
            <a:ext cx="615900" cy="302268"/>
          </a:xfrm>
          <a:prstGeom prst="roundRect">
            <a:avLst>
              <a:gd name="adj" fmla="val 16667"/>
            </a:avLst>
          </a:prstGeom>
          <a:solidFill>
            <a:schemeClr val="accent6">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b="1" dirty="0">
                <a:latin typeface="Arial" panose="020B0604020202020204" pitchFamily="34" charset="0"/>
                <a:cs typeface="Arial" panose="020B0604020202020204" pitchFamily="34" charset="0"/>
              </a:rPr>
              <a:t>PAC</a:t>
            </a:r>
            <a:endParaRPr sz="1400" b="1" dirty="0">
              <a:latin typeface="Arial" panose="020B0604020202020204" pitchFamily="34" charset="0"/>
              <a:cs typeface="Arial" panose="020B0604020202020204" pitchFamily="34" charset="0"/>
            </a:endParaRPr>
          </a:p>
        </p:txBody>
      </p:sp>
      <p:sp>
        <p:nvSpPr>
          <p:cNvPr id="43" name="Google Shape;295;p27">
            <a:extLst>
              <a:ext uri="{FF2B5EF4-FFF2-40B4-BE49-F238E27FC236}">
                <a16:creationId xmlns:a16="http://schemas.microsoft.com/office/drawing/2014/main" id="{33F5835E-1621-264B-4F4A-6622DCF1C17A}"/>
              </a:ext>
            </a:extLst>
          </p:cNvPr>
          <p:cNvSpPr/>
          <p:nvPr/>
        </p:nvSpPr>
        <p:spPr>
          <a:xfrm>
            <a:off x="8965645" y="3673187"/>
            <a:ext cx="2160000" cy="1260000"/>
          </a:xfrm>
          <a:prstGeom prst="roundRect">
            <a:avLst>
              <a:gd name="adj" fmla="val 12299"/>
            </a:avLst>
          </a:prstGeom>
          <a:solidFill>
            <a:schemeClr val="bg1"/>
          </a:solid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45" name="Google Shape;282;p27">
            <a:extLst>
              <a:ext uri="{FF2B5EF4-FFF2-40B4-BE49-F238E27FC236}">
                <a16:creationId xmlns:a16="http://schemas.microsoft.com/office/drawing/2014/main" id="{FE191B2D-BEFF-36FC-C96A-33217572C7F0}"/>
              </a:ext>
            </a:extLst>
          </p:cNvPr>
          <p:cNvSpPr/>
          <p:nvPr/>
        </p:nvSpPr>
        <p:spPr>
          <a:xfrm>
            <a:off x="7392227" y="3678861"/>
            <a:ext cx="1069446" cy="336987"/>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&amp;obj1</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47" name="Google Shape;291;p27">
            <a:extLst>
              <a:ext uri="{FF2B5EF4-FFF2-40B4-BE49-F238E27FC236}">
                <a16:creationId xmlns:a16="http://schemas.microsoft.com/office/drawing/2014/main" id="{3ACE75A0-6904-A261-7E5E-777B3950471D}"/>
              </a:ext>
            </a:extLst>
          </p:cNvPr>
          <p:cNvSpPr txBox="1"/>
          <p:nvPr/>
        </p:nvSpPr>
        <p:spPr>
          <a:xfrm>
            <a:off x="9372225" y="3280317"/>
            <a:ext cx="1188000" cy="350168"/>
          </a:xfrm>
          <a:prstGeom prst="rect">
            <a:avLst/>
          </a:prstGeom>
          <a:solidFill>
            <a:schemeClr val="bg1"/>
          </a:solidFill>
          <a:ln>
            <a:noFill/>
          </a:ln>
        </p:spPr>
        <p:txBody>
          <a:bodyPr spcFirstLastPara="1" wrap="square" lIns="146280" tIns="146280" rIns="146280" bIns="146280" anchor="ctr" anchorCtr="0">
            <a:noAutofit/>
          </a:bodyPr>
          <a:lstStyle/>
          <a:p>
            <a:pPr algn="ctr"/>
            <a:r>
              <a:rPr lang="en-US" dirty="0">
                <a:solidFill>
                  <a:schemeClr val="dk1"/>
                </a:solidFill>
                <a:latin typeface="Arial" panose="020B0604020202020204" pitchFamily="34" charset="0"/>
                <a:cs typeface="Arial" panose="020B0604020202020204" pitchFamily="34" charset="0"/>
              </a:rPr>
              <a:t>Object2</a:t>
            </a:r>
            <a:endParaRPr dirty="0">
              <a:solidFill>
                <a:schemeClr val="dk1"/>
              </a:solidFill>
              <a:latin typeface="Arial" panose="020B0604020202020204" pitchFamily="34" charset="0"/>
              <a:cs typeface="Arial" panose="020B0604020202020204" pitchFamily="34" charset="0"/>
            </a:endParaRPr>
          </a:p>
        </p:txBody>
      </p:sp>
      <p:sp>
        <p:nvSpPr>
          <p:cNvPr id="48" name="Google Shape;282;p27">
            <a:extLst>
              <a:ext uri="{FF2B5EF4-FFF2-40B4-BE49-F238E27FC236}">
                <a16:creationId xmlns:a16="http://schemas.microsoft.com/office/drawing/2014/main" id="{B2EA98D1-6F7F-62B5-F7D0-C66CAC4B83F3}"/>
              </a:ext>
            </a:extLst>
          </p:cNvPr>
          <p:cNvSpPr/>
          <p:nvPr/>
        </p:nvSpPr>
        <p:spPr>
          <a:xfrm>
            <a:off x="7407028" y="3127712"/>
            <a:ext cx="1069446" cy="336987"/>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&amp;obj2</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cxnSp>
        <p:nvCxnSpPr>
          <p:cNvPr id="49" name="Straight Arrow Connector 48">
            <a:extLst>
              <a:ext uri="{FF2B5EF4-FFF2-40B4-BE49-F238E27FC236}">
                <a16:creationId xmlns:a16="http://schemas.microsoft.com/office/drawing/2014/main" id="{83EA0236-396D-018A-A338-284C45DE9FDA}"/>
              </a:ext>
            </a:extLst>
          </p:cNvPr>
          <p:cNvCxnSpPr>
            <a:cxnSpLocks/>
            <a:stCxn id="48" idx="3"/>
          </p:cNvCxnSpPr>
          <p:nvPr/>
        </p:nvCxnSpPr>
        <p:spPr>
          <a:xfrm>
            <a:off x="8476474" y="3296206"/>
            <a:ext cx="489143" cy="48307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Google Shape;291;p27">
            <a:extLst>
              <a:ext uri="{FF2B5EF4-FFF2-40B4-BE49-F238E27FC236}">
                <a16:creationId xmlns:a16="http://schemas.microsoft.com/office/drawing/2014/main" id="{60DA5FC5-BF35-AB87-AEC5-65A5CDA00C08}"/>
              </a:ext>
            </a:extLst>
          </p:cNvPr>
          <p:cNvSpPr txBox="1"/>
          <p:nvPr/>
        </p:nvSpPr>
        <p:spPr>
          <a:xfrm>
            <a:off x="7847948" y="4632002"/>
            <a:ext cx="1069446" cy="543204"/>
          </a:xfrm>
          <a:prstGeom prst="rect">
            <a:avLst/>
          </a:prstGeom>
          <a:noFill/>
          <a:ln>
            <a:noFill/>
          </a:ln>
        </p:spPr>
        <p:txBody>
          <a:bodyPr spcFirstLastPara="1" wrap="square" lIns="146280" tIns="146280" rIns="146280" bIns="146280" anchor="ctr" anchorCtr="0">
            <a:noAutofit/>
          </a:bodyPr>
          <a:lstStyle/>
          <a:p>
            <a:pPr algn="ctr"/>
            <a:r>
              <a:rPr lang="en" i="1" dirty="0">
                <a:solidFill>
                  <a:srgbClr val="C00000"/>
                </a:solidFill>
                <a:latin typeface="Arial" panose="020B0604020202020204" pitchFamily="34" charset="0"/>
                <a:cs typeface="Arial" panose="020B0604020202020204" pitchFamily="34" charset="0"/>
              </a:rPr>
              <a:t>Corrupt pointer</a:t>
            </a:r>
            <a:endParaRPr i="1" dirty="0">
              <a:solidFill>
                <a:srgbClr val="C00000"/>
              </a:solidFill>
              <a:latin typeface="Arial" panose="020B0604020202020204" pitchFamily="34" charset="0"/>
              <a:cs typeface="Arial" panose="020B0604020202020204" pitchFamily="34" charset="0"/>
            </a:endParaRPr>
          </a:p>
        </p:txBody>
      </p:sp>
      <p:grpSp>
        <p:nvGrpSpPr>
          <p:cNvPr id="51" name="Group 50">
            <a:extLst>
              <a:ext uri="{FF2B5EF4-FFF2-40B4-BE49-F238E27FC236}">
                <a16:creationId xmlns:a16="http://schemas.microsoft.com/office/drawing/2014/main" id="{A062924E-0809-0373-6E66-ACA63A509C6F}"/>
              </a:ext>
            </a:extLst>
          </p:cNvPr>
          <p:cNvGrpSpPr/>
          <p:nvPr/>
        </p:nvGrpSpPr>
        <p:grpSpPr>
          <a:xfrm>
            <a:off x="6391199" y="4086778"/>
            <a:ext cx="2579288" cy="359264"/>
            <a:chOff x="451283" y="3554384"/>
            <a:chExt cx="2655651" cy="359264"/>
          </a:xfrm>
        </p:grpSpPr>
        <p:sp>
          <p:nvSpPr>
            <p:cNvPr id="52" name="Google Shape;291;p27">
              <a:extLst>
                <a:ext uri="{FF2B5EF4-FFF2-40B4-BE49-F238E27FC236}">
                  <a16:creationId xmlns:a16="http://schemas.microsoft.com/office/drawing/2014/main" id="{DB245B4F-E671-BCF3-0D80-3A26C7537F75}"/>
                </a:ext>
              </a:extLst>
            </p:cNvPr>
            <p:cNvSpPr txBox="1"/>
            <p:nvPr/>
          </p:nvSpPr>
          <p:spPr>
            <a:xfrm>
              <a:off x="451283" y="3563480"/>
              <a:ext cx="1658811" cy="350168"/>
            </a:xfrm>
            <a:prstGeom prst="rect">
              <a:avLst/>
            </a:prstGeom>
            <a:noFill/>
            <a:ln>
              <a:noFill/>
            </a:ln>
          </p:spPr>
          <p:txBody>
            <a:bodyPr spcFirstLastPara="1" wrap="square" lIns="146280" tIns="146280" rIns="146280" bIns="146280" anchor="ctr" anchorCtr="0">
              <a:noAutofit/>
            </a:bodyPr>
            <a:lstStyle/>
            <a:p>
              <a:pPr algn="ctr"/>
              <a:r>
                <a:rPr lang="en-US" i="1" dirty="0">
                  <a:solidFill>
                    <a:schemeClr val="dk1"/>
                  </a:solidFill>
                  <a:latin typeface="Arial" panose="020B0604020202020204" pitchFamily="34" charset="0"/>
                  <a:cs typeface="Arial" panose="020B0604020202020204" pitchFamily="34" charset="0"/>
                </a:rPr>
                <a:t>Leak Pointer</a:t>
              </a:r>
              <a:endParaRPr i="1" dirty="0">
                <a:solidFill>
                  <a:schemeClr val="dk1"/>
                </a:solidFill>
                <a:latin typeface="Arial" panose="020B0604020202020204" pitchFamily="34" charset="0"/>
                <a:cs typeface="Arial" panose="020B0604020202020204" pitchFamily="34" charset="0"/>
              </a:endParaRPr>
            </a:p>
          </p:txBody>
        </p:sp>
        <p:cxnSp>
          <p:nvCxnSpPr>
            <p:cNvPr id="53" name="Curved Connector 52">
              <a:extLst>
                <a:ext uri="{FF2B5EF4-FFF2-40B4-BE49-F238E27FC236}">
                  <a16:creationId xmlns:a16="http://schemas.microsoft.com/office/drawing/2014/main" id="{9E835BDA-A1FD-7ED4-A7FA-955B3757C751}"/>
                </a:ext>
              </a:extLst>
            </p:cNvPr>
            <p:cNvCxnSpPr>
              <a:cxnSpLocks/>
              <a:endCxn id="52" idx="3"/>
            </p:cNvCxnSpPr>
            <p:nvPr/>
          </p:nvCxnSpPr>
          <p:spPr>
            <a:xfrm rot="10800000" flipV="1">
              <a:off x="2110095" y="3554384"/>
              <a:ext cx="996839" cy="184179"/>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8" name="Straight Arrow Connector 57">
            <a:extLst>
              <a:ext uri="{FF2B5EF4-FFF2-40B4-BE49-F238E27FC236}">
                <a16:creationId xmlns:a16="http://schemas.microsoft.com/office/drawing/2014/main" id="{BFEF802E-2E71-1DC7-DA6E-041E59E501C6}"/>
              </a:ext>
            </a:extLst>
          </p:cNvPr>
          <p:cNvCxnSpPr>
            <a:cxnSpLocks/>
          </p:cNvCxnSpPr>
          <p:nvPr/>
        </p:nvCxnSpPr>
        <p:spPr>
          <a:xfrm flipV="1">
            <a:off x="8462247" y="3834497"/>
            <a:ext cx="503999" cy="2"/>
          </a:xfrm>
          <a:prstGeom prst="straightConnector1">
            <a:avLst/>
          </a:prstGeom>
          <a:ln w="254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15541CA4-B86C-46A2-7D6D-C5FF9DBE194D}"/>
              </a:ext>
            </a:extLst>
          </p:cNvPr>
          <p:cNvGrpSpPr/>
          <p:nvPr/>
        </p:nvGrpSpPr>
        <p:grpSpPr>
          <a:xfrm>
            <a:off x="6312680" y="4472507"/>
            <a:ext cx="1590457" cy="525828"/>
            <a:chOff x="793059" y="4114236"/>
            <a:chExt cx="1590457" cy="525828"/>
          </a:xfrm>
        </p:grpSpPr>
        <p:sp>
          <p:nvSpPr>
            <p:cNvPr id="60" name="Google Shape;282;p27">
              <a:extLst>
                <a:ext uri="{FF2B5EF4-FFF2-40B4-BE49-F238E27FC236}">
                  <a16:creationId xmlns:a16="http://schemas.microsoft.com/office/drawing/2014/main" id="{716C719F-D91B-81C9-7A48-D3D55F1F28C3}"/>
                </a:ext>
              </a:extLst>
            </p:cNvPr>
            <p:cNvSpPr/>
            <p:nvPr/>
          </p:nvSpPr>
          <p:spPr>
            <a:xfrm>
              <a:off x="793059" y="4303077"/>
              <a:ext cx="1180883" cy="336987"/>
            </a:xfrm>
            <a:prstGeom prst="roundRect">
              <a:avLst>
                <a:gd name="adj" fmla="val 0"/>
              </a:avLst>
            </a:prstGeom>
            <a:no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&amp;priv1</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sp>
          <p:nvSpPr>
            <p:cNvPr id="62" name="Google Shape;285;p27">
              <a:extLst>
                <a:ext uri="{FF2B5EF4-FFF2-40B4-BE49-F238E27FC236}">
                  <a16:creationId xmlns:a16="http://schemas.microsoft.com/office/drawing/2014/main" id="{901154AA-FBAF-8E02-E02C-461AFD5E0F99}"/>
                </a:ext>
              </a:extLst>
            </p:cNvPr>
            <p:cNvSpPr/>
            <p:nvPr/>
          </p:nvSpPr>
          <p:spPr>
            <a:xfrm>
              <a:off x="1767616" y="4114236"/>
              <a:ext cx="615900" cy="302268"/>
            </a:xfrm>
            <a:prstGeom prst="roundRect">
              <a:avLst>
                <a:gd name="adj" fmla="val 16667"/>
              </a:avLst>
            </a:prstGeom>
            <a:solidFill>
              <a:schemeClr val="accent6">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b="1" dirty="0">
                  <a:latin typeface="Arial" panose="020B0604020202020204" pitchFamily="34" charset="0"/>
                  <a:cs typeface="Arial" panose="020B0604020202020204" pitchFamily="34" charset="0"/>
                </a:rPr>
                <a:t>PAC</a:t>
              </a:r>
              <a:endParaRPr sz="1400" b="1" dirty="0">
                <a:latin typeface="Arial" panose="020B0604020202020204" pitchFamily="34" charset="0"/>
                <a:cs typeface="Arial" panose="020B0604020202020204" pitchFamily="34" charset="0"/>
              </a:endParaRPr>
            </a:p>
          </p:txBody>
        </p:sp>
      </p:grpSp>
      <p:cxnSp>
        <p:nvCxnSpPr>
          <p:cNvPr id="63" name="Curved Connector 62">
            <a:extLst>
              <a:ext uri="{FF2B5EF4-FFF2-40B4-BE49-F238E27FC236}">
                <a16:creationId xmlns:a16="http://schemas.microsoft.com/office/drawing/2014/main" id="{BF3924AD-3557-FE12-6F08-279635257D65}"/>
              </a:ext>
            </a:extLst>
          </p:cNvPr>
          <p:cNvCxnSpPr>
            <a:cxnSpLocks/>
          </p:cNvCxnSpPr>
          <p:nvPr/>
        </p:nvCxnSpPr>
        <p:spPr>
          <a:xfrm rot="10800000" flipV="1">
            <a:off x="8060660" y="4350405"/>
            <a:ext cx="910885" cy="244204"/>
          </a:xfrm>
          <a:prstGeom prst="curvedConnector3">
            <a:avLst>
              <a:gd name="adj1" fmla="val 50000"/>
            </a:avLst>
          </a:prstGeom>
          <a:ln w="1905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5" name="Google Shape;282;p27">
            <a:extLst>
              <a:ext uri="{FF2B5EF4-FFF2-40B4-BE49-F238E27FC236}">
                <a16:creationId xmlns:a16="http://schemas.microsoft.com/office/drawing/2014/main" id="{8A88BD87-02D4-4338-8777-EC1812BDFB5C}"/>
              </a:ext>
            </a:extLst>
          </p:cNvPr>
          <p:cNvSpPr/>
          <p:nvPr/>
        </p:nvSpPr>
        <p:spPr>
          <a:xfrm>
            <a:off x="9377327" y="4162774"/>
            <a:ext cx="1180883" cy="336987"/>
          </a:xfrm>
          <a:prstGeom prst="roundRect">
            <a:avLst>
              <a:gd name="adj" fmla="val 0"/>
            </a:avLst>
          </a:prstGeom>
          <a:solidFill>
            <a:schemeClr val="bg1"/>
          </a:solidFill>
          <a:ln w="25400" cap="flat" cmpd="sng">
            <a:solidFill>
              <a:schemeClr val="tx1"/>
            </a:solidFill>
            <a:prstDash val="solid"/>
            <a:round/>
            <a:headEnd type="none" w="sm" len="sm"/>
            <a:tailEnd type="none" w="sm" len="sm"/>
          </a:ln>
        </p:spPr>
        <p:txBody>
          <a:bodyPr spcFirstLastPara="1" wrap="square" lIns="146280" tIns="146280" rIns="146280" bIns="146280" anchor="ctr" anchorCtr="0">
            <a:noAutofit/>
          </a:bodyPr>
          <a:lstStyle/>
          <a:p>
            <a:pPr algn="ctr"/>
            <a:r>
              <a:rPr lang="en" dirty="0">
                <a:solidFill>
                  <a:schemeClr val="dk1"/>
                </a:solidFill>
                <a:latin typeface="Arial" panose="020B0604020202020204" pitchFamily="34" charset="0"/>
                <a:ea typeface="Fira Code Medium"/>
                <a:cs typeface="Arial" panose="020B0604020202020204" pitchFamily="34" charset="0"/>
                <a:sym typeface="Fira Code Medium"/>
              </a:rPr>
              <a:t>&amp;priv2</a:t>
            </a:r>
            <a:endParaRPr dirty="0">
              <a:solidFill>
                <a:schemeClr val="dk1"/>
              </a:solidFill>
              <a:latin typeface="Arial" panose="020B0604020202020204" pitchFamily="34" charset="0"/>
              <a:ea typeface="Fira Code Medium"/>
              <a:cs typeface="Arial" panose="020B0604020202020204" pitchFamily="34" charset="0"/>
              <a:sym typeface="Fira Code Medium"/>
            </a:endParaRPr>
          </a:p>
        </p:txBody>
      </p:sp>
      <p:cxnSp>
        <p:nvCxnSpPr>
          <p:cNvPr id="70" name="Curved Connector 69">
            <a:extLst>
              <a:ext uri="{FF2B5EF4-FFF2-40B4-BE49-F238E27FC236}">
                <a16:creationId xmlns:a16="http://schemas.microsoft.com/office/drawing/2014/main" id="{7B902161-91C4-1CFC-477A-6516098C63D5}"/>
              </a:ext>
            </a:extLst>
          </p:cNvPr>
          <p:cNvCxnSpPr>
            <a:cxnSpLocks/>
          </p:cNvCxnSpPr>
          <p:nvPr/>
        </p:nvCxnSpPr>
        <p:spPr>
          <a:xfrm flipH="1" flipV="1">
            <a:off x="9970163" y="4141067"/>
            <a:ext cx="590441" cy="168494"/>
          </a:xfrm>
          <a:prstGeom prst="curvedConnector4">
            <a:avLst>
              <a:gd name="adj1" fmla="val -38717"/>
              <a:gd name="adj2" fmla="val 235672"/>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1" name="Google Shape;285;p27">
            <a:extLst>
              <a:ext uri="{FF2B5EF4-FFF2-40B4-BE49-F238E27FC236}">
                <a16:creationId xmlns:a16="http://schemas.microsoft.com/office/drawing/2014/main" id="{ACCB43EB-5B3D-2F12-8F75-2FF71267A2CB}"/>
              </a:ext>
            </a:extLst>
          </p:cNvPr>
          <p:cNvSpPr/>
          <p:nvPr/>
        </p:nvSpPr>
        <p:spPr>
          <a:xfrm>
            <a:off x="10354278" y="3952226"/>
            <a:ext cx="615900" cy="302268"/>
          </a:xfrm>
          <a:prstGeom prst="roundRect">
            <a:avLst>
              <a:gd name="adj" fmla="val 16667"/>
            </a:avLst>
          </a:prstGeom>
          <a:solidFill>
            <a:schemeClr val="accent6">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b="1" dirty="0">
                <a:latin typeface="Arial" panose="020B0604020202020204" pitchFamily="34" charset="0"/>
                <a:cs typeface="Arial" panose="020B0604020202020204" pitchFamily="34" charset="0"/>
              </a:rPr>
              <a:t>PAC</a:t>
            </a:r>
            <a:endParaRPr sz="1400" b="1" dirty="0">
              <a:latin typeface="Arial" panose="020B0604020202020204" pitchFamily="34" charset="0"/>
              <a:cs typeface="Arial" panose="020B0604020202020204" pitchFamily="34" charset="0"/>
            </a:endParaRPr>
          </a:p>
        </p:txBody>
      </p:sp>
      <p:sp>
        <p:nvSpPr>
          <p:cNvPr id="72" name="Google Shape;285;p27">
            <a:extLst>
              <a:ext uri="{FF2B5EF4-FFF2-40B4-BE49-F238E27FC236}">
                <a16:creationId xmlns:a16="http://schemas.microsoft.com/office/drawing/2014/main" id="{564CD391-83FC-2556-CDEC-2C4B6B84C0FE}"/>
              </a:ext>
            </a:extLst>
          </p:cNvPr>
          <p:cNvSpPr/>
          <p:nvPr/>
        </p:nvSpPr>
        <p:spPr>
          <a:xfrm>
            <a:off x="7200721" y="2970392"/>
            <a:ext cx="268326" cy="268326"/>
          </a:xfrm>
          <a:prstGeom prst="roundRect">
            <a:avLst>
              <a:gd name="adj" fmla="val 16667"/>
            </a:avLst>
          </a:prstGeom>
          <a:solidFill>
            <a:schemeClr val="accent5">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400" dirty="0">
                <a:latin typeface="Arial" panose="020B0604020202020204" pitchFamily="34" charset="0"/>
                <a:cs typeface="Arial" panose="020B0604020202020204" pitchFamily="34" charset="0"/>
              </a:rPr>
              <a:t>T4</a:t>
            </a:r>
            <a:endParaRPr sz="1400" dirty="0">
              <a:latin typeface="Arial" panose="020B0604020202020204" pitchFamily="34" charset="0"/>
              <a:cs typeface="Arial" panose="020B0604020202020204" pitchFamily="34" charset="0"/>
            </a:endParaRPr>
          </a:p>
        </p:txBody>
      </p:sp>
      <p:sp>
        <p:nvSpPr>
          <p:cNvPr id="73" name="Google Shape;285;p27">
            <a:extLst>
              <a:ext uri="{FF2B5EF4-FFF2-40B4-BE49-F238E27FC236}">
                <a16:creationId xmlns:a16="http://schemas.microsoft.com/office/drawing/2014/main" id="{6ABDDB1F-7380-2683-EE9D-83BE72F304E3}"/>
              </a:ext>
            </a:extLst>
          </p:cNvPr>
          <p:cNvSpPr/>
          <p:nvPr/>
        </p:nvSpPr>
        <p:spPr>
          <a:xfrm>
            <a:off x="7200721" y="3583040"/>
            <a:ext cx="268326" cy="268326"/>
          </a:xfrm>
          <a:prstGeom prst="roundRect">
            <a:avLst>
              <a:gd name="adj" fmla="val 16667"/>
            </a:avLst>
          </a:prstGeom>
          <a:solidFill>
            <a:schemeClr val="accent2">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400" dirty="0">
                <a:latin typeface="Arial" panose="020B0604020202020204" pitchFamily="34" charset="0"/>
                <a:cs typeface="Arial" panose="020B0604020202020204" pitchFamily="34" charset="0"/>
              </a:rPr>
              <a:t>T3</a:t>
            </a:r>
            <a:endParaRPr sz="1400" dirty="0">
              <a:latin typeface="Arial" panose="020B0604020202020204" pitchFamily="34" charset="0"/>
              <a:cs typeface="Arial" panose="020B0604020202020204" pitchFamily="34" charset="0"/>
            </a:endParaRPr>
          </a:p>
        </p:txBody>
      </p:sp>
      <p:sp>
        <p:nvSpPr>
          <p:cNvPr id="74" name="Google Shape;285;p27">
            <a:extLst>
              <a:ext uri="{FF2B5EF4-FFF2-40B4-BE49-F238E27FC236}">
                <a16:creationId xmlns:a16="http://schemas.microsoft.com/office/drawing/2014/main" id="{A14166D1-6C07-4F12-5A7B-77A114A54D67}"/>
              </a:ext>
            </a:extLst>
          </p:cNvPr>
          <p:cNvSpPr/>
          <p:nvPr/>
        </p:nvSpPr>
        <p:spPr>
          <a:xfrm>
            <a:off x="10949761" y="3573896"/>
            <a:ext cx="268326" cy="268326"/>
          </a:xfrm>
          <a:prstGeom prst="roundRect">
            <a:avLst>
              <a:gd name="adj" fmla="val 16667"/>
            </a:avLst>
          </a:prstGeom>
          <a:solidFill>
            <a:schemeClr val="accent5">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400" dirty="0">
                <a:latin typeface="Arial" panose="020B0604020202020204" pitchFamily="34" charset="0"/>
                <a:cs typeface="Arial" panose="020B0604020202020204" pitchFamily="34" charset="0"/>
              </a:rPr>
              <a:t>T4</a:t>
            </a:r>
            <a:endParaRPr sz="1400" dirty="0">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77CB3543-822F-6477-7F8D-CAF81D55E1B6}"/>
              </a:ext>
            </a:extLst>
          </p:cNvPr>
          <p:cNvGrpSpPr/>
          <p:nvPr/>
        </p:nvGrpSpPr>
        <p:grpSpPr>
          <a:xfrm>
            <a:off x="7386665" y="5280083"/>
            <a:ext cx="2150016" cy="602975"/>
            <a:chOff x="8682781" y="2324742"/>
            <a:chExt cx="2150016" cy="602975"/>
          </a:xfrm>
        </p:grpSpPr>
        <p:sp>
          <p:nvSpPr>
            <p:cNvPr id="75" name="Google Shape;291;p27">
              <a:extLst>
                <a:ext uri="{FF2B5EF4-FFF2-40B4-BE49-F238E27FC236}">
                  <a16:creationId xmlns:a16="http://schemas.microsoft.com/office/drawing/2014/main" id="{9A7AE2C4-A460-7FE7-C345-3BDC9D3CC99D}"/>
                </a:ext>
              </a:extLst>
            </p:cNvPr>
            <p:cNvSpPr txBox="1"/>
            <p:nvPr/>
          </p:nvSpPr>
          <p:spPr>
            <a:xfrm>
              <a:off x="8682781" y="2324742"/>
              <a:ext cx="2150016" cy="602975"/>
            </a:xfrm>
            <a:prstGeom prst="rect">
              <a:avLst/>
            </a:prstGeom>
            <a:noFill/>
            <a:ln>
              <a:noFill/>
            </a:ln>
          </p:spPr>
          <p:txBody>
            <a:bodyPr spcFirstLastPara="1" wrap="square" lIns="146280" tIns="146280" rIns="146280" bIns="146280" anchor="ctr" anchorCtr="0">
              <a:noAutofit/>
            </a:bodyPr>
            <a:lstStyle/>
            <a:p>
              <a:pPr algn="ctr"/>
              <a:r>
                <a:rPr lang="en" b="1" i="1" dirty="0">
                  <a:solidFill>
                    <a:srgbClr val="C00000"/>
                  </a:solidFill>
                  <a:latin typeface="Arial" panose="020B0604020202020204" pitchFamily="34" charset="0"/>
                  <a:cs typeface="Arial" panose="020B0604020202020204" pitchFamily="34" charset="0"/>
                </a:rPr>
                <a:t>Tag check fault</a:t>
              </a:r>
            </a:p>
            <a:p>
              <a:pPr algn="ctr"/>
              <a:r>
                <a:rPr lang="en-US" b="1" i="1" dirty="0">
                  <a:solidFill>
                    <a:srgbClr val="C00000"/>
                  </a:solidFill>
                  <a:latin typeface="Arial" panose="020B0604020202020204" pitchFamily="34" charset="0"/>
                  <a:cs typeface="Arial" panose="020B0604020202020204" pitchFamily="34" charset="0"/>
                </a:rPr>
                <a:t>!=</a:t>
              </a:r>
              <a:endParaRPr b="1" i="1" dirty="0">
                <a:solidFill>
                  <a:srgbClr val="C00000"/>
                </a:solidFill>
                <a:latin typeface="Arial" panose="020B0604020202020204" pitchFamily="34" charset="0"/>
                <a:cs typeface="Arial" panose="020B0604020202020204" pitchFamily="34" charset="0"/>
              </a:endParaRPr>
            </a:p>
          </p:txBody>
        </p:sp>
        <p:sp>
          <p:nvSpPr>
            <p:cNvPr id="5" name="Google Shape;285;p27">
              <a:extLst>
                <a:ext uri="{FF2B5EF4-FFF2-40B4-BE49-F238E27FC236}">
                  <a16:creationId xmlns:a16="http://schemas.microsoft.com/office/drawing/2014/main" id="{133134F4-A308-32BE-667F-A1BF20810A16}"/>
                </a:ext>
              </a:extLst>
            </p:cNvPr>
            <p:cNvSpPr/>
            <p:nvPr/>
          </p:nvSpPr>
          <p:spPr>
            <a:xfrm>
              <a:off x="9302958" y="2666993"/>
              <a:ext cx="252000" cy="252000"/>
            </a:xfrm>
            <a:prstGeom prst="roundRect">
              <a:avLst>
                <a:gd name="adj" fmla="val 16667"/>
              </a:avLst>
            </a:prstGeom>
            <a:solidFill>
              <a:schemeClr val="accent2">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400" dirty="0">
                  <a:latin typeface="Arial" panose="020B0604020202020204" pitchFamily="34" charset="0"/>
                  <a:cs typeface="Arial" panose="020B0604020202020204" pitchFamily="34" charset="0"/>
                </a:rPr>
                <a:t>T3</a:t>
              </a:r>
              <a:endParaRPr sz="1400" dirty="0">
                <a:latin typeface="Arial" panose="020B0604020202020204" pitchFamily="34" charset="0"/>
                <a:cs typeface="Arial" panose="020B0604020202020204" pitchFamily="34" charset="0"/>
              </a:endParaRPr>
            </a:p>
          </p:txBody>
        </p:sp>
        <p:sp>
          <p:nvSpPr>
            <p:cNvPr id="6" name="Google Shape;285;p27">
              <a:extLst>
                <a:ext uri="{FF2B5EF4-FFF2-40B4-BE49-F238E27FC236}">
                  <a16:creationId xmlns:a16="http://schemas.microsoft.com/office/drawing/2014/main" id="{FB22E21F-F324-BF99-C5B5-8E5070722AAC}"/>
                </a:ext>
              </a:extLst>
            </p:cNvPr>
            <p:cNvSpPr/>
            <p:nvPr/>
          </p:nvSpPr>
          <p:spPr>
            <a:xfrm>
              <a:off x="9957637" y="2663807"/>
              <a:ext cx="252000" cy="252000"/>
            </a:xfrm>
            <a:prstGeom prst="roundRect">
              <a:avLst>
                <a:gd name="adj" fmla="val 16667"/>
              </a:avLst>
            </a:prstGeom>
            <a:solidFill>
              <a:schemeClr val="accent5">
                <a:lumMod val="40000"/>
                <a:lumOff val="60000"/>
              </a:schemeClr>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US" sz="1400" dirty="0">
                  <a:latin typeface="Arial" panose="020B0604020202020204" pitchFamily="34" charset="0"/>
                  <a:cs typeface="Arial" panose="020B0604020202020204" pitchFamily="34" charset="0"/>
                </a:rPr>
                <a:t>T4</a:t>
              </a:r>
              <a:endParaRPr sz="1400" dirty="0">
                <a:latin typeface="Arial" panose="020B0604020202020204" pitchFamily="34" charset="0"/>
                <a:cs typeface="Arial" panose="020B0604020202020204" pitchFamily="34" charset="0"/>
              </a:endParaRPr>
            </a:p>
          </p:txBody>
        </p:sp>
      </p:grpSp>
      <p:sp>
        <p:nvSpPr>
          <p:cNvPr id="29" name="TextBox 28">
            <a:extLst>
              <a:ext uri="{FF2B5EF4-FFF2-40B4-BE49-F238E27FC236}">
                <a16:creationId xmlns:a16="http://schemas.microsoft.com/office/drawing/2014/main" id="{8556EB42-B9CB-7451-39A1-59E04E644050}"/>
              </a:ext>
            </a:extLst>
          </p:cNvPr>
          <p:cNvSpPr txBox="1"/>
          <p:nvPr/>
        </p:nvSpPr>
        <p:spPr>
          <a:xfrm>
            <a:off x="2779367" y="5491025"/>
            <a:ext cx="2617807" cy="646331"/>
          </a:xfrm>
          <a:prstGeom prst="rect">
            <a:avLst/>
          </a:prstGeom>
          <a:noFill/>
        </p:spPr>
        <p:txBody>
          <a:bodyPr wrap="square" rtlCol="0">
            <a:spAutoFit/>
          </a:bodyPr>
          <a:lstStyle/>
          <a:p>
            <a:pPr algn="ctr"/>
            <a:r>
              <a:rPr lang="en-KR" b="1" dirty="0">
                <a:solidFill>
                  <a:schemeClr val="accent5">
                    <a:lumMod val="75000"/>
                  </a:schemeClr>
                </a:solidFill>
                <a:latin typeface="Arial" panose="020B0604020202020204" pitchFamily="34" charset="0"/>
                <a:cs typeface="Arial" panose="020B0604020202020204" pitchFamily="34" charset="0"/>
              </a:rPr>
              <a:t>No Authentication Failure</a:t>
            </a:r>
          </a:p>
        </p:txBody>
      </p:sp>
      <p:grpSp>
        <p:nvGrpSpPr>
          <p:cNvPr id="8" name="Group 7">
            <a:extLst>
              <a:ext uri="{FF2B5EF4-FFF2-40B4-BE49-F238E27FC236}">
                <a16:creationId xmlns:a16="http://schemas.microsoft.com/office/drawing/2014/main" id="{C948059F-E02C-29DA-1197-C22CA5E7F50E}"/>
              </a:ext>
            </a:extLst>
          </p:cNvPr>
          <p:cNvGrpSpPr/>
          <p:nvPr/>
        </p:nvGrpSpPr>
        <p:grpSpPr>
          <a:xfrm>
            <a:off x="3915886" y="4472507"/>
            <a:ext cx="1097608" cy="954880"/>
            <a:chOff x="4455717" y="2870549"/>
            <a:chExt cx="1097608" cy="954880"/>
          </a:xfrm>
        </p:grpSpPr>
        <p:cxnSp>
          <p:nvCxnSpPr>
            <p:cNvPr id="9" name="Straight Arrow Connector 8">
              <a:extLst>
                <a:ext uri="{FF2B5EF4-FFF2-40B4-BE49-F238E27FC236}">
                  <a16:creationId xmlns:a16="http://schemas.microsoft.com/office/drawing/2014/main" id="{284BDEE6-8E1B-07B3-0A9D-D0B97534388C}"/>
                </a:ext>
              </a:extLst>
            </p:cNvPr>
            <p:cNvCxnSpPr>
              <a:cxnSpLocks/>
              <a:stCxn id="265" idx="2"/>
            </p:cNvCxnSpPr>
            <p:nvPr/>
          </p:nvCxnSpPr>
          <p:spPr>
            <a:xfrm flipH="1">
              <a:off x="4564068" y="2870549"/>
              <a:ext cx="3102" cy="954880"/>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Google Shape;291;p27">
              <a:extLst>
                <a:ext uri="{FF2B5EF4-FFF2-40B4-BE49-F238E27FC236}">
                  <a16:creationId xmlns:a16="http://schemas.microsoft.com/office/drawing/2014/main" id="{B77ECEAC-A84A-B55D-EB87-9EE11799398A}"/>
                </a:ext>
              </a:extLst>
            </p:cNvPr>
            <p:cNvSpPr txBox="1"/>
            <p:nvPr/>
          </p:nvSpPr>
          <p:spPr>
            <a:xfrm>
              <a:off x="4455717" y="3445602"/>
              <a:ext cx="1097608" cy="274767"/>
            </a:xfrm>
            <a:prstGeom prst="rect">
              <a:avLst/>
            </a:prstGeom>
            <a:noFill/>
            <a:ln>
              <a:noFill/>
            </a:ln>
          </p:spPr>
          <p:txBody>
            <a:bodyPr spcFirstLastPara="1" wrap="square" lIns="146280" tIns="146280" rIns="146280" bIns="146280" anchor="ctr" anchorCtr="0">
              <a:noAutofit/>
            </a:bodyPr>
            <a:lstStyle/>
            <a:p>
              <a:pPr algn="ctr"/>
              <a:r>
                <a:rPr lang="en-US" sz="1600" i="1" dirty="0">
                  <a:solidFill>
                    <a:srgbClr val="C00000"/>
                  </a:solidFill>
                  <a:latin typeface="Arial" panose="020B0604020202020204" pitchFamily="34" charset="0"/>
                  <a:cs typeface="Arial" panose="020B0604020202020204" pitchFamily="34" charset="0"/>
                </a:rPr>
                <a:t>Use </a:t>
              </a:r>
              <a:r>
                <a:rPr lang="en-US" sz="1600" i="1" dirty="0" err="1">
                  <a:solidFill>
                    <a:srgbClr val="C00000"/>
                  </a:solidFill>
                  <a:latin typeface="Arial" panose="020B0604020202020204" pitchFamily="34" charset="0"/>
                  <a:cs typeface="Arial" panose="020B0604020202020204" pitchFamily="34" charset="0"/>
                </a:rPr>
                <a:t>ptr</a:t>
              </a:r>
              <a:endParaRPr sz="1600" i="1" dirty="0">
                <a:solidFill>
                  <a:srgbClr val="C0000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474555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216"/>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219"/>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25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4"/>
                                        </p:tgtEl>
                                        <p:attrNameLst>
                                          <p:attrName>style.visibility</p:attrName>
                                        </p:attrNameLst>
                                      </p:cBhvr>
                                      <p:to>
                                        <p:strVal val="visible"/>
                                      </p:to>
                                    </p:set>
                                  </p:childTnLst>
                                </p:cTn>
                              </p:par>
                              <p:par>
                                <p:cTn id="19" presetID="1" presetClass="exit" presetSubtype="0" fill="hold" grpId="0" nodeType="withEffect">
                                  <p:stCondLst>
                                    <p:cond delay="0"/>
                                  </p:stCondLst>
                                  <p:childTnLst>
                                    <p:set>
                                      <p:cBhvr>
                                        <p:cTn id="20" dur="1" fill="hold">
                                          <p:stCondLst>
                                            <p:cond delay="0"/>
                                          </p:stCondLst>
                                        </p:cTn>
                                        <p:tgtEl>
                                          <p:spTgt spid="255"/>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258"/>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257"/>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0"/>
                                        </p:tgtEl>
                                        <p:attrNameLst>
                                          <p:attrName>style.visibility</p:attrName>
                                        </p:attrNameLst>
                                      </p:cBhvr>
                                      <p:to>
                                        <p:strVal val="visible"/>
                                      </p:to>
                                    </p:set>
                                  </p:childTnLst>
                                </p:cTn>
                              </p:par>
                              <p:par>
                                <p:cTn id="33" presetID="1" presetClass="exit" presetSubtype="0" fill="hold" grpId="0" nodeType="withEffect">
                                  <p:stCondLst>
                                    <p:cond delay="0"/>
                                  </p:stCondLst>
                                  <p:childTnLst>
                                    <p:set>
                                      <p:cBhvr>
                                        <p:cTn id="34" dur="1" fill="hold">
                                          <p:stCondLst>
                                            <p:cond delay="0"/>
                                          </p:stCondLst>
                                        </p:cTn>
                                        <p:tgtEl>
                                          <p:spTgt spid="217"/>
                                        </p:tgtEl>
                                        <p:attrNameLst>
                                          <p:attrName>style.visibility</p:attrName>
                                        </p:attrNameLst>
                                      </p:cBhvr>
                                      <p:to>
                                        <p:strVal val="hidden"/>
                                      </p:to>
                                    </p:set>
                                  </p:childTnLst>
                                </p:cTn>
                              </p:par>
                              <p:par>
                                <p:cTn id="35" presetID="1" presetClass="entr" presetSubtype="0" fill="hold" grpId="1" nodeType="withEffect">
                                  <p:stCondLst>
                                    <p:cond delay="0"/>
                                  </p:stCondLst>
                                  <p:childTnLst>
                                    <p:set>
                                      <p:cBhvr>
                                        <p:cTn id="36" dur="1" fill="hold">
                                          <p:stCondLst>
                                            <p:cond delay="0"/>
                                          </p:stCondLst>
                                        </p:cTn>
                                        <p:tgtEl>
                                          <p:spTgt spid="216"/>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254"/>
                                        </p:tgtEl>
                                        <p:attrNameLst>
                                          <p:attrName>style.visibility</p:attrName>
                                        </p:attrNameLst>
                                      </p:cBhvr>
                                      <p:to>
                                        <p:strVal val="hidden"/>
                                      </p:to>
                                    </p:set>
                                  </p:childTnLst>
                                </p:cTn>
                              </p:par>
                              <p:par>
                                <p:cTn id="39" presetID="1" presetClass="entr" presetSubtype="0" fill="hold" grpId="1" nodeType="withEffect">
                                  <p:stCondLst>
                                    <p:cond delay="0"/>
                                  </p:stCondLst>
                                  <p:childTnLst>
                                    <p:set>
                                      <p:cBhvr>
                                        <p:cTn id="40" dur="1" fill="hold">
                                          <p:stCondLst>
                                            <p:cond delay="0"/>
                                          </p:stCondLst>
                                        </p:cTn>
                                        <p:tgtEl>
                                          <p:spTgt spid="25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4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par>
                                <p:cTn id="51" presetID="7" presetClass="emph" presetSubtype="2" fill="hold" nodeType="withEffect">
                                  <p:stCondLst>
                                    <p:cond delay="0"/>
                                  </p:stCondLst>
                                  <p:childTnLst>
                                    <p:animClr clrSpc="rgb" dir="cw">
                                      <p:cBhvr>
                                        <p:cTn id="52" dur="10" fill="hold"/>
                                        <p:tgtEl>
                                          <p:spTgt spid="259"/>
                                        </p:tgtEl>
                                        <p:attrNameLst>
                                          <p:attrName>stroke.color</p:attrName>
                                        </p:attrNameLst>
                                      </p:cBhvr>
                                      <p:to>
                                        <a:srgbClr val="C10000"/>
                                      </p:to>
                                    </p:animClr>
                                    <p:set>
                                      <p:cBhvr>
                                        <p:cTn id="53" dur="10" fill="hold"/>
                                        <p:tgtEl>
                                          <p:spTgt spid="259"/>
                                        </p:tgtEl>
                                        <p:attrNameLst>
                                          <p:attrName>stroke.on</p:attrName>
                                        </p:attrNameLst>
                                      </p:cBhvr>
                                      <p:to>
                                        <p:strVal val="true"/>
                                      </p:to>
                                    </p:set>
                                  </p:childTnLst>
                                </p:cTn>
                              </p:par>
                              <p:par>
                                <p:cTn id="54" presetID="1" presetClass="entr" presetSubtype="0" fill="hold" grpId="0" nodeType="withEffect">
                                  <p:stCondLst>
                                    <p:cond delay="0"/>
                                  </p:stCondLst>
                                  <p:childTnLst>
                                    <p:set>
                                      <p:cBhvr>
                                        <p:cTn id="55" dur="1" fill="hold">
                                          <p:stCondLst>
                                            <p:cond delay="0"/>
                                          </p:stCondLst>
                                        </p:cTn>
                                        <p:tgtEl>
                                          <p:spTgt spid="265"/>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8"/>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5"/>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3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59"/>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51"/>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70"/>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71"/>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47"/>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74"/>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48"/>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72"/>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49"/>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45"/>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73"/>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58"/>
                                        </p:tgtEl>
                                        <p:attrNameLst>
                                          <p:attrName>style.visibility</p:attrName>
                                        </p:attrNameLst>
                                      </p:cBhvr>
                                      <p:to>
                                        <p:strVal val="visible"/>
                                      </p:to>
                                    </p:set>
                                  </p:childTnLst>
                                </p:cTn>
                              </p:par>
                              <p:par>
                                <p:cTn id="92" presetID="1" presetClass="entr" presetSubtype="0" fill="hold" grpId="1" nodeType="withEffect">
                                  <p:stCondLst>
                                    <p:cond delay="0"/>
                                  </p:stCondLst>
                                  <p:childTnLst>
                                    <p:set>
                                      <p:cBhvr>
                                        <p:cTn id="93" dur="1" fill="hold">
                                          <p:stCondLst>
                                            <p:cond delay="0"/>
                                          </p:stCondLst>
                                        </p:cTn>
                                        <p:tgtEl>
                                          <p:spTgt spid="47"/>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65"/>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43"/>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50"/>
                                        </p:tgtEl>
                                        <p:attrNameLst>
                                          <p:attrName>style.visibility</p:attrName>
                                        </p:attrNameLst>
                                      </p:cBhvr>
                                      <p:to>
                                        <p:strVal val="visible"/>
                                      </p:to>
                                    </p:set>
                                  </p:childTnLst>
                                </p:cTn>
                              </p:par>
                              <p:par>
                                <p:cTn id="102" presetID="1" presetClass="entr" presetSubtype="0" fill="hold" nodeType="withEffect">
                                  <p:stCondLst>
                                    <p:cond delay="0"/>
                                  </p:stCondLst>
                                  <p:childTnLst>
                                    <p:set>
                                      <p:cBhvr>
                                        <p:cTn id="103" dur="1" fill="hold">
                                          <p:stCondLst>
                                            <p:cond delay="0"/>
                                          </p:stCondLst>
                                        </p:cTn>
                                        <p:tgtEl>
                                          <p:spTgt spid="63"/>
                                        </p:tgtEl>
                                        <p:attrNameLst>
                                          <p:attrName>style.visibility</p:attrName>
                                        </p:attrNameLst>
                                      </p:cBhvr>
                                      <p:to>
                                        <p:strVal val="visible"/>
                                      </p:to>
                                    </p:set>
                                  </p:childTnLst>
                                </p:cTn>
                              </p:par>
                              <p:par>
                                <p:cTn id="104" presetID="7" presetClass="emph" presetSubtype="2" fill="hold" nodeType="withEffect">
                                  <p:stCondLst>
                                    <p:cond delay="0"/>
                                  </p:stCondLst>
                                  <p:childTnLst>
                                    <p:animClr clrSpc="rgb" dir="cw">
                                      <p:cBhvr>
                                        <p:cTn id="105" dur="10" fill="hold"/>
                                        <p:tgtEl>
                                          <p:spTgt spid="58"/>
                                        </p:tgtEl>
                                        <p:attrNameLst>
                                          <p:attrName>stroke.color</p:attrName>
                                        </p:attrNameLst>
                                      </p:cBhvr>
                                      <p:to>
                                        <a:srgbClr val="C10000"/>
                                      </p:to>
                                    </p:animClr>
                                    <p:set>
                                      <p:cBhvr>
                                        <p:cTn id="106" dur="10" fill="hold"/>
                                        <p:tgtEl>
                                          <p:spTgt spid="58"/>
                                        </p:tgtEl>
                                        <p:attrNameLst>
                                          <p:attrName>stroke.on</p:attrName>
                                        </p:attrNameLst>
                                      </p:cBhvr>
                                      <p:to>
                                        <p:strVal val="tru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216" grpId="0" animBg="1"/>
      <p:bldP spid="216" grpId="1" animBg="1"/>
      <p:bldP spid="217" grpId="0" animBg="1"/>
      <p:bldP spid="228" grpId="0" animBg="1"/>
      <p:bldP spid="230" grpId="0" animBg="1"/>
      <p:bldP spid="241" grpId="0"/>
      <p:bldP spid="254" grpId="0"/>
      <p:bldP spid="254" grpId="1"/>
      <p:bldP spid="255" grpId="0" animBg="1"/>
      <p:bldP spid="238" grpId="0" animBg="1"/>
      <p:bldP spid="265" grpId="0" animBg="1"/>
      <p:bldP spid="258" grpId="0" animBg="1"/>
      <p:bldP spid="258" grpId="1" animBg="1"/>
      <p:bldP spid="43" grpId="0" animBg="1"/>
      <p:bldP spid="45" grpId="0" animBg="1"/>
      <p:bldP spid="47" grpId="0" animBg="1"/>
      <p:bldP spid="47" grpId="1" animBg="1"/>
      <p:bldP spid="48" grpId="0" animBg="1"/>
      <p:bldP spid="50" grpId="0"/>
      <p:bldP spid="65" grpId="0" animBg="1"/>
      <p:bldP spid="71" grpId="0" animBg="1"/>
      <p:bldP spid="72" grpId="0" animBg="1"/>
      <p:bldP spid="73" grpId="0" animBg="1"/>
      <p:bldP spid="74" grpId="0" animBg="1"/>
      <p:bldP spid="2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3CD01-0709-1D13-3156-E8477C3AE3BF}"/>
              </a:ext>
            </a:extLst>
          </p:cNvPr>
          <p:cNvSpPr>
            <a:spLocks noGrp="1"/>
          </p:cNvSpPr>
          <p:nvPr>
            <p:ph type="title"/>
          </p:nvPr>
        </p:nvSpPr>
        <p:spPr/>
        <p:txBody>
          <a:bodyPr/>
          <a:lstStyle/>
          <a:p>
            <a:r>
              <a:rPr lang="en-KR" dirty="0"/>
              <a:t>PeTAL Implementation</a:t>
            </a:r>
          </a:p>
        </p:txBody>
      </p:sp>
      <p:sp>
        <p:nvSpPr>
          <p:cNvPr id="4" name="Slide Number Placeholder 3">
            <a:extLst>
              <a:ext uri="{FF2B5EF4-FFF2-40B4-BE49-F238E27FC236}">
                <a16:creationId xmlns:a16="http://schemas.microsoft.com/office/drawing/2014/main" id="{5BA44C9E-387C-C8C7-38C4-0B41FA8070B9}"/>
              </a:ext>
            </a:extLst>
          </p:cNvPr>
          <p:cNvSpPr>
            <a:spLocks noGrp="1"/>
          </p:cNvSpPr>
          <p:nvPr>
            <p:ph type="sldNum" sz="quarter" idx="12"/>
          </p:nvPr>
        </p:nvSpPr>
        <p:spPr/>
        <p:txBody>
          <a:bodyPr/>
          <a:lstStyle/>
          <a:p>
            <a:fld id="{9ED31AF7-B9C1-7944-AC45-A988640FDEFC}" type="slidenum">
              <a:rPr lang="en-KR" smtClean="0"/>
              <a:t>20</a:t>
            </a:fld>
            <a:endParaRPr lang="en-KR"/>
          </a:p>
        </p:txBody>
      </p:sp>
      <p:sp>
        <p:nvSpPr>
          <p:cNvPr id="3" name="Rounded Rectangle 2">
            <a:extLst>
              <a:ext uri="{FF2B5EF4-FFF2-40B4-BE49-F238E27FC236}">
                <a16:creationId xmlns:a16="http://schemas.microsoft.com/office/drawing/2014/main" id="{6238B955-DEFF-8B1F-B71E-184527284F17}"/>
              </a:ext>
            </a:extLst>
          </p:cNvPr>
          <p:cNvSpPr/>
          <p:nvPr/>
        </p:nvSpPr>
        <p:spPr>
          <a:xfrm>
            <a:off x="2194478" y="1864711"/>
            <a:ext cx="7616677" cy="4494218"/>
          </a:xfrm>
          <a:prstGeom prst="roundRect">
            <a:avLst>
              <a:gd name="adj" fmla="val 7523"/>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pic>
        <p:nvPicPr>
          <p:cNvPr id="1026" name="Picture 2" descr="Small Wyvern logo">
            <a:extLst>
              <a:ext uri="{FF2B5EF4-FFF2-40B4-BE49-F238E27FC236}">
                <a16:creationId xmlns:a16="http://schemas.microsoft.com/office/drawing/2014/main" id="{055B09B6-6675-8611-F04F-96433FAC11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5379" y="1075227"/>
            <a:ext cx="674836" cy="42321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DECD21B-8E43-B966-91FE-600CF6650DC6}"/>
              </a:ext>
            </a:extLst>
          </p:cNvPr>
          <p:cNvSpPr txBox="1"/>
          <p:nvPr/>
        </p:nvSpPr>
        <p:spPr>
          <a:xfrm>
            <a:off x="9542537" y="1087529"/>
            <a:ext cx="2309158" cy="369332"/>
          </a:xfrm>
          <a:prstGeom prst="rect">
            <a:avLst/>
          </a:prstGeom>
          <a:noFill/>
        </p:spPr>
        <p:txBody>
          <a:bodyPr wrap="none" rtlCol="0">
            <a:spAutoFit/>
          </a:bodyPr>
          <a:lstStyle/>
          <a:p>
            <a:pPr algn="l"/>
            <a:r>
              <a:rPr lang="en-KR" dirty="0">
                <a:latin typeface="Arial" panose="020B0604020202020204" pitchFamily="34" charset="0"/>
                <a:cs typeface="Arial" panose="020B0604020202020204" pitchFamily="34" charset="0"/>
              </a:rPr>
              <a:t>Clang/LLVM IR Pass</a:t>
            </a:r>
          </a:p>
        </p:txBody>
      </p:sp>
      <p:sp>
        <p:nvSpPr>
          <p:cNvPr id="6" name="Rectangle 5">
            <a:extLst>
              <a:ext uri="{FF2B5EF4-FFF2-40B4-BE49-F238E27FC236}">
                <a16:creationId xmlns:a16="http://schemas.microsoft.com/office/drawing/2014/main" id="{65E37CFE-6423-A13C-A076-9936C80886A3}"/>
              </a:ext>
            </a:extLst>
          </p:cNvPr>
          <p:cNvSpPr/>
          <p:nvPr/>
        </p:nvSpPr>
        <p:spPr>
          <a:xfrm>
            <a:off x="310596" y="2389790"/>
            <a:ext cx="1593721" cy="828083"/>
          </a:xfrm>
          <a:prstGeom prst="rect">
            <a:avLst/>
          </a:prstGeom>
          <a:solidFill>
            <a:schemeClr val="bg1">
              <a:lumMod val="9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tx1"/>
                </a:solidFill>
                <a:latin typeface="Arial" panose="020B0604020202020204" pitchFamily="34" charset="0"/>
                <a:cs typeface="Arial" panose="020B0604020202020204" pitchFamily="34" charset="0"/>
              </a:rPr>
              <a:t>Linux kernel source code</a:t>
            </a:r>
          </a:p>
        </p:txBody>
      </p:sp>
      <p:cxnSp>
        <p:nvCxnSpPr>
          <p:cNvPr id="8" name="Straight Arrow Connector 7">
            <a:extLst>
              <a:ext uri="{FF2B5EF4-FFF2-40B4-BE49-F238E27FC236}">
                <a16:creationId xmlns:a16="http://schemas.microsoft.com/office/drawing/2014/main" id="{5038FAA2-FA0D-0988-D532-062FF70D494A}"/>
              </a:ext>
            </a:extLst>
          </p:cNvPr>
          <p:cNvCxnSpPr>
            <a:cxnSpLocks/>
            <a:stCxn id="6" idx="3"/>
            <a:endCxn id="10" idx="1"/>
          </p:cNvCxnSpPr>
          <p:nvPr/>
        </p:nvCxnSpPr>
        <p:spPr>
          <a:xfrm>
            <a:off x="1904317" y="2803832"/>
            <a:ext cx="1387407"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4BEA685-6A4D-AC65-4EE7-CAC1BA484B02}"/>
              </a:ext>
            </a:extLst>
          </p:cNvPr>
          <p:cNvSpPr/>
          <p:nvPr/>
        </p:nvSpPr>
        <p:spPr>
          <a:xfrm>
            <a:off x="3291724" y="2535320"/>
            <a:ext cx="1433270" cy="537024"/>
          </a:xfrm>
          <a:prstGeom prst="rect">
            <a:avLst/>
          </a:prstGeom>
          <a:solidFill>
            <a:schemeClr val="bg1">
              <a:lumMod val="9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tx1"/>
                </a:solidFill>
                <a:latin typeface="Arial" panose="020B0604020202020204" pitchFamily="34" charset="0"/>
                <a:cs typeface="Arial" panose="020B0604020202020204" pitchFamily="34" charset="0"/>
              </a:rPr>
              <a:t>vmlinux.bc</a:t>
            </a:r>
          </a:p>
        </p:txBody>
      </p:sp>
      <p:sp>
        <p:nvSpPr>
          <p:cNvPr id="11" name="TextBox 10">
            <a:extLst>
              <a:ext uri="{FF2B5EF4-FFF2-40B4-BE49-F238E27FC236}">
                <a16:creationId xmlns:a16="http://schemas.microsoft.com/office/drawing/2014/main" id="{FDC0D079-F9B7-CF09-A228-89ECD80EBC8F}"/>
              </a:ext>
            </a:extLst>
          </p:cNvPr>
          <p:cNvSpPr txBox="1"/>
          <p:nvPr/>
        </p:nvSpPr>
        <p:spPr>
          <a:xfrm>
            <a:off x="2450728" y="2477354"/>
            <a:ext cx="633507" cy="307777"/>
          </a:xfrm>
          <a:prstGeom prst="rect">
            <a:avLst/>
          </a:prstGeom>
          <a:noFill/>
        </p:spPr>
        <p:txBody>
          <a:bodyPr wrap="none" rtlCol="0">
            <a:spAutoFit/>
          </a:bodyPr>
          <a:lstStyle/>
          <a:p>
            <a:pPr algn="l"/>
            <a:r>
              <a:rPr lang="en-KR" sz="1400" i="1" dirty="0">
                <a:latin typeface="Arial" panose="020B0604020202020204" pitchFamily="34" charset="0"/>
                <a:cs typeface="Arial" panose="020B0604020202020204" pitchFamily="34" charset="0"/>
              </a:rPr>
              <a:t>wllvm</a:t>
            </a:r>
          </a:p>
        </p:txBody>
      </p:sp>
      <p:grpSp>
        <p:nvGrpSpPr>
          <p:cNvPr id="17" name="Group 16">
            <a:extLst>
              <a:ext uri="{FF2B5EF4-FFF2-40B4-BE49-F238E27FC236}">
                <a16:creationId xmlns:a16="http://schemas.microsoft.com/office/drawing/2014/main" id="{A0D8BE52-AC84-B39A-6584-C8FF7F53349E}"/>
              </a:ext>
            </a:extLst>
          </p:cNvPr>
          <p:cNvGrpSpPr/>
          <p:nvPr/>
        </p:nvGrpSpPr>
        <p:grpSpPr>
          <a:xfrm>
            <a:off x="2692400" y="4899354"/>
            <a:ext cx="2631918" cy="1006184"/>
            <a:chOff x="2692400" y="4899354"/>
            <a:chExt cx="2631918" cy="1006184"/>
          </a:xfrm>
        </p:grpSpPr>
        <p:sp>
          <p:nvSpPr>
            <p:cNvPr id="1134" name="Rectangle 1133">
              <a:extLst>
                <a:ext uri="{FF2B5EF4-FFF2-40B4-BE49-F238E27FC236}">
                  <a16:creationId xmlns:a16="http://schemas.microsoft.com/office/drawing/2014/main" id="{C0868FD4-D31F-EED3-068E-EBA499DCB41A}"/>
                </a:ext>
              </a:extLst>
            </p:cNvPr>
            <p:cNvSpPr/>
            <p:nvPr/>
          </p:nvSpPr>
          <p:spPr>
            <a:xfrm>
              <a:off x="2692400" y="5257954"/>
              <a:ext cx="2631918" cy="647584"/>
            </a:xfrm>
            <a:prstGeom prst="rect">
              <a:avLst/>
            </a:prstGeom>
            <a:solidFill>
              <a:schemeClr val="bg1">
                <a:lumMod val="9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600" dirty="0">
                  <a:solidFill>
                    <a:schemeClr val="tx1"/>
                  </a:solidFill>
                  <a:latin typeface="Arial" panose="020B0604020202020204" pitchFamily="34" charset="0"/>
                  <a:cs typeface="Arial" panose="020B0604020202020204" pitchFamily="34" charset="0"/>
                </a:rPr>
                <a:t>Priv/Non-priv Obj access </a:t>
              </a:r>
            </a:p>
            <a:p>
              <a:pPr algn="ctr"/>
              <a:r>
                <a:rPr lang="en-KR" sz="1600" dirty="0">
                  <a:solidFill>
                    <a:schemeClr val="tx1"/>
                  </a:solidFill>
                  <a:latin typeface="Arial" panose="020B0604020202020204" pitchFamily="34" charset="0"/>
                  <a:cs typeface="Arial" panose="020B0604020202020204" pitchFamily="34" charset="0"/>
                </a:rPr>
                <a:t>Priv/Non-priv Ptr access</a:t>
              </a:r>
            </a:p>
          </p:txBody>
        </p:sp>
        <p:cxnSp>
          <p:nvCxnSpPr>
            <p:cNvPr id="1135" name="Straight Arrow Connector 1134">
              <a:extLst>
                <a:ext uri="{FF2B5EF4-FFF2-40B4-BE49-F238E27FC236}">
                  <a16:creationId xmlns:a16="http://schemas.microsoft.com/office/drawing/2014/main" id="{2CC076AD-06C2-D516-6274-EAD5B6BB2B77}"/>
                </a:ext>
              </a:extLst>
            </p:cNvPr>
            <p:cNvCxnSpPr>
              <a:cxnSpLocks/>
              <a:stCxn id="1100" idx="2"/>
              <a:endCxn id="1134" idx="0"/>
            </p:cNvCxnSpPr>
            <p:nvPr/>
          </p:nvCxnSpPr>
          <p:spPr>
            <a:xfrm>
              <a:off x="4008359" y="4899354"/>
              <a:ext cx="0" cy="3586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09383C31-D043-B08F-E5CA-DC24939DD2E8}"/>
              </a:ext>
            </a:extLst>
          </p:cNvPr>
          <p:cNvGrpSpPr/>
          <p:nvPr/>
        </p:nvGrpSpPr>
        <p:grpSpPr>
          <a:xfrm>
            <a:off x="5767479" y="3475682"/>
            <a:ext cx="3788481" cy="1197326"/>
            <a:chOff x="5767479" y="3475682"/>
            <a:chExt cx="3788481" cy="1197326"/>
          </a:xfrm>
        </p:grpSpPr>
        <p:sp>
          <p:nvSpPr>
            <p:cNvPr id="1087" name="TextBox 1086">
              <a:extLst>
                <a:ext uri="{FF2B5EF4-FFF2-40B4-BE49-F238E27FC236}">
                  <a16:creationId xmlns:a16="http://schemas.microsoft.com/office/drawing/2014/main" id="{FF81B5F0-5785-52D6-052A-68F1BD74FB94}"/>
                </a:ext>
              </a:extLst>
            </p:cNvPr>
            <p:cNvSpPr txBox="1"/>
            <p:nvPr/>
          </p:nvSpPr>
          <p:spPr>
            <a:xfrm>
              <a:off x="5767479" y="3664154"/>
              <a:ext cx="1027308" cy="492443"/>
            </a:xfrm>
            <a:prstGeom prst="rect">
              <a:avLst/>
            </a:prstGeom>
            <a:noFill/>
          </p:spPr>
          <p:txBody>
            <a:bodyPr wrap="square" lIns="0" tIns="0" rIns="0" bIns="0" rtlCol="0">
              <a:spAutoFit/>
            </a:bodyPr>
            <a:lstStyle/>
            <a:p>
              <a:pPr algn="ctr"/>
              <a:r>
                <a:rPr lang="en-KR" sz="1600" i="1" dirty="0">
                  <a:latin typeface="Arial" panose="020B0604020202020204" pitchFamily="34" charset="0"/>
                  <a:cs typeface="Arial" panose="020B0604020202020204" pitchFamily="34" charset="0"/>
                </a:rPr>
                <a:t>Privileged Objects</a:t>
              </a:r>
            </a:p>
          </p:txBody>
        </p:sp>
        <p:grpSp>
          <p:nvGrpSpPr>
            <p:cNvPr id="1098" name="Group 1097">
              <a:extLst>
                <a:ext uri="{FF2B5EF4-FFF2-40B4-BE49-F238E27FC236}">
                  <a16:creationId xmlns:a16="http://schemas.microsoft.com/office/drawing/2014/main" id="{3827C211-F8FF-7351-AC72-E9C61054BABF}"/>
                </a:ext>
              </a:extLst>
            </p:cNvPr>
            <p:cNvGrpSpPr/>
            <p:nvPr/>
          </p:nvGrpSpPr>
          <p:grpSpPr>
            <a:xfrm>
              <a:off x="7794179" y="3660350"/>
              <a:ext cx="744847" cy="568823"/>
              <a:chOff x="7930010" y="4122676"/>
              <a:chExt cx="547306" cy="417965"/>
            </a:xfrm>
          </p:grpSpPr>
          <p:sp>
            <p:nvSpPr>
              <p:cNvPr id="1089" name="Document 1088">
                <a:extLst>
                  <a:ext uri="{FF2B5EF4-FFF2-40B4-BE49-F238E27FC236}">
                    <a16:creationId xmlns:a16="http://schemas.microsoft.com/office/drawing/2014/main" id="{4FC3032E-9B47-B7C3-5442-18DF7BDD4945}"/>
                  </a:ext>
                </a:extLst>
              </p:cNvPr>
              <p:cNvSpPr/>
              <p:nvPr/>
            </p:nvSpPr>
            <p:spPr>
              <a:xfrm>
                <a:off x="7930010" y="4122676"/>
                <a:ext cx="547306" cy="417965"/>
              </a:xfrm>
              <a:prstGeom prst="flowChartDocument">
                <a:avLst/>
              </a:prstGeom>
              <a:solidFill>
                <a:schemeClr val="bg1">
                  <a:lumMod val="95000"/>
                </a:schemeClr>
              </a:solidFill>
              <a:ln w="2540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800" dirty="0">
                  <a:solidFill>
                    <a:schemeClr val="tx1"/>
                  </a:solidFill>
                  <a:latin typeface="Arial" panose="020B0604020202020204" pitchFamily="34" charset="0"/>
                  <a:cs typeface="Arial" panose="020B0604020202020204" pitchFamily="34" charset="0"/>
                </a:endParaRPr>
              </a:p>
            </p:txBody>
          </p:sp>
          <p:grpSp>
            <p:nvGrpSpPr>
              <p:cNvPr id="1082" name="Group 1081">
                <a:extLst>
                  <a:ext uri="{FF2B5EF4-FFF2-40B4-BE49-F238E27FC236}">
                    <a16:creationId xmlns:a16="http://schemas.microsoft.com/office/drawing/2014/main" id="{8C47537D-80BC-E321-0C30-8B890C00882B}"/>
                  </a:ext>
                </a:extLst>
              </p:cNvPr>
              <p:cNvGrpSpPr/>
              <p:nvPr/>
            </p:nvGrpSpPr>
            <p:grpSpPr>
              <a:xfrm>
                <a:off x="7984033" y="4211299"/>
                <a:ext cx="398944" cy="183712"/>
                <a:chOff x="6458192" y="4727739"/>
                <a:chExt cx="640073" cy="209156"/>
              </a:xfrm>
              <a:solidFill>
                <a:schemeClr val="accent6">
                  <a:lumMod val="40000"/>
                  <a:lumOff val="60000"/>
                </a:schemeClr>
              </a:solidFill>
            </p:grpSpPr>
            <p:sp>
              <p:nvSpPr>
                <p:cNvPr id="1083" name="Rectangle 1082">
                  <a:extLst>
                    <a:ext uri="{FF2B5EF4-FFF2-40B4-BE49-F238E27FC236}">
                      <a16:creationId xmlns:a16="http://schemas.microsoft.com/office/drawing/2014/main" id="{62F09662-4B57-7C16-B10F-39B812D30F73}"/>
                    </a:ext>
                  </a:extLst>
                </p:cNvPr>
                <p:cNvSpPr/>
                <p:nvPr/>
              </p:nvSpPr>
              <p:spPr>
                <a:xfrm>
                  <a:off x="6580561" y="4727739"/>
                  <a:ext cx="517704" cy="88455"/>
                </a:xfrm>
                <a:prstGeom prst="rect">
                  <a:avLst/>
                </a:prstGeom>
                <a:grpFill/>
                <a:ln w="2540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700" b="1" dirty="0">
                    <a:solidFill>
                      <a:schemeClr val="tx1"/>
                    </a:solidFill>
                    <a:latin typeface="Arial" panose="020B0604020202020204" pitchFamily="34" charset="0"/>
                    <a:cs typeface="Arial" panose="020B0604020202020204" pitchFamily="34" charset="0"/>
                  </a:endParaRPr>
                </a:p>
              </p:txBody>
            </p:sp>
            <p:sp>
              <p:nvSpPr>
                <p:cNvPr id="1084" name="Rectangle 1083">
                  <a:extLst>
                    <a:ext uri="{FF2B5EF4-FFF2-40B4-BE49-F238E27FC236}">
                      <a16:creationId xmlns:a16="http://schemas.microsoft.com/office/drawing/2014/main" id="{1042D1EC-0382-7A4A-D11E-D87276B4A4E5}"/>
                    </a:ext>
                  </a:extLst>
                </p:cNvPr>
                <p:cNvSpPr/>
                <p:nvPr/>
              </p:nvSpPr>
              <p:spPr>
                <a:xfrm>
                  <a:off x="6530343" y="4785696"/>
                  <a:ext cx="517704" cy="88455"/>
                </a:xfrm>
                <a:prstGeom prst="rect">
                  <a:avLst/>
                </a:prstGeom>
                <a:grpFill/>
                <a:ln w="2540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700" b="1" dirty="0">
                    <a:solidFill>
                      <a:schemeClr val="tx1"/>
                    </a:solidFill>
                    <a:latin typeface="Arial" panose="020B0604020202020204" pitchFamily="34" charset="0"/>
                    <a:cs typeface="Arial" panose="020B0604020202020204" pitchFamily="34" charset="0"/>
                  </a:endParaRPr>
                </a:p>
              </p:txBody>
            </p:sp>
            <p:sp>
              <p:nvSpPr>
                <p:cNvPr id="1085" name="Rectangle 1084">
                  <a:extLst>
                    <a:ext uri="{FF2B5EF4-FFF2-40B4-BE49-F238E27FC236}">
                      <a16:creationId xmlns:a16="http://schemas.microsoft.com/office/drawing/2014/main" id="{890C2898-3ECD-9AA6-1054-EB055D801BF3}"/>
                    </a:ext>
                  </a:extLst>
                </p:cNvPr>
                <p:cNvSpPr/>
                <p:nvPr/>
              </p:nvSpPr>
              <p:spPr>
                <a:xfrm>
                  <a:off x="6458192" y="4848440"/>
                  <a:ext cx="517704" cy="88455"/>
                </a:xfrm>
                <a:prstGeom prst="rect">
                  <a:avLst/>
                </a:prstGeom>
                <a:grpFill/>
                <a:ln w="2540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700" b="1" dirty="0">
                    <a:solidFill>
                      <a:schemeClr val="tx1"/>
                    </a:solidFill>
                    <a:latin typeface="Arial" panose="020B0604020202020204" pitchFamily="34" charset="0"/>
                    <a:cs typeface="Arial" panose="020B0604020202020204" pitchFamily="34" charset="0"/>
                  </a:endParaRPr>
                </a:p>
              </p:txBody>
            </p:sp>
          </p:grpSp>
        </p:grpSp>
        <p:sp>
          <p:nvSpPr>
            <p:cNvPr id="1090" name="TextBox 1089">
              <a:extLst>
                <a:ext uri="{FF2B5EF4-FFF2-40B4-BE49-F238E27FC236}">
                  <a16:creationId xmlns:a16="http://schemas.microsoft.com/office/drawing/2014/main" id="{2DE45237-EE65-0641-542D-9BD74AEC1D2A}"/>
                </a:ext>
              </a:extLst>
            </p:cNvPr>
            <p:cNvSpPr txBox="1"/>
            <p:nvPr/>
          </p:nvSpPr>
          <p:spPr>
            <a:xfrm>
              <a:off x="8655562" y="3665605"/>
              <a:ext cx="900398" cy="492443"/>
            </a:xfrm>
            <a:prstGeom prst="rect">
              <a:avLst/>
            </a:prstGeom>
            <a:noFill/>
          </p:spPr>
          <p:txBody>
            <a:bodyPr wrap="square" lIns="0" tIns="0" rIns="0" bIns="0" rtlCol="0">
              <a:spAutoFit/>
            </a:bodyPr>
            <a:lstStyle/>
            <a:p>
              <a:pPr algn="ctr"/>
              <a:r>
                <a:rPr lang="en-KR" sz="1600" i="1" dirty="0">
                  <a:latin typeface="Arial" panose="020B0604020202020204" pitchFamily="34" charset="0"/>
                  <a:cs typeface="Arial" panose="020B0604020202020204" pitchFamily="34" charset="0"/>
                </a:rPr>
                <a:t>Privileged Pointers</a:t>
              </a:r>
            </a:p>
          </p:txBody>
        </p:sp>
        <p:grpSp>
          <p:nvGrpSpPr>
            <p:cNvPr id="1097" name="Group 1096">
              <a:extLst>
                <a:ext uri="{FF2B5EF4-FFF2-40B4-BE49-F238E27FC236}">
                  <a16:creationId xmlns:a16="http://schemas.microsoft.com/office/drawing/2014/main" id="{80141825-6DBA-FB1D-ECC6-5D204E1B31A1}"/>
                </a:ext>
              </a:extLst>
            </p:cNvPr>
            <p:cNvGrpSpPr/>
            <p:nvPr/>
          </p:nvGrpSpPr>
          <p:grpSpPr>
            <a:xfrm>
              <a:off x="6879684" y="3664677"/>
              <a:ext cx="744847" cy="563704"/>
              <a:chOff x="7163580" y="4124379"/>
              <a:chExt cx="547306" cy="414204"/>
            </a:xfrm>
          </p:grpSpPr>
          <p:sp>
            <p:nvSpPr>
              <p:cNvPr id="1088" name="Document 1087">
                <a:extLst>
                  <a:ext uri="{FF2B5EF4-FFF2-40B4-BE49-F238E27FC236}">
                    <a16:creationId xmlns:a16="http://schemas.microsoft.com/office/drawing/2014/main" id="{0F55697A-02EA-600E-ECE2-A99A1B301F98}"/>
                  </a:ext>
                </a:extLst>
              </p:cNvPr>
              <p:cNvSpPr/>
              <p:nvPr/>
            </p:nvSpPr>
            <p:spPr>
              <a:xfrm>
                <a:off x="7163580" y="4124379"/>
                <a:ext cx="547306" cy="414204"/>
              </a:xfrm>
              <a:prstGeom prst="flowChartDocument">
                <a:avLst/>
              </a:prstGeom>
              <a:solidFill>
                <a:schemeClr val="bg1">
                  <a:lumMod val="95000"/>
                </a:schemeClr>
              </a:solidFill>
              <a:ln w="2540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800" dirty="0">
                  <a:solidFill>
                    <a:schemeClr val="tx1"/>
                  </a:solidFill>
                  <a:latin typeface="Arial" panose="020B0604020202020204" pitchFamily="34" charset="0"/>
                  <a:cs typeface="Arial" panose="020B0604020202020204" pitchFamily="34" charset="0"/>
                </a:endParaRPr>
              </a:p>
            </p:txBody>
          </p:sp>
          <p:grpSp>
            <p:nvGrpSpPr>
              <p:cNvPr id="1091" name="Group 1090">
                <a:extLst>
                  <a:ext uri="{FF2B5EF4-FFF2-40B4-BE49-F238E27FC236}">
                    <a16:creationId xmlns:a16="http://schemas.microsoft.com/office/drawing/2014/main" id="{80D9ECCF-0925-16F5-5676-02B913C0387D}"/>
                  </a:ext>
                </a:extLst>
              </p:cNvPr>
              <p:cNvGrpSpPr/>
              <p:nvPr/>
            </p:nvGrpSpPr>
            <p:grpSpPr>
              <a:xfrm>
                <a:off x="7222711" y="4216772"/>
                <a:ext cx="415960" cy="186759"/>
                <a:chOff x="6489822" y="4707926"/>
                <a:chExt cx="629959" cy="205357"/>
              </a:xfrm>
              <a:solidFill>
                <a:schemeClr val="accent6">
                  <a:lumMod val="40000"/>
                  <a:lumOff val="60000"/>
                </a:schemeClr>
              </a:solidFill>
            </p:grpSpPr>
            <p:sp>
              <p:nvSpPr>
                <p:cNvPr id="1092" name="Rectangle 1091">
                  <a:extLst>
                    <a:ext uri="{FF2B5EF4-FFF2-40B4-BE49-F238E27FC236}">
                      <a16:creationId xmlns:a16="http://schemas.microsoft.com/office/drawing/2014/main" id="{34312B7D-F5CF-221E-FB0A-13F0E54C76FE}"/>
                    </a:ext>
                  </a:extLst>
                </p:cNvPr>
                <p:cNvSpPr/>
                <p:nvPr/>
              </p:nvSpPr>
              <p:spPr>
                <a:xfrm>
                  <a:off x="6602077" y="4707926"/>
                  <a:ext cx="517704" cy="88455"/>
                </a:xfrm>
                <a:prstGeom prst="rect">
                  <a:avLst/>
                </a:prstGeom>
                <a:solidFill>
                  <a:schemeClr val="accent2">
                    <a:lumMod val="60000"/>
                    <a:lumOff val="40000"/>
                  </a:schemeClr>
                </a:solidFill>
                <a:ln w="2540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700" b="1" dirty="0">
                    <a:solidFill>
                      <a:schemeClr val="tx1"/>
                    </a:solidFill>
                    <a:latin typeface="Arial" panose="020B0604020202020204" pitchFamily="34" charset="0"/>
                    <a:cs typeface="Arial" panose="020B0604020202020204" pitchFamily="34" charset="0"/>
                  </a:endParaRPr>
                </a:p>
              </p:txBody>
            </p:sp>
            <p:sp>
              <p:nvSpPr>
                <p:cNvPr id="1093" name="Rectangle 1092">
                  <a:extLst>
                    <a:ext uri="{FF2B5EF4-FFF2-40B4-BE49-F238E27FC236}">
                      <a16:creationId xmlns:a16="http://schemas.microsoft.com/office/drawing/2014/main" id="{666C0B24-6F72-1497-032C-CF7690B8A28D}"/>
                    </a:ext>
                  </a:extLst>
                </p:cNvPr>
                <p:cNvSpPr/>
                <p:nvPr/>
              </p:nvSpPr>
              <p:spPr>
                <a:xfrm>
                  <a:off x="6546151" y="4758971"/>
                  <a:ext cx="517702" cy="88455"/>
                </a:xfrm>
                <a:prstGeom prst="rect">
                  <a:avLst/>
                </a:prstGeom>
                <a:solidFill>
                  <a:schemeClr val="accent2">
                    <a:lumMod val="60000"/>
                    <a:lumOff val="40000"/>
                  </a:schemeClr>
                </a:solidFill>
                <a:ln w="2540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700" b="1" dirty="0">
                    <a:solidFill>
                      <a:schemeClr val="tx1"/>
                    </a:solidFill>
                    <a:latin typeface="Arial" panose="020B0604020202020204" pitchFamily="34" charset="0"/>
                    <a:cs typeface="Arial" panose="020B0604020202020204" pitchFamily="34" charset="0"/>
                  </a:endParaRPr>
                </a:p>
              </p:txBody>
            </p:sp>
            <p:sp>
              <p:nvSpPr>
                <p:cNvPr id="1094" name="Rectangle 1093">
                  <a:extLst>
                    <a:ext uri="{FF2B5EF4-FFF2-40B4-BE49-F238E27FC236}">
                      <a16:creationId xmlns:a16="http://schemas.microsoft.com/office/drawing/2014/main" id="{9D98E039-807C-B25D-A68D-44790DFBF7FE}"/>
                    </a:ext>
                  </a:extLst>
                </p:cNvPr>
                <p:cNvSpPr/>
                <p:nvPr/>
              </p:nvSpPr>
              <p:spPr>
                <a:xfrm>
                  <a:off x="6489822" y="4824828"/>
                  <a:ext cx="517704" cy="88455"/>
                </a:xfrm>
                <a:prstGeom prst="rect">
                  <a:avLst/>
                </a:prstGeom>
                <a:solidFill>
                  <a:schemeClr val="accent2">
                    <a:lumMod val="60000"/>
                    <a:lumOff val="40000"/>
                  </a:schemeClr>
                </a:solidFill>
                <a:ln w="2540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KR" sz="700" b="1" dirty="0">
                    <a:solidFill>
                      <a:schemeClr val="tx1"/>
                    </a:solidFill>
                    <a:latin typeface="Arial" panose="020B0604020202020204" pitchFamily="34" charset="0"/>
                    <a:cs typeface="Arial" panose="020B0604020202020204" pitchFamily="34" charset="0"/>
                  </a:endParaRPr>
                </a:p>
              </p:txBody>
            </p:sp>
          </p:grpSp>
        </p:grpSp>
        <p:sp>
          <p:nvSpPr>
            <p:cNvPr id="1127" name="TextBox 1126">
              <a:extLst>
                <a:ext uri="{FF2B5EF4-FFF2-40B4-BE49-F238E27FC236}">
                  <a16:creationId xmlns:a16="http://schemas.microsoft.com/office/drawing/2014/main" id="{AE9E31FC-E7E4-5B42-CA4D-2D254A429A1A}"/>
                </a:ext>
              </a:extLst>
            </p:cNvPr>
            <p:cNvSpPr txBox="1"/>
            <p:nvPr/>
          </p:nvSpPr>
          <p:spPr>
            <a:xfrm>
              <a:off x="6373224" y="4426787"/>
              <a:ext cx="2627522" cy="246221"/>
            </a:xfrm>
            <a:prstGeom prst="rect">
              <a:avLst/>
            </a:prstGeom>
            <a:noFill/>
          </p:spPr>
          <p:txBody>
            <a:bodyPr wrap="square" lIns="0" tIns="0" rIns="0" bIns="0" rtlCol="0">
              <a:spAutoFit/>
            </a:bodyPr>
            <a:lstStyle/>
            <a:p>
              <a:pPr algn="ctr"/>
              <a:r>
                <a:rPr lang="en-KR" sz="1600" i="1" dirty="0">
                  <a:latin typeface="Arial" panose="020B0604020202020204" pitchFamily="34" charset="0"/>
                  <a:cs typeface="Arial" panose="020B0604020202020204" pitchFamily="34" charset="0"/>
                </a:rPr>
                <a:t>Struct Types, GV Names</a:t>
              </a:r>
            </a:p>
          </p:txBody>
        </p:sp>
        <p:cxnSp>
          <p:nvCxnSpPr>
            <p:cNvPr id="1149" name="Straight Arrow Connector 1148">
              <a:extLst>
                <a:ext uri="{FF2B5EF4-FFF2-40B4-BE49-F238E27FC236}">
                  <a16:creationId xmlns:a16="http://schemas.microsoft.com/office/drawing/2014/main" id="{682DDBCA-28C6-A788-5567-6EEE68C83770}"/>
                </a:ext>
              </a:extLst>
            </p:cNvPr>
            <p:cNvCxnSpPr>
              <a:cxnSpLocks/>
              <a:endCxn id="1088" idx="0"/>
            </p:cNvCxnSpPr>
            <p:nvPr/>
          </p:nvCxnSpPr>
          <p:spPr>
            <a:xfrm>
              <a:off x="7252108" y="3475682"/>
              <a:ext cx="0" cy="1889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3" name="Straight Arrow Connector 1152">
              <a:extLst>
                <a:ext uri="{FF2B5EF4-FFF2-40B4-BE49-F238E27FC236}">
                  <a16:creationId xmlns:a16="http://schemas.microsoft.com/office/drawing/2014/main" id="{955BA6BB-B49F-D6A1-EF32-924A597ADEFF}"/>
                </a:ext>
              </a:extLst>
            </p:cNvPr>
            <p:cNvCxnSpPr>
              <a:cxnSpLocks/>
              <a:endCxn id="1089" idx="0"/>
            </p:cNvCxnSpPr>
            <p:nvPr/>
          </p:nvCxnSpPr>
          <p:spPr>
            <a:xfrm flipH="1">
              <a:off x="8166603" y="3475682"/>
              <a:ext cx="1" cy="18466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228" name="TextBox 1227">
            <a:extLst>
              <a:ext uri="{FF2B5EF4-FFF2-40B4-BE49-F238E27FC236}">
                <a16:creationId xmlns:a16="http://schemas.microsoft.com/office/drawing/2014/main" id="{072AC15F-B452-9708-4346-5B9218A2B46E}"/>
              </a:ext>
            </a:extLst>
          </p:cNvPr>
          <p:cNvSpPr txBox="1"/>
          <p:nvPr/>
        </p:nvSpPr>
        <p:spPr>
          <a:xfrm>
            <a:off x="2311973" y="2216169"/>
            <a:ext cx="2016899" cy="307777"/>
          </a:xfrm>
          <a:prstGeom prst="rect">
            <a:avLst/>
          </a:prstGeom>
          <a:noFill/>
        </p:spPr>
        <p:txBody>
          <a:bodyPr wrap="none" rtlCol="0">
            <a:spAutoFit/>
          </a:bodyPr>
          <a:lstStyle/>
          <a:p>
            <a:pPr algn="l"/>
            <a:r>
              <a:rPr lang="en-KR" sz="1400" i="1" dirty="0">
                <a:latin typeface="Arial" panose="020B0604020202020204" pitchFamily="34" charset="0"/>
                <a:cs typeface="Arial" panose="020B0604020202020204" pitchFamily="34" charset="0"/>
              </a:rPr>
              <a:t>PeX - indcall resolution</a:t>
            </a:r>
          </a:p>
        </p:txBody>
      </p:sp>
      <p:grpSp>
        <p:nvGrpSpPr>
          <p:cNvPr id="21" name="Group 20">
            <a:extLst>
              <a:ext uri="{FF2B5EF4-FFF2-40B4-BE49-F238E27FC236}">
                <a16:creationId xmlns:a16="http://schemas.microsoft.com/office/drawing/2014/main" id="{F3CF97F5-1B10-6206-AB46-03935C330AF5}"/>
              </a:ext>
            </a:extLst>
          </p:cNvPr>
          <p:cNvGrpSpPr/>
          <p:nvPr/>
        </p:nvGrpSpPr>
        <p:grpSpPr>
          <a:xfrm>
            <a:off x="8922891" y="5043240"/>
            <a:ext cx="2731172" cy="1077012"/>
            <a:chOff x="8922891" y="5043240"/>
            <a:chExt cx="2731172" cy="1077012"/>
          </a:xfrm>
        </p:grpSpPr>
        <p:sp>
          <p:nvSpPr>
            <p:cNvPr id="1275" name="Rectangle 1274">
              <a:extLst>
                <a:ext uri="{FF2B5EF4-FFF2-40B4-BE49-F238E27FC236}">
                  <a16:creationId xmlns:a16="http://schemas.microsoft.com/office/drawing/2014/main" id="{B87DD7C2-B681-2B59-A84F-5232C4D2CB18}"/>
                </a:ext>
              </a:extLst>
            </p:cNvPr>
            <p:cNvSpPr/>
            <p:nvPr/>
          </p:nvSpPr>
          <p:spPr>
            <a:xfrm>
              <a:off x="10218226" y="5043240"/>
              <a:ext cx="1435837" cy="1077012"/>
            </a:xfrm>
            <a:prstGeom prst="rect">
              <a:avLst/>
            </a:prstGeom>
            <a:solidFill>
              <a:schemeClr val="accent2">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tx1"/>
                  </a:solidFill>
                  <a:latin typeface="Arial" panose="020B0604020202020204" pitchFamily="34" charset="0"/>
                  <a:cs typeface="Arial" panose="020B0604020202020204" pitchFamily="34" charset="0"/>
                </a:rPr>
                <a:t>PeTAL-hardened Kernel</a:t>
              </a:r>
            </a:p>
          </p:txBody>
        </p:sp>
        <p:cxnSp>
          <p:nvCxnSpPr>
            <p:cNvPr id="1276" name="Straight Arrow Connector 1275">
              <a:extLst>
                <a:ext uri="{FF2B5EF4-FFF2-40B4-BE49-F238E27FC236}">
                  <a16:creationId xmlns:a16="http://schemas.microsoft.com/office/drawing/2014/main" id="{803529C0-6CC9-5676-25DB-DACC85D5BE66}"/>
                </a:ext>
              </a:extLst>
            </p:cNvPr>
            <p:cNvCxnSpPr>
              <a:cxnSpLocks/>
              <a:stCxn id="1125" idx="3"/>
              <a:endCxn id="1275" idx="1"/>
            </p:cNvCxnSpPr>
            <p:nvPr/>
          </p:nvCxnSpPr>
          <p:spPr>
            <a:xfrm>
              <a:off x="8922891" y="5581746"/>
              <a:ext cx="129533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280" name="TextBox 1279">
            <a:extLst>
              <a:ext uri="{FF2B5EF4-FFF2-40B4-BE49-F238E27FC236}">
                <a16:creationId xmlns:a16="http://schemas.microsoft.com/office/drawing/2014/main" id="{03D311B1-2A72-793A-32FE-954B5F9650D2}"/>
              </a:ext>
            </a:extLst>
          </p:cNvPr>
          <p:cNvSpPr txBox="1"/>
          <p:nvPr/>
        </p:nvSpPr>
        <p:spPr>
          <a:xfrm>
            <a:off x="2418856" y="1461014"/>
            <a:ext cx="872868" cy="369332"/>
          </a:xfrm>
          <a:prstGeom prst="rect">
            <a:avLst/>
          </a:prstGeom>
          <a:noFill/>
        </p:spPr>
        <p:txBody>
          <a:bodyPr wrap="none" rtlCol="0">
            <a:spAutoFit/>
          </a:bodyPr>
          <a:lstStyle/>
          <a:p>
            <a:pPr algn="l"/>
            <a:r>
              <a:rPr lang="en-KR" dirty="0">
                <a:latin typeface="Arial" panose="020B0604020202020204" pitchFamily="34" charset="0"/>
                <a:cs typeface="Arial" panose="020B0604020202020204" pitchFamily="34" charset="0"/>
              </a:rPr>
              <a:t>PeTAL</a:t>
            </a:r>
          </a:p>
        </p:txBody>
      </p:sp>
      <p:grpSp>
        <p:nvGrpSpPr>
          <p:cNvPr id="23" name="Group 22">
            <a:extLst>
              <a:ext uri="{FF2B5EF4-FFF2-40B4-BE49-F238E27FC236}">
                <a16:creationId xmlns:a16="http://schemas.microsoft.com/office/drawing/2014/main" id="{E3D2462F-6566-7D4B-52F3-BDCAA12619D1}"/>
              </a:ext>
            </a:extLst>
          </p:cNvPr>
          <p:cNvGrpSpPr/>
          <p:nvPr/>
        </p:nvGrpSpPr>
        <p:grpSpPr>
          <a:xfrm>
            <a:off x="2291727" y="3072344"/>
            <a:ext cx="5874876" cy="1827010"/>
            <a:chOff x="2291727" y="3072344"/>
            <a:chExt cx="5874876" cy="1827010"/>
          </a:xfrm>
        </p:grpSpPr>
        <p:cxnSp>
          <p:nvCxnSpPr>
            <p:cNvPr id="1118" name="Elbow Connector 1117">
              <a:extLst>
                <a:ext uri="{FF2B5EF4-FFF2-40B4-BE49-F238E27FC236}">
                  <a16:creationId xmlns:a16="http://schemas.microsoft.com/office/drawing/2014/main" id="{7248EC70-478D-8FF4-61A7-046CA1E3C683}"/>
                </a:ext>
              </a:extLst>
            </p:cNvPr>
            <p:cNvCxnSpPr>
              <a:cxnSpLocks/>
              <a:stCxn id="1088" idx="2"/>
              <a:endCxn id="1100" idx="3"/>
            </p:cNvCxnSpPr>
            <p:nvPr/>
          </p:nvCxnSpPr>
          <p:spPr>
            <a:xfrm rot="5400000">
              <a:off x="6261312" y="3374000"/>
              <a:ext cx="173683" cy="1807911"/>
            </a:xfrm>
            <a:prstGeom prst="bentConnector2">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9" name="Elbow Connector 1118">
              <a:extLst>
                <a:ext uri="{FF2B5EF4-FFF2-40B4-BE49-F238E27FC236}">
                  <a16:creationId xmlns:a16="http://schemas.microsoft.com/office/drawing/2014/main" id="{023EC88E-3FA5-C399-AE70-C1964A0A9203}"/>
                </a:ext>
              </a:extLst>
            </p:cNvPr>
            <p:cNvCxnSpPr>
              <a:cxnSpLocks/>
              <a:stCxn id="1089" idx="2"/>
              <a:endCxn id="1100" idx="3"/>
            </p:cNvCxnSpPr>
            <p:nvPr/>
          </p:nvCxnSpPr>
          <p:spPr>
            <a:xfrm rot="5400000">
              <a:off x="6718785" y="2916979"/>
              <a:ext cx="173230" cy="2722406"/>
            </a:xfrm>
            <a:prstGeom prst="bentConnector2">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0" name="Rounded Rectangle 1099">
              <a:extLst>
                <a:ext uri="{FF2B5EF4-FFF2-40B4-BE49-F238E27FC236}">
                  <a16:creationId xmlns:a16="http://schemas.microsoft.com/office/drawing/2014/main" id="{CB9E0243-D090-2BB7-0707-E04799080F0D}"/>
                </a:ext>
              </a:extLst>
            </p:cNvPr>
            <p:cNvSpPr/>
            <p:nvPr/>
          </p:nvSpPr>
          <p:spPr>
            <a:xfrm>
              <a:off x="2572521" y="3830240"/>
              <a:ext cx="2871676" cy="1069114"/>
            </a:xfrm>
            <a:prstGeom prst="roundRect">
              <a:avLst>
                <a:gd name="adj" fmla="val 15271"/>
              </a:avLst>
            </a:prstGeom>
            <a:solidFill>
              <a:schemeClr val="accent1">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tx1"/>
                  </a:solidFill>
                  <a:latin typeface="Arial" panose="020B0604020202020204" pitchFamily="34" charset="0"/>
                  <a:cs typeface="Arial" panose="020B0604020202020204" pitchFamily="34" charset="0"/>
                </a:rPr>
                <a:t>Inter-procedural </a:t>
              </a:r>
            </a:p>
            <a:p>
              <a:pPr algn="ctr"/>
              <a:r>
                <a:rPr lang="en-KR" dirty="0">
                  <a:solidFill>
                    <a:schemeClr val="tx1"/>
                  </a:solidFill>
                  <a:latin typeface="Arial" panose="020B0604020202020204" pitchFamily="34" charset="0"/>
                  <a:cs typeface="Arial" panose="020B0604020202020204" pitchFamily="34" charset="0"/>
                </a:rPr>
                <a:t>Points-to Analysis</a:t>
              </a:r>
            </a:p>
          </p:txBody>
        </p:sp>
        <p:cxnSp>
          <p:nvCxnSpPr>
            <p:cNvPr id="1106" name="Straight Arrow Connector 1105">
              <a:extLst>
                <a:ext uri="{FF2B5EF4-FFF2-40B4-BE49-F238E27FC236}">
                  <a16:creationId xmlns:a16="http://schemas.microsoft.com/office/drawing/2014/main" id="{89D9E75B-078F-E930-4B04-D52ECE446C0F}"/>
                </a:ext>
              </a:extLst>
            </p:cNvPr>
            <p:cNvCxnSpPr>
              <a:cxnSpLocks/>
              <a:stCxn id="10" idx="2"/>
              <a:endCxn id="1100" idx="0"/>
            </p:cNvCxnSpPr>
            <p:nvPr/>
          </p:nvCxnSpPr>
          <p:spPr>
            <a:xfrm>
              <a:off x="4008359" y="3072344"/>
              <a:ext cx="0" cy="7578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292" name="Picture 2" descr="Small Wyvern logo">
              <a:extLst>
                <a:ext uri="{FF2B5EF4-FFF2-40B4-BE49-F238E27FC236}">
                  <a16:creationId xmlns:a16="http://schemas.microsoft.com/office/drawing/2014/main" id="{4DD46B35-0280-F346-0B11-77BBBF2BCF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1727" y="3631297"/>
              <a:ext cx="674836" cy="42321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 name="Group 18">
            <a:extLst>
              <a:ext uri="{FF2B5EF4-FFF2-40B4-BE49-F238E27FC236}">
                <a16:creationId xmlns:a16="http://schemas.microsoft.com/office/drawing/2014/main" id="{32B18923-862A-0F04-1C61-3E5DC143097B}"/>
              </a:ext>
            </a:extLst>
          </p:cNvPr>
          <p:cNvGrpSpPr/>
          <p:nvPr/>
        </p:nvGrpSpPr>
        <p:grpSpPr>
          <a:xfrm>
            <a:off x="1107457" y="3217872"/>
            <a:ext cx="7815434" cy="2777916"/>
            <a:chOff x="1107457" y="3217872"/>
            <a:chExt cx="7815434" cy="2777916"/>
          </a:xfrm>
        </p:grpSpPr>
        <p:sp>
          <p:nvSpPr>
            <p:cNvPr id="1125" name="Rounded Rectangle 1124">
              <a:extLst>
                <a:ext uri="{FF2B5EF4-FFF2-40B4-BE49-F238E27FC236}">
                  <a16:creationId xmlns:a16="http://schemas.microsoft.com/office/drawing/2014/main" id="{8BDB2097-6276-475F-9AB0-E1195C14B4C5}"/>
                </a:ext>
              </a:extLst>
            </p:cNvPr>
            <p:cNvSpPr/>
            <p:nvPr/>
          </p:nvSpPr>
          <p:spPr>
            <a:xfrm>
              <a:off x="6421584" y="5167704"/>
              <a:ext cx="2501307" cy="828084"/>
            </a:xfrm>
            <a:prstGeom prst="roundRect">
              <a:avLst>
                <a:gd name="adj" fmla="val 12598"/>
              </a:avLst>
            </a:prstGeom>
            <a:solidFill>
              <a:schemeClr val="accent1">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tx1"/>
                  </a:solidFill>
                  <a:latin typeface="Arial" panose="020B0604020202020204" pitchFamily="34" charset="0"/>
                  <a:cs typeface="Arial" panose="020B0604020202020204" pitchFamily="34" charset="0"/>
                </a:rPr>
                <a:t>Data Flow Integrity Instrumentation</a:t>
              </a:r>
            </a:p>
          </p:txBody>
        </p:sp>
        <p:cxnSp>
          <p:nvCxnSpPr>
            <p:cNvPr id="1143" name="Straight Arrow Connector 1142">
              <a:extLst>
                <a:ext uri="{FF2B5EF4-FFF2-40B4-BE49-F238E27FC236}">
                  <a16:creationId xmlns:a16="http://schemas.microsoft.com/office/drawing/2014/main" id="{2DFD0B3F-9660-C777-9DD1-4874D3E5D755}"/>
                </a:ext>
              </a:extLst>
            </p:cNvPr>
            <p:cNvCxnSpPr>
              <a:cxnSpLocks/>
              <a:stCxn id="1134" idx="3"/>
              <a:endCxn id="1125" idx="1"/>
            </p:cNvCxnSpPr>
            <p:nvPr/>
          </p:nvCxnSpPr>
          <p:spPr>
            <a:xfrm>
              <a:off x="5324318" y="5581746"/>
              <a:ext cx="109726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6" name="Elbow Connector 1175">
              <a:extLst>
                <a:ext uri="{FF2B5EF4-FFF2-40B4-BE49-F238E27FC236}">
                  <a16:creationId xmlns:a16="http://schemas.microsoft.com/office/drawing/2014/main" id="{BC740972-AA7E-2F22-28D6-7DA69ABE6C54}"/>
                </a:ext>
              </a:extLst>
            </p:cNvPr>
            <p:cNvCxnSpPr>
              <a:cxnSpLocks/>
              <a:stCxn id="6" idx="2"/>
              <a:endCxn id="1125" idx="2"/>
            </p:cNvCxnSpPr>
            <p:nvPr/>
          </p:nvCxnSpPr>
          <p:spPr>
            <a:xfrm rot="16200000" flipH="1">
              <a:off x="3000890" y="1324439"/>
              <a:ext cx="2777915" cy="6564781"/>
            </a:xfrm>
            <a:prstGeom prst="bentConnector3">
              <a:avLst>
                <a:gd name="adj1" fmla="val 10529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293" name="Picture 2" descr="Small Wyvern logo">
              <a:extLst>
                <a:ext uri="{FF2B5EF4-FFF2-40B4-BE49-F238E27FC236}">
                  <a16:creationId xmlns:a16="http://schemas.microsoft.com/office/drawing/2014/main" id="{C79D4B4A-2873-FCBF-9A54-20F2745008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9951" y="5043239"/>
              <a:ext cx="674836" cy="423218"/>
            </a:xfrm>
            <a:prstGeom prst="rect">
              <a:avLst/>
            </a:prstGeom>
            <a:noFill/>
            <a:extLst>
              <a:ext uri="{909E8E84-426E-40DD-AFC4-6F175D3DCCD1}">
                <a14:hiddenFill xmlns:a14="http://schemas.microsoft.com/office/drawing/2010/main">
                  <a:solidFill>
                    <a:srgbClr val="FFFFFF"/>
                  </a:solidFill>
                </a14:hiddenFill>
              </a:ext>
            </a:extLst>
          </p:spPr>
        </p:pic>
      </p:grpSp>
      <p:sp>
        <p:nvSpPr>
          <p:cNvPr id="1304" name="TextBox 1303">
            <a:extLst>
              <a:ext uri="{FF2B5EF4-FFF2-40B4-BE49-F238E27FC236}">
                <a16:creationId xmlns:a16="http://schemas.microsoft.com/office/drawing/2014/main" id="{A092D49C-5900-EC0C-F28A-12BA9D1C9B9E}"/>
              </a:ext>
            </a:extLst>
          </p:cNvPr>
          <p:cNvSpPr txBox="1"/>
          <p:nvPr/>
        </p:nvSpPr>
        <p:spPr>
          <a:xfrm>
            <a:off x="10286909" y="3498863"/>
            <a:ext cx="1202358" cy="338554"/>
          </a:xfrm>
          <a:prstGeom prst="rect">
            <a:avLst/>
          </a:prstGeom>
          <a:noFill/>
        </p:spPr>
        <p:txBody>
          <a:bodyPr wrap="square" rIns="90000" rtlCol="0">
            <a:spAutoFit/>
          </a:bodyPr>
          <a:lstStyle/>
          <a:p>
            <a:pPr algn="ctr"/>
            <a:r>
              <a:rPr lang="en-KR" sz="1600" dirty="0">
                <a:latin typeface="Arial" panose="020B0604020202020204" pitchFamily="34" charset="0"/>
                <a:cs typeface="Arial" panose="020B0604020202020204" pitchFamily="34" charset="0"/>
              </a:rPr>
              <a:t>AArch64</a:t>
            </a:r>
          </a:p>
        </p:txBody>
      </p:sp>
      <p:pic>
        <p:nvPicPr>
          <p:cNvPr id="1305" name="Picture 1304">
            <a:extLst>
              <a:ext uri="{FF2B5EF4-FFF2-40B4-BE49-F238E27FC236}">
                <a16:creationId xmlns:a16="http://schemas.microsoft.com/office/drawing/2014/main" id="{040F7189-E0B4-C0F9-A981-09FF57744E3D}"/>
              </a:ext>
            </a:extLst>
          </p:cNvPr>
          <p:cNvPicPr>
            <a:picLocks noChangeAspect="1"/>
          </p:cNvPicPr>
          <p:nvPr/>
        </p:nvPicPr>
        <p:blipFill>
          <a:blip r:embed="rId4"/>
          <a:stretch>
            <a:fillRect/>
          </a:stretch>
        </p:blipFill>
        <p:spPr>
          <a:xfrm>
            <a:off x="10551001" y="3884348"/>
            <a:ext cx="665549" cy="665549"/>
          </a:xfrm>
          <a:prstGeom prst="rect">
            <a:avLst/>
          </a:prstGeom>
          <a:noFill/>
        </p:spPr>
      </p:pic>
      <p:sp>
        <p:nvSpPr>
          <p:cNvPr id="1308" name="Rounded Rectangle 1307">
            <a:extLst>
              <a:ext uri="{FF2B5EF4-FFF2-40B4-BE49-F238E27FC236}">
                <a16:creationId xmlns:a16="http://schemas.microsoft.com/office/drawing/2014/main" id="{874962C5-CB90-8A1B-6034-D05BDF84D0DE}"/>
              </a:ext>
            </a:extLst>
          </p:cNvPr>
          <p:cNvSpPr/>
          <p:nvPr/>
        </p:nvSpPr>
        <p:spPr>
          <a:xfrm>
            <a:off x="10031981" y="3357455"/>
            <a:ext cx="1728891" cy="2998896"/>
          </a:xfrm>
          <a:prstGeom prst="roundRect">
            <a:avLst/>
          </a:prstGeom>
          <a:noFill/>
          <a:ln w="2540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800" dirty="0">
              <a:solidFill>
                <a:schemeClr val="tx1"/>
              </a:solidFill>
              <a:latin typeface="Arial" panose="020B0604020202020204" pitchFamily="34" charset="0"/>
              <a:cs typeface="Arial" panose="020B0604020202020204" pitchFamily="34" charset="0"/>
            </a:endParaRPr>
          </a:p>
        </p:txBody>
      </p:sp>
      <p:sp>
        <p:nvSpPr>
          <p:cNvPr id="1309" name="Rounded Rectangle 1308">
            <a:extLst>
              <a:ext uri="{FF2B5EF4-FFF2-40B4-BE49-F238E27FC236}">
                <a16:creationId xmlns:a16="http://schemas.microsoft.com/office/drawing/2014/main" id="{87BB5B2A-EEFB-ADCA-643D-CDB417D7E1CA}"/>
              </a:ext>
            </a:extLst>
          </p:cNvPr>
          <p:cNvSpPr/>
          <p:nvPr/>
        </p:nvSpPr>
        <p:spPr>
          <a:xfrm>
            <a:off x="10977481" y="4676305"/>
            <a:ext cx="665550" cy="263868"/>
          </a:xfrm>
          <a:prstGeom prst="roundRect">
            <a:avLst/>
          </a:prstGeom>
          <a:solidFill>
            <a:schemeClr val="bg1">
              <a:lumMod val="85000"/>
            </a:schemeClr>
          </a:solidFill>
          <a:ln w="2540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b="1" dirty="0">
                <a:solidFill>
                  <a:schemeClr val="tx1"/>
                </a:solidFill>
                <a:latin typeface="Arial" panose="020B0604020202020204" pitchFamily="34" charset="0"/>
                <a:cs typeface="Arial" panose="020B0604020202020204" pitchFamily="34" charset="0"/>
              </a:rPr>
              <a:t>PAC</a:t>
            </a:r>
          </a:p>
        </p:txBody>
      </p:sp>
      <p:sp>
        <p:nvSpPr>
          <p:cNvPr id="1310" name="Rounded Rectangle 1309">
            <a:extLst>
              <a:ext uri="{FF2B5EF4-FFF2-40B4-BE49-F238E27FC236}">
                <a16:creationId xmlns:a16="http://schemas.microsoft.com/office/drawing/2014/main" id="{B1C061B7-4B30-D137-D61E-C8A3D8038388}"/>
              </a:ext>
            </a:extLst>
          </p:cNvPr>
          <p:cNvSpPr/>
          <p:nvPr/>
        </p:nvSpPr>
        <p:spPr>
          <a:xfrm>
            <a:off x="10218226" y="4676305"/>
            <a:ext cx="665550" cy="263868"/>
          </a:xfrm>
          <a:prstGeom prst="roundRect">
            <a:avLst/>
          </a:prstGeom>
          <a:solidFill>
            <a:schemeClr val="bg1">
              <a:lumMod val="85000"/>
            </a:schemeClr>
          </a:solidFill>
          <a:ln w="25400" cap="rnd" cmpd="sng">
            <a:solidFill>
              <a:schemeClr val="tx1"/>
            </a:solidFill>
            <a:prstDash val="solid"/>
            <a:round/>
            <a:headEnd type="none" w="med" len="med"/>
            <a:tailEnd type="arrow" w="sm" len="sm"/>
            <a:extLst>
              <a:ext uri="{C807C97D-BFC1-408E-A445-0C87EB9F89A2}">
                <ask:lineSketchStyleProps xmlns:ask="http://schemas.microsoft.com/office/drawing/2018/sketchyshapes" sd="1219033472">
                  <a:custGeom>
                    <a:avLst/>
                    <a:gdLst>
                      <a:gd name="connsiteX0" fmla="*/ 1663700 w 1663700"/>
                      <a:gd name="connsiteY0" fmla="*/ 0 h 1003300"/>
                      <a:gd name="connsiteX1" fmla="*/ 901700 w 1663700"/>
                      <a:gd name="connsiteY1" fmla="*/ 215900 h 1003300"/>
                      <a:gd name="connsiteX2" fmla="*/ 0 w 1663700"/>
                      <a:gd name="connsiteY2" fmla="*/ 1003300 h 1003300"/>
                    </a:gdLst>
                    <a:ahLst/>
                    <a:cxnLst>
                      <a:cxn ang="0">
                        <a:pos x="connsiteX0" y="connsiteY0"/>
                      </a:cxn>
                      <a:cxn ang="0">
                        <a:pos x="connsiteX1" y="connsiteY1"/>
                      </a:cxn>
                      <a:cxn ang="0">
                        <a:pos x="connsiteX2" y="connsiteY2"/>
                      </a:cxn>
                    </a:cxnLst>
                    <a:rect l="l" t="t" r="r" b="b"/>
                    <a:pathLst>
                      <a:path w="1663700" h="1003300" extrusionOk="0">
                        <a:moveTo>
                          <a:pt x="1663700" y="0"/>
                        </a:moveTo>
                        <a:cubicBezTo>
                          <a:pt x="1387236" y="3304"/>
                          <a:pt x="1161966" y="55070"/>
                          <a:pt x="901700" y="215900"/>
                        </a:cubicBezTo>
                        <a:cubicBezTo>
                          <a:pt x="680334" y="394889"/>
                          <a:pt x="194955" y="696936"/>
                          <a:pt x="0" y="100330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400" b="1" dirty="0">
                <a:solidFill>
                  <a:schemeClr val="tx1"/>
                </a:solidFill>
                <a:latin typeface="Arial" panose="020B0604020202020204" pitchFamily="34" charset="0"/>
                <a:cs typeface="Arial" panose="020B0604020202020204" pitchFamily="34" charset="0"/>
              </a:rPr>
              <a:t>MTE</a:t>
            </a:r>
          </a:p>
        </p:txBody>
      </p:sp>
      <p:grpSp>
        <p:nvGrpSpPr>
          <p:cNvPr id="26" name="Group 25">
            <a:extLst>
              <a:ext uri="{FF2B5EF4-FFF2-40B4-BE49-F238E27FC236}">
                <a16:creationId xmlns:a16="http://schemas.microsoft.com/office/drawing/2014/main" id="{67AFD057-0EED-77E9-1644-714B05C39FE6}"/>
              </a:ext>
            </a:extLst>
          </p:cNvPr>
          <p:cNvGrpSpPr/>
          <p:nvPr/>
        </p:nvGrpSpPr>
        <p:grpSpPr>
          <a:xfrm>
            <a:off x="4724994" y="1942000"/>
            <a:ext cx="4932595" cy="1518980"/>
            <a:chOff x="4724994" y="1942000"/>
            <a:chExt cx="4932595" cy="1518980"/>
          </a:xfrm>
        </p:grpSpPr>
        <p:sp>
          <p:nvSpPr>
            <p:cNvPr id="18" name="Rounded Rectangle 17">
              <a:extLst>
                <a:ext uri="{FF2B5EF4-FFF2-40B4-BE49-F238E27FC236}">
                  <a16:creationId xmlns:a16="http://schemas.microsoft.com/office/drawing/2014/main" id="{62E3FD8F-58EF-2CC7-985C-7CCB867D866C}"/>
                </a:ext>
              </a:extLst>
            </p:cNvPr>
            <p:cNvSpPr/>
            <p:nvPr/>
          </p:nvSpPr>
          <p:spPr>
            <a:xfrm>
              <a:off x="5716381" y="2122843"/>
              <a:ext cx="3941208" cy="1338137"/>
            </a:xfrm>
            <a:prstGeom prst="roundRect">
              <a:avLst>
                <a:gd name="adj" fmla="val 7832"/>
              </a:avLst>
            </a:prstGeom>
            <a:solidFill>
              <a:schemeClr val="accent1">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0C517FF5-1E2F-F747-7AAC-F7830B2757B4}"/>
                </a:ext>
              </a:extLst>
            </p:cNvPr>
            <p:cNvSpPr txBox="1"/>
            <p:nvPr/>
          </p:nvSpPr>
          <p:spPr>
            <a:xfrm>
              <a:off x="6147629" y="2177050"/>
              <a:ext cx="2966720" cy="369332"/>
            </a:xfrm>
            <a:prstGeom prst="rect">
              <a:avLst/>
            </a:prstGeom>
            <a:noFill/>
          </p:spPr>
          <p:txBody>
            <a:bodyPr wrap="square">
              <a:spAutoFit/>
            </a:bodyPr>
            <a:lstStyle/>
            <a:p>
              <a:pPr algn="ctr"/>
              <a:r>
                <a:rPr lang="en-KR" dirty="0">
                  <a:solidFill>
                    <a:schemeClr val="tx1"/>
                  </a:solidFill>
                  <a:latin typeface="Arial" panose="020B0604020202020204" pitchFamily="34" charset="0"/>
                  <a:cs typeface="Arial" panose="020B0604020202020204" pitchFamily="34" charset="0"/>
                </a:rPr>
                <a:t>Static Taint Analysis</a:t>
              </a:r>
            </a:p>
          </p:txBody>
        </p:sp>
        <p:sp>
          <p:nvSpPr>
            <p:cNvPr id="32" name="TextBox 31">
              <a:extLst>
                <a:ext uri="{FF2B5EF4-FFF2-40B4-BE49-F238E27FC236}">
                  <a16:creationId xmlns:a16="http://schemas.microsoft.com/office/drawing/2014/main" id="{E94C5EEF-8495-72C8-773C-59524F631BB0}"/>
                </a:ext>
              </a:extLst>
            </p:cNvPr>
            <p:cNvSpPr txBox="1"/>
            <p:nvPr/>
          </p:nvSpPr>
          <p:spPr>
            <a:xfrm>
              <a:off x="6883400" y="2593281"/>
              <a:ext cx="1577676" cy="338554"/>
            </a:xfrm>
            <a:prstGeom prst="rect">
              <a:avLst/>
            </a:prstGeom>
            <a:noFill/>
          </p:spPr>
          <p:txBody>
            <a:bodyPr wrap="none" rtlCol="0">
              <a:spAutoFit/>
            </a:bodyPr>
            <a:lstStyle/>
            <a:p>
              <a:pPr algn="l"/>
              <a:r>
                <a:rPr lang="en-KR" sz="1600" dirty="0">
                  <a:latin typeface="Arial" panose="020B0604020202020204" pitchFamily="34" charset="0"/>
                  <a:cs typeface="Arial" panose="020B0604020202020204" pitchFamily="34" charset="0"/>
                </a:rPr>
                <a:t>User Interfaces</a:t>
              </a:r>
            </a:p>
          </p:txBody>
        </p:sp>
        <p:cxnSp>
          <p:nvCxnSpPr>
            <p:cNvPr id="1111" name="Straight Arrow Connector 1110">
              <a:extLst>
                <a:ext uri="{FF2B5EF4-FFF2-40B4-BE49-F238E27FC236}">
                  <a16:creationId xmlns:a16="http://schemas.microsoft.com/office/drawing/2014/main" id="{88F9A884-590C-F2D5-4518-FA00BECDCDB7}"/>
                </a:ext>
              </a:extLst>
            </p:cNvPr>
            <p:cNvCxnSpPr>
              <a:cxnSpLocks/>
              <a:stCxn id="10" idx="3"/>
              <a:endCxn id="18" idx="1"/>
            </p:cNvCxnSpPr>
            <p:nvPr/>
          </p:nvCxnSpPr>
          <p:spPr>
            <a:xfrm flipV="1">
              <a:off x="4724994" y="2791912"/>
              <a:ext cx="991387" cy="350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89" name="Rectangle 1288">
              <a:extLst>
                <a:ext uri="{FF2B5EF4-FFF2-40B4-BE49-F238E27FC236}">
                  <a16:creationId xmlns:a16="http://schemas.microsoft.com/office/drawing/2014/main" id="{9E6ED39A-2E0B-BCAA-9008-4A368004169C}"/>
                </a:ext>
              </a:extLst>
            </p:cNvPr>
            <p:cNvSpPr/>
            <p:nvPr/>
          </p:nvSpPr>
          <p:spPr>
            <a:xfrm>
              <a:off x="6264469" y="2939746"/>
              <a:ext cx="1366520" cy="280205"/>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600" dirty="0">
                  <a:solidFill>
                    <a:schemeClr val="tx1"/>
                  </a:solidFill>
                  <a:latin typeface="Arial" panose="020B0604020202020204" pitchFamily="34" charset="0"/>
                  <a:cs typeface="Arial" panose="020B0604020202020204" pitchFamily="34" charset="0"/>
                </a:rPr>
                <a:t>Syscalls</a:t>
              </a:r>
            </a:p>
          </p:txBody>
        </p:sp>
        <p:sp>
          <p:nvSpPr>
            <p:cNvPr id="1290" name="Rectangle 1289">
              <a:extLst>
                <a:ext uri="{FF2B5EF4-FFF2-40B4-BE49-F238E27FC236}">
                  <a16:creationId xmlns:a16="http://schemas.microsoft.com/office/drawing/2014/main" id="{0B43B7FD-3BFB-5844-AD0A-4D5B5F1FF3B2}"/>
                </a:ext>
              </a:extLst>
            </p:cNvPr>
            <p:cNvSpPr/>
            <p:nvPr/>
          </p:nvSpPr>
          <p:spPr>
            <a:xfrm>
              <a:off x="7806267" y="2939746"/>
              <a:ext cx="1366520" cy="280205"/>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1600" dirty="0">
                  <a:solidFill>
                    <a:schemeClr val="tx1"/>
                  </a:solidFill>
                  <a:latin typeface="Arial" panose="020B0604020202020204" pitchFamily="34" charset="0"/>
                  <a:cs typeface="Arial" panose="020B0604020202020204" pitchFamily="34" charset="0"/>
                </a:rPr>
                <a:t>Pseudo-fs</a:t>
              </a:r>
            </a:p>
          </p:txBody>
        </p:sp>
        <p:pic>
          <p:nvPicPr>
            <p:cNvPr id="1291" name="Picture 2" descr="Small Wyvern logo">
              <a:extLst>
                <a:ext uri="{FF2B5EF4-FFF2-40B4-BE49-F238E27FC236}">
                  <a16:creationId xmlns:a16="http://schemas.microsoft.com/office/drawing/2014/main" id="{E824EB7E-ADD6-A0BE-4E49-707C38DFE4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9022" y="1942000"/>
              <a:ext cx="674836" cy="423218"/>
            </a:xfrm>
            <a:prstGeom prst="rect">
              <a:avLst/>
            </a:prstGeom>
            <a:noFill/>
            <a:extLst>
              <a:ext uri="{909E8E84-426E-40DD-AFC4-6F175D3DCCD1}">
                <a14:hiddenFill xmlns:a14="http://schemas.microsoft.com/office/drawing/2010/main">
                  <a:solidFill>
                    <a:srgbClr val="FFFFFF"/>
                  </a:solidFill>
                </a14:hiddenFill>
              </a:ext>
            </a:extLst>
          </p:spPr>
        </p:pic>
        <p:sp>
          <p:nvSpPr>
            <p:cNvPr id="25" name="Rounded Rectangle 24">
              <a:extLst>
                <a:ext uri="{FF2B5EF4-FFF2-40B4-BE49-F238E27FC236}">
                  <a16:creationId xmlns:a16="http://schemas.microsoft.com/office/drawing/2014/main" id="{638AF9A1-A308-D712-A2F8-31936767E8F3}"/>
                </a:ext>
              </a:extLst>
            </p:cNvPr>
            <p:cNvSpPr/>
            <p:nvPr/>
          </p:nvSpPr>
          <p:spPr>
            <a:xfrm>
              <a:off x="6002816" y="2558764"/>
              <a:ext cx="3377443" cy="784624"/>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solidFill>
                  <a:schemeClr val="tx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684475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ADF9D-853D-2499-D4FB-A4CFCB2C56B7}"/>
              </a:ext>
            </a:extLst>
          </p:cNvPr>
          <p:cNvSpPr>
            <a:spLocks noGrp="1"/>
          </p:cNvSpPr>
          <p:nvPr>
            <p:ph type="title"/>
          </p:nvPr>
        </p:nvSpPr>
        <p:spPr/>
        <p:txBody>
          <a:bodyPr/>
          <a:lstStyle/>
          <a:p>
            <a:r>
              <a:rPr lang="en-KR" dirty="0"/>
              <a:t>Performance Evaluation</a:t>
            </a:r>
          </a:p>
        </p:txBody>
      </p:sp>
      <p:sp>
        <p:nvSpPr>
          <p:cNvPr id="3" name="Content Placeholder 2">
            <a:extLst>
              <a:ext uri="{FF2B5EF4-FFF2-40B4-BE49-F238E27FC236}">
                <a16:creationId xmlns:a16="http://schemas.microsoft.com/office/drawing/2014/main" id="{04C9798D-9B72-5817-7754-222A140ED132}"/>
              </a:ext>
            </a:extLst>
          </p:cNvPr>
          <p:cNvSpPr>
            <a:spLocks noGrp="1"/>
          </p:cNvSpPr>
          <p:nvPr>
            <p:ph idx="1"/>
          </p:nvPr>
        </p:nvSpPr>
        <p:spPr>
          <a:xfrm>
            <a:off x="838200" y="1825625"/>
            <a:ext cx="10515600" cy="4667250"/>
          </a:xfrm>
        </p:spPr>
        <p:txBody>
          <a:bodyPr>
            <a:normAutofit/>
          </a:bodyPr>
          <a:lstStyle/>
          <a:p>
            <a:r>
              <a:rPr lang="en-KR" dirty="0"/>
              <a:t>Evaluation setup</a:t>
            </a:r>
          </a:p>
          <a:p>
            <a:pPr lvl="1"/>
            <a:r>
              <a:rPr lang="en-KR" dirty="0"/>
              <a:t>Samsung Galaxy S22 – supports PAC and MTE</a:t>
            </a:r>
            <a:r>
              <a:rPr lang="ko-KR" altLang="en-US" dirty="0"/>
              <a:t>*</a:t>
            </a:r>
            <a:br>
              <a:rPr lang="en-KR" dirty="0"/>
            </a:br>
            <a:r>
              <a:rPr lang="en-KR" dirty="0"/>
              <a:t>				</a:t>
            </a:r>
            <a:r>
              <a:rPr lang="ko-KR" altLang="en-US" dirty="0"/>
              <a:t>  </a:t>
            </a:r>
            <a:r>
              <a:rPr lang="ko-KR" altLang="en-US" sz="1800" dirty="0"/>
              <a:t>* </a:t>
            </a:r>
            <a:r>
              <a:rPr lang="en-KR" sz="1800" dirty="0"/>
              <a:t>MTE was enabled with the assistance of Samsung Electronics</a:t>
            </a:r>
          </a:p>
          <a:p>
            <a:pPr lvl="1"/>
            <a:r>
              <a:rPr lang="en-KR" dirty="0"/>
              <a:t>Android kernel 5.10.136</a:t>
            </a:r>
            <a:br>
              <a:rPr lang="en-KR" dirty="0"/>
            </a:br>
            <a:endParaRPr lang="en-KR" dirty="0"/>
          </a:p>
          <a:p>
            <a:r>
              <a:rPr lang="en-KR" dirty="0"/>
              <a:t>Kernel workloads</a:t>
            </a:r>
          </a:p>
          <a:p>
            <a:pPr lvl="1"/>
            <a:r>
              <a:rPr lang="en-KR" dirty="0"/>
              <a:t>LMBench 1.18x </a:t>
            </a:r>
            <a:r>
              <a:rPr lang="en-KR" dirty="0">
                <a:solidFill>
                  <a:schemeClr val="tx1">
                    <a:lumMod val="50000"/>
                    <a:lumOff val="50000"/>
                  </a:schemeClr>
                </a:solidFill>
              </a:rPr>
              <a:t>(MTE async) </a:t>
            </a:r>
            <a:r>
              <a:rPr lang="en-KR" dirty="0"/>
              <a:t>/ 1.32x </a:t>
            </a:r>
            <a:r>
              <a:rPr lang="en-KR" dirty="0">
                <a:solidFill>
                  <a:schemeClr val="tx1">
                    <a:lumMod val="50000"/>
                    <a:lumOff val="50000"/>
                  </a:schemeClr>
                </a:solidFill>
              </a:rPr>
              <a:t>(MTE sync)</a:t>
            </a:r>
          </a:p>
          <a:p>
            <a:r>
              <a:rPr lang="en-KR" dirty="0"/>
              <a:t>User workloads</a:t>
            </a:r>
          </a:p>
          <a:p>
            <a:pPr lvl="1"/>
            <a:r>
              <a:rPr lang="en-KR" dirty="0"/>
              <a:t>Nbench: 1.00x / LevelDB 1.03x / Apache httpd: 1.04x </a:t>
            </a:r>
            <a:r>
              <a:rPr lang="en-KR" dirty="0">
                <a:solidFill>
                  <a:schemeClr val="tx1">
                    <a:lumMod val="50000"/>
                    <a:lumOff val="50000"/>
                  </a:schemeClr>
                </a:solidFill>
              </a:rPr>
              <a:t>(MTE sync)</a:t>
            </a:r>
          </a:p>
          <a:p>
            <a:r>
              <a:rPr lang="en-KR" dirty="0"/>
              <a:t>Security evaluations in the paper</a:t>
            </a:r>
          </a:p>
        </p:txBody>
      </p:sp>
      <p:sp>
        <p:nvSpPr>
          <p:cNvPr id="4" name="Slide Number Placeholder 3">
            <a:extLst>
              <a:ext uri="{FF2B5EF4-FFF2-40B4-BE49-F238E27FC236}">
                <a16:creationId xmlns:a16="http://schemas.microsoft.com/office/drawing/2014/main" id="{FC70D6A0-0572-449A-1E63-08E0E542C804}"/>
              </a:ext>
            </a:extLst>
          </p:cNvPr>
          <p:cNvSpPr>
            <a:spLocks noGrp="1"/>
          </p:cNvSpPr>
          <p:nvPr>
            <p:ph type="sldNum" sz="quarter" idx="12"/>
          </p:nvPr>
        </p:nvSpPr>
        <p:spPr/>
        <p:txBody>
          <a:bodyPr/>
          <a:lstStyle/>
          <a:p>
            <a:fld id="{9ED31AF7-B9C1-7944-AC45-A988640FDEFC}" type="slidenum">
              <a:rPr lang="en-KR" smtClean="0"/>
              <a:t>21</a:t>
            </a:fld>
            <a:endParaRPr lang="en-KR"/>
          </a:p>
        </p:txBody>
      </p:sp>
    </p:spTree>
    <p:extLst>
      <p:ext uri="{BB962C8B-B14F-4D97-AF65-F5344CB8AC3E}">
        <p14:creationId xmlns:p14="http://schemas.microsoft.com/office/powerpoint/2010/main" val="3179011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01373-BB33-EB4D-F11B-EBBFDBA03C7F}"/>
              </a:ext>
            </a:extLst>
          </p:cNvPr>
          <p:cNvSpPr>
            <a:spLocks noGrp="1"/>
          </p:cNvSpPr>
          <p:nvPr>
            <p:ph type="title"/>
          </p:nvPr>
        </p:nvSpPr>
        <p:spPr/>
        <p:txBody>
          <a:bodyPr/>
          <a:lstStyle/>
          <a:p>
            <a:r>
              <a:rPr lang="en-KR" dirty="0"/>
              <a:t>Summary</a:t>
            </a:r>
          </a:p>
        </p:txBody>
      </p:sp>
      <p:sp>
        <p:nvSpPr>
          <p:cNvPr id="3" name="Content Placeholder 2">
            <a:extLst>
              <a:ext uri="{FF2B5EF4-FFF2-40B4-BE49-F238E27FC236}">
                <a16:creationId xmlns:a16="http://schemas.microsoft.com/office/drawing/2014/main" id="{73ED76A1-1F33-548A-9F4C-104349CD3B12}"/>
              </a:ext>
            </a:extLst>
          </p:cNvPr>
          <p:cNvSpPr>
            <a:spLocks noGrp="1"/>
          </p:cNvSpPr>
          <p:nvPr>
            <p:ph idx="1"/>
          </p:nvPr>
        </p:nvSpPr>
        <p:spPr/>
        <p:txBody>
          <a:bodyPr>
            <a:normAutofit lnSpcReduction="10000"/>
          </a:bodyPr>
          <a:lstStyle/>
          <a:p>
            <a:pPr>
              <a:lnSpc>
                <a:spcPct val="130000"/>
              </a:lnSpc>
            </a:pPr>
            <a:r>
              <a:rPr lang="en-KR" dirty="0"/>
              <a:t>PeTAL defines </a:t>
            </a:r>
            <a:r>
              <a:rPr lang="en-KR" b="1" dirty="0">
                <a:solidFill>
                  <a:srgbClr val="0070C0"/>
                </a:solidFill>
              </a:rPr>
              <a:t>Access Control integrity</a:t>
            </a:r>
            <a:r>
              <a:rPr lang="en-KR" dirty="0">
                <a:solidFill>
                  <a:srgbClr val="0070C0"/>
                </a:solidFill>
              </a:rPr>
              <a:t> </a:t>
            </a:r>
            <a:r>
              <a:rPr lang="en-KR" dirty="0"/>
              <a:t>for the Linux kernel.</a:t>
            </a:r>
          </a:p>
          <a:p>
            <a:pPr>
              <a:lnSpc>
                <a:spcPct val="130000"/>
              </a:lnSpc>
            </a:pPr>
            <a:endParaRPr lang="en-KR" dirty="0"/>
          </a:p>
          <a:p>
            <a:pPr>
              <a:lnSpc>
                <a:spcPct val="130000"/>
              </a:lnSpc>
            </a:pPr>
            <a:r>
              <a:rPr lang="en-KR" dirty="0"/>
              <a:t>PeTAL proposes a novel way to </a:t>
            </a:r>
            <a:r>
              <a:rPr lang="en-KR" b="1" dirty="0">
                <a:solidFill>
                  <a:schemeClr val="accent5">
                    <a:lumMod val="75000"/>
                  </a:schemeClr>
                </a:solidFill>
              </a:rPr>
              <a:t>identify protection targets </a:t>
            </a:r>
            <a:r>
              <a:rPr lang="en-KR" dirty="0"/>
              <a:t>leveraging the kernel’s </a:t>
            </a:r>
            <a:r>
              <a:rPr lang="en-KR" b="1" dirty="0">
                <a:solidFill>
                  <a:srgbClr val="C00000"/>
                </a:solidFill>
              </a:rPr>
              <a:t>user interfaces</a:t>
            </a:r>
            <a:r>
              <a:rPr lang="en-KR" dirty="0"/>
              <a:t>.</a:t>
            </a:r>
          </a:p>
          <a:p>
            <a:pPr>
              <a:lnSpc>
                <a:spcPct val="130000"/>
              </a:lnSpc>
            </a:pPr>
            <a:endParaRPr lang="en-KR" dirty="0"/>
          </a:p>
          <a:p>
            <a:pPr>
              <a:lnSpc>
                <a:spcPct val="130000"/>
              </a:lnSpc>
            </a:pPr>
            <a:r>
              <a:rPr lang="en-KR" dirty="0"/>
              <a:t>PeTAL</a:t>
            </a:r>
            <a:r>
              <a:rPr lang="en-US" altLang="ko-KR" dirty="0"/>
              <a:t>’s </a:t>
            </a:r>
            <a:r>
              <a:rPr lang="en-KR" dirty="0"/>
              <a:t>DFI solution based on ARM</a:t>
            </a:r>
            <a:r>
              <a:rPr lang="en-KR" b="1" dirty="0"/>
              <a:t> </a:t>
            </a:r>
            <a:r>
              <a:rPr lang="en-KR" b="1" dirty="0">
                <a:solidFill>
                  <a:schemeClr val="accent2"/>
                </a:solidFill>
              </a:rPr>
              <a:t>MTE</a:t>
            </a:r>
            <a:r>
              <a:rPr lang="en-KR" b="1" dirty="0"/>
              <a:t> and </a:t>
            </a:r>
            <a:r>
              <a:rPr lang="en-KR" b="1" dirty="0">
                <a:solidFill>
                  <a:schemeClr val="accent6">
                    <a:lumMod val="75000"/>
                  </a:schemeClr>
                </a:solidFill>
              </a:rPr>
              <a:t>PAC</a:t>
            </a:r>
            <a:r>
              <a:rPr lang="en-KR" b="1" dirty="0"/>
              <a:t> </a:t>
            </a:r>
            <a:r>
              <a:rPr lang="en-KR" dirty="0"/>
              <a:t>demonstrates acceptable performance overhead.</a:t>
            </a:r>
          </a:p>
        </p:txBody>
      </p:sp>
      <p:sp>
        <p:nvSpPr>
          <p:cNvPr id="4" name="Slide Number Placeholder 3">
            <a:extLst>
              <a:ext uri="{FF2B5EF4-FFF2-40B4-BE49-F238E27FC236}">
                <a16:creationId xmlns:a16="http://schemas.microsoft.com/office/drawing/2014/main" id="{084B17C1-519F-1C3C-FDF9-3A4F6275F61A}"/>
              </a:ext>
            </a:extLst>
          </p:cNvPr>
          <p:cNvSpPr>
            <a:spLocks noGrp="1"/>
          </p:cNvSpPr>
          <p:nvPr>
            <p:ph type="sldNum" sz="quarter" idx="12"/>
          </p:nvPr>
        </p:nvSpPr>
        <p:spPr/>
        <p:txBody>
          <a:bodyPr/>
          <a:lstStyle/>
          <a:p>
            <a:fld id="{9ED31AF7-B9C1-7944-AC45-A988640FDEFC}" type="slidenum">
              <a:rPr lang="en-KR" smtClean="0"/>
              <a:t>22</a:t>
            </a:fld>
            <a:endParaRPr lang="en-KR"/>
          </a:p>
        </p:txBody>
      </p:sp>
    </p:spTree>
    <p:extLst>
      <p:ext uri="{BB962C8B-B14F-4D97-AF65-F5344CB8AC3E}">
        <p14:creationId xmlns:p14="http://schemas.microsoft.com/office/powerpoint/2010/main" val="38740238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325B7-6D9E-CA3A-24D5-77910D1D5770}"/>
              </a:ext>
            </a:extLst>
          </p:cNvPr>
          <p:cNvSpPr>
            <a:spLocks noGrp="1"/>
          </p:cNvSpPr>
          <p:nvPr>
            <p:ph type="title"/>
          </p:nvPr>
        </p:nvSpPr>
        <p:spPr/>
        <p:txBody>
          <a:bodyPr anchor="ctr"/>
          <a:lstStyle/>
          <a:p>
            <a:r>
              <a:rPr lang="en-US" altLang="ko-KR" dirty="0"/>
              <a:t>Thank you!</a:t>
            </a:r>
            <a:endParaRPr lang="en-KR" dirty="0"/>
          </a:p>
        </p:txBody>
      </p:sp>
      <p:sp>
        <p:nvSpPr>
          <p:cNvPr id="4" name="Slide Number Placeholder 3">
            <a:extLst>
              <a:ext uri="{FF2B5EF4-FFF2-40B4-BE49-F238E27FC236}">
                <a16:creationId xmlns:a16="http://schemas.microsoft.com/office/drawing/2014/main" id="{15A0CE22-6753-6D7B-8931-FEA1BA13C60F}"/>
              </a:ext>
            </a:extLst>
          </p:cNvPr>
          <p:cNvSpPr>
            <a:spLocks noGrp="1"/>
          </p:cNvSpPr>
          <p:nvPr>
            <p:ph type="sldNum" sz="quarter" idx="12"/>
          </p:nvPr>
        </p:nvSpPr>
        <p:spPr/>
        <p:txBody>
          <a:bodyPr/>
          <a:lstStyle/>
          <a:p>
            <a:fld id="{9ED31AF7-B9C1-7944-AC45-A988640FDEFC}" type="slidenum">
              <a:rPr lang="en-KR" smtClean="0"/>
              <a:t>23</a:t>
            </a:fld>
            <a:endParaRPr lang="en-KR"/>
          </a:p>
        </p:txBody>
      </p:sp>
      <p:pic>
        <p:nvPicPr>
          <p:cNvPr id="5" name="Google Shape;64;p14">
            <a:extLst>
              <a:ext uri="{FF2B5EF4-FFF2-40B4-BE49-F238E27FC236}">
                <a16:creationId xmlns:a16="http://schemas.microsoft.com/office/drawing/2014/main" id="{0A38FB31-9E18-29A2-D990-0D27B34CAA41}"/>
              </a:ext>
            </a:extLst>
          </p:cNvPr>
          <p:cNvPicPr preferRelativeResize="0"/>
          <p:nvPr/>
        </p:nvPicPr>
        <p:blipFill>
          <a:blip r:embed="rId3">
            <a:alphaModFix/>
          </a:blip>
          <a:stretch>
            <a:fillRect/>
          </a:stretch>
        </p:blipFill>
        <p:spPr>
          <a:xfrm>
            <a:off x="831850" y="4926142"/>
            <a:ext cx="1154489" cy="1124872"/>
          </a:xfrm>
          <a:prstGeom prst="rect">
            <a:avLst/>
          </a:prstGeom>
          <a:noFill/>
          <a:ln>
            <a:noFill/>
          </a:ln>
        </p:spPr>
      </p:pic>
      <p:pic>
        <p:nvPicPr>
          <p:cNvPr id="6" name="Google Shape;66;p14">
            <a:extLst>
              <a:ext uri="{FF2B5EF4-FFF2-40B4-BE49-F238E27FC236}">
                <a16:creationId xmlns:a16="http://schemas.microsoft.com/office/drawing/2014/main" id="{B788913F-A87C-87BB-4705-D164F265335C}"/>
              </a:ext>
            </a:extLst>
          </p:cNvPr>
          <p:cNvPicPr preferRelativeResize="0"/>
          <p:nvPr/>
        </p:nvPicPr>
        <p:blipFill rotWithShape="1">
          <a:blip r:embed="rId4">
            <a:alphaModFix/>
          </a:blip>
          <a:srcRect t="35682" b="36631"/>
          <a:stretch/>
        </p:blipFill>
        <p:spPr>
          <a:xfrm>
            <a:off x="2392913" y="5078471"/>
            <a:ext cx="2962480" cy="820214"/>
          </a:xfrm>
          <a:prstGeom prst="rect">
            <a:avLst/>
          </a:prstGeom>
          <a:noFill/>
          <a:ln>
            <a:noFill/>
          </a:ln>
        </p:spPr>
      </p:pic>
      <p:pic>
        <p:nvPicPr>
          <p:cNvPr id="7" name="Google Shape;65;p14">
            <a:extLst>
              <a:ext uri="{FF2B5EF4-FFF2-40B4-BE49-F238E27FC236}">
                <a16:creationId xmlns:a16="http://schemas.microsoft.com/office/drawing/2014/main" id="{6F2C5484-FCB6-755B-BB1F-22FAB2083FFC}"/>
              </a:ext>
            </a:extLst>
          </p:cNvPr>
          <p:cNvPicPr preferRelativeResize="0"/>
          <p:nvPr/>
        </p:nvPicPr>
        <p:blipFill>
          <a:blip r:embed="rId5">
            <a:alphaModFix/>
          </a:blip>
          <a:stretch>
            <a:fillRect/>
          </a:stretch>
        </p:blipFill>
        <p:spPr>
          <a:xfrm>
            <a:off x="8161651" y="5148262"/>
            <a:ext cx="2821646" cy="680632"/>
          </a:xfrm>
          <a:prstGeom prst="rect">
            <a:avLst/>
          </a:prstGeom>
          <a:noFill/>
          <a:ln>
            <a:noFill/>
          </a:ln>
        </p:spPr>
      </p:pic>
      <p:pic>
        <p:nvPicPr>
          <p:cNvPr id="8" name="Picture 6">
            <a:extLst>
              <a:ext uri="{FF2B5EF4-FFF2-40B4-BE49-F238E27FC236}">
                <a16:creationId xmlns:a16="http://schemas.microsoft.com/office/drawing/2014/main" id="{6E80EDC6-258B-8863-FF73-C977BAF64B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61968" y="5157787"/>
            <a:ext cx="2171347" cy="661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13610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5016D-2A5D-7E66-48E3-87C7923334B6}"/>
              </a:ext>
            </a:extLst>
          </p:cNvPr>
          <p:cNvSpPr>
            <a:spLocks noGrp="1"/>
          </p:cNvSpPr>
          <p:nvPr>
            <p:ph type="title"/>
          </p:nvPr>
        </p:nvSpPr>
        <p:spPr/>
        <p:txBody>
          <a:bodyPr/>
          <a:lstStyle/>
          <a:p>
            <a:r>
              <a:rPr lang="en-KR" dirty="0"/>
              <a:t>Threat Model and Assumptions</a:t>
            </a:r>
          </a:p>
        </p:txBody>
      </p:sp>
      <p:sp>
        <p:nvSpPr>
          <p:cNvPr id="3" name="Content Placeholder 2">
            <a:extLst>
              <a:ext uri="{FF2B5EF4-FFF2-40B4-BE49-F238E27FC236}">
                <a16:creationId xmlns:a16="http://schemas.microsoft.com/office/drawing/2014/main" id="{C4FE5153-3CA0-6116-41C4-2844F89B6CF5}"/>
              </a:ext>
            </a:extLst>
          </p:cNvPr>
          <p:cNvSpPr>
            <a:spLocks noGrp="1"/>
          </p:cNvSpPr>
          <p:nvPr>
            <p:ph idx="1"/>
          </p:nvPr>
        </p:nvSpPr>
        <p:spPr>
          <a:xfrm>
            <a:off x="838200" y="1608665"/>
            <a:ext cx="10515600" cy="5180542"/>
          </a:xfrm>
        </p:spPr>
        <p:txBody>
          <a:bodyPr>
            <a:normAutofit/>
          </a:bodyPr>
          <a:lstStyle/>
          <a:p>
            <a:r>
              <a:rPr lang="en-US" sz="2400" dirty="0"/>
              <a:t>Hardware</a:t>
            </a:r>
          </a:p>
          <a:p>
            <a:pPr marL="457200" lvl="1" indent="0">
              <a:buNone/>
            </a:pPr>
            <a:r>
              <a:rPr lang="en-KR" sz="2000" dirty="0"/>
              <a:t>AArch64, ARM MTE PAC</a:t>
            </a:r>
          </a:p>
          <a:p>
            <a:r>
              <a:rPr lang="en-KR" sz="2400" dirty="0"/>
              <a:t>Kernel</a:t>
            </a:r>
          </a:p>
          <a:p>
            <a:pPr lvl="1"/>
            <a:r>
              <a:rPr lang="en-KR" sz="2000" dirty="0"/>
              <a:t>State-of-the-art self-protections (e.g., ASLR, NX/DEP, SMAP, CFI)</a:t>
            </a:r>
          </a:p>
          <a:p>
            <a:pPr lvl="1"/>
            <a:r>
              <a:rPr lang="en-KR" sz="2000" dirty="0"/>
              <a:t>1+ Memory coruption vulnerabilities</a:t>
            </a:r>
          </a:p>
          <a:p>
            <a:r>
              <a:rPr lang="en-KR" sz="2400" dirty="0"/>
              <a:t>Attack vector</a:t>
            </a:r>
          </a:p>
          <a:p>
            <a:pPr lvl="1"/>
            <a:r>
              <a:rPr lang="en-KR" sz="2000" dirty="0"/>
              <a:t>Memory corruption attack through vulnerable system calls</a:t>
            </a:r>
          </a:p>
          <a:p>
            <a:pPr lvl="1"/>
            <a:r>
              <a:rPr lang="en-KR" sz="2000" dirty="0"/>
              <a:t>Corrupting access control policies/resources</a:t>
            </a:r>
          </a:p>
          <a:p>
            <a:r>
              <a:rPr lang="en-KR" sz="2400" dirty="0"/>
              <a:t>Out of scope</a:t>
            </a:r>
          </a:p>
          <a:p>
            <a:pPr lvl="1"/>
            <a:r>
              <a:rPr lang="en-KR" sz="2000" dirty="0"/>
              <a:t>Access control system implementation error</a:t>
            </a:r>
          </a:p>
          <a:p>
            <a:pPr lvl="1"/>
            <a:r>
              <a:rPr lang="en-KR" sz="2000" dirty="0"/>
              <a:t>Page allocator error (e.g., GPU driver vulnerabilities)</a:t>
            </a:r>
          </a:p>
          <a:p>
            <a:pPr lvl="1"/>
            <a:r>
              <a:rPr lang="en-KR" sz="2000" dirty="0"/>
              <a:t>In-kernel executions (e.g., eBPF)</a:t>
            </a:r>
          </a:p>
          <a:p>
            <a:pPr lvl="1"/>
            <a:r>
              <a:rPr lang="en-KR" sz="2000" dirty="0"/>
              <a:t>Hardware side-channel attacks (e.g., Spectre, PACMAN, TikTag)</a:t>
            </a:r>
          </a:p>
          <a:p>
            <a:pPr lvl="1"/>
            <a:endParaRPr lang="en-KR" sz="2000" dirty="0"/>
          </a:p>
        </p:txBody>
      </p:sp>
      <p:sp>
        <p:nvSpPr>
          <p:cNvPr id="4" name="Slide Number Placeholder 3">
            <a:extLst>
              <a:ext uri="{FF2B5EF4-FFF2-40B4-BE49-F238E27FC236}">
                <a16:creationId xmlns:a16="http://schemas.microsoft.com/office/drawing/2014/main" id="{9B2FC325-4BEE-B1F9-D98A-021C38AEB248}"/>
              </a:ext>
            </a:extLst>
          </p:cNvPr>
          <p:cNvSpPr>
            <a:spLocks noGrp="1"/>
          </p:cNvSpPr>
          <p:nvPr>
            <p:ph type="sldNum" sz="quarter" idx="12"/>
          </p:nvPr>
        </p:nvSpPr>
        <p:spPr/>
        <p:txBody>
          <a:bodyPr/>
          <a:lstStyle/>
          <a:p>
            <a:fld id="{9ED31AF7-B9C1-7944-AC45-A988640FDEFC}" type="slidenum">
              <a:rPr lang="en-KR" smtClean="0"/>
              <a:t>24</a:t>
            </a:fld>
            <a:endParaRPr lang="en-KR"/>
          </a:p>
        </p:txBody>
      </p:sp>
    </p:spTree>
    <p:extLst>
      <p:ext uri="{BB962C8B-B14F-4D97-AF65-F5344CB8AC3E}">
        <p14:creationId xmlns:p14="http://schemas.microsoft.com/office/powerpoint/2010/main" val="27234064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E19C4-33E0-3512-07B2-1AEB8E23FC59}"/>
              </a:ext>
            </a:extLst>
          </p:cNvPr>
          <p:cNvSpPr>
            <a:spLocks noGrp="1"/>
          </p:cNvSpPr>
          <p:nvPr>
            <p:ph type="title"/>
          </p:nvPr>
        </p:nvSpPr>
        <p:spPr/>
        <p:txBody>
          <a:bodyPr/>
          <a:lstStyle/>
          <a:p>
            <a:r>
              <a:rPr lang="en-KR" dirty="0"/>
              <a:t>Correctness of the Static Analyses</a:t>
            </a:r>
          </a:p>
        </p:txBody>
      </p:sp>
      <p:sp>
        <p:nvSpPr>
          <p:cNvPr id="3" name="Content Placeholder 2">
            <a:extLst>
              <a:ext uri="{FF2B5EF4-FFF2-40B4-BE49-F238E27FC236}">
                <a16:creationId xmlns:a16="http://schemas.microsoft.com/office/drawing/2014/main" id="{C472213F-644D-3555-1D5C-A017F484A6D2}"/>
              </a:ext>
            </a:extLst>
          </p:cNvPr>
          <p:cNvSpPr>
            <a:spLocks noGrp="1"/>
          </p:cNvSpPr>
          <p:nvPr>
            <p:ph idx="1"/>
          </p:nvPr>
        </p:nvSpPr>
        <p:spPr>
          <a:xfrm>
            <a:off x="838200" y="1825624"/>
            <a:ext cx="10515600" cy="4530725"/>
          </a:xfrm>
        </p:spPr>
        <p:txBody>
          <a:bodyPr>
            <a:normAutofit/>
          </a:bodyPr>
          <a:lstStyle/>
          <a:p>
            <a:r>
              <a:rPr lang="en-KR" dirty="0"/>
              <a:t>Static Taint Analysis</a:t>
            </a:r>
          </a:p>
          <a:p>
            <a:pPr lvl="1"/>
            <a:r>
              <a:rPr lang="en-KR" dirty="0"/>
              <a:t>Goal: Collect kernel objects/pointers used as policy or resource from the user intefaces</a:t>
            </a:r>
          </a:p>
          <a:p>
            <a:pPr lvl="1"/>
            <a:r>
              <a:rPr lang="en-KR" dirty="0"/>
              <a:t>Evaluation: Manual inspection</a:t>
            </a:r>
          </a:p>
          <a:p>
            <a:pPr lvl="2"/>
            <a:r>
              <a:rPr lang="en-KR" dirty="0"/>
              <a:t>3 false positives due to complex data flows</a:t>
            </a:r>
          </a:p>
          <a:p>
            <a:pPr lvl="2"/>
            <a:r>
              <a:rPr lang="en-KR" dirty="0"/>
              <a:t>No false negatives</a:t>
            </a:r>
            <a:br>
              <a:rPr lang="en-KR" dirty="0"/>
            </a:br>
            <a:endParaRPr lang="en-KR" dirty="0"/>
          </a:p>
          <a:p>
            <a:r>
              <a:rPr lang="en-KR" dirty="0"/>
              <a:t>Coarse-grained Points-to Analysis</a:t>
            </a:r>
          </a:p>
          <a:p>
            <a:pPr lvl="1"/>
            <a:r>
              <a:rPr lang="en-KR" dirty="0"/>
              <a:t>Goal: Classify instructions to enforce the DFI</a:t>
            </a:r>
          </a:p>
          <a:p>
            <a:pPr lvl="2"/>
            <a:r>
              <a:rPr lang="en-KR" dirty="0"/>
              <a:t>Privileged / Non-privileged / Mixed</a:t>
            </a:r>
          </a:p>
          <a:p>
            <a:pPr lvl="1"/>
            <a:r>
              <a:rPr lang="en-KR" dirty="0"/>
              <a:t>Evaluation: Emperical verification</a:t>
            </a:r>
          </a:p>
          <a:p>
            <a:pPr lvl="2"/>
            <a:r>
              <a:rPr lang="en-KR" dirty="0"/>
              <a:t>The PeTAL-hardened kernel worked on QEMU and the Galaxy device</a:t>
            </a:r>
          </a:p>
          <a:p>
            <a:endParaRPr lang="en-KR" dirty="0"/>
          </a:p>
        </p:txBody>
      </p:sp>
      <p:sp>
        <p:nvSpPr>
          <p:cNvPr id="4" name="Slide Number Placeholder 3">
            <a:extLst>
              <a:ext uri="{FF2B5EF4-FFF2-40B4-BE49-F238E27FC236}">
                <a16:creationId xmlns:a16="http://schemas.microsoft.com/office/drawing/2014/main" id="{93E3F325-8C67-636A-E83B-D48676C3B05D}"/>
              </a:ext>
            </a:extLst>
          </p:cNvPr>
          <p:cNvSpPr>
            <a:spLocks noGrp="1"/>
          </p:cNvSpPr>
          <p:nvPr>
            <p:ph type="sldNum" sz="quarter" idx="12"/>
          </p:nvPr>
        </p:nvSpPr>
        <p:spPr/>
        <p:txBody>
          <a:bodyPr/>
          <a:lstStyle/>
          <a:p>
            <a:fld id="{9ED31AF7-B9C1-7944-AC45-A988640FDEFC}" type="slidenum">
              <a:rPr lang="en-KR" smtClean="0"/>
              <a:t>25</a:t>
            </a:fld>
            <a:endParaRPr lang="en-KR"/>
          </a:p>
        </p:txBody>
      </p:sp>
    </p:spTree>
    <p:extLst>
      <p:ext uri="{BB962C8B-B14F-4D97-AF65-F5344CB8AC3E}">
        <p14:creationId xmlns:p14="http://schemas.microsoft.com/office/powerpoint/2010/main" val="6617409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5400">
          <a:solidFill>
            <a:schemeClr val="tx1"/>
          </a:solidFill>
        </a:ln>
      </a:spPr>
      <a:bodyPr rtlCol="0" anchor="ctr"/>
      <a:lstStyle>
        <a:defPPr algn="ctr">
          <a:defRPr dirty="0">
            <a:solidFill>
              <a:schemeClr val="tx1"/>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3858</TotalTime>
  <Words>3541</Words>
  <Application>Microsoft Macintosh PowerPoint</Application>
  <PresentationFormat>Widescreen</PresentationFormat>
  <Paragraphs>726</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Courier Prime</vt:lpstr>
      <vt:lpstr>Office Theme</vt:lpstr>
      <vt:lpstr>PeTAL: Ensuring Access Control Integrity against Data-only Attacks on Linux</vt:lpstr>
      <vt:lpstr>Linux kernel is an attractive attack target</vt:lpstr>
      <vt:lpstr>Kernel Privilege Escalation Attacks</vt:lpstr>
      <vt:lpstr>Protecting Access Control to Prevent Attacks</vt:lpstr>
      <vt:lpstr>PeTAL’s Data Flow Integrity</vt:lpstr>
      <vt:lpstr>Access Control System</vt:lpstr>
      <vt:lpstr>Access Control System in the Linux Kernel</vt:lpstr>
      <vt:lpstr>Access Control System in the Linux Kernel</vt:lpstr>
      <vt:lpstr>Attack 1: Corrupting Policy</vt:lpstr>
      <vt:lpstr>Attack 2: Bypassing Enforcement &amp; Corrupting Resource</vt:lpstr>
      <vt:lpstr>PeTAL’s Access Control Integrity</vt:lpstr>
      <vt:lpstr>Collecting Policy and Resource from user interfaces</vt:lpstr>
      <vt:lpstr>Collecting Policy and Resource from user interfaces</vt:lpstr>
      <vt:lpstr>PeTAL’s Data Flow Integrity</vt:lpstr>
      <vt:lpstr>ARM MTE and PAC</vt:lpstr>
      <vt:lpstr>Protecting Objects with ARM MTE</vt:lpstr>
      <vt:lpstr>Protecting Pointers with ARM PAC</vt:lpstr>
      <vt:lpstr>Complementary Relationship of MTE and PAC</vt:lpstr>
      <vt:lpstr>Complementary Relationship of MTE and PAC</vt:lpstr>
      <vt:lpstr>PeTAL Implementation</vt:lpstr>
      <vt:lpstr>Performance Evaluation</vt:lpstr>
      <vt:lpstr>Summary</vt:lpstr>
      <vt:lpstr>Thank you!</vt:lpstr>
      <vt:lpstr>Threat Model and Assumptions</vt:lpstr>
      <vt:lpstr>Correctness of the Static Analyses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김주희</dc:creator>
  <cp:lastModifiedBy>김주희</cp:lastModifiedBy>
  <cp:revision>175</cp:revision>
  <dcterms:created xsi:type="dcterms:W3CDTF">2024-09-09T09:52:25Z</dcterms:created>
  <dcterms:modified xsi:type="dcterms:W3CDTF">2024-10-15T03:46:10Z</dcterms:modified>
</cp:coreProperties>
</file>