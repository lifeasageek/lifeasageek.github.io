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478" r:id="rId3"/>
    <p:sldId id="422" r:id="rId4"/>
    <p:sldId id="423" r:id="rId5"/>
    <p:sldId id="436" r:id="rId6"/>
    <p:sldId id="510" r:id="rId7"/>
    <p:sldId id="437" r:id="rId8"/>
    <p:sldId id="509" r:id="rId9"/>
    <p:sldId id="476" r:id="rId10"/>
    <p:sldId id="483" r:id="rId11"/>
    <p:sldId id="484" r:id="rId12"/>
    <p:sldId id="485" r:id="rId13"/>
    <p:sldId id="513" r:id="rId14"/>
    <p:sldId id="473" r:id="rId15"/>
    <p:sldId id="507" r:id="rId16"/>
    <p:sldId id="506" r:id="rId17"/>
    <p:sldId id="490" r:id="rId18"/>
    <p:sldId id="498" r:id="rId19"/>
    <p:sldId id="499" r:id="rId20"/>
    <p:sldId id="482" r:id="rId21"/>
    <p:sldId id="491" r:id="rId22"/>
    <p:sldId id="503" r:id="rId23"/>
    <p:sldId id="502" r:id="rId24"/>
    <p:sldId id="357" r:id="rId25"/>
    <p:sldId id="494" r:id="rId26"/>
    <p:sldId id="284" r:id="rId27"/>
  </p:sldIdLst>
  <p:sldSz cx="18288000" cy="1028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ongDae R." initials="" lastIdx="3" clrIdx="0">
    <p:extLst>
      <p:ext uri="{19B8F6BF-5375-455C-9EA6-DF929625EA0E}">
        <p15:presenceInfo xmlns:p15="http://schemas.microsoft.com/office/powerpoint/2012/main" userId="S::dae.r.jeong@kaist.ac.kr::75a53ca0-c2b9-4e76-9232-7435653642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5A9B"/>
    <a:srgbClr val="FFFFFF"/>
    <a:srgbClr val="B0D5C7"/>
    <a:srgbClr val="BE2F63"/>
    <a:srgbClr val="0070C0"/>
    <a:srgbClr val="A61B00"/>
    <a:srgbClr val="FFEEE6"/>
    <a:srgbClr val="EFFFEA"/>
    <a:srgbClr val="ECFDE7"/>
    <a:srgbClr val="EAF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 autoAdjust="0"/>
    <p:restoredTop sz="64150" autoAdjust="0"/>
  </p:normalViewPr>
  <p:slideViewPr>
    <p:cSldViewPr snapToGrid="0">
      <p:cViewPr varScale="1">
        <p:scale>
          <a:sx n="53" d="100"/>
          <a:sy n="53" d="100"/>
        </p:scale>
        <p:origin x="218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80ABE-4BF9-5849-BF05-6B2EF92A3274}" type="datetimeFigureOut">
              <a:rPr lang="en-KR" smtClean="0"/>
              <a:t>11/22/24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BD7C4-8A35-BF46-84C6-6D137F002E2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5951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/>
              <a:t>Good morning, my name is </a:t>
            </a:r>
            <a:r>
              <a:rPr lang="ko-KR" altLang="en-US" sz="1800" dirty="0" err="1"/>
              <a:t>대룡</a:t>
            </a:r>
            <a:r>
              <a:rPr lang="ko-KR" altLang="en-US" sz="1800" dirty="0"/>
              <a:t> 정 </a:t>
            </a:r>
            <a:r>
              <a:rPr lang="en-US" altLang="ko" sz="1800" dirty="0"/>
              <a:t>and I am a post-doctoral researcher at Georgia Tech.</a:t>
            </a:r>
            <a:endParaRPr lang="en-US" sz="1800" dirty="0"/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" sz="1800" dirty="0"/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" sz="1800" dirty="0"/>
              <a:t>Today I’m going to talk about our research to find concurrency bugs in the kernel.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6959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069B-4652-FEC0-0FA7-268BFEC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4375C-0AB3-45D9-7404-06D5461EC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E4519-206D-F1A1-789E-F1F47DB50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However, concurrency bugs that I’m going to talk about is a specific type of concurrency bugs.</a:t>
            </a:r>
          </a:p>
          <a:p>
            <a:r>
              <a:rPr lang="en-KR" dirty="0"/>
              <a:t>As you can see in the title, it is a concurrency bug, but related to out-of-order execution.</a:t>
            </a:r>
          </a:p>
          <a:p>
            <a:r>
              <a:rPr lang="en-KR" dirty="0"/>
              <a:t>So, let’s see what it is first.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2F44B-3CA2-1728-F382-985E079CE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8487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 example of such concurrency bugs.</a:t>
            </a:r>
          </a:p>
          <a:p>
            <a:r>
              <a:rPr lang="en-US" dirty="0"/>
              <a:t>There are two system calls where</a:t>
            </a:r>
          </a:p>
          <a:p>
            <a:r>
              <a:rPr lang="en-KR" dirty="0"/>
              <a:t>&lt;click&gt; systcall A initializes a pointer,</a:t>
            </a:r>
            <a:r>
              <a:rPr lang="ko-KR" altLang="en-US" dirty="0"/>
              <a:t> </a:t>
            </a:r>
            <a:r>
              <a:rPr lang="en-KR" dirty="0"/>
              <a:t>and announces that the pointer is ready</a:t>
            </a:r>
          </a:p>
          <a:p>
            <a:endParaRPr lang="en-KR" dirty="0"/>
          </a:p>
          <a:p>
            <a:r>
              <a:rPr lang="en-US" dirty="0"/>
              <a:t>&lt;click&gt; A</a:t>
            </a:r>
            <a:r>
              <a:rPr lang="en-KR" dirty="0"/>
              <a:t>nd Syscall B checks that the pointer is ready</a:t>
            </a:r>
            <a:r>
              <a:rPr lang="ko-KR" altLang="en-US" dirty="0"/>
              <a:t> </a:t>
            </a:r>
            <a:r>
              <a:rPr lang="en-KR" dirty="0"/>
              <a:t>and then accesses the pointer</a:t>
            </a:r>
          </a:p>
          <a:p>
            <a:endParaRPr lang="en-KR" dirty="0"/>
          </a:p>
          <a:p>
            <a:r>
              <a:rPr lang="en-KR" dirty="0"/>
              <a:t>&lt;click&gt; This seems correct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KR" dirty="0"/>
              <a:t>Syscall B seems to access the pointer only if the pointer is ready</a:t>
            </a:r>
          </a:p>
          <a:p>
            <a:endParaRPr lang="en-KR" dirty="0"/>
          </a:p>
          <a:p>
            <a:r>
              <a:rPr lang="en-KR" dirty="0"/>
              <a:t>&lt;click&gt; However, when we run this example in, for example, Applic Silicon M3,</a:t>
            </a:r>
          </a:p>
          <a:p>
            <a:r>
              <a:rPr lang="en-KR" dirty="0"/>
              <a:t>&lt;click&gt; then we may see that syscall B accesses an uninitialized pointer.</a:t>
            </a:r>
          </a:p>
          <a:p>
            <a:r>
              <a:rPr lang="en-KR" dirty="0"/>
              <a:t>This is </a:t>
            </a:r>
            <a:r>
              <a:rPr lang="en-US" dirty="0"/>
              <a:t>counterintuitive</a:t>
            </a:r>
            <a:r>
              <a:rPr lang="ko-KR" altLang="en-US" dirty="0"/>
              <a:t> </a:t>
            </a:r>
            <a:r>
              <a:rPr lang="en-US" altLang="ko-KR" dirty="0"/>
              <a:t>and why does this happen.</a:t>
            </a:r>
          </a:p>
          <a:p>
            <a:endParaRPr lang="en-US" dirty="0"/>
          </a:p>
          <a:p>
            <a:r>
              <a:rPr lang="en-US" dirty="0"/>
              <a:t>&lt;click&gt; The reason is in the title. This bug occurs because of out-of-order execution.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1683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real execution,</a:t>
            </a:r>
          </a:p>
          <a:p>
            <a:endParaRPr lang="en-US" dirty="0"/>
          </a:p>
          <a:p>
            <a:r>
              <a:rPr lang="en-US" dirty="0"/>
              <a:t>&lt;click&gt; </a:t>
            </a:r>
            <a:r>
              <a:rPr lang="en-US" dirty="0" err="1"/>
              <a:t>Syscall</a:t>
            </a:r>
            <a:r>
              <a:rPr lang="en-US" dirty="0"/>
              <a:t> A can announce that the pointer is ready</a:t>
            </a:r>
            <a:r>
              <a:rPr lang="ko-KR" altLang="en-US" dirty="0"/>
              <a:t> </a:t>
            </a:r>
            <a:r>
              <a:rPr lang="en-US" altLang="ko-KR" dirty="0"/>
              <a:t>even before </a:t>
            </a:r>
            <a:r>
              <a:rPr lang="en-US" dirty="0"/>
              <a:t>initializing the pointer.</a:t>
            </a:r>
          </a:p>
          <a:p>
            <a:r>
              <a:rPr lang="en-US" dirty="0"/>
              <a:t>In the perspective of the architecture, this is an entirely legal behavior.</a:t>
            </a:r>
          </a:p>
          <a:p>
            <a:endParaRPr lang="en-US" dirty="0"/>
          </a:p>
          <a:p>
            <a:r>
              <a:rPr lang="en-US" dirty="0"/>
              <a:t>&lt;click&gt; So </a:t>
            </a:r>
            <a:r>
              <a:rPr lang="en-US" dirty="0" err="1"/>
              <a:t>syscall</a:t>
            </a:r>
            <a:r>
              <a:rPr lang="en-US" dirty="0"/>
              <a:t> B does not know that the pointer has not been initialized</a:t>
            </a:r>
            <a:endParaRPr lang="en-KR" dirty="0"/>
          </a:p>
          <a:p>
            <a:r>
              <a:rPr lang="en-KR" dirty="0"/>
              <a:t>&lt;click&gt; And the uninitialized access bug</a:t>
            </a:r>
            <a:r>
              <a:rPr lang="en-US" dirty="0"/>
              <a:t> occurs as it keeps running</a:t>
            </a:r>
          </a:p>
          <a:p>
            <a:endParaRPr lang="en-US" dirty="0"/>
          </a:p>
          <a:p>
            <a:r>
              <a:rPr lang="en-US" dirty="0"/>
              <a:t>&lt;click&gt; Then, What is the root cause of this bug? How can we prevent this bug?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59836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The answer is a memory barrier.</a:t>
            </a:r>
            <a:endParaRPr lang="en-US" dirty="0"/>
          </a:p>
          <a:p>
            <a:r>
              <a:rPr lang="en-US" dirty="0"/>
              <a:t>If we look at </a:t>
            </a:r>
            <a:r>
              <a:rPr lang="en-US" dirty="0" err="1"/>
              <a:t>Syscall</a:t>
            </a:r>
            <a:r>
              <a:rPr lang="en-US" dirty="0"/>
              <a:t> A, these two instructions have the ordering invariant that the first instruction should be executed before the second one.</a:t>
            </a:r>
          </a:p>
          <a:p>
            <a:r>
              <a:rPr lang="en-US" dirty="0"/>
              <a:t>&lt;click&gt; Accordingly, developers need to </a:t>
            </a:r>
            <a:r>
              <a:rPr lang="en-KR" dirty="0"/>
              <a:t>insert a memory barrier between the two instructions in syscall A.</a:t>
            </a:r>
          </a:p>
          <a:p>
            <a:r>
              <a:rPr lang="en-US" dirty="0"/>
              <a:t>&lt;click&gt; When executing </a:t>
            </a:r>
            <a:r>
              <a:rPr lang="en-KR" dirty="0"/>
              <a:t>the memory barrier</a:t>
            </a:r>
            <a:r>
              <a:rPr lang="en-US" dirty="0"/>
              <a:t>, the processor </a:t>
            </a:r>
            <a:r>
              <a:rPr lang="en-KR" dirty="0"/>
              <a:t>guarantees that the first instruction is finished before the second instruction.</a:t>
            </a:r>
          </a:p>
          <a:p>
            <a:endParaRPr lang="en-KR" dirty="0"/>
          </a:p>
          <a:p>
            <a:r>
              <a:rPr lang="en-KR" dirty="0"/>
              <a:t>&lt;click&gt;</a:t>
            </a:r>
            <a:r>
              <a:rPr lang="en-US" dirty="0"/>
              <a:t> As you can see in this example, developers should be aware of where to correctly put memory barriers.</a:t>
            </a:r>
          </a:p>
          <a:p>
            <a:r>
              <a:rPr lang="en-US" dirty="0"/>
              <a:t>Otherwise, out-of-order execution may cause concurrency bugs.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5057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In these days, machines which exhibit this behavior is getting more popular.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For example, there are </a:t>
            </a:r>
            <a:r>
              <a:rPr lang="en-US" dirty="0"/>
              <a:t>high-performance ARM-based servers, or high-end mobile devices.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Most notably, </a:t>
            </a:r>
            <a:r>
              <a:rPr lang="en-US" dirty="0" err="1"/>
              <a:t>macbooks</a:t>
            </a:r>
            <a:r>
              <a:rPr lang="en-US" dirty="0"/>
              <a:t> you are using right now exhibit this behavior.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&lt;click&gt; However, as one linux developer whose last name is torvads said, it is really hard to think about the ordering and memory barriers,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&lt;click&gt; </a:t>
            </a:r>
            <a:r>
              <a:rPr lang="en-US" altLang="ko-KR" dirty="0" err="1"/>
              <a:t>Unfortunatley</a:t>
            </a:r>
            <a:r>
              <a:rPr lang="en-US" altLang="ko-KR" dirty="0"/>
              <a:t>, consequences of such bugs severely harm the security and reliability of systems.</a:t>
            </a:r>
            <a:endParaRPr lang="en-KR" dirty="0"/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&lt;click&gt;So, the goal this work is to find concurrency bugs that are caused by missing memory barriers.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75574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However, finding such concurrency bugs is extremely difficult because they depends on two types of nondeterministic behaviors, thread interleaving and out-of-order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3700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04E8-84DD-51C7-ABFA-1010FD19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C7F1E-2359-C2A1-8473-B56203108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C1DB7-B5E1-4628-7118-3CD56074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For decades, many works </a:t>
            </a:r>
            <a:r>
              <a:rPr lang="en-US" dirty="0"/>
              <a:t>are </a:t>
            </a:r>
            <a:r>
              <a:rPr lang="en-KR" dirty="0"/>
              <a:t>proposed to control thread interleavings to better identify concurrency bugs.</a:t>
            </a:r>
          </a:p>
          <a:p>
            <a:r>
              <a:rPr lang="en-KR" dirty="0"/>
              <a:t>They control thread interleaving with various mechanisms such as breakpoints.</a:t>
            </a:r>
          </a:p>
          <a:p>
            <a:r>
              <a:rPr lang="en-KR" dirty="0"/>
              <a:t>Based on the ability of controlling thread interleaving, they have achieved remarkable success in identifying concurrency bugs.</a:t>
            </a:r>
          </a:p>
          <a:p>
            <a:endParaRPr lang="en-KR" dirty="0"/>
          </a:p>
          <a:p>
            <a:r>
              <a:rPr lang="en-KR" dirty="0"/>
              <a:t>&lt;click&gt;However, among the two non-deterministic behaviors,</a:t>
            </a:r>
          </a:p>
          <a:p>
            <a:r>
              <a:rPr lang="en-KR" dirty="0"/>
              <a:t>&lt;click&gt; we still lack an understanding of how to control out-of-order execution.</a:t>
            </a:r>
          </a:p>
          <a:p>
            <a:r>
              <a:rPr lang="en-KR" dirty="0"/>
              <a:t>Unlike thread interleaving, out-of-order execution happens at a microarchitectural level inside a processor, and we don’t have a mechanism to control it.</a:t>
            </a:r>
          </a:p>
          <a:p>
            <a:r>
              <a:rPr lang="en-KR" dirty="0"/>
              <a:t>Even worse, controlling thread interleaving obscures the effect of out-of-order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A5667-B146-3A47-09B9-60011E59D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777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In a previous example, we may adopt a breakpoint to control thread interleaving.</a:t>
            </a:r>
          </a:p>
          <a:p>
            <a:r>
              <a:rPr lang="en-KR" dirty="0"/>
              <a:t>&lt;click&gt; Let’s say we use a breakpoint to </a:t>
            </a:r>
            <a:r>
              <a:rPr lang="en-US" dirty="0"/>
              <a:t>do scheduling after executing the second instruction of </a:t>
            </a:r>
            <a:r>
              <a:rPr lang="en-US" dirty="0" err="1"/>
              <a:t>syscall</a:t>
            </a:r>
            <a:r>
              <a:rPr lang="en-US" dirty="0"/>
              <a:t> A.</a:t>
            </a:r>
          </a:p>
          <a:p>
            <a:r>
              <a:rPr lang="en-US" dirty="0"/>
              <a:t>&lt;click&gt; However, hitting the breakpoint enforces the ordering between the two instructions, &lt;click&gt; so </a:t>
            </a:r>
            <a:r>
              <a:rPr lang="en-US" dirty="0" err="1"/>
              <a:t>syscall</a:t>
            </a:r>
            <a:r>
              <a:rPr lang="en-US" dirty="0"/>
              <a:t> B always sees the initialized pointer.</a:t>
            </a:r>
          </a:p>
          <a:p>
            <a:r>
              <a:rPr lang="en-US" dirty="0"/>
              <a:t>&lt;click&gt; As such, in order to effectively identify out-of-order concurrency bugs, we need a completely new approach to control out-of-order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2061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In this work, we introduce two software.</a:t>
            </a:r>
          </a:p>
          <a:p>
            <a:r>
              <a:rPr lang="en-KR" dirty="0"/>
              <a:t>The first one is OEMU which is a mechanism to control out-of-order exeucution during kernel runtime.</a:t>
            </a:r>
          </a:p>
          <a:p>
            <a:r>
              <a:rPr lang="en-KR" dirty="0"/>
              <a:t>And the second one is Ozz which is a kernel fuzzer to identify out-of-order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64605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Now let me introduce OEMU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8153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b="0" i="0" dirty="0"/>
              <a:t>As I said, OEMU is a mechanism to </a:t>
            </a:r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 out-of-order execution during runtime.</a:t>
            </a:r>
          </a:p>
          <a:p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consists of a compiler pass and callback functions</a:t>
            </a:r>
          </a:p>
          <a:p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&lt;click&gt; When compiling a kernel source code,</a:t>
            </a:r>
          </a:p>
          <a:p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&lt;click&gt; it replaces instructions which access global memory objects to function calls.</a:t>
            </a:r>
          </a:p>
          <a:p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 that r1 is a local variable on a stack, so OEMU does not consider about it.</a:t>
            </a:r>
          </a:p>
          <a:p>
            <a:r>
              <a:rPr lang="en-KR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&lt;click&gt; Then, during the kernel execution, these functions provide two primitive operations to control out-of-order execution, which are delayed store operation and versioned load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5080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E947-CF85-4B0E-A7AD-9E943687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6D3FC-881A-8B41-7E84-29A9B2488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0BF41-478B-9D1F-E293-E62BDA935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Among the two operations, delayed store operation emulates how hardware reorders store operations.</a:t>
            </a:r>
            <a:endParaRPr lang="en-KR" dirty="0"/>
          </a:p>
          <a:p>
            <a:r>
              <a:rPr lang="en-US" dirty="0"/>
              <a:t>Let’s look at t</a:t>
            </a:r>
            <a:r>
              <a:rPr lang="en-KR" dirty="0"/>
              <a:t>his picture</a:t>
            </a:r>
            <a:r>
              <a:rPr lang="en-US" dirty="0"/>
              <a:t> to explain about it.</a:t>
            </a:r>
            <a:endParaRPr lang="en-KR" dirty="0"/>
          </a:p>
          <a:p>
            <a:r>
              <a:rPr lang="en-KR" dirty="0"/>
              <a:t>&lt;click&gt; In this piecture, </a:t>
            </a:r>
            <a:r>
              <a:rPr lang="en-US" dirty="0"/>
              <a:t>w</a:t>
            </a:r>
            <a:r>
              <a:rPr lang="en-KR" dirty="0"/>
              <a:t>e can see a small microarchitectural component which is called a store buffer</a:t>
            </a:r>
            <a:r>
              <a:rPr lang="en-US" altLang="ko-KR" dirty="0"/>
              <a:t>.</a:t>
            </a:r>
          </a:p>
          <a:p>
            <a:r>
              <a:rPr lang="en-US" dirty="0"/>
              <a:t>The store buffer temporary holds the results of store operations,</a:t>
            </a:r>
          </a:p>
          <a:p>
            <a:r>
              <a:rPr lang="en-US" dirty="0"/>
              <a:t>and it may change the order of store operations.</a:t>
            </a:r>
            <a:endParaRPr lang="en-KR" dirty="0"/>
          </a:p>
          <a:p>
            <a:br>
              <a:rPr lang="en-KR" dirty="0"/>
            </a:br>
            <a:r>
              <a:rPr lang="en-KR" dirty="0"/>
              <a:t>&lt;click&gt; So, delayed store operations emulates the store buffer to reorder store operations.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A366F-2A06-CC41-3D1B-36E4253FB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96057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let’s see how emulating the store buffer can reorder store operations</a:t>
            </a:r>
            <a:br>
              <a:rPr lang="en-US" dirty="0"/>
            </a:br>
            <a:r>
              <a:rPr lang="en-US" altLang="ko-KR" dirty="0"/>
              <a:t>As you can see, at the beginning, the pointer is not initialized, and the value of ready is false</a:t>
            </a:r>
            <a:br>
              <a:rPr lang="en-US" altLang="ko-KR" dirty="0"/>
            </a:br>
            <a:r>
              <a:rPr lang="en-US" dirty="0"/>
              <a:t>&lt;click&gt; Then, suppose we want to reorder instructions A and B.</a:t>
            </a:r>
          </a:p>
          <a:p>
            <a:br>
              <a:rPr lang="en-US" dirty="0"/>
            </a:br>
            <a:r>
              <a:rPr lang="en-US" dirty="0"/>
              <a:t>&lt;click&gt; For this, we implement a per-core virtual store buffer.</a:t>
            </a:r>
          </a:p>
          <a:p>
            <a:r>
              <a:rPr lang="en-US" dirty="0"/>
              <a:t>Then, before running the system call, we instruct the store buffer to hold the value of </a:t>
            </a:r>
            <a:r>
              <a:rPr lang="en-US" dirty="0" err="1"/>
              <a:t>ptr</a:t>
            </a:r>
            <a:r>
              <a:rPr lang="en-US" dirty="0"/>
              <a:t>, but flush the value of ready</a:t>
            </a:r>
          </a:p>
          <a:p>
            <a:r>
              <a:rPr lang="en-US" dirty="0"/>
              <a:t>&lt;click&gt; Now, let’s start the execution.</a:t>
            </a:r>
          </a:p>
          <a:p>
            <a:endParaRPr lang="en-US" dirty="0"/>
          </a:p>
          <a:p>
            <a:r>
              <a:rPr lang="en-US" dirty="0"/>
              <a:t>&lt;click&gt; When the instruction A is executed, the store buffer holds the value of the pointer instead of writing it to memory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it is just</a:t>
            </a:r>
            <a:r>
              <a:rPr lang="en-US" dirty="0"/>
              <a:t> because we instructed the store buffer to do that.</a:t>
            </a:r>
          </a:p>
          <a:p>
            <a:r>
              <a:rPr lang="en-US" dirty="0"/>
              <a:t>So even after executing the instruction A, the value of the pointer remains unchanged in memory.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&lt;click&gt; Then, when the instruction B is executed, the store buffer flushes the value of ready to memory. This is also because we instructed the store buffer to do that.</a:t>
            </a:r>
          </a:p>
          <a:p>
            <a:r>
              <a:rPr lang="en-US" dirty="0"/>
              <a:t>So, the state of memory is what we want.</a:t>
            </a:r>
          </a:p>
          <a:p>
            <a:r>
              <a:rPr lang="en-US" dirty="0"/>
              <a:t>The value of pointer is not initialized and ready is true.</a:t>
            </a:r>
          </a:p>
          <a:p>
            <a:endParaRPr lang="en-US" dirty="0"/>
          </a:p>
          <a:p>
            <a:r>
              <a:rPr lang="en-US" dirty="0"/>
              <a:t>&lt;click&gt; Lastly, when </a:t>
            </a:r>
            <a:r>
              <a:rPr lang="en-US" dirty="0" err="1"/>
              <a:t>syscall</a:t>
            </a:r>
            <a:r>
              <a:rPr lang="en-US" dirty="0"/>
              <a:t> B runs, the uninitialized access bug occurs.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80348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B4BC-6F12-F659-3B90-9B8877DF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6133A-36E3-F4C1-3CA9-BD6C32507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02B0C-66D2-2A57-71C2-0A41F9BAD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While delayed store operations reorders store operations, OEMU provies versioned load operation to reorder load operations.</a:t>
            </a:r>
          </a:p>
          <a:p>
            <a:r>
              <a:rPr lang="en-KR" dirty="0"/>
              <a:t>Versioned load operation is needed to identify another missing memory barrier in syscall B.</a:t>
            </a:r>
          </a:p>
          <a:p>
            <a:endParaRPr lang="en-KR" dirty="0"/>
          </a:p>
          <a:p>
            <a:r>
              <a:rPr lang="en-KR" dirty="0"/>
              <a:t>&lt;click&gt;What I mean is that, in this example,</a:t>
            </a:r>
          </a:p>
          <a:p>
            <a:r>
              <a:rPr lang="en-KR" dirty="0"/>
              <a:t>&lt;click&gt;a processor can read the address of ptr before all other instructions.</a:t>
            </a:r>
          </a:p>
          <a:p>
            <a:r>
              <a:rPr lang="en-KR" dirty="0"/>
              <a:t>At this point, the pointer has not been initialized so the address is invalid.</a:t>
            </a:r>
          </a:p>
          <a:p>
            <a:r>
              <a:rPr lang="en-KR" dirty="0"/>
              <a:t>&lt;click&gt; And then syscall A does the intialization.</a:t>
            </a:r>
          </a:p>
          <a:p>
            <a:r>
              <a:rPr lang="en-US" dirty="0"/>
              <a:t>so when </a:t>
            </a:r>
            <a:r>
              <a:rPr lang="en-US" dirty="0" err="1"/>
              <a:t>syscall</a:t>
            </a:r>
            <a:r>
              <a:rPr lang="en-US" dirty="0"/>
              <a:t> B runs, the value of ready is true.</a:t>
            </a:r>
          </a:p>
          <a:p>
            <a:r>
              <a:rPr lang="en-US" dirty="0"/>
              <a:t>But </a:t>
            </a:r>
            <a:r>
              <a:rPr lang="en-US" dirty="0" err="1"/>
              <a:t>syscall</a:t>
            </a:r>
            <a:r>
              <a:rPr lang="en-US" dirty="0"/>
              <a:t> B has the invalid address of pointer, causing the uninitialized access bug.</a:t>
            </a:r>
          </a:p>
          <a:p>
            <a:r>
              <a:rPr lang="en-US" dirty="0"/>
              <a:t>&lt;click&gt;To prevent this, another memory barrier is needed in </a:t>
            </a:r>
            <a:r>
              <a:rPr lang="en-US" dirty="0" err="1"/>
              <a:t>syscall</a:t>
            </a:r>
            <a:r>
              <a:rPr lang="en-US" dirty="0"/>
              <a:t> B,</a:t>
            </a:r>
            <a:br>
              <a:rPr lang="en-US" dirty="0"/>
            </a:br>
            <a:r>
              <a:rPr lang="en-US" dirty="0"/>
              <a:t>and versioned load operation is to find concurrency bugs due to missing this barrier.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B415A-2C9D-3665-3611-D951731AE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21259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41B6-0DD6-5E2B-9503-7A549D76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12E9D-649C-1A92-9722-ABDE0DE17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4815E-5065-E896-FB27-ECAE8BB33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Similar to delayed store operations, versioned load operations also emulates how hardware reorders load operations.</a:t>
            </a:r>
          </a:p>
          <a:p>
            <a:r>
              <a:rPr lang="en-KR" dirty="0"/>
              <a:t>&lt;click&gt;it records the invalid address of the pointer in advance,</a:t>
            </a:r>
          </a:p>
          <a:p>
            <a:r>
              <a:rPr lang="en-US" dirty="0"/>
              <a:t>&lt;click&gt;and  when </a:t>
            </a:r>
            <a:r>
              <a:rPr lang="en-US" dirty="0" err="1"/>
              <a:t>syscall</a:t>
            </a:r>
            <a:r>
              <a:rPr lang="en-US" dirty="0"/>
              <a:t> B needs to read the address of pointer, </a:t>
            </a:r>
          </a:p>
          <a:p>
            <a:r>
              <a:rPr lang="en-US" dirty="0"/>
              <a:t>It allows </a:t>
            </a:r>
            <a:r>
              <a:rPr lang="en-US" dirty="0" err="1"/>
              <a:t>syscall</a:t>
            </a:r>
            <a:r>
              <a:rPr lang="en-US" dirty="0"/>
              <a:t> B to read the old and invalid address of pointer.</a:t>
            </a:r>
          </a:p>
          <a:p>
            <a:r>
              <a:rPr lang="en-US" dirty="0"/>
              <a:t>&lt;click&gt; Because of the time limit, I’ll omit the details of the implementation, and please check our paper for details.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D6336-5DC7-A5E6-2230-3CD0E1C5C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10891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Now let’s move on to Ozz</a:t>
            </a:r>
          </a:p>
          <a:p>
            <a:r>
              <a:rPr lang="en-KR" dirty="0"/>
              <a:t>Ozz is a kernel fuzzer to find out-of-order concurrency bugs in the kernel.</a:t>
            </a:r>
          </a:p>
          <a:p>
            <a:r>
              <a:rPr lang="en-KR" dirty="0"/>
              <a:t>Based on OEMU and a custom scheduler from a previous work, Ozz deterministically control out-of-order execution and thread interleaving.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8405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Ozz consists of two steps</a:t>
            </a:r>
          </a:p>
          <a:p>
            <a:r>
              <a:rPr lang="en-KR" dirty="0"/>
              <a:t>&lt;click&gt; The first step is to run single-threaded inputs to dynamically profile memory accesses,</a:t>
            </a:r>
          </a:p>
          <a:p>
            <a:r>
              <a:rPr lang="en-KR" dirty="0"/>
              <a:t>&lt;click&gt; and the second step is to run multi-threaded inputs to find out-of-order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03603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In the first step,</a:t>
            </a:r>
            <a:br>
              <a:rPr lang="en-KR" dirty="0"/>
            </a:br>
            <a:r>
              <a:rPr lang="en-KR" dirty="0"/>
              <a:t>&lt;click&gt;Ozz utilizes fuzzing to generate sequential inputs while exploreing execution paths as much as possible.</a:t>
            </a:r>
            <a:br>
              <a:rPr lang="en-KR" dirty="0"/>
            </a:br>
            <a:r>
              <a:rPr lang="en-KR" dirty="0"/>
              <a:t>&lt;click&gt; it also dynamically traces memory accesses of each system call.</a:t>
            </a:r>
          </a:p>
          <a:p>
            <a:r>
              <a:rPr lang="en-KR" dirty="0"/>
              <a:t>&lt;click&gt;Then, among all system calls, Ozz selects pairs of system calls which access shared memory objects. </a:t>
            </a:r>
          </a:p>
          <a:p>
            <a:r>
              <a:rPr lang="en-KR" dirty="0"/>
              <a:t>In this example, colors represent a memory object and syscall A and B access shared memory objects.</a:t>
            </a:r>
          </a:p>
          <a:p>
            <a:r>
              <a:rPr lang="en-KR" dirty="0"/>
              <a:t>They will run concurrnely in Step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19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54427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With such pairs of system calls, Ozz finds concurrency bugs due to out-of-order execution.</a:t>
            </a:r>
          </a:p>
          <a:p>
            <a:r>
              <a:rPr lang="en-KR" dirty="0"/>
              <a:t>The idea is simple.</a:t>
            </a:r>
          </a:p>
          <a:p>
            <a:r>
              <a:rPr lang="en-KR" dirty="0"/>
              <a:t>&lt;click&gt; First, Ozz gueses where a memory barrier is possibly missing</a:t>
            </a:r>
          </a:p>
          <a:p>
            <a:r>
              <a:rPr lang="en-KR" dirty="0"/>
              <a:t>In this example, it is represented as the red arrow</a:t>
            </a:r>
          </a:p>
          <a:p>
            <a:r>
              <a:rPr lang="en-KR" dirty="0"/>
              <a:t>&lt;click&gt; Then, Ozz executes instructions in a way that would never happen if the memory barrier existed.</a:t>
            </a:r>
          </a:p>
          <a:p>
            <a:r>
              <a:rPr lang="en-US" dirty="0"/>
              <a:t>For example, if there was a memory barrier at the red arrow,</a:t>
            </a:r>
            <a:br>
              <a:rPr lang="en-US" dirty="0"/>
            </a:br>
            <a:r>
              <a:rPr lang="en-US" dirty="0"/>
              <a:t>the processor always guarantees that the first store is finished before the second store.</a:t>
            </a:r>
          </a:p>
          <a:p>
            <a:r>
              <a:rPr lang="en-US" dirty="0"/>
              <a:t>&lt;click&gt; However, in this example, there is no memory barrier, and the processor can delay the first store operation until </a:t>
            </a:r>
            <a:r>
              <a:rPr lang="en-US" dirty="0" err="1"/>
              <a:t>syscall</a:t>
            </a:r>
            <a:r>
              <a:rPr lang="en-US" dirty="0"/>
              <a:t> B accesses the pointer.</a:t>
            </a:r>
          </a:p>
          <a:p>
            <a:r>
              <a:rPr lang="en-KR" dirty="0"/>
              <a:t>&lt;click&gt; Lastly, ozz simply runs instructions and observes whether the kernel malfunctions or not.</a:t>
            </a:r>
          </a:p>
          <a:p>
            <a:r>
              <a:rPr lang="en-KR" dirty="0"/>
              <a:t>&lt;click&gt; Second and third setps relatively straightforward, so let me explain how Ozz guesses where a memory barrier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53595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Ozz gueses the location of missing memory barrier by maximizing the number of reordered memory accesses.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&lt;click&gt;Our insight is that </a:t>
            </a:r>
            <a:r>
              <a:rPr lang="en-US" sz="1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more execution deviates from a sequential order,</a:t>
            </a:r>
            <a:br>
              <a:rPr lang="en-US" sz="1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harder it becomes to reason about, increasing the chance of introducing subtle bugs.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Meaning that, our approach improves the effectiveness of bug detection by aggressively 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creating non-sequential behavior in kernel execution.</a:t>
            </a:r>
            <a:endParaRPr lang="en-US" sz="1800" b="0" i="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KR" dirty="0"/>
          </a:p>
          <a:p>
            <a:r>
              <a:rPr lang="en-KR" dirty="0"/>
              <a:t>&lt;click&gt; I’m going to explain about this with a slightly modified example. </a:t>
            </a:r>
          </a:p>
          <a:p>
            <a:r>
              <a:rPr lang="en-KR" dirty="0"/>
              <a:t>For simplity, let’s focus on syscall A,</a:t>
            </a:r>
          </a:p>
          <a:p>
            <a:r>
              <a:rPr lang="en-US" dirty="0"/>
              <a:t>&lt;click&gt;And I’m going to compare two cases of possible missing memory barriers.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3267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case 1, </a:t>
            </a:r>
            <a:r>
              <a:rPr lang="en-KR" dirty="0"/>
              <a:t>Ozz guesses a memory barrier is missing after the first instruction in syscall A.</a:t>
            </a:r>
          </a:p>
          <a:p>
            <a:r>
              <a:rPr lang="en-KR" dirty="0"/>
              <a:t>Then, among all execution scenarios, Ozz tries to run the case that maximize the number of reordered memory accesses.</a:t>
            </a:r>
            <a:br>
              <a:rPr lang="en-KR" dirty="0"/>
            </a:br>
            <a:r>
              <a:rPr lang="en-KR" dirty="0"/>
              <a:t>&lt;click&gt;Ozz instructs the OEMU to delay the first instruction, and </a:t>
            </a:r>
          </a:p>
          <a:p>
            <a:r>
              <a:rPr lang="en-KR" dirty="0"/>
              <a:t>&lt;click&gt; instructs the custom scheduler to enforce thread interleaving as represented as the black arrow.</a:t>
            </a:r>
          </a:p>
          <a:p>
            <a:endParaRPr lang="en-KR" dirty="0"/>
          </a:p>
          <a:p>
            <a:r>
              <a:rPr lang="en-KR" dirty="0"/>
              <a:t>In this case, just one store operation is reordered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57978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On the other hand, in the case 2, Ozzs gusses a memory barrier is missing after the second instruction.</a:t>
            </a:r>
          </a:p>
          <a:p>
            <a:r>
              <a:rPr lang="en-KR" dirty="0"/>
              <a:t>In that case,</a:t>
            </a:r>
          </a:p>
          <a:p>
            <a:r>
              <a:rPr lang="en-KR" dirty="0"/>
              <a:t>&lt;click&gt; </a:t>
            </a:r>
            <a:r>
              <a:rPr lang="en-US" altLang="ko-KR" dirty="0"/>
              <a:t>Ozz instructs OEMU to delay the first two store operations, and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&lt;click&gt; instructs the custom scheduler to enforce thread interleaving as represented as the black arrow as well.</a:t>
            </a:r>
          </a:p>
          <a:p>
            <a:r>
              <a:rPr lang="en-KR" dirty="0"/>
              <a:t>&lt;click&gt; So, </a:t>
            </a:r>
            <a:r>
              <a:rPr lang="en-US" sz="18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Case 2, more memory accesses are reordered than in Case 1.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Like this, </a:t>
            </a:r>
            <a:r>
              <a:rPr lang="en-US" sz="1800" b="0" i="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Ozz prioritizes cases that reorder more memory accesses as they are harder for developers to reason about, and they are more likely to cause concurrency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5680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With Ozz, we conducted the evaluation to confirm that Ozz is effective in identifying out-of-order concurrency bugs in the kernel.</a:t>
            </a:r>
          </a:p>
          <a:p>
            <a:r>
              <a:rPr lang="en-KR" dirty="0"/>
              <a:t>During our evaluation, we found 11 new out-of-order bugs in the Linux kernel.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Some were found in popular subsystems such as TLS or </a:t>
            </a:r>
            <a:r>
              <a:rPr lang="en-US" altLang="ko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eBPF</a:t>
            </a:r>
            <a: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and we reported all of them to the developers.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&lt;click&gt;We also confirmed that OEMU and Ozz can reproduce 8 out of 9 known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bugs.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reason of the one failing case is thread migration which is another non-deterministic behavior that we don’t consider in this work.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&lt;click&gt; For more evaluation, please checkout paper.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9704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In conclusion, our wo</a:t>
            </a:r>
            <a:r>
              <a:rPr lang="en-US" dirty="0" err="1"/>
              <a:t>rk</a:t>
            </a:r>
            <a:r>
              <a:rPr lang="en-KR" dirty="0"/>
              <a:t> introduces two software, OEMU and Ozz with a purpose of identifying kernel concurrency bugs caused by out-of-order execution.</a:t>
            </a:r>
          </a:p>
          <a:p>
            <a:r>
              <a:rPr lang="en-KR" dirty="0"/>
              <a:t>During our evaluation, we find 11 new out-of-order concurrency bugs in the Linux kernel, showing its effectiveness in identifying such concurrency bugs.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996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Thank you for listening and </a:t>
            </a:r>
            <a:r>
              <a:rPr lang="en-US" dirty="0"/>
              <a:t>I'm happy to take any questions.</a:t>
            </a:r>
            <a:endParaRPr lang="en-KR" dirty="0"/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BD7C4-8A35-BF46-84C6-6D137F002E26}" type="slidenum">
              <a:rPr lang="en-KR" smtClean="0"/>
              <a:t>26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9051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806"/>
            <a:ext cx="13716000" cy="358195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891"/>
            <a:ext cx="13716000" cy="2484026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399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76BA-DB13-2448-AAC2-6DA9721E341E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7605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63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6068" y="2738861"/>
            <a:ext cx="15034632" cy="6528015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"/>
              </a:defRPr>
            </a:lvl1pPr>
            <a:lvl2pPr marL="1028700" indent="-342900">
              <a:buFont typeface="System Font Regular"/>
              <a:buChar char="-"/>
              <a:defRPr sz="2800">
                <a:latin typeface=""/>
              </a:defRPr>
            </a:lvl2pPr>
            <a:lvl3pPr marL="1714500" indent="-342900">
              <a:buFont typeface="System Font Regular"/>
              <a:buChar char="-"/>
              <a:defRPr sz="2400">
                <a:latin typeface=""/>
              </a:defRPr>
            </a:lvl3pPr>
            <a:lvl4pPr marL="2400300" indent="-342900">
              <a:buFont typeface="System Font Regular"/>
              <a:buChar char="-"/>
              <a:defRPr sz="2000">
                <a:latin typeface=""/>
              </a:defRPr>
            </a:lvl4pPr>
            <a:lvl5pPr marL="3086100" indent="-342900">
              <a:buFont typeface="System Font Regular"/>
              <a:buChar char="-"/>
              <a:defRPr sz="2000"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AE62-48B9-8F4D-9744-FEF41DFD1C22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E6388DE3-8CF0-C81A-F218-7A861B2664E7}"/>
              </a:ext>
            </a:extLst>
          </p:cNvPr>
          <p:cNvSpPr/>
          <p:nvPr userDrawn="1"/>
        </p:nvSpPr>
        <p:spPr>
          <a:xfrm flipH="1">
            <a:off x="16744950" y="9266877"/>
            <a:ext cx="1567013" cy="1049509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077950" y="9721765"/>
            <a:ext cx="4114800" cy="54777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BB466953-1B1C-644D-985E-1DBABDED2717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67642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5004"/>
            <a:ext cx="15773400" cy="427976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5258"/>
            <a:ext cx="15773400" cy="225062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39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16CB-3AE2-DD46-92AF-5BF1B302E268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7488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861"/>
            <a:ext cx="7772400" cy="6528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1" y="2738861"/>
            <a:ext cx="7772400" cy="6528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F8DE9-885C-6C46-B849-0971A9F6A1BF}" type="datetime1">
              <a:rPr lang="en-US" smtClean="0"/>
              <a:t>11/22/24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1446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775"/>
            <a:ext cx="15773400" cy="1988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2136"/>
            <a:ext cx="7736681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399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8195"/>
            <a:ext cx="7736681" cy="5527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2136"/>
            <a:ext cx="7774782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399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8195"/>
            <a:ext cx="7774782" cy="5527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2D37-2C57-A348-B730-44A62175DF64}" type="datetime1">
              <a:rPr lang="en-US" smtClean="0"/>
              <a:t>11/22/24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291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1398-4989-8B4B-87C7-A31290F9C18A}" type="datetime1">
              <a:rPr lang="en-US" smtClean="0"/>
              <a:t>11/22/24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7507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397D-1F45-BE4C-9854-3C330A42DC1C}" type="datetime1">
              <a:rPr lang="en-US" smtClean="0"/>
              <a:t>11/22/24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434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8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3" y="1481367"/>
            <a:ext cx="9258300" cy="731156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8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399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E66C-8184-F241-B871-74D47EA934F9}" type="datetime1">
              <a:rPr lang="en-US" smtClean="0"/>
              <a:t>11/22/24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2139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8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3" y="1481367"/>
            <a:ext cx="9258300" cy="7311566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399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8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399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EBFE-1E13-D143-BB4A-9C4142E84C4B}" type="datetime1">
              <a:rPr lang="en-US" smtClean="0"/>
              <a:t>11/22/24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109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8A35-F260-E943-B90E-F2961255FD3F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5251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547774"/>
            <a:ext cx="3943350" cy="8719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774"/>
            <a:ext cx="11601450" cy="8719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44C2-171D-D544-AC0F-1167CF6A0B71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3931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775"/>
            <a:ext cx="15773400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861"/>
            <a:ext cx="15773400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85A1A-F812-1D4E-895D-EEB7EE06E5F1}" type="datetime1">
              <a:rPr lang="en-US" smtClean="0"/>
              <a:t>11/22/24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6953-1B1C-644D-985E-1DBABDED27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1923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3771899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399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38BB-0051-9AE1-57D3-AC2C6F752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4339"/>
            <a:ext cx="18288000" cy="3581400"/>
          </a:xfrm>
        </p:spPr>
        <p:txBody>
          <a:bodyPr>
            <a:normAutofit/>
          </a:bodyPr>
          <a:lstStyle/>
          <a:p>
            <a:r>
              <a:rPr lang="en-US" sz="6000" b="1" dirty="0"/>
              <a:t>Ozz: Identifying Kernel Out-of-Order Concurrency Bugs with In-Vivo Memory Access Reordering</a:t>
            </a:r>
            <a:endParaRPr lang="en-KR" sz="6000" b="1" dirty="0"/>
          </a:p>
        </p:txBody>
      </p:sp>
      <p:pic>
        <p:nvPicPr>
          <p:cNvPr id="1026" name="Picture 2" descr="Seoul National University - Wikipedia">
            <a:extLst>
              <a:ext uri="{FF2B5EF4-FFF2-40B4-BE49-F238E27FC236}">
                <a16:creationId xmlns:a16="http://schemas.microsoft.com/office/drawing/2014/main" id="{42818874-1F14-8CEB-416C-B6A3022D7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1075" y="8491218"/>
            <a:ext cx="1446415" cy="149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976EAD6F-7C14-1CEC-8015-CD15CCAD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643" y="8807449"/>
            <a:ext cx="3871636" cy="97662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20B9A2E-2310-EBB5-2EA6-51047C493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1174" y="8807450"/>
            <a:ext cx="3418198" cy="97662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7DB521B-43C7-1EAD-69D5-75C7ECEFC184}"/>
              </a:ext>
            </a:extLst>
          </p:cNvPr>
          <p:cNvSpPr txBox="1">
            <a:spLocks/>
          </p:cNvSpPr>
          <p:nvPr/>
        </p:nvSpPr>
        <p:spPr>
          <a:xfrm>
            <a:off x="2286001" y="6069806"/>
            <a:ext cx="13716000" cy="2483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2057399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KR" sz="3200" b="1" dirty="0"/>
              <a:t>Dae R. Jeong</a:t>
            </a:r>
            <a:r>
              <a:rPr lang="en-KR" sz="3200" b="1" baseline="30000" dirty="0"/>
              <a:t>12</a:t>
            </a:r>
            <a:r>
              <a:rPr lang="en-KR" sz="3200" b="1" dirty="0"/>
              <a:t>, </a:t>
            </a:r>
            <a:r>
              <a:rPr lang="en-KR" sz="3200" dirty="0"/>
              <a:t>Yewon Choi</a:t>
            </a:r>
            <a:r>
              <a:rPr lang="en-KR" sz="3200" baseline="30000" dirty="0"/>
              <a:t>2</a:t>
            </a:r>
            <a:r>
              <a:rPr lang="en-KR" sz="3200" dirty="0"/>
              <a:t>, Byoungyoung Lee</a:t>
            </a:r>
            <a:r>
              <a:rPr lang="en-KR" sz="3200" baseline="30000" dirty="0"/>
              <a:t>3</a:t>
            </a:r>
            <a:r>
              <a:rPr lang="en-KR" sz="3200" dirty="0"/>
              <a:t>, Insik</a:t>
            </a:r>
            <a:r>
              <a:rPr lang="en-US" sz="2800" dirty="0"/>
              <a:t> Shin</a:t>
            </a:r>
            <a:r>
              <a:rPr lang="en-US" sz="2800" baseline="30000" dirty="0"/>
              <a:t>2</a:t>
            </a:r>
            <a:r>
              <a:rPr lang="en-US" sz="2800" dirty="0"/>
              <a:t>, </a:t>
            </a:r>
            <a:r>
              <a:rPr lang="en-US" sz="2800" dirty="0" err="1"/>
              <a:t>Youngjin</a:t>
            </a:r>
            <a:r>
              <a:rPr lang="en-US" sz="2800" dirty="0"/>
              <a:t> Kwon</a:t>
            </a:r>
            <a:r>
              <a:rPr lang="en-US" sz="2800" baseline="30000" dirty="0"/>
              <a:t>2</a:t>
            </a:r>
          </a:p>
          <a:p>
            <a:pPr algn="l"/>
            <a:endParaRPr lang="en-US" sz="2400" baseline="30000" dirty="0">
              <a:solidFill>
                <a:srgbClr val="003C7F"/>
              </a:solidFill>
            </a:endParaRPr>
          </a:p>
          <a:p>
            <a:pPr algn="l"/>
            <a:r>
              <a:rPr lang="en-US" sz="2400" baseline="30000" dirty="0"/>
              <a:t>1</a:t>
            </a:r>
            <a:r>
              <a:rPr lang="en-US" sz="2400" dirty="0"/>
              <a:t>Georgia Institute of Technology</a:t>
            </a:r>
            <a:endParaRPr lang="en-US" sz="2400" baseline="30000" dirty="0"/>
          </a:p>
          <a:p>
            <a:pPr algn="l"/>
            <a:r>
              <a:rPr lang="en-US" sz="2400" baseline="30000" dirty="0"/>
              <a:t>2</a:t>
            </a:r>
            <a:r>
              <a:rPr lang="en-US" sz="2400" dirty="0"/>
              <a:t>Korea Advanced Institute of Science &amp; Technology</a:t>
            </a:r>
          </a:p>
          <a:p>
            <a:pPr algn="l"/>
            <a:r>
              <a:rPr lang="en-US" sz="2400" baseline="30000" dirty="0"/>
              <a:t>3</a:t>
            </a:r>
            <a:r>
              <a:rPr lang="en-US" sz="2400" dirty="0"/>
              <a:t>Seoul National University</a:t>
            </a:r>
            <a:endParaRPr lang="en-US" sz="2400" baseline="30000" dirty="0">
              <a:solidFill>
                <a:srgbClr val="003C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64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B259-4F45-3381-5F60-4D5EE88D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ECCB-D5E8-15D0-A8A4-3C03BAF1C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4339"/>
            <a:ext cx="18288000" cy="3581400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>
                    <a:lumMod val="75000"/>
                  </a:schemeClr>
                </a:solidFill>
              </a:rPr>
              <a:t>Ozz: Identifying Kernel </a:t>
            </a:r>
            <a:r>
              <a:rPr lang="en-US" sz="6000" b="1" dirty="0"/>
              <a:t>Out-of-Order Concurrency Bugs </a:t>
            </a:r>
            <a:r>
              <a:rPr lang="en-US" sz="6000" b="1" dirty="0">
                <a:solidFill>
                  <a:schemeClr val="bg1">
                    <a:lumMod val="75000"/>
                  </a:schemeClr>
                </a:solidFill>
              </a:rPr>
              <a:t>with In-Vivo Memory Access Reordering</a:t>
            </a:r>
            <a:endParaRPr lang="en-KR" sz="6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2" descr="Seoul National University - Wikipedia">
            <a:extLst>
              <a:ext uri="{FF2B5EF4-FFF2-40B4-BE49-F238E27FC236}">
                <a16:creationId xmlns:a16="http://schemas.microsoft.com/office/drawing/2014/main" id="{AD3FEB19-43D0-EE51-E263-5D26597B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1075" y="8491218"/>
            <a:ext cx="1446415" cy="149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05CAC735-52E3-2181-77F8-A81C5A990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643" y="8807449"/>
            <a:ext cx="3871636" cy="97662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07ECCE-AC0E-9442-22FC-33ED639F5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1174" y="8807450"/>
            <a:ext cx="3418198" cy="97662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7F9145E1-87DF-6CC8-494C-7EC0FF466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1" y="6069806"/>
            <a:ext cx="13716000" cy="2483643"/>
          </a:xfrm>
        </p:spPr>
        <p:txBody>
          <a:bodyPr>
            <a:normAutofit lnSpcReduction="10000"/>
          </a:bodyPr>
          <a:lstStyle/>
          <a:p>
            <a:pPr algn="l"/>
            <a:r>
              <a:rPr lang="en-KR" sz="3200" b="1" dirty="0"/>
              <a:t>Dae R. Jeong</a:t>
            </a:r>
            <a:r>
              <a:rPr lang="en-KR" sz="3200" b="1" baseline="30000" dirty="0"/>
              <a:t>12</a:t>
            </a:r>
            <a:r>
              <a:rPr lang="en-KR" sz="3200" b="1" dirty="0"/>
              <a:t>, </a:t>
            </a:r>
            <a:r>
              <a:rPr lang="en-KR" sz="3200" dirty="0"/>
              <a:t>Yewon Choi</a:t>
            </a:r>
            <a:r>
              <a:rPr lang="en-KR" sz="3200" baseline="30000" dirty="0"/>
              <a:t>2</a:t>
            </a:r>
            <a:r>
              <a:rPr lang="en-KR" sz="3200" dirty="0"/>
              <a:t>, Byoungyoung Lee</a:t>
            </a:r>
            <a:r>
              <a:rPr lang="en-KR" sz="3200" baseline="30000" dirty="0"/>
              <a:t>3</a:t>
            </a:r>
            <a:r>
              <a:rPr lang="en-KR" sz="3200" dirty="0"/>
              <a:t>, Insik</a:t>
            </a:r>
            <a:r>
              <a:rPr lang="en-US" sz="2800" dirty="0"/>
              <a:t> Shin</a:t>
            </a:r>
            <a:r>
              <a:rPr lang="en-US" sz="2800" baseline="30000" dirty="0"/>
              <a:t>2</a:t>
            </a:r>
            <a:r>
              <a:rPr lang="en-US" sz="2800" dirty="0"/>
              <a:t>, </a:t>
            </a:r>
            <a:r>
              <a:rPr lang="en-US" sz="2800" dirty="0" err="1"/>
              <a:t>Youngjin</a:t>
            </a:r>
            <a:r>
              <a:rPr lang="en-US" sz="2800" dirty="0"/>
              <a:t> Kwon</a:t>
            </a:r>
            <a:r>
              <a:rPr lang="en-US" sz="2800" baseline="30000" dirty="0"/>
              <a:t>2</a:t>
            </a:r>
          </a:p>
          <a:p>
            <a:pPr algn="l"/>
            <a:endParaRPr lang="en-US" sz="2400" baseline="30000" dirty="0">
              <a:solidFill>
                <a:srgbClr val="003C7F"/>
              </a:solidFill>
            </a:endParaRPr>
          </a:p>
          <a:p>
            <a:pPr algn="l"/>
            <a:r>
              <a:rPr lang="en-US" sz="2400" baseline="30000" dirty="0"/>
              <a:t>1</a:t>
            </a:r>
            <a:r>
              <a:rPr lang="en-US" sz="2400" dirty="0"/>
              <a:t>Georgia Institute of Technology</a:t>
            </a:r>
            <a:endParaRPr lang="en-US" sz="2400" baseline="30000" dirty="0"/>
          </a:p>
          <a:p>
            <a:pPr algn="l"/>
            <a:r>
              <a:rPr lang="en-US" sz="2400" baseline="30000" dirty="0"/>
              <a:t>2</a:t>
            </a:r>
            <a:r>
              <a:rPr lang="en-US" sz="2400" dirty="0"/>
              <a:t>Korea Advanced Institute of Science &amp; Technology</a:t>
            </a:r>
          </a:p>
          <a:p>
            <a:pPr algn="l"/>
            <a:r>
              <a:rPr lang="en-US" sz="2400" baseline="30000" dirty="0"/>
              <a:t>3</a:t>
            </a:r>
            <a:r>
              <a:rPr lang="en-US" sz="2400" dirty="0"/>
              <a:t>Seoul National University</a:t>
            </a:r>
            <a:endParaRPr lang="en-US" sz="2400" baseline="30000" dirty="0">
              <a:solidFill>
                <a:srgbClr val="003C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7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A478-92ED-E2C8-0361-8AA4A251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bugs caused by</a:t>
            </a:r>
            <a:br>
              <a:rPr lang="en-US" dirty="0"/>
            </a:br>
            <a:r>
              <a:rPr lang="en-KR" dirty="0"/>
              <a:t>Out-of-order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F691E-D465-2462-8B81-B0C3E32F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3</a:t>
            </a:fld>
            <a:endParaRPr lang="en-KR" dirty="0"/>
          </a:p>
        </p:txBody>
      </p:sp>
      <p:sp>
        <p:nvSpPr>
          <p:cNvPr id="5" name="Google Shape;2295;p116">
            <a:extLst>
              <a:ext uri="{FF2B5EF4-FFF2-40B4-BE49-F238E27FC236}">
                <a16:creationId xmlns:a16="http://schemas.microsoft.com/office/drawing/2014/main" id="{095454AE-83A0-ADA1-252C-E9693710F57C}"/>
              </a:ext>
            </a:extLst>
          </p:cNvPr>
          <p:cNvSpPr/>
          <p:nvPr/>
        </p:nvSpPr>
        <p:spPr>
          <a:xfrm>
            <a:off x="5369500" y="3612778"/>
            <a:ext cx="6576600" cy="3454200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2296;p116">
            <a:extLst>
              <a:ext uri="{FF2B5EF4-FFF2-40B4-BE49-F238E27FC236}">
                <a16:creationId xmlns:a16="http://schemas.microsoft.com/office/drawing/2014/main" id="{9F67A4EC-9EA3-A4DA-9020-1C4D6D37652E}"/>
              </a:ext>
            </a:extLst>
          </p:cNvPr>
          <p:cNvSpPr txBox="1"/>
          <p:nvPr/>
        </p:nvSpPr>
        <p:spPr>
          <a:xfrm>
            <a:off x="5446100" y="4457578"/>
            <a:ext cx="37098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297;p116">
            <a:extLst>
              <a:ext uri="{FF2B5EF4-FFF2-40B4-BE49-F238E27FC236}">
                <a16:creationId xmlns:a16="http://schemas.microsoft.com/office/drawing/2014/main" id="{5554CDC5-F3C1-8D00-4A33-FBF96E8CDF2E}"/>
              </a:ext>
            </a:extLst>
          </p:cNvPr>
          <p:cNvSpPr txBox="1"/>
          <p:nvPr/>
        </p:nvSpPr>
        <p:spPr>
          <a:xfrm>
            <a:off x="5978025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8;p116">
            <a:extLst>
              <a:ext uri="{FF2B5EF4-FFF2-40B4-BE49-F238E27FC236}">
                <a16:creationId xmlns:a16="http://schemas.microsoft.com/office/drawing/2014/main" id="{05638718-594F-5F47-E6A3-DC694D214D43}"/>
              </a:ext>
            </a:extLst>
          </p:cNvPr>
          <p:cNvSpPr txBox="1"/>
          <p:nvPr/>
        </p:nvSpPr>
        <p:spPr>
          <a:xfrm>
            <a:off x="9577850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2299;p116">
            <a:extLst>
              <a:ext uri="{FF2B5EF4-FFF2-40B4-BE49-F238E27FC236}">
                <a16:creationId xmlns:a16="http://schemas.microsoft.com/office/drawing/2014/main" id="{C865CB18-0F4E-CC5D-0995-F8C8D24A4C63}"/>
              </a:ext>
            </a:extLst>
          </p:cNvPr>
          <p:cNvSpPr txBox="1"/>
          <p:nvPr/>
        </p:nvSpPr>
        <p:spPr>
          <a:xfrm>
            <a:off x="615123" y="4457732"/>
            <a:ext cx="4665401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 A initializes </a:t>
            </a:r>
            <a:r>
              <a:rPr lang="en-US" altLang="ko" sz="2800" b="1" i="1" dirty="0" err="1">
                <a:solidFill>
                  <a:srgbClr val="01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endParaRPr lang="en-US" altLang="ko" sz="2800" b="1" i="1" dirty="0">
              <a:solidFill>
                <a:srgbClr val="0170C0"/>
              </a:solidFill>
              <a:latin typeface="Lato"/>
              <a:ea typeface="Lato"/>
              <a:cs typeface="Lato"/>
              <a:sym typeface="Lato"/>
            </a:endParaRPr>
          </a:p>
          <a:p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then announces it is </a:t>
            </a:r>
            <a:r>
              <a:rPr lang="en-US" altLang="ko" sz="2800" b="1" i="1" dirty="0">
                <a:solidFill>
                  <a:srgbClr val="A61B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endParaRPr sz="2800" b="1" i="1" dirty="0">
              <a:solidFill>
                <a:srgbClr val="A61B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300;p116">
            <a:extLst>
              <a:ext uri="{FF2B5EF4-FFF2-40B4-BE49-F238E27FC236}">
                <a16:creationId xmlns:a16="http://schemas.microsoft.com/office/drawing/2014/main" id="{98700D70-655F-9B5A-A876-BF3D8029CE0B}"/>
              </a:ext>
            </a:extLst>
          </p:cNvPr>
          <p:cNvSpPr txBox="1"/>
          <p:nvPr/>
        </p:nvSpPr>
        <p:spPr>
          <a:xfrm>
            <a:off x="9577850" y="5688778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2301;p116">
            <a:extLst>
              <a:ext uri="{FF2B5EF4-FFF2-40B4-BE49-F238E27FC236}">
                <a16:creationId xmlns:a16="http://schemas.microsoft.com/office/drawing/2014/main" id="{2DFD6495-24A8-57C1-C1DD-3DF3B357BC7A}"/>
              </a:ext>
            </a:extLst>
          </p:cNvPr>
          <p:cNvSpPr txBox="1"/>
          <p:nvPr/>
        </p:nvSpPr>
        <p:spPr>
          <a:xfrm>
            <a:off x="12647753" y="5688778"/>
            <a:ext cx="3883800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If it is </a:t>
            </a:r>
            <a:r>
              <a:rPr lang="en-US" altLang="ko" sz="2800" b="1" i="1" dirty="0">
                <a:solidFill>
                  <a:srgbClr val="A61B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 B accesses </a:t>
            </a:r>
            <a:r>
              <a:rPr lang="en-US" altLang="ko" sz="2800" b="1" i="1" dirty="0" err="1">
                <a:solidFill>
                  <a:srgbClr val="01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endParaRPr sz="2800" b="1" i="1" dirty="0">
              <a:solidFill>
                <a:srgbClr val="01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14827-0993-D752-0888-D971E31299AC}"/>
              </a:ext>
            </a:extLst>
          </p:cNvPr>
          <p:cNvSpPr txBox="1"/>
          <p:nvPr/>
        </p:nvSpPr>
        <p:spPr>
          <a:xfrm>
            <a:off x="2117517" y="7847774"/>
            <a:ext cx="1369557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3600" i="1" dirty="0">
                <a:latin typeface="Lato" panose="020F0502020204030203" pitchFamily="34" charset="77"/>
              </a:rPr>
              <a:t>Okay, Syscall B seems to access </a:t>
            </a:r>
            <a:r>
              <a:rPr lang="en-KR" sz="3600" b="1" i="1" dirty="0">
                <a:solidFill>
                  <a:srgbClr val="0170C0"/>
                </a:solidFill>
                <a:latin typeface="Lato" panose="020F0502020204030203" pitchFamily="34" charset="77"/>
              </a:rPr>
              <a:t>ptr</a:t>
            </a:r>
            <a:r>
              <a:rPr lang="en-KR" sz="3600" i="1" dirty="0">
                <a:latin typeface="Lato" panose="020F0502020204030203" pitchFamily="34" charset="77"/>
              </a:rPr>
              <a:t> only if it is </a:t>
            </a:r>
            <a:r>
              <a:rPr lang="en-KR" sz="3600" b="1" i="1" dirty="0">
                <a:solidFill>
                  <a:srgbClr val="A61B00"/>
                </a:solidFill>
                <a:latin typeface="Lato" panose="020F0502020204030203" pitchFamily="34" charset="77"/>
              </a:rPr>
              <a:t>ready</a:t>
            </a:r>
            <a:br>
              <a:rPr lang="en-KR" sz="3600" i="1" dirty="0">
                <a:latin typeface="Lato" panose="020F0502020204030203" pitchFamily="34" charset="77"/>
              </a:rPr>
            </a:br>
            <a:endParaRPr lang="en-KR" sz="1000" i="1" dirty="0">
              <a:latin typeface="Lato" panose="020F0502020204030203" pitchFamily="34" charset="77"/>
            </a:endParaRPr>
          </a:p>
          <a:p>
            <a:pPr algn="ctr"/>
            <a:r>
              <a:rPr lang="en-KR" sz="3600" i="1" dirty="0">
                <a:latin typeface="Lato" panose="020F0502020204030203" pitchFamily="34" charset="77"/>
              </a:rPr>
              <a:t>In Apple Silicon M3,</a:t>
            </a:r>
            <a:r>
              <a:rPr lang="ko-KR" altLang="en-US" sz="3600" i="1" dirty="0">
                <a:latin typeface="Lato" panose="020F0502020204030203" pitchFamily="34" charset="77"/>
              </a:rPr>
              <a:t> </a:t>
            </a:r>
            <a:r>
              <a:rPr lang="en-US" altLang="ko-KR" sz="3600" i="1" dirty="0">
                <a:latin typeface="Lato" panose="020F0502020204030203" pitchFamily="34" charset="77"/>
              </a:rPr>
              <a:t>however</a:t>
            </a:r>
            <a:r>
              <a:rPr lang="en-KR" sz="3600" i="1" dirty="0">
                <a:latin typeface="Lato" panose="020F0502020204030203" pitchFamily="34" charset="77"/>
              </a:rPr>
              <a:t>…</a:t>
            </a:r>
            <a:r>
              <a:rPr lang="en-KR" sz="3600" i="1" dirty="0">
                <a:solidFill>
                  <a:schemeClr val="bg1"/>
                </a:solidFill>
                <a:latin typeface="Lato" panose="020F0502020204030203" pitchFamily="34" charset="77"/>
              </a:rPr>
              <a:t> What?</a:t>
            </a:r>
          </a:p>
        </p:txBody>
      </p:sp>
      <p:sp>
        <p:nvSpPr>
          <p:cNvPr id="12" name="Google Shape;1120;p55">
            <a:extLst>
              <a:ext uri="{FF2B5EF4-FFF2-40B4-BE49-F238E27FC236}">
                <a16:creationId xmlns:a16="http://schemas.microsoft.com/office/drawing/2014/main" id="{7F29C2FC-B28E-1BE7-B823-DD0C8852D6DE}"/>
              </a:ext>
            </a:extLst>
          </p:cNvPr>
          <p:cNvSpPr txBox="1"/>
          <p:nvPr/>
        </p:nvSpPr>
        <p:spPr>
          <a:xfrm>
            <a:off x="8797235" y="6806266"/>
            <a:ext cx="4291874" cy="607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0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Uninitialized access!</a:t>
            </a:r>
            <a:endParaRPr sz="30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121;p55">
            <a:extLst>
              <a:ext uri="{FF2B5EF4-FFF2-40B4-BE49-F238E27FC236}">
                <a16:creationId xmlns:a16="http://schemas.microsoft.com/office/drawing/2014/main" id="{71E33D9A-6515-6E76-C0BB-69CB761D3066}"/>
              </a:ext>
            </a:extLst>
          </p:cNvPr>
          <p:cNvSpPr/>
          <p:nvPr/>
        </p:nvSpPr>
        <p:spPr>
          <a:xfrm>
            <a:off x="9770346" y="6304213"/>
            <a:ext cx="1914688" cy="4775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746F29-33E4-987E-2171-76426DBD4689}"/>
              </a:ext>
            </a:extLst>
          </p:cNvPr>
          <p:cNvSpPr txBox="1"/>
          <p:nvPr/>
        </p:nvSpPr>
        <p:spPr>
          <a:xfrm>
            <a:off x="11296021" y="8530822"/>
            <a:ext cx="1654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4000" b="1" i="1" dirty="0">
                <a:latin typeface="Lato" panose="020F0502020204030203" pitchFamily="34" charset="77"/>
              </a:rPr>
              <a:t>Why?</a:t>
            </a:r>
            <a:endParaRPr lang="en-KR" sz="4000" b="1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1573259-B18E-2D3D-18CE-50589BED94B5}"/>
              </a:ext>
            </a:extLst>
          </p:cNvPr>
          <p:cNvSpPr/>
          <p:nvPr/>
        </p:nvSpPr>
        <p:spPr>
          <a:xfrm>
            <a:off x="5067300" y="1473200"/>
            <a:ext cx="8153400" cy="9779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99E82E-9831-B2B1-3873-B75A9E1FF225}"/>
              </a:ext>
            </a:extLst>
          </p:cNvPr>
          <p:cNvSpPr txBox="1"/>
          <p:nvPr/>
        </p:nvSpPr>
        <p:spPr>
          <a:xfrm>
            <a:off x="10629073" y="2466341"/>
            <a:ext cx="2634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 dirty="0">
                <a:solidFill>
                  <a:srgbClr val="C00000"/>
                </a:solidFill>
              </a:rPr>
              <a:t>The culprit!</a:t>
            </a:r>
            <a:endParaRPr lang="en-KR" sz="40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45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8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A478-92ED-E2C8-0361-8AA4A251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bugs caused by</a:t>
            </a:r>
            <a:br>
              <a:rPr lang="en-US" dirty="0"/>
            </a:br>
            <a:r>
              <a:rPr lang="en-KR" dirty="0"/>
              <a:t>Out-of-order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F691E-D465-2462-8B81-B0C3E32F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4</a:t>
            </a:fld>
            <a:endParaRPr lang="en-KR" dirty="0"/>
          </a:p>
        </p:txBody>
      </p:sp>
      <p:sp>
        <p:nvSpPr>
          <p:cNvPr id="5" name="Google Shape;2295;p116">
            <a:extLst>
              <a:ext uri="{FF2B5EF4-FFF2-40B4-BE49-F238E27FC236}">
                <a16:creationId xmlns:a16="http://schemas.microsoft.com/office/drawing/2014/main" id="{095454AE-83A0-ADA1-252C-E9693710F57C}"/>
              </a:ext>
            </a:extLst>
          </p:cNvPr>
          <p:cNvSpPr/>
          <p:nvPr/>
        </p:nvSpPr>
        <p:spPr>
          <a:xfrm>
            <a:off x="5369500" y="3612778"/>
            <a:ext cx="6576600" cy="3454200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2296;p116">
            <a:extLst>
              <a:ext uri="{FF2B5EF4-FFF2-40B4-BE49-F238E27FC236}">
                <a16:creationId xmlns:a16="http://schemas.microsoft.com/office/drawing/2014/main" id="{9F67A4EC-9EA3-A4DA-9020-1C4D6D37652E}"/>
              </a:ext>
            </a:extLst>
          </p:cNvPr>
          <p:cNvSpPr txBox="1"/>
          <p:nvPr/>
        </p:nvSpPr>
        <p:spPr>
          <a:xfrm>
            <a:off x="5446100" y="4457578"/>
            <a:ext cx="37098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= malloc();</a:t>
            </a:r>
            <a:endParaRPr sz="28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297;p116">
            <a:extLst>
              <a:ext uri="{FF2B5EF4-FFF2-40B4-BE49-F238E27FC236}">
                <a16:creationId xmlns:a16="http://schemas.microsoft.com/office/drawing/2014/main" id="{5554CDC5-F3C1-8D00-4A33-FBF96E8CDF2E}"/>
              </a:ext>
            </a:extLst>
          </p:cNvPr>
          <p:cNvSpPr txBox="1"/>
          <p:nvPr/>
        </p:nvSpPr>
        <p:spPr>
          <a:xfrm>
            <a:off x="5978025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8;p116">
            <a:extLst>
              <a:ext uri="{FF2B5EF4-FFF2-40B4-BE49-F238E27FC236}">
                <a16:creationId xmlns:a16="http://schemas.microsoft.com/office/drawing/2014/main" id="{05638718-594F-5F47-E6A3-DC694D214D43}"/>
              </a:ext>
            </a:extLst>
          </p:cNvPr>
          <p:cNvSpPr txBox="1"/>
          <p:nvPr/>
        </p:nvSpPr>
        <p:spPr>
          <a:xfrm>
            <a:off x="9577850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2299;p116">
            <a:extLst>
              <a:ext uri="{FF2B5EF4-FFF2-40B4-BE49-F238E27FC236}">
                <a16:creationId xmlns:a16="http://schemas.microsoft.com/office/drawing/2014/main" id="{C865CB18-0F4E-CC5D-0995-F8C8D24A4C63}"/>
              </a:ext>
            </a:extLst>
          </p:cNvPr>
          <p:cNvSpPr txBox="1"/>
          <p:nvPr/>
        </p:nvSpPr>
        <p:spPr>
          <a:xfrm>
            <a:off x="442687" y="4888620"/>
            <a:ext cx="53633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 A announces it is </a:t>
            </a: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2300;p116">
            <a:extLst>
              <a:ext uri="{FF2B5EF4-FFF2-40B4-BE49-F238E27FC236}">
                <a16:creationId xmlns:a16="http://schemas.microsoft.com/office/drawing/2014/main" id="{BDE83C42-47AA-FCAD-E34F-FF31BDDE55E0}"/>
              </a:ext>
            </a:extLst>
          </p:cNvPr>
          <p:cNvSpPr txBox="1"/>
          <p:nvPr/>
        </p:nvSpPr>
        <p:spPr>
          <a:xfrm>
            <a:off x="9577850" y="5688778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2301;p116">
            <a:extLst>
              <a:ext uri="{FF2B5EF4-FFF2-40B4-BE49-F238E27FC236}">
                <a16:creationId xmlns:a16="http://schemas.microsoft.com/office/drawing/2014/main" id="{D18AD6E6-D421-384D-E6F2-5281BD5243FF}"/>
              </a:ext>
            </a:extLst>
          </p:cNvPr>
          <p:cNvSpPr txBox="1"/>
          <p:nvPr/>
        </p:nvSpPr>
        <p:spPr>
          <a:xfrm>
            <a:off x="12647753" y="5688778"/>
            <a:ext cx="4225160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Okay, it is </a:t>
            </a:r>
            <a:r>
              <a:rPr lang="en-US" altLang="ko" sz="2800" b="1" i="1" dirty="0">
                <a:solidFill>
                  <a:srgbClr val="A61B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I am going to access </a:t>
            </a:r>
            <a:r>
              <a:rPr lang="en-US" altLang="ko" sz="2800" b="1" i="1" dirty="0" err="1">
                <a:solidFill>
                  <a:srgbClr val="01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endParaRPr sz="2800" b="1" i="1" dirty="0">
              <a:solidFill>
                <a:srgbClr val="01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120;p55">
            <a:extLst>
              <a:ext uri="{FF2B5EF4-FFF2-40B4-BE49-F238E27FC236}">
                <a16:creationId xmlns:a16="http://schemas.microsoft.com/office/drawing/2014/main" id="{82A2E949-50FF-DFEB-170D-6F0D81E9C36A}"/>
              </a:ext>
            </a:extLst>
          </p:cNvPr>
          <p:cNvSpPr txBox="1"/>
          <p:nvPr/>
        </p:nvSpPr>
        <p:spPr>
          <a:xfrm>
            <a:off x="8776865" y="6762723"/>
            <a:ext cx="4225160" cy="607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0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Uninitialized access!</a:t>
            </a:r>
            <a:endParaRPr sz="30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121;p55">
            <a:extLst>
              <a:ext uri="{FF2B5EF4-FFF2-40B4-BE49-F238E27FC236}">
                <a16:creationId xmlns:a16="http://schemas.microsoft.com/office/drawing/2014/main" id="{0DA8A8BE-F826-9727-ACBE-9EAEDF5E9E1F}"/>
              </a:ext>
            </a:extLst>
          </p:cNvPr>
          <p:cNvSpPr/>
          <p:nvPr/>
        </p:nvSpPr>
        <p:spPr>
          <a:xfrm>
            <a:off x="9770346" y="6304213"/>
            <a:ext cx="1914688" cy="4775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A5C6A-D4A1-EDAB-D01B-EE62BE7763F8}"/>
              </a:ext>
            </a:extLst>
          </p:cNvPr>
          <p:cNvSpPr txBox="1"/>
          <p:nvPr/>
        </p:nvSpPr>
        <p:spPr>
          <a:xfrm>
            <a:off x="817443" y="3240464"/>
            <a:ext cx="3511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Lato" panose="020F0502020204030203" pitchFamily="34" charset="77"/>
              </a:rPr>
              <a:t>In reality…</a:t>
            </a:r>
            <a:endParaRPr lang="en-KR" sz="4400" i="1" dirty="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569FA-894E-7CFE-07F0-E668FB57FB8E}"/>
              </a:ext>
            </a:extLst>
          </p:cNvPr>
          <p:cNvSpPr txBox="1"/>
          <p:nvPr/>
        </p:nvSpPr>
        <p:spPr>
          <a:xfrm>
            <a:off x="3760862" y="8105998"/>
            <a:ext cx="107662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Lato" panose="020F0502020204030203" pitchFamily="34" charset="77"/>
              </a:rPr>
              <a:t>What is the </a:t>
            </a:r>
            <a:r>
              <a:rPr lang="en-US" sz="4400" b="1" i="1" dirty="0">
                <a:latin typeface="Lato" panose="020F0502020204030203" pitchFamily="34" charset="77"/>
              </a:rPr>
              <a:t>correct</a:t>
            </a:r>
            <a:r>
              <a:rPr lang="en-US" sz="4400" i="1" dirty="0">
                <a:latin typeface="Lato" panose="020F0502020204030203" pitchFamily="34" charset="77"/>
              </a:rPr>
              <a:t> implementation?</a:t>
            </a:r>
            <a:endParaRPr lang="en-KR" sz="4400" i="1" dirty="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5BA5B1-40BC-63D3-B1E5-430B334E68E7}"/>
              </a:ext>
            </a:extLst>
          </p:cNvPr>
          <p:cNvSpPr/>
          <p:nvPr/>
        </p:nvSpPr>
        <p:spPr>
          <a:xfrm>
            <a:off x="5140900" y="5634516"/>
            <a:ext cx="457200" cy="464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Google Shape;2299;p116">
            <a:extLst>
              <a:ext uri="{FF2B5EF4-FFF2-40B4-BE49-F238E27FC236}">
                <a16:creationId xmlns:a16="http://schemas.microsoft.com/office/drawing/2014/main" id="{69160D35-134C-4AF8-2265-02256186BEED}"/>
              </a:ext>
            </a:extLst>
          </p:cNvPr>
          <p:cNvSpPr txBox="1"/>
          <p:nvPr/>
        </p:nvSpPr>
        <p:spPr>
          <a:xfrm>
            <a:off x="442687" y="5445568"/>
            <a:ext cx="60452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Wait… it seems something is missing?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0662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 animBg="1"/>
      <p:bldP spid="14" grpId="0" animBg="1"/>
      <p:bldP spid="17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A478-92ED-E2C8-0361-8AA4A251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92" y="547775"/>
            <a:ext cx="17608216" cy="1988651"/>
          </a:xfrm>
        </p:spPr>
        <p:txBody>
          <a:bodyPr/>
          <a:lstStyle/>
          <a:p>
            <a:r>
              <a:rPr lang="en-US" dirty="0"/>
              <a:t>Memory barrier to prevent out-of-order execution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F691E-D465-2462-8B81-B0C3E32F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5</a:t>
            </a:fld>
            <a:endParaRPr lang="en-KR" dirty="0"/>
          </a:p>
        </p:txBody>
      </p:sp>
      <p:sp>
        <p:nvSpPr>
          <p:cNvPr id="5" name="Google Shape;2295;p116">
            <a:extLst>
              <a:ext uri="{FF2B5EF4-FFF2-40B4-BE49-F238E27FC236}">
                <a16:creationId xmlns:a16="http://schemas.microsoft.com/office/drawing/2014/main" id="{095454AE-83A0-ADA1-252C-E9693710F57C}"/>
              </a:ext>
            </a:extLst>
          </p:cNvPr>
          <p:cNvSpPr/>
          <p:nvPr/>
        </p:nvSpPr>
        <p:spPr>
          <a:xfrm>
            <a:off x="5369500" y="3612777"/>
            <a:ext cx="6576600" cy="4244864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297;p116">
            <a:extLst>
              <a:ext uri="{FF2B5EF4-FFF2-40B4-BE49-F238E27FC236}">
                <a16:creationId xmlns:a16="http://schemas.microsoft.com/office/drawing/2014/main" id="{5554CDC5-F3C1-8D00-4A33-FBF96E8CDF2E}"/>
              </a:ext>
            </a:extLst>
          </p:cNvPr>
          <p:cNvSpPr txBox="1"/>
          <p:nvPr/>
        </p:nvSpPr>
        <p:spPr>
          <a:xfrm>
            <a:off x="5978025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8;p116">
            <a:extLst>
              <a:ext uri="{FF2B5EF4-FFF2-40B4-BE49-F238E27FC236}">
                <a16:creationId xmlns:a16="http://schemas.microsoft.com/office/drawing/2014/main" id="{05638718-594F-5F47-E6A3-DC694D214D43}"/>
              </a:ext>
            </a:extLst>
          </p:cNvPr>
          <p:cNvSpPr txBox="1"/>
          <p:nvPr/>
        </p:nvSpPr>
        <p:spPr>
          <a:xfrm>
            <a:off x="9577850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2300;p116">
            <a:extLst>
              <a:ext uri="{FF2B5EF4-FFF2-40B4-BE49-F238E27FC236}">
                <a16:creationId xmlns:a16="http://schemas.microsoft.com/office/drawing/2014/main" id="{BDE83C42-47AA-FCAD-E34F-FF31BDDE55E0}"/>
              </a:ext>
            </a:extLst>
          </p:cNvPr>
          <p:cNvSpPr txBox="1"/>
          <p:nvPr/>
        </p:nvSpPr>
        <p:spPr>
          <a:xfrm>
            <a:off x="9577850" y="6626441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296;p116">
            <a:extLst>
              <a:ext uri="{FF2B5EF4-FFF2-40B4-BE49-F238E27FC236}">
                <a16:creationId xmlns:a16="http://schemas.microsoft.com/office/drawing/2014/main" id="{70769419-7D3B-782E-3280-67584010FE49}"/>
              </a:ext>
            </a:extLst>
          </p:cNvPr>
          <p:cNvSpPr txBox="1"/>
          <p:nvPr/>
        </p:nvSpPr>
        <p:spPr>
          <a:xfrm>
            <a:off x="5446100" y="4457578"/>
            <a:ext cx="3709800" cy="16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lang="en-US" altLang="ko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2800" b="1" i="1" dirty="0">
              <a:solidFill>
                <a:srgbClr val="A61C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44A4EB-9768-6A43-1AC8-757571349616}"/>
              </a:ext>
            </a:extLst>
          </p:cNvPr>
          <p:cNvSpPr/>
          <p:nvPr/>
        </p:nvSpPr>
        <p:spPr>
          <a:xfrm>
            <a:off x="9294337" y="3781169"/>
            <a:ext cx="2513326" cy="388455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Google Shape;2301;p116">
            <a:extLst>
              <a:ext uri="{FF2B5EF4-FFF2-40B4-BE49-F238E27FC236}">
                <a16:creationId xmlns:a16="http://schemas.microsoft.com/office/drawing/2014/main" id="{6120E1D1-ACE0-0F03-C454-5D23AD66A121}"/>
              </a:ext>
            </a:extLst>
          </p:cNvPr>
          <p:cNvSpPr txBox="1"/>
          <p:nvPr/>
        </p:nvSpPr>
        <p:spPr>
          <a:xfrm>
            <a:off x="10096114" y="4777678"/>
            <a:ext cx="6848225" cy="1846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200" dirty="0">
                <a:latin typeface="Lato"/>
                <a:ea typeface="Lato"/>
                <a:cs typeface="Lato"/>
                <a:sym typeface="Lato"/>
              </a:rPr>
              <a:t>The processor </a:t>
            </a: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guarantees that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-US" altLang="ko" sz="3200" b="1" i="1" dirty="0" err="1">
                <a:solidFill>
                  <a:srgbClr val="01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 is initialized</a:t>
            </a:r>
            <a:br>
              <a:rPr lang="en-US" altLang="ko" sz="3200" i="1" dirty="0">
                <a:latin typeface="Lato"/>
                <a:ea typeface="Lato"/>
                <a:cs typeface="Lato"/>
                <a:sym typeface="Lato"/>
              </a:rPr>
            </a:b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     before setting </a:t>
            </a:r>
            <a:r>
              <a:rPr lang="en-US" altLang="ko" sz="3200" b="1" i="1" dirty="0">
                <a:solidFill>
                  <a:srgbClr val="A61B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 to true </a:t>
            </a:r>
            <a:endParaRPr sz="3200" b="1" i="1" dirty="0">
              <a:solidFill>
                <a:srgbClr val="01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1593;p85">
            <a:extLst>
              <a:ext uri="{FF2B5EF4-FFF2-40B4-BE49-F238E27FC236}">
                <a16:creationId xmlns:a16="http://schemas.microsoft.com/office/drawing/2014/main" id="{CE424A33-F375-9105-444C-F1451463EA2A}"/>
              </a:ext>
            </a:extLst>
          </p:cNvPr>
          <p:cNvSpPr/>
          <p:nvPr/>
        </p:nvSpPr>
        <p:spPr>
          <a:xfrm>
            <a:off x="1500506" y="7242041"/>
            <a:ext cx="15587662" cy="1724892"/>
          </a:xfrm>
          <a:prstGeom prst="roundRect">
            <a:avLst>
              <a:gd name="adj" fmla="val 15286"/>
            </a:avLst>
          </a:prstGeom>
          <a:solidFill>
            <a:srgbClr val="00377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developers misses memory barriers,</a:t>
            </a:r>
          </a:p>
          <a:p>
            <a:pPr lvl="0"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out-of-order execution causes concurrency bugs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BDD0EF-0E62-6270-44B3-818C2DCCEA35}"/>
              </a:ext>
            </a:extLst>
          </p:cNvPr>
          <p:cNvSpPr txBox="1"/>
          <p:nvPr/>
        </p:nvSpPr>
        <p:spPr>
          <a:xfrm>
            <a:off x="5531541" y="5017529"/>
            <a:ext cx="3410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dirty="0" err="1">
                <a:latin typeface="Lato"/>
                <a:ea typeface="Lato"/>
                <a:cs typeface="Lato"/>
                <a:sym typeface="Lato"/>
              </a:rPr>
              <a:t>memory_barrier</a:t>
            </a:r>
            <a:r>
              <a:rPr lang="en-US" sz="2800" b="1" dirty="0">
                <a:latin typeface="Lato"/>
                <a:ea typeface="Lato"/>
                <a:cs typeface="Lato"/>
                <a:sym typeface="Lato"/>
              </a:rPr>
              <a:t>();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A794FA-C9E3-CA8D-D5C3-3808AC5FD83C}"/>
              </a:ext>
            </a:extLst>
          </p:cNvPr>
          <p:cNvCxnSpPr>
            <a:cxnSpLocks/>
          </p:cNvCxnSpPr>
          <p:nvPr/>
        </p:nvCxnSpPr>
        <p:spPr>
          <a:xfrm>
            <a:off x="8776073" y="5288544"/>
            <a:ext cx="103652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13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uiExpand="1" build="allAtOnce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66DF2E5-DBBB-547C-26CC-41ADB3E21CBC}"/>
              </a:ext>
            </a:extLst>
          </p:cNvPr>
          <p:cNvSpPr txBox="1"/>
          <p:nvPr/>
        </p:nvSpPr>
        <p:spPr>
          <a:xfrm>
            <a:off x="1741357" y="7847637"/>
            <a:ext cx="1501555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 ordering is </a:t>
            </a:r>
            <a:r>
              <a:rPr lang="en-US" sz="44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 to think about</a:t>
            </a:r>
            <a:r>
              <a:rPr lang="en-US" sz="4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</a:t>
            </a:r>
            <a:br>
              <a:rPr lang="en-US" sz="4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4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people </a:t>
            </a:r>
            <a:r>
              <a:rPr lang="en-US" sz="44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won't even realize that they may be wrong</a:t>
            </a:r>
            <a:r>
              <a:rPr lang="en-US" sz="4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																				- Linux developer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6FA8D-39C9-50B1-5388-33BDF050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Machines exhibiting </a:t>
            </a:r>
            <a:r>
              <a:rPr lang="en-US" dirty="0"/>
              <a:t>this behavior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302D2-28F5-0FD6-2E09-58000C88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6</a:t>
            </a:fld>
            <a:endParaRPr lang="en-KR" dirty="0"/>
          </a:p>
        </p:txBody>
      </p:sp>
      <p:pic>
        <p:nvPicPr>
          <p:cNvPr id="1026" name="Picture 2" descr="800+ Free Server &amp; Computer Images - Pixabay">
            <a:extLst>
              <a:ext uri="{FF2B5EF4-FFF2-40B4-BE49-F238E27FC236}">
                <a16:creationId xmlns:a16="http://schemas.microsoft.com/office/drawing/2014/main" id="{559B38B7-1A1E-2697-7904-C0EA19B5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71" y="3308365"/>
            <a:ext cx="5497735" cy="41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3C34EE-8631-7C3D-9B01-2395140372BF}"/>
              </a:ext>
            </a:extLst>
          </p:cNvPr>
          <p:cNvSpPr txBox="1"/>
          <p:nvPr/>
        </p:nvSpPr>
        <p:spPr>
          <a:xfrm>
            <a:off x="4098432" y="1951651"/>
            <a:ext cx="10447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ARM-based machines are getting more popular these days</a:t>
            </a:r>
            <a:endParaRPr lang="en-KR" sz="3200" dirty="0"/>
          </a:p>
        </p:txBody>
      </p:sp>
      <p:pic>
        <p:nvPicPr>
          <p:cNvPr id="1028" name="Picture 4" descr="Holding Phone Images - Free Download on Freepik">
            <a:extLst>
              <a:ext uri="{FF2B5EF4-FFF2-40B4-BE49-F238E27FC236}">
                <a16:creationId xmlns:a16="http://schemas.microsoft.com/office/drawing/2014/main" id="{95CCEE0E-6BA2-181D-2423-4D0A56D9A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19" b="17399"/>
          <a:stretch/>
        </p:blipFill>
        <p:spPr bwMode="auto">
          <a:xfrm>
            <a:off x="6395132" y="3308365"/>
            <a:ext cx="5497735" cy="41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cBook Repair in Williamsville | uBreakiFix - Phone and Computer Repair -  Williamsville">
            <a:extLst>
              <a:ext uri="{FF2B5EF4-FFF2-40B4-BE49-F238E27FC236}">
                <a16:creationId xmlns:a16="http://schemas.microsoft.com/office/drawing/2014/main" id="{5475F026-B215-1C6B-9BD1-BD3008F58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9" t="9515" r="13459"/>
          <a:stretch/>
        </p:blipFill>
        <p:spPr bwMode="auto">
          <a:xfrm>
            <a:off x="12407493" y="3308365"/>
            <a:ext cx="5497735" cy="41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ACE172-6473-986C-1D1B-8C400E26D844}"/>
              </a:ext>
            </a:extLst>
          </p:cNvPr>
          <p:cNvSpPr/>
          <p:nvPr/>
        </p:nvSpPr>
        <p:spPr>
          <a:xfrm>
            <a:off x="244106" y="2775853"/>
            <a:ext cx="17948644" cy="694591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pic>
        <p:nvPicPr>
          <p:cNvPr id="11" name="Picture 10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F9D1C551-746B-B3B6-9EDF-9E4C3CD28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99" y="2741101"/>
            <a:ext cx="9077287" cy="4945609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B99C4DD7-4158-B51D-03C2-EE6A63799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4251" y="3286907"/>
            <a:ext cx="9077287" cy="5229178"/>
          </a:xfrm>
          <a:prstGeom prst="rect">
            <a:avLst/>
          </a:prstGeom>
        </p:spPr>
      </p:pic>
      <p:pic>
        <p:nvPicPr>
          <p:cNvPr id="13" name="Picture 12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4938F58C-ECEB-39F9-C493-BCDAA83EC60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0871"/>
          <a:stretch/>
        </p:blipFill>
        <p:spPr>
          <a:xfrm>
            <a:off x="9824993" y="3939742"/>
            <a:ext cx="7908443" cy="5056832"/>
          </a:xfrm>
          <a:prstGeom prst="rect">
            <a:avLst/>
          </a:prstGeom>
        </p:spPr>
      </p:pic>
      <p:sp>
        <p:nvSpPr>
          <p:cNvPr id="3" name="Google Shape;1593;p85">
            <a:extLst>
              <a:ext uri="{FF2B5EF4-FFF2-40B4-BE49-F238E27FC236}">
                <a16:creationId xmlns:a16="http://schemas.microsoft.com/office/drawing/2014/main" id="{86EBAF6A-2AFA-4447-45B9-6CAC62B81CF6}"/>
              </a:ext>
            </a:extLst>
          </p:cNvPr>
          <p:cNvSpPr/>
          <p:nvPr/>
        </p:nvSpPr>
        <p:spPr>
          <a:xfrm>
            <a:off x="1500506" y="7649996"/>
            <a:ext cx="15587662" cy="1724892"/>
          </a:xfrm>
          <a:prstGeom prst="roundRect">
            <a:avLst>
              <a:gd name="adj" fmla="val 15286"/>
            </a:avLst>
          </a:prstGeom>
          <a:solidFill>
            <a:srgbClr val="00377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goal of this work is to identify</a:t>
            </a:r>
            <a:b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concurrency bugs that are caused by missing memory barriers</a:t>
            </a:r>
          </a:p>
        </p:txBody>
      </p:sp>
    </p:spTree>
    <p:extLst>
      <p:ext uri="{BB962C8B-B14F-4D97-AF65-F5344CB8AC3E}">
        <p14:creationId xmlns:p14="http://schemas.microsoft.com/office/powerpoint/2010/main" val="212902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A478-92ED-E2C8-0361-8AA4A251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identifying out-of-order bugs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F691E-D465-2462-8B81-B0C3E32F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7</a:t>
            </a:fld>
            <a:endParaRPr lang="en-KR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001212B-80A4-3A94-FF05-B0A65EE62F09}"/>
              </a:ext>
            </a:extLst>
          </p:cNvPr>
          <p:cNvGrpSpPr/>
          <p:nvPr/>
        </p:nvGrpSpPr>
        <p:grpSpPr>
          <a:xfrm>
            <a:off x="3167048" y="3766344"/>
            <a:ext cx="4863600" cy="4025600"/>
            <a:chOff x="3683406" y="2536426"/>
            <a:chExt cx="4863600" cy="4025600"/>
          </a:xfrm>
        </p:grpSpPr>
        <p:sp>
          <p:nvSpPr>
            <p:cNvPr id="86" name="Google Shape;389;p22">
              <a:extLst>
                <a:ext uri="{FF2B5EF4-FFF2-40B4-BE49-F238E27FC236}">
                  <a16:creationId xmlns:a16="http://schemas.microsoft.com/office/drawing/2014/main" id="{5B1ECAAB-E82F-FEA1-C5A9-2251486F70CC}"/>
                </a:ext>
              </a:extLst>
            </p:cNvPr>
            <p:cNvSpPr/>
            <p:nvPr/>
          </p:nvSpPr>
          <p:spPr>
            <a:xfrm>
              <a:off x="3683406" y="3495051"/>
              <a:ext cx="4863600" cy="3066975"/>
            </a:xfrm>
            <a:prstGeom prst="roundRect">
              <a:avLst>
                <a:gd name="adj" fmla="val 15388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  <a:t>Thread interleaving</a:t>
              </a:r>
            </a:p>
            <a:p>
              <a:pPr marL="0" lvl="0" indent="0" algn="ctr" rtl="0">
                <a:spcBef>
                  <a:spcPts val="1000"/>
                </a:spcBef>
                <a:spcAft>
                  <a:spcPts val="0"/>
                </a:spcAft>
                <a:buNone/>
              </a:pPr>
              <a:b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  <a:t>The order of </a:t>
              </a:r>
              <a:r>
                <a:rPr lang="en-US" sz="2600" dirty="0">
                  <a:latin typeface="Calibri"/>
                  <a:ea typeface="Calibri"/>
                  <a:cs typeface="Calibri"/>
                  <a:sym typeface="Calibri"/>
                </a:rPr>
                <a:t>memory accesses</a:t>
              </a:r>
              <a: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  <a:t> between multiple threads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5001317-831C-5CE2-FDD8-B0D3FDD0123F}"/>
                </a:ext>
              </a:extLst>
            </p:cNvPr>
            <p:cNvGrpSpPr/>
            <p:nvPr/>
          </p:nvGrpSpPr>
          <p:grpSpPr>
            <a:xfrm>
              <a:off x="5181428" y="2536426"/>
              <a:ext cx="1867556" cy="1647561"/>
              <a:chOff x="2986868" y="3496733"/>
              <a:chExt cx="1867556" cy="1647561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68FD56D4-C92A-8BDF-1129-6203E6412A4E}"/>
                  </a:ext>
                </a:extLst>
              </p:cNvPr>
              <p:cNvSpPr/>
              <p:nvPr/>
            </p:nvSpPr>
            <p:spPr>
              <a:xfrm>
                <a:off x="2986868" y="3496733"/>
                <a:ext cx="1865236" cy="16475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893E8C6-D8ED-352B-7A50-CB84D8446C8D}"/>
                  </a:ext>
                </a:extLst>
              </p:cNvPr>
              <p:cNvGrpSpPr/>
              <p:nvPr/>
            </p:nvGrpSpPr>
            <p:grpSpPr>
              <a:xfrm>
                <a:off x="2986868" y="3593799"/>
                <a:ext cx="1867556" cy="1467303"/>
                <a:chOff x="3285617" y="3060399"/>
                <a:chExt cx="1867556" cy="1467303"/>
              </a:xfrm>
            </p:grpSpPr>
            <p:sp>
              <p:nvSpPr>
                <p:cNvPr id="90" name="Google Shape;1874;p97">
                  <a:extLst>
                    <a:ext uri="{FF2B5EF4-FFF2-40B4-BE49-F238E27FC236}">
                      <a16:creationId xmlns:a16="http://schemas.microsoft.com/office/drawing/2014/main" id="{0CC9FD7C-91E7-7CA8-C6F7-AAF97E2AD102}"/>
                    </a:ext>
                  </a:extLst>
                </p:cNvPr>
                <p:cNvSpPr/>
                <p:nvPr/>
              </p:nvSpPr>
              <p:spPr>
                <a:xfrm>
                  <a:off x="3293594" y="3063828"/>
                  <a:ext cx="468236" cy="468236"/>
                </a:xfrm>
                <a:prstGeom prst="ellipse">
                  <a:avLst/>
                </a:prstGeom>
                <a:solidFill>
                  <a:srgbClr val="B0D5C7"/>
                </a:solidFill>
                <a:ln w="9525" cap="flat" cmpd="sng">
                  <a:solidFill>
                    <a:srgbClr val="B0D5C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1" name="Google Shape;1875;p97">
                  <a:extLst>
                    <a:ext uri="{FF2B5EF4-FFF2-40B4-BE49-F238E27FC236}">
                      <a16:creationId xmlns:a16="http://schemas.microsoft.com/office/drawing/2014/main" id="{8B65C5B9-6A38-D869-2068-7E50276374C5}"/>
                    </a:ext>
                  </a:extLst>
                </p:cNvPr>
                <p:cNvSpPr/>
                <p:nvPr/>
              </p:nvSpPr>
              <p:spPr>
                <a:xfrm>
                  <a:off x="3293594" y="4059466"/>
                  <a:ext cx="468236" cy="468236"/>
                </a:xfrm>
                <a:prstGeom prst="ellipse">
                  <a:avLst/>
                </a:prstGeom>
                <a:solidFill>
                  <a:srgbClr val="B0D5C7"/>
                </a:solidFill>
                <a:ln w="9525" cap="flat" cmpd="sng">
                  <a:solidFill>
                    <a:srgbClr val="B0D5C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2" name="Google Shape;1876;p97">
                  <a:extLst>
                    <a:ext uri="{FF2B5EF4-FFF2-40B4-BE49-F238E27FC236}">
                      <a16:creationId xmlns:a16="http://schemas.microsoft.com/office/drawing/2014/main" id="{D33C12A1-2838-659E-362B-32E580543936}"/>
                    </a:ext>
                  </a:extLst>
                </p:cNvPr>
                <p:cNvSpPr/>
                <p:nvPr/>
              </p:nvSpPr>
              <p:spPr>
                <a:xfrm>
                  <a:off x="4684937" y="3557848"/>
                  <a:ext cx="468236" cy="46823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543E62D-BB31-AF68-6D70-001950FBA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9895" y="3400926"/>
                  <a:ext cx="929105" cy="341341"/>
                </a:xfrm>
                <a:prstGeom prst="straightConnector1">
                  <a:avLst/>
                </a:prstGeom>
                <a:ln w="2857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E6E4040B-D458-3B6C-B528-C967FA45CB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53853" y="3860800"/>
                  <a:ext cx="936680" cy="342232"/>
                </a:xfrm>
                <a:prstGeom prst="straightConnector1">
                  <a:avLst/>
                </a:prstGeom>
                <a:ln w="2857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95" name="Google Shape;1875;p97">
                  <a:extLst>
                    <a:ext uri="{FF2B5EF4-FFF2-40B4-BE49-F238E27FC236}">
                      <a16:creationId xmlns:a16="http://schemas.microsoft.com/office/drawing/2014/main" id="{4C50CE3F-E407-0DF8-8162-58A28A840330}"/>
                    </a:ext>
                  </a:extLst>
                </p:cNvPr>
                <p:cNvSpPr/>
                <p:nvPr/>
              </p:nvSpPr>
              <p:spPr>
                <a:xfrm>
                  <a:off x="3285617" y="4059466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6" name="Google Shape;1875;p97">
                  <a:extLst>
                    <a:ext uri="{FF2B5EF4-FFF2-40B4-BE49-F238E27FC236}">
                      <a16:creationId xmlns:a16="http://schemas.microsoft.com/office/drawing/2014/main" id="{08479B7F-A3A9-6D85-9F5B-662FFE5BAFA6}"/>
                    </a:ext>
                  </a:extLst>
                </p:cNvPr>
                <p:cNvSpPr/>
                <p:nvPr/>
              </p:nvSpPr>
              <p:spPr>
                <a:xfrm>
                  <a:off x="3285617" y="3060399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7" name="Google Shape;1875;p97">
                  <a:extLst>
                    <a:ext uri="{FF2B5EF4-FFF2-40B4-BE49-F238E27FC236}">
                      <a16:creationId xmlns:a16="http://schemas.microsoft.com/office/drawing/2014/main" id="{158B92FD-CB9F-91D4-6C1F-3B41DBB27F79}"/>
                    </a:ext>
                  </a:extLst>
                </p:cNvPr>
                <p:cNvSpPr/>
                <p:nvPr/>
              </p:nvSpPr>
              <p:spPr>
                <a:xfrm>
                  <a:off x="4682617" y="3568399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</p:grp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1B8BC2B-E562-9F9E-7EC5-51239352957E}"/>
              </a:ext>
            </a:extLst>
          </p:cNvPr>
          <p:cNvGrpSpPr/>
          <p:nvPr/>
        </p:nvGrpSpPr>
        <p:grpSpPr>
          <a:xfrm>
            <a:off x="10067420" y="3863410"/>
            <a:ext cx="4863600" cy="3928534"/>
            <a:chOff x="9784080" y="2633492"/>
            <a:chExt cx="4863600" cy="3928534"/>
          </a:xfrm>
        </p:grpSpPr>
        <p:sp>
          <p:nvSpPr>
            <p:cNvPr id="99" name="Google Shape;389;p22">
              <a:extLst>
                <a:ext uri="{FF2B5EF4-FFF2-40B4-BE49-F238E27FC236}">
                  <a16:creationId xmlns:a16="http://schemas.microsoft.com/office/drawing/2014/main" id="{795A3167-024B-E8B8-6FE2-BF2CD1812DCD}"/>
                </a:ext>
              </a:extLst>
            </p:cNvPr>
            <p:cNvSpPr/>
            <p:nvPr/>
          </p:nvSpPr>
          <p:spPr>
            <a:xfrm>
              <a:off x="9784080" y="3495051"/>
              <a:ext cx="4863600" cy="3066975"/>
            </a:xfrm>
            <a:prstGeom prst="roundRect">
              <a:avLst>
                <a:gd name="adj" fmla="val 15388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  <a:t>Out-of-order execution</a:t>
              </a:r>
            </a:p>
            <a:p>
              <a:pPr lvl="0" algn="ctr">
                <a:spcBef>
                  <a:spcPts val="1000"/>
                </a:spcBef>
              </a:pPr>
              <a:br>
                <a:rPr lang="en-GB" sz="2600" dirty="0">
                  <a:ea typeface="Calibri"/>
                  <a:cs typeface="Calibri"/>
                  <a:sym typeface="Calibri"/>
                </a:rPr>
              </a:br>
              <a:r>
                <a:rPr lang="en-GB" sz="2600" dirty="0">
                  <a:ea typeface="Calibri"/>
                  <a:cs typeface="Calibri"/>
                  <a:sym typeface="Calibri"/>
                </a:rPr>
                <a:t>The order of memory accesses </a:t>
              </a:r>
              <a:r>
                <a:rPr lang="en-GB" sz="2600" b="1" i="1" dirty="0">
                  <a:ea typeface="Calibri"/>
                  <a:cs typeface="Calibri"/>
                  <a:sym typeface="Calibri"/>
                </a:rPr>
                <a:t>inside a </a:t>
              </a:r>
              <a:r>
                <a:rPr lang="en-GB" sz="2600" b="1" dirty="0">
                  <a:ea typeface="Calibri"/>
                  <a:cs typeface="Calibri"/>
                  <a:sym typeface="Calibri"/>
                </a:rPr>
                <a:t>single</a:t>
              </a:r>
              <a:r>
                <a:rPr lang="en-GB" sz="2600" b="1" i="1" dirty="0">
                  <a:ea typeface="Calibri"/>
                  <a:cs typeface="Calibri"/>
                  <a:sym typeface="Calibri"/>
                </a:rPr>
                <a:t> thread</a:t>
              </a:r>
              <a:endParaRPr lang="en-GB" sz="2600" b="1" dirty="0"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E02A195-E42C-94D9-F478-819D67B872BD}"/>
                </a:ext>
              </a:extLst>
            </p:cNvPr>
            <p:cNvGrpSpPr/>
            <p:nvPr/>
          </p:nvGrpSpPr>
          <p:grpSpPr>
            <a:xfrm>
              <a:off x="10749776" y="2633492"/>
              <a:ext cx="2276922" cy="1720327"/>
              <a:chOff x="8440936" y="8093252"/>
              <a:chExt cx="2276922" cy="1720327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807520D9-26A1-FCDD-1E42-F6A4B70F8DF0}"/>
                  </a:ext>
                </a:extLst>
              </p:cNvPr>
              <p:cNvSpPr/>
              <p:nvPr/>
            </p:nvSpPr>
            <p:spPr>
              <a:xfrm>
                <a:off x="8440936" y="8093252"/>
                <a:ext cx="1352193" cy="16475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2" name="Google Shape;1874;p97">
                <a:extLst>
                  <a:ext uri="{FF2B5EF4-FFF2-40B4-BE49-F238E27FC236}">
                    <a16:creationId xmlns:a16="http://schemas.microsoft.com/office/drawing/2014/main" id="{4DD27804-EA77-B202-A84D-0588747D68AF}"/>
                  </a:ext>
                </a:extLst>
              </p:cNvPr>
              <p:cNvSpPr/>
              <p:nvPr/>
            </p:nvSpPr>
            <p:spPr>
              <a:xfrm>
                <a:off x="8858279" y="8156064"/>
                <a:ext cx="468236" cy="468236"/>
              </a:xfrm>
              <a:prstGeom prst="ellipse">
                <a:avLst/>
              </a:prstGeom>
              <a:solidFill>
                <a:srgbClr val="B0D5C7"/>
              </a:solidFill>
              <a:ln w="9525" cap="flat" cmpd="sng">
                <a:solidFill>
                  <a:srgbClr val="B0D5C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3" name="Google Shape;1875;p97">
                <a:extLst>
                  <a:ext uri="{FF2B5EF4-FFF2-40B4-BE49-F238E27FC236}">
                    <a16:creationId xmlns:a16="http://schemas.microsoft.com/office/drawing/2014/main" id="{741AB776-D1A0-9C50-7F20-AF1B21F691B6}"/>
                  </a:ext>
                </a:extLst>
              </p:cNvPr>
              <p:cNvSpPr/>
              <p:nvPr/>
            </p:nvSpPr>
            <p:spPr>
              <a:xfrm>
                <a:off x="8858279" y="8768648"/>
                <a:ext cx="468236" cy="468236"/>
              </a:xfrm>
              <a:prstGeom prst="ellipse">
                <a:avLst/>
              </a:prstGeom>
              <a:solidFill>
                <a:srgbClr val="B0D5C7"/>
              </a:solidFill>
              <a:ln w="9525" cap="flat" cmpd="sng">
                <a:solidFill>
                  <a:srgbClr val="B0D5C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4" name="Google Shape;1876;p97">
                <a:extLst>
                  <a:ext uri="{FF2B5EF4-FFF2-40B4-BE49-F238E27FC236}">
                    <a16:creationId xmlns:a16="http://schemas.microsoft.com/office/drawing/2014/main" id="{2090DD7A-CD13-3857-E5D2-931354E8CF66}"/>
                  </a:ext>
                </a:extLst>
              </p:cNvPr>
              <p:cNvSpPr/>
              <p:nvPr/>
            </p:nvSpPr>
            <p:spPr>
              <a:xfrm>
                <a:off x="10249622" y="9345343"/>
                <a:ext cx="468236" cy="4682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/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251A67B-39EA-9D46-0DA9-933CAAB2B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4580" y="9120878"/>
                <a:ext cx="929105" cy="34134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06" name="Google Shape;1875;p97">
                <a:extLst>
                  <a:ext uri="{FF2B5EF4-FFF2-40B4-BE49-F238E27FC236}">
                    <a16:creationId xmlns:a16="http://schemas.microsoft.com/office/drawing/2014/main" id="{CF48E710-525A-4AD3-0B17-AD24C209377F}"/>
                  </a:ext>
                </a:extLst>
              </p:cNvPr>
              <p:cNvSpPr/>
              <p:nvPr/>
            </p:nvSpPr>
            <p:spPr>
              <a:xfrm>
                <a:off x="8850302" y="8768648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7" name="Google Shape;1875;p97">
                <a:extLst>
                  <a:ext uri="{FF2B5EF4-FFF2-40B4-BE49-F238E27FC236}">
                    <a16:creationId xmlns:a16="http://schemas.microsoft.com/office/drawing/2014/main" id="{7BB48CD0-928E-911C-A6A2-86A7803A7394}"/>
                  </a:ext>
                </a:extLst>
              </p:cNvPr>
              <p:cNvSpPr/>
              <p:nvPr/>
            </p:nvSpPr>
            <p:spPr>
              <a:xfrm>
                <a:off x="8850302" y="8152635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8" name="Google Shape;1875;p97">
                <a:extLst>
                  <a:ext uri="{FF2B5EF4-FFF2-40B4-BE49-F238E27FC236}">
                    <a16:creationId xmlns:a16="http://schemas.microsoft.com/office/drawing/2014/main" id="{A861124F-62F5-657B-7D68-DCB385518582}"/>
                  </a:ext>
                </a:extLst>
              </p:cNvPr>
              <p:cNvSpPr/>
              <p:nvPr/>
            </p:nvSpPr>
            <p:spPr>
              <a:xfrm>
                <a:off x="10247302" y="9345343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cxnSp>
            <p:nvCxnSpPr>
              <p:cNvPr id="109" name="Curved Connector 108">
                <a:extLst>
                  <a:ext uri="{FF2B5EF4-FFF2-40B4-BE49-F238E27FC236}">
                    <a16:creationId xmlns:a16="http://schemas.microsoft.com/office/drawing/2014/main" id="{91E4C734-4E46-0DF5-42DA-83C9C70B8FED}"/>
                  </a:ext>
                </a:extLst>
              </p:cNvPr>
              <p:cNvCxnSpPr>
                <a:stCxn id="107" idx="2"/>
                <a:endCxn id="106" idx="2"/>
              </p:cNvCxnSpPr>
              <p:nvPr/>
            </p:nvCxnSpPr>
            <p:spPr>
              <a:xfrm rot="10800000" flipV="1">
                <a:off x="8850302" y="8386752"/>
                <a:ext cx="12700" cy="616013"/>
              </a:xfrm>
              <a:prstGeom prst="curvedConnector3">
                <a:avLst>
                  <a:gd name="adj1" fmla="val 3318071"/>
                </a:avLst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urved Connector 109">
                <a:extLst>
                  <a:ext uri="{FF2B5EF4-FFF2-40B4-BE49-F238E27FC236}">
                    <a16:creationId xmlns:a16="http://schemas.microsoft.com/office/drawing/2014/main" id="{1F2DE03D-09DC-3F7D-ED80-39D6600F20D6}"/>
                  </a:ext>
                </a:extLst>
              </p:cNvPr>
              <p:cNvCxnSpPr>
                <a:cxnSpLocks/>
                <a:stCxn id="106" idx="6"/>
                <a:endCxn id="107" idx="6"/>
              </p:cNvCxnSpPr>
              <p:nvPr/>
            </p:nvCxnSpPr>
            <p:spPr>
              <a:xfrm flipV="1">
                <a:off x="9318538" y="8386753"/>
                <a:ext cx="12700" cy="616013"/>
              </a:xfrm>
              <a:prstGeom prst="curvedConnector3">
                <a:avLst>
                  <a:gd name="adj1" fmla="val 3144583"/>
                </a:avLst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B0BF1127-206E-489E-1432-169FB8E2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067" y="2738861"/>
            <a:ext cx="15590183" cy="6528015"/>
          </a:xfrm>
        </p:spPr>
        <p:txBody>
          <a:bodyPr/>
          <a:lstStyle/>
          <a:p>
            <a:pPr marL="571500" indent="-571500"/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OoO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bugs manifests depending on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two types of non-deterministic behaviors</a:t>
            </a:r>
            <a:endParaRPr lang="en-KR" b="1" i="1" dirty="0">
              <a:solidFill>
                <a:srgbClr val="FF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7297-A7DA-0E86-A732-AB319EC0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5B4B-4765-BAE6-AA34-DCAEE374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identifying out-of-order bugs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EB3AF-7EE2-67F4-B090-59406610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8</a:t>
            </a:fld>
            <a:endParaRPr lang="en-KR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36D053E-B04D-EA78-4A27-ADBC2F5B61C4}"/>
              </a:ext>
            </a:extLst>
          </p:cNvPr>
          <p:cNvGrpSpPr/>
          <p:nvPr/>
        </p:nvGrpSpPr>
        <p:grpSpPr>
          <a:xfrm>
            <a:off x="3167048" y="3766344"/>
            <a:ext cx="4863600" cy="4025600"/>
            <a:chOff x="3683406" y="2536426"/>
            <a:chExt cx="4863600" cy="4025600"/>
          </a:xfrm>
        </p:grpSpPr>
        <p:sp>
          <p:nvSpPr>
            <p:cNvPr id="86" name="Google Shape;389;p22">
              <a:extLst>
                <a:ext uri="{FF2B5EF4-FFF2-40B4-BE49-F238E27FC236}">
                  <a16:creationId xmlns:a16="http://schemas.microsoft.com/office/drawing/2014/main" id="{49DC3245-3E18-28C6-3E7F-6A7E0BE9A87F}"/>
                </a:ext>
              </a:extLst>
            </p:cNvPr>
            <p:cNvSpPr/>
            <p:nvPr/>
          </p:nvSpPr>
          <p:spPr>
            <a:xfrm>
              <a:off x="3683406" y="3495051"/>
              <a:ext cx="4863600" cy="3066975"/>
            </a:xfrm>
            <a:prstGeom prst="roundRect">
              <a:avLst>
                <a:gd name="adj" fmla="val 15388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  <a:t>Thread interleaving</a:t>
              </a:r>
            </a:p>
            <a:p>
              <a:pPr marL="0" lvl="0" indent="0" algn="ctr" rtl="0">
                <a:spcBef>
                  <a:spcPts val="1000"/>
                </a:spcBef>
                <a:spcAft>
                  <a:spcPts val="0"/>
                </a:spcAft>
                <a:buNone/>
              </a:pPr>
              <a:b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  <a:t>The order of </a:t>
              </a:r>
              <a:r>
                <a:rPr lang="en-US" sz="2600" dirty="0">
                  <a:latin typeface="Calibri"/>
                  <a:ea typeface="Calibri"/>
                  <a:cs typeface="Calibri"/>
                  <a:sym typeface="Calibri"/>
                </a:rPr>
                <a:t>memory accesses</a:t>
              </a:r>
              <a:r>
                <a:rPr lang="en-GB" sz="2600" dirty="0">
                  <a:latin typeface="Calibri"/>
                  <a:ea typeface="Calibri"/>
                  <a:cs typeface="Calibri"/>
                  <a:sym typeface="Calibri"/>
                </a:rPr>
                <a:t> between multiple threads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802453C-B338-F88D-8481-CCB03D4DF00C}"/>
                </a:ext>
              </a:extLst>
            </p:cNvPr>
            <p:cNvGrpSpPr/>
            <p:nvPr/>
          </p:nvGrpSpPr>
          <p:grpSpPr>
            <a:xfrm>
              <a:off x="5181428" y="2536426"/>
              <a:ext cx="1867556" cy="1647561"/>
              <a:chOff x="2986868" y="3496733"/>
              <a:chExt cx="1867556" cy="1647561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4384DBC4-F49F-5C4F-4107-D09A66C81D60}"/>
                  </a:ext>
                </a:extLst>
              </p:cNvPr>
              <p:cNvSpPr/>
              <p:nvPr/>
            </p:nvSpPr>
            <p:spPr>
              <a:xfrm>
                <a:off x="2986868" y="3496733"/>
                <a:ext cx="1865236" cy="16475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15B7F0C-C62E-2770-9003-F3B1E0FE098C}"/>
                  </a:ext>
                </a:extLst>
              </p:cNvPr>
              <p:cNvGrpSpPr/>
              <p:nvPr/>
            </p:nvGrpSpPr>
            <p:grpSpPr>
              <a:xfrm>
                <a:off x="2986868" y="3593799"/>
                <a:ext cx="1867556" cy="1467303"/>
                <a:chOff x="3285617" y="3060399"/>
                <a:chExt cx="1867556" cy="1467303"/>
              </a:xfrm>
            </p:grpSpPr>
            <p:sp>
              <p:nvSpPr>
                <p:cNvPr id="90" name="Google Shape;1874;p97">
                  <a:extLst>
                    <a:ext uri="{FF2B5EF4-FFF2-40B4-BE49-F238E27FC236}">
                      <a16:creationId xmlns:a16="http://schemas.microsoft.com/office/drawing/2014/main" id="{B46BA3F1-4274-CABC-2923-0A9CAE0788ED}"/>
                    </a:ext>
                  </a:extLst>
                </p:cNvPr>
                <p:cNvSpPr/>
                <p:nvPr/>
              </p:nvSpPr>
              <p:spPr>
                <a:xfrm>
                  <a:off x="3293594" y="3063828"/>
                  <a:ext cx="468236" cy="468236"/>
                </a:xfrm>
                <a:prstGeom prst="ellipse">
                  <a:avLst/>
                </a:prstGeom>
                <a:solidFill>
                  <a:srgbClr val="B0D5C7"/>
                </a:solidFill>
                <a:ln w="9525" cap="flat" cmpd="sng">
                  <a:solidFill>
                    <a:srgbClr val="B0D5C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1" name="Google Shape;1875;p97">
                  <a:extLst>
                    <a:ext uri="{FF2B5EF4-FFF2-40B4-BE49-F238E27FC236}">
                      <a16:creationId xmlns:a16="http://schemas.microsoft.com/office/drawing/2014/main" id="{FC8F4BCA-288D-3736-60A9-8ED9578464F7}"/>
                    </a:ext>
                  </a:extLst>
                </p:cNvPr>
                <p:cNvSpPr/>
                <p:nvPr/>
              </p:nvSpPr>
              <p:spPr>
                <a:xfrm>
                  <a:off x="3293594" y="4059466"/>
                  <a:ext cx="468236" cy="468236"/>
                </a:xfrm>
                <a:prstGeom prst="ellipse">
                  <a:avLst/>
                </a:prstGeom>
                <a:solidFill>
                  <a:srgbClr val="B0D5C7"/>
                </a:solidFill>
                <a:ln w="9525" cap="flat" cmpd="sng">
                  <a:solidFill>
                    <a:srgbClr val="B0D5C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2" name="Google Shape;1876;p97">
                  <a:extLst>
                    <a:ext uri="{FF2B5EF4-FFF2-40B4-BE49-F238E27FC236}">
                      <a16:creationId xmlns:a16="http://schemas.microsoft.com/office/drawing/2014/main" id="{EB814C60-1C1C-3170-2F81-A2E158708D15}"/>
                    </a:ext>
                  </a:extLst>
                </p:cNvPr>
                <p:cNvSpPr/>
                <p:nvPr/>
              </p:nvSpPr>
              <p:spPr>
                <a:xfrm>
                  <a:off x="4684937" y="3557848"/>
                  <a:ext cx="468236" cy="46823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53E3F692-0661-EF28-12C5-0A87A8327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9895" y="3400926"/>
                  <a:ext cx="929105" cy="341341"/>
                </a:xfrm>
                <a:prstGeom prst="straightConnector1">
                  <a:avLst/>
                </a:prstGeom>
                <a:ln w="2857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15344A38-D735-3842-A2CF-DF1A0C0EB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53853" y="3860800"/>
                  <a:ext cx="936680" cy="342232"/>
                </a:xfrm>
                <a:prstGeom prst="straightConnector1">
                  <a:avLst/>
                </a:prstGeom>
                <a:ln w="2857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95" name="Google Shape;1875;p97">
                  <a:extLst>
                    <a:ext uri="{FF2B5EF4-FFF2-40B4-BE49-F238E27FC236}">
                      <a16:creationId xmlns:a16="http://schemas.microsoft.com/office/drawing/2014/main" id="{38354493-8919-D1B5-B568-BF54ED715DC3}"/>
                    </a:ext>
                  </a:extLst>
                </p:cNvPr>
                <p:cNvSpPr/>
                <p:nvPr/>
              </p:nvSpPr>
              <p:spPr>
                <a:xfrm>
                  <a:off x="3285617" y="4059466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6" name="Google Shape;1875;p97">
                  <a:extLst>
                    <a:ext uri="{FF2B5EF4-FFF2-40B4-BE49-F238E27FC236}">
                      <a16:creationId xmlns:a16="http://schemas.microsoft.com/office/drawing/2014/main" id="{3C9E05D8-8D40-E841-2CA7-038FD0729ACA}"/>
                    </a:ext>
                  </a:extLst>
                </p:cNvPr>
                <p:cNvSpPr/>
                <p:nvPr/>
              </p:nvSpPr>
              <p:spPr>
                <a:xfrm>
                  <a:off x="3285617" y="3060399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  <p:sp>
              <p:nvSpPr>
                <p:cNvPr id="97" name="Google Shape;1875;p97">
                  <a:extLst>
                    <a:ext uri="{FF2B5EF4-FFF2-40B4-BE49-F238E27FC236}">
                      <a16:creationId xmlns:a16="http://schemas.microsoft.com/office/drawing/2014/main" id="{AD8670AE-2485-035E-BD80-C211DA3764D3}"/>
                    </a:ext>
                  </a:extLst>
                </p:cNvPr>
                <p:cNvSpPr/>
                <p:nvPr/>
              </p:nvSpPr>
              <p:spPr>
                <a:xfrm>
                  <a:off x="4682617" y="3568399"/>
                  <a:ext cx="468236" cy="46823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endParaRPr sz="2800"/>
                </a:p>
              </p:txBody>
            </p:sp>
          </p:grp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4ACA387-2469-618F-4B23-8710B63A9CA9}"/>
              </a:ext>
            </a:extLst>
          </p:cNvPr>
          <p:cNvGrpSpPr/>
          <p:nvPr/>
        </p:nvGrpSpPr>
        <p:grpSpPr>
          <a:xfrm>
            <a:off x="10067420" y="3863410"/>
            <a:ext cx="4863600" cy="3928534"/>
            <a:chOff x="9784080" y="2633492"/>
            <a:chExt cx="4863600" cy="3928534"/>
          </a:xfrm>
        </p:grpSpPr>
        <p:sp>
          <p:nvSpPr>
            <p:cNvPr id="99" name="Google Shape;389;p22">
              <a:extLst>
                <a:ext uri="{FF2B5EF4-FFF2-40B4-BE49-F238E27FC236}">
                  <a16:creationId xmlns:a16="http://schemas.microsoft.com/office/drawing/2014/main" id="{C85CD185-0DFC-7528-6EC1-99CBF1041DB2}"/>
                </a:ext>
              </a:extLst>
            </p:cNvPr>
            <p:cNvSpPr/>
            <p:nvPr/>
          </p:nvSpPr>
          <p:spPr>
            <a:xfrm>
              <a:off x="9784080" y="3495051"/>
              <a:ext cx="4863600" cy="3066975"/>
            </a:xfrm>
            <a:prstGeom prst="roundRect">
              <a:avLst>
                <a:gd name="adj" fmla="val 15388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3200" b="1" dirty="0">
                  <a:latin typeface="Calibri"/>
                  <a:ea typeface="Calibri"/>
                  <a:cs typeface="Calibri"/>
                  <a:sym typeface="Calibri"/>
                </a:rPr>
                <a:t>Out-of-order execution</a:t>
              </a:r>
            </a:p>
            <a:p>
              <a:pPr lvl="0" algn="ctr">
                <a:spcBef>
                  <a:spcPts val="1000"/>
                </a:spcBef>
              </a:pPr>
              <a:br>
                <a:rPr lang="en-GB" sz="2600" dirty="0">
                  <a:ea typeface="Calibri"/>
                  <a:cs typeface="Calibri"/>
                  <a:sym typeface="Calibri"/>
                </a:rPr>
              </a:br>
              <a:r>
                <a:rPr lang="en-GB" sz="2600" dirty="0">
                  <a:ea typeface="Calibri"/>
                  <a:cs typeface="Calibri"/>
                  <a:sym typeface="Calibri"/>
                </a:rPr>
                <a:t>The order of memory accesses </a:t>
              </a:r>
              <a:r>
                <a:rPr lang="en-GB" sz="2600" b="1" i="1" dirty="0">
                  <a:ea typeface="Calibri"/>
                  <a:cs typeface="Calibri"/>
                  <a:sym typeface="Calibri"/>
                </a:rPr>
                <a:t>inside a </a:t>
              </a:r>
              <a:r>
                <a:rPr lang="en-GB" sz="2600" b="1" dirty="0">
                  <a:ea typeface="Calibri"/>
                  <a:cs typeface="Calibri"/>
                  <a:sym typeface="Calibri"/>
                </a:rPr>
                <a:t>single</a:t>
              </a:r>
              <a:r>
                <a:rPr lang="en-GB" sz="2600" b="1" i="1" dirty="0">
                  <a:ea typeface="Calibri"/>
                  <a:cs typeface="Calibri"/>
                  <a:sym typeface="Calibri"/>
                </a:rPr>
                <a:t> thread</a:t>
              </a:r>
              <a:endParaRPr lang="en-GB" sz="2600" b="1" dirty="0"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44A5F90-D3E6-15CE-38EC-13CC42074D4B}"/>
                </a:ext>
              </a:extLst>
            </p:cNvPr>
            <p:cNvGrpSpPr/>
            <p:nvPr/>
          </p:nvGrpSpPr>
          <p:grpSpPr>
            <a:xfrm>
              <a:off x="10749776" y="2633492"/>
              <a:ext cx="2276922" cy="1720327"/>
              <a:chOff x="8440936" y="8093252"/>
              <a:chExt cx="2276922" cy="1720327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85A17860-18C7-6B13-94F1-B96DAB25EBD0}"/>
                  </a:ext>
                </a:extLst>
              </p:cNvPr>
              <p:cNvSpPr/>
              <p:nvPr/>
            </p:nvSpPr>
            <p:spPr>
              <a:xfrm>
                <a:off x="8440936" y="8093252"/>
                <a:ext cx="1352193" cy="16475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2" name="Google Shape;1874;p97">
                <a:extLst>
                  <a:ext uri="{FF2B5EF4-FFF2-40B4-BE49-F238E27FC236}">
                    <a16:creationId xmlns:a16="http://schemas.microsoft.com/office/drawing/2014/main" id="{1F1F79A6-1C35-D0F4-2C9A-9F36CAD853C7}"/>
                  </a:ext>
                </a:extLst>
              </p:cNvPr>
              <p:cNvSpPr/>
              <p:nvPr/>
            </p:nvSpPr>
            <p:spPr>
              <a:xfrm>
                <a:off x="8858279" y="8156064"/>
                <a:ext cx="468236" cy="468236"/>
              </a:xfrm>
              <a:prstGeom prst="ellipse">
                <a:avLst/>
              </a:prstGeom>
              <a:solidFill>
                <a:srgbClr val="B0D5C7"/>
              </a:solidFill>
              <a:ln w="9525" cap="flat" cmpd="sng">
                <a:solidFill>
                  <a:srgbClr val="B0D5C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3" name="Google Shape;1875;p97">
                <a:extLst>
                  <a:ext uri="{FF2B5EF4-FFF2-40B4-BE49-F238E27FC236}">
                    <a16:creationId xmlns:a16="http://schemas.microsoft.com/office/drawing/2014/main" id="{AD0A4C41-739F-333B-7A3F-1FD39D2A4E75}"/>
                  </a:ext>
                </a:extLst>
              </p:cNvPr>
              <p:cNvSpPr/>
              <p:nvPr/>
            </p:nvSpPr>
            <p:spPr>
              <a:xfrm>
                <a:off x="8858279" y="8768648"/>
                <a:ext cx="468236" cy="468236"/>
              </a:xfrm>
              <a:prstGeom prst="ellipse">
                <a:avLst/>
              </a:prstGeom>
              <a:solidFill>
                <a:srgbClr val="B0D5C7"/>
              </a:solidFill>
              <a:ln w="9525" cap="flat" cmpd="sng">
                <a:solidFill>
                  <a:srgbClr val="B0D5C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4" name="Google Shape;1876;p97">
                <a:extLst>
                  <a:ext uri="{FF2B5EF4-FFF2-40B4-BE49-F238E27FC236}">
                    <a16:creationId xmlns:a16="http://schemas.microsoft.com/office/drawing/2014/main" id="{E0D57735-2B58-C071-9D50-7BB9F5D4BADB}"/>
                  </a:ext>
                </a:extLst>
              </p:cNvPr>
              <p:cNvSpPr/>
              <p:nvPr/>
            </p:nvSpPr>
            <p:spPr>
              <a:xfrm>
                <a:off x="10249622" y="9345343"/>
                <a:ext cx="468236" cy="4682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/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32EBCA3C-9EBD-240F-0991-96FA435B05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4580" y="9120878"/>
                <a:ext cx="929105" cy="341341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06" name="Google Shape;1875;p97">
                <a:extLst>
                  <a:ext uri="{FF2B5EF4-FFF2-40B4-BE49-F238E27FC236}">
                    <a16:creationId xmlns:a16="http://schemas.microsoft.com/office/drawing/2014/main" id="{B9A66495-F8B6-95A0-0999-B1AE331F0B89}"/>
                  </a:ext>
                </a:extLst>
              </p:cNvPr>
              <p:cNvSpPr/>
              <p:nvPr/>
            </p:nvSpPr>
            <p:spPr>
              <a:xfrm>
                <a:off x="8850302" y="8768648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7" name="Google Shape;1875;p97">
                <a:extLst>
                  <a:ext uri="{FF2B5EF4-FFF2-40B4-BE49-F238E27FC236}">
                    <a16:creationId xmlns:a16="http://schemas.microsoft.com/office/drawing/2014/main" id="{AB59F27A-6E1A-28DA-D357-9A33317A9EA4}"/>
                  </a:ext>
                </a:extLst>
              </p:cNvPr>
              <p:cNvSpPr/>
              <p:nvPr/>
            </p:nvSpPr>
            <p:spPr>
              <a:xfrm>
                <a:off x="8850302" y="8152635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sp>
            <p:nvSpPr>
              <p:cNvPr id="108" name="Google Shape;1875;p97">
                <a:extLst>
                  <a:ext uri="{FF2B5EF4-FFF2-40B4-BE49-F238E27FC236}">
                    <a16:creationId xmlns:a16="http://schemas.microsoft.com/office/drawing/2014/main" id="{19A4F316-C8A3-6842-43E6-DE281E3F5E0B}"/>
                  </a:ext>
                </a:extLst>
              </p:cNvPr>
              <p:cNvSpPr/>
              <p:nvPr/>
            </p:nvSpPr>
            <p:spPr>
              <a:xfrm>
                <a:off x="10247302" y="9345343"/>
                <a:ext cx="468236" cy="46823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endParaRPr sz="2800"/>
              </a:p>
            </p:txBody>
          </p:sp>
          <p:cxnSp>
            <p:nvCxnSpPr>
              <p:cNvPr id="109" name="Curved Connector 108">
                <a:extLst>
                  <a:ext uri="{FF2B5EF4-FFF2-40B4-BE49-F238E27FC236}">
                    <a16:creationId xmlns:a16="http://schemas.microsoft.com/office/drawing/2014/main" id="{7347803E-41B9-4088-73BE-C1D9EC72E3FE}"/>
                  </a:ext>
                </a:extLst>
              </p:cNvPr>
              <p:cNvCxnSpPr>
                <a:stCxn id="107" idx="2"/>
                <a:endCxn id="106" idx="2"/>
              </p:cNvCxnSpPr>
              <p:nvPr/>
            </p:nvCxnSpPr>
            <p:spPr>
              <a:xfrm rot="10800000" flipV="1">
                <a:off x="8850302" y="8386752"/>
                <a:ext cx="12700" cy="616013"/>
              </a:xfrm>
              <a:prstGeom prst="curvedConnector3">
                <a:avLst>
                  <a:gd name="adj1" fmla="val 3318071"/>
                </a:avLst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urved Connector 109">
                <a:extLst>
                  <a:ext uri="{FF2B5EF4-FFF2-40B4-BE49-F238E27FC236}">
                    <a16:creationId xmlns:a16="http://schemas.microsoft.com/office/drawing/2014/main" id="{C8164802-0542-FC35-DE49-F8B0BB4578ED}"/>
                  </a:ext>
                </a:extLst>
              </p:cNvPr>
              <p:cNvCxnSpPr>
                <a:cxnSpLocks/>
                <a:stCxn id="106" idx="6"/>
                <a:endCxn id="107" idx="6"/>
              </p:cNvCxnSpPr>
              <p:nvPr/>
            </p:nvCxnSpPr>
            <p:spPr>
              <a:xfrm flipV="1">
                <a:off x="9318538" y="8386753"/>
                <a:ext cx="12700" cy="616013"/>
              </a:xfrm>
              <a:prstGeom prst="curvedConnector3">
                <a:avLst>
                  <a:gd name="adj1" fmla="val 3144583"/>
                </a:avLst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AE4A97FE-43C5-7FA7-691A-F3BB3949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067" y="2738861"/>
            <a:ext cx="15332927" cy="6528015"/>
          </a:xfrm>
        </p:spPr>
        <p:txBody>
          <a:bodyPr/>
          <a:lstStyle/>
          <a:p>
            <a:pPr marL="571500" indent="-571500"/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OoO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bugs manifests depending on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two types of non-deterministic behaviors</a:t>
            </a:r>
            <a:endParaRPr lang="en-KR" b="1" i="1" dirty="0">
              <a:solidFill>
                <a:srgbClr val="FF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51CEA-A42A-5380-E89A-AD7C0C1AB6FB}"/>
              </a:ext>
            </a:extLst>
          </p:cNvPr>
          <p:cNvSpPr/>
          <p:nvPr/>
        </p:nvSpPr>
        <p:spPr>
          <a:xfrm>
            <a:off x="9144000" y="3766344"/>
            <a:ext cx="6485860" cy="5335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486015-B851-9D5A-3F38-E1664D1C57CF}"/>
              </a:ext>
            </a:extLst>
          </p:cNvPr>
          <p:cNvSpPr txBox="1">
            <a:spLocks/>
          </p:cNvSpPr>
          <p:nvPr/>
        </p:nvSpPr>
        <p:spPr>
          <a:xfrm>
            <a:off x="8748751" y="4689229"/>
            <a:ext cx="10219759" cy="5473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Previous work: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- </a:t>
            </a:r>
            <a:r>
              <a:rPr lang="en-US" sz="32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DataCollider</a:t>
            </a: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[OSDI’10],   SKI [OSDI’14], 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US" sz="32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32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Razzer</a:t>
            </a: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[S&amp;P’19],   Snowboard [SOSP’21], …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- </a:t>
            </a: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Various methods are used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(e.g., breakpoints, suspending vCPUs...)</a:t>
            </a:r>
            <a:b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32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E0F33B-8372-79FE-236C-943358734117}"/>
              </a:ext>
            </a:extLst>
          </p:cNvPr>
          <p:cNvSpPr/>
          <p:nvPr/>
        </p:nvSpPr>
        <p:spPr>
          <a:xfrm>
            <a:off x="2031971" y="3766344"/>
            <a:ext cx="6485860" cy="5335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CEFA87-0B79-1AE8-DF70-310882333B92}"/>
              </a:ext>
            </a:extLst>
          </p:cNvPr>
          <p:cNvSpPr txBox="1">
            <a:spLocks/>
          </p:cNvSpPr>
          <p:nvPr/>
        </p:nvSpPr>
        <p:spPr>
          <a:xfrm>
            <a:off x="2333597" y="4713749"/>
            <a:ext cx="10219759" cy="5473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approach has been proposed to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 out-of-order execution</a:t>
            </a:r>
          </a:p>
          <a:p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32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Even worse, previous approaches </a:t>
            </a:r>
            <a:r>
              <a:rPr lang="en-US" sz="32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obscure</a:t>
            </a:r>
            <a:b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observation of out-of-order execution!</a:t>
            </a:r>
          </a:p>
          <a:p>
            <a:endParaRPr lang="en-US" sz="32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47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  <p:bldP spid="6" grpId="1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2444-7EBA-660B-810D-3BD44771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identifying out-of-order bugs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20A0A-2584-7F39-7701-DACC51C8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9</a:t>
            </a:fld>
            <a:endParaRPr lang="en-KR" dirty="0"/>
          </a:p>
        </p:txBody>
      </p:sp>
      <p:sp>
        <p:nvSpPr>
          <p:cNvPr id="3" name="Google Shape;2295;p116">
            <a:extLst>
              <a:ext uri="{FF2B5EF4-FFF2-40B4-BE49-F238E27FC236}">
                <a16:creationId xmlns:a16="http://schemas.microsoft.com/office/drawing/2014/main" id="{9CC4E5CB-5737-A502-0818-9CEF99F2CA6F}"/>
              </a:ext>
            </a:extLst>
          </p:cNvPr>
          <p:cNvSpPr/>
          <p:nvPr/>
        </p:nvSpPr>
        <p:spPr>
          <a:xfrm>
            <a:off x="5692491" y="4066853"/>
            <a:ext cx="6576600" cy="3454200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2296;p116">
            <a:extLst>
              <a:ext uri="{FF2B5EF4-FFF2-40B4-BE49-F238E27FC236}">
                <a16:creationId xmlns:a16="http://schemas.microsoft.com/office/drawing/2014/main" id="{AAF23AEA-403B-D1A7-C4C1-A65D4179B711}"/>
              </a:ext>
            </a:extLst>
          </p:cNvPr>
          <p:cNvSpPr txBox="1"/>
          <p:nvPr/>
        </p:nvSpPr>
        <p:spPr>
          <a:xfrm>
            <a:off x="5769091" y="4911653"/>
            <a:ext cx="37098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2297;p116">
            <a:extLst>
              <a:ext uri="{FF2B5EF4-FFF2-40B4-BE49-F238E27FC236}">
                <a16:creationId xmlns:a16="http://schemas.microsoft.com/office/drawing/2014/main" id="{50E6B3BF-33CD-0CFB-476F-0D686C82B8D0}"/>
              </a:ext>
            </a:extLst>
          </p:cNvPr>
          <p:cNvSpPr txBox="1"/>
          <p:nvPr/>
        </p:nvSpPr>
        <p:spPr>
          <a:xfrm>
            <a:off x="6301016" y="4066851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8;p116">
            <a:extLst>
              <a:ext uri="{FF2B5EF4-FFF2-40B4-BE49-F238E27FC236}">
                <a16:creationId xmlns:a16="http://schemas.microsoft.com/office/drawing/2014/main" id="{8A227B3F-D90A-87ED-D919-B84DCCE4FC89}"/>
              </a:ext>
            </a:extLst>
          </p:cNvPr>
          <p:cNvSpPr txBox="1"/>
          <p:nvPr/>
        </p:nvSpPr>
        <p:spPr>
          <a:xfrm>
            <a:off x="9900841" y="4066851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300;p116">
            <a:extLst>
              <a:ext uri="{FF2B5EF4-FFF2-40B4-BE49-F238E27FC236}">
                <a16:creationId xmlns:a16="http://schemas.microsoft.com/office/drawing/2014/main" id="{E789F800-A1BF-9E7F-2633-6E4FB4B9F5C4}"/>
              </a:ext>
            </a:extLst>
          </p:cNvPr>
          <p:cNvSpPr txBox="1"/>
          <p:nvPr/>
        </p:nvSpPr>
        <p:spPr>
          <a:xfrm>
            <a:off x="9900841" y="6142853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75;p79">
            <a:extLst>
              <a:ext uri="{FF2B5EF4-FFF2-40B4-BE49-F238E27FC236}">
                <a16:creationId xmlns:a16="http://schemas.microsoft.com/office/drawing/2014/main" id="{F92E8A94-B10F-FD90-DC0F-67174D321348}"/>
              </a:ext>
            </a:extLst>
          </p:cNvPr>
          <p:cNvSpPr/>
          <p:nvPr/>
        </p:nvSpPr>
        <p:spPr>
          <a:xfrm>
            <a:off x="4767991" y="5517160"/>
            <a:ext cx="1039200" cy="519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0" rIns="182850" bIns="0" anchor="ctr" anchorCtr="0">
            <a:noAutofit/>
          </a:bodyPr>
          <a:lstStyle/>
          <a:p>
            <a:endParaRPr sz="2800">
              <a:solidFill>
                <a:srgbClr val="F3F3F3"/>
              </a:solidFill>
            </a:endParaRPr>
          </a:p>
        </p:txBody>
      </p:sp>
      <p:sp>
        <p:nvSpPr>
          <p:cNvPr id="9" name="Google Shape;1476;p79">
            <a:extLst>
              <a:ext uri="{FF2B5EF4-FFF2-40B4-BE49-F238E27FC236}">
                <a16:creationId xmlns:a16="http://schemas.microsoft.com/office/drawing/2014/main" id="{EEECFDF9-9F1D-86F3-9516-A65E61AE1C23}"/>
              </a:ext>
            </a:extLst>
          </p:cNvPr>
          <p:cNvSpPr/>
          <p:nvPr/>
        </p:nvSpPr>
        <p:spPr>
          <a:xfrm>
            <a:off x="4856338" y="5561509"/>
            <a:ext cx="862200" cy="430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82850" tIns="0" rIns="182850" bIns="0" anchor="ctr" anchorCtr="0">
            <a:noAutofit/>
          </a:bodyPr>
          <a:lstStyle/>
          <a:p>
            <a:pPr algn="ctr"/>
            <a:r>
              <a:rPr lang="en-US" altLang="ko" sz="2800">
                <a:solidFill>
                  <a:srgbClr val="F3F3F3"/>
                </a:solidFill>
              </a:rPr>
              <a:t>BP</a:t>
            </a:r>
            <a:endParaRPr sz="2800">
              <a:solidFill>
                <a:srgbClr val="F3F3F3"/>
              </a:solidFill>
            </a:endParaRPr>
          </a:p>
        </p:txBody>
      </p:sp>
      <p:sp>
        <p:nvSpPr>
          <p:cNvPr id="18" name="Google Shape;2301;p116">
            <a:extLst>
              <a:ext uri="{FF2B5EF4-FFF2-40B4-BE49-F238E27FC236}">
                <a16:creationId xmlns:a16="http://schemas.microsoft.com/office/drawing/2014/main" id="{1BEF01DC-B792-1ECA-1E7D-AE8A0D04F238}"/>
              </a:ext>
            </a:extLst>
          </p:cNvPr>
          <p:cNvSpPr txBox="1"/>
          <p:nvPr/>
        </p:nvSpPr>
        <p:spPr>
          <a:xfrm>
            <a:off x="9253896" y="7259754"/>
            <a:ext cx="4043003" cy="64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08000" tIns="108000" rIns="108000" bIns="108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 err="1">
                <a:solidFill>
                  <a:srgbClr val="01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 is 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always 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initialized…</a:t>
            </a:r>
            <a:endParaRPr sz="2800" b="1" i="1" dirty="0">
              <a:solidFill>
                <a:srgbClr val="01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F26543E-FF0A-E84B-B80A-FA7F5E59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834" y="2724482"/>
            <a:ext cx="17304523" cy="1062117"/>
          </a:xfrm>
        </p:spPr>
        <p:txBody>
          <a:bodyPr>
            <a:normAutofit/>
          </a:bodyPr>
          <a:lstStyle/>
          <a:p>
            <a:pPr marL="571500" indent="-571500"/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Controlling thread interleaving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obscures the effect of out-of-order execution</a:t>
            </a:r>
            <a:endParaRPr lang="en-KR" b="1" i="1" dirty="0">
              <a:solidFill>
                <a:srgbClr val="FF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Google Shape;2301;p116">
            <a:extLst>
              <a:ext uri="{FF2B5EF4-FFF2-40B4-BE49-F238E27FC236}">
                <a16:creationId xmlns:a16="http://schemas.microsoft.com/office/drawing/2014/main" id="{748B9A82-0A32-6702-22A2-AD783EB0A7A8}"/>
              </a:ext>
            </a:extLst>
          </p:cNvPr>
          <p:cNvSpPr txBox="1"/>
          <p:nvPr/>
        </p:nvSpPr>
        <p:spPr>
          <a:xfrm>
            <a:off x="4365665" y="6114657"/>
            <a:ext cx="4905412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BP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 acts as a memory barrier</a:t>
            </a:r>
            <a:endParaRPr sz="2800" i="1" dirty="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A4AC1B-94EE-3827-058A-7EC6AA6DB70D}"/>
              </a:ext>
            </a:extLst>
          </p:cNvPr>
          <p:cNvCxnSpPr/>
          <p:nvPr/>
        </p:nvCxnSpPr>
        <p:spPr>
          <a:xfrm>
            <a:off x="8134350" y="5882465"/>
            <a:ext cx="1771650" cy="53340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Google Shape;1593;p85">
            <a:extLst>
              <a:ext uri="{FF2B5EF4-FFF2-40B4-BE49-F238E27FC236}">
                <a16:creationId xmlns:a16="http://schemas.microsoft.com/office/drawing/2014/main" id="{CC3D0FD1-6650-7E56-5756-A4D6D726BC0F}"/>
              </a:ext>
            </a:extLst>
          </p:cNvPr>
          <p:cNvSpPr/>
          <p:nvPr/>
        </p:nvSpPr>
        <p:spPr>
          <a:xfrm>
            <a:off x="663228" y="8018087"/>
            <a:ext cx="17215698" cy="1431966"/>
          </a:xfrm>
          <a:prstGeom prst="roundRect">
            <a:avLst>
              <a:gd name="adj" fmla="val 15286"/>
            </a:avLst>
          </a:prstGeom>
          <a:solidFill>
            <a:srgbClr val="00377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4400" b="1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Controlling out-of-order execution requires a completely new </a:t>
            </a:r>
            <a:r>
              <a:rPr lang="en-US" sz="4400" b="1" i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approch</a:t>
            </a:r>
            <a:endParaRPr lang="en-US" sz="4200" b="1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9936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8" grpId="0" animBg="1"/>
      <p:bldP spid="21" grpId="0" animBg="1"/>
      <p:bldP spid="12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FBB7F-CA61-611B-B0C7-0273A61A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B86C-81E5-3485-23FF-23A6EF28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 this work, we introduce…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47051-E1D4-B103-ABB9-E870E1FE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10</a:t>
            </a:fld>
            <a:endParaRPr lang="en-K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72D7EE-23C5-ECB0-AD25-4E432AD353F6}"/>
              </a:ext>
            </a:extLst>
          </p:cNvPr>
          <p:cNvSpPr txBox="1">
            <a:spLocks/>
          </p:cNvSpPr>
          <p:nvPr/>
        </p:nvSpPr>
        <p:spPr>
          <a:xfrm>
            <a:off x="1996067" y="3104850"/>
            <a:ext cx="15583907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OEMU</a:t>
            </a: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mechanism to tame the non-deterministic behavior of out-of-order execution</a:t>
            </a: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during runtime</a:t>
            </a: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Ozz</a:t>
            </a: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kernel fuzzer tailored to find OoO bugs by deterministically controlling</a:t>
            </a:r>
          </a:p>
          <a:p>
            <a:pPr marL="2286000" lvl="2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Out-of-order execution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through OEMU, and</a:t>
            </a:r>
          </a:p>
          <a:p>
            <a:pPr marL="2286000" lvl="2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Thread interleaving     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thruugh a custom scheduler from a previous work</a:t>
            </a:r>
            <a:r>
              <a:rPr lang="en-KR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263CF-2135-5F63-D937-BA4C2B0DC8DE}"/>
              </a:ext>
            </a:extLst>
          </p:cNvPr>
          <p:cNvSpPr txBox="1"/>
          <p:nvPr/>
        </p:nvSpPr>
        <p:spPr>
          <a:xfrm>
            <a:off x="645404" y="9647269"/>
            <a:ext cx="1616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1: Jeong, Dae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Byoungyoung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Lee,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Insik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Shin,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Youngjin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Kwon.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 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Segfuzz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Segmentizing thread interleaving to discover kernel concurrency bugs through fuzzing."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2023 IEEE Symposium on Security and Privacy (SP).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25197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363F-6B5F-191D-FC6F-1ADF6FAD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578B-C80E-A95B-2056-4D8DADF0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 this work, we introduce…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7ABEE-FAD5-C5C5-15B7-5B67D3B5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11</a:t>
            </a:fld>
            <a:endParaRPr lang="en-K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66AC34-82A8-F86A-C2C9-2D9574AFF4B8}"/>
              </a:ext>
            </a:extLst>
          </p:cNvPr>
          <p:cNvSpPr txBox="1">
            <a:spLocks/>
          </p:cNvSpPr>
          <p:nvPr/>
        </p:nvSpPr>
        <p:spPr>
          <a:xfrm>
            <a:off x="1996067" y="3104850"/>
            <a:ext cx="15583907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OEMU</a:t>
            </a: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mechanism to tame the non-deterministic behavior of out-of-order execution</a:t>
            </a: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during runtime</a:t>
            </a: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dirty="0">
              <a:solidFill>
                <a:schemeClr val="bg1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indent="-571500"/>
            <a:r>
              <a:rPr lang="en-KR" b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Ozz</a:t>
            </a:r>
          </a:p>
          <a:p>
            <a:pPr marL="1600200" lvl="1" indent="-571500"/>
            <a: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kernel fuzzer tailored to find OoO bugs by deterministically controlling</a:t>
            </a:r>
          </a:p>
          <a:p>
            <a:pPr marL="2286000" lvl="2" indent="-571500"/>
            <a:r>
              <a:rPr lang="en-KR" b="1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Out-of-order execution</a:t>
            </a:r>
            <a: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through OEMU, and</a:t>
            </a:r>
          </a:p>
          <a:p>
            <a:pPr marL="2286000" lvl="2" indent="-571500"/>
            <a:r>
              <a:rPr lang="en-KR" b="1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Thread interleaving     </a:t>
            </a:r>
            <a: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through a custom scheduler from a previous work</a:t>
            </a:r>
            <a:r>
              <a:rPr lang="en-KR" baseline="300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32579-FF11-4BA4-98EB-FCD799F20465}"/>
              </a:ext>
            </a:extLst>
          </p:cNvPr>
          <p:cNvSpPr txBox="1"/>
          <p:nvPr/>
        </p:nvSpPr>
        <p:spPr>
          <a:xfrm>
            <a:off x="645404" y="9647269"/>
            <a:ext cx="1616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1: Jeong, Dae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Byoungyoung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Lee,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Insik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Shin,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Youngjin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Kwon.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 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Segfuzz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Segmentizing thread interleaving to discover kernel concurrency bugs through fuzzing."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2023 IEEE Symposium on Security and Privacy (SP).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122895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025C-0109-92B7-239B-2084BB7A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3744-B74C-1A91-F42A-A95643FD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OEMU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30AF-4DC6-1A28-E149-21DA2C06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068" y="2738861"/>
            <a:ext cx="15034632" cy="1655339"/>
          </a:xfrm>
        </p:spPr>
        <p:txBody>
          <a:bodyPr/>
          <a:lstStyle/>
          <a:p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mechanism to </a:t>
            </a:r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 out-of-order execution 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during runtime</a:t>
            </a:r>
            <a:endParaRPr lang="en-KR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Consisting of a compiler pass and callback functions</a:t>
            </a:r>
          </a:p>
          <a:p>
            <a:endParaRPr lang="en-KR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KR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93FC-D870-87C4-AF28-AE86156A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12</a:t>
            </a:fld>
            <a:endParaRPr lang="en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FA3C1-9CD2-7F7C-BBEA-7FE49AC95530}"/>
              </a:ext>
            </a:extLst>
          </p:cNvPr>
          <p:cNvSpPr txBox="1"/>
          <p:nvPr/>
        </p:nvSpPr>
        <p:spPr>
          <a:xfrm>
            <a:off x="3851974" y="6460048"/>
            <a:ext cx="2758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36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 code</a:t>
            </a:r>
          </a:p>
        </p:txBody>
      </p:sp>
      <p:sp>
        <p:nvSpPr>
          <p:cNvPr id="9" name="Google Shape;2296;p116">
            <a:extLst>
              <a:ext uri="{FF2B5EF4-FFF2-40B4-BE49-F238E27FC236}">
                <a16:creationId xmlns:a16="http://schemas.microsoft.com/office/drawing/2014/main" id="{5FED86BB-D99F-5361-B8DF-77DC8AC6BD13}"/>
              </a:ext>
            </a:extLst>
          </p:cNvPr>
          <p:cNvSpPr txBox="1"/>
          <p:nvPr/>
        </p:nvSpPr>
        <p:spPr>
          <a:xfrm>
            <a:off x="4227368" y="4833346"/>
            <a:ext cx="1870364" cy="147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6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ko" sz="3600" dirty="0">
                <a:latin typeface="Lato"/>
                <a:ea typeface="Lato"/>
                <a:cs typeface="Lato"/>
                <a:sym typeface="Lato"/>
              </a:rPr>
              <a:t> = </a:t>
            </a:r>
            <a:r>
              <a:rPr lang="en-US" altLang="ko" sz="3600" dirty="0">
                <a:latin typeface="Lato"/>
                <a:ea typeface="Lato"/>
                <a:cs typeface="Lato"/>
                <a:sym typeface="Lato"/>
              </a:rPr>
              <a:t>1;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600" dirty="0">
                <a:latin typeface="Lato"/>
                <a:ea typeface="Lato"/>
                <a:cs typeface="Lato"/>
                <a:sym typeface="Lato"/>
              </a:rPr>
              <a:t>r1 = </a:t>
            </a:r>
            <a:r>
              <a:rPr lang="en-US" altLang="ko" sz="36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ko" sz="3600" dirty="0">
                <a:latin typeface="Lato"/>
                <a:ea typeface="Lato"/>
                <a:cs typeface="Lato"/>
                <a:sym typeface="Lato"/>
              </a:rPr>
              <a:t>;</a:t>
            </a:r>
            <a:endParaRPr sz="36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295;p116">
            <a:extLst>
              <a:ext uri="{FF2B5EF4-FFF2-40B4-BE49-F238E27FC236}">
                <a16:creationId xmlns:a16="http://schemas.microsoft.com/office/drawing/2014/main" id="{CB29EC93-3186-8107-6DFE-1ACD5B80666A}"/>
              </a:ext>
            </a:extLst>
          </p:cNvPr>
          <p:cNvSpPr/>
          <p:nvPr/>
        </p:nvSpPr>
        <p:spPr>
          <a:xfrm>
            <a:off x="2801050" y="4764011"/>
            <a:ext cx="4724400" cy="1655339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C10F2-5C24-7302-E73D-D17200C5C3DD}"/>
              </a:ext>
            </a:extLst>
          </p:cNvPr>
          <p:cNvSpPr txBox="1"/>
          <p:nvPr/>
        </p:nvSpPr>
        <p:spPr>
          <a:xfrm>
            <a:off x="11301602" y="6460048"/>
            <a:ext cx="36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36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Compiled binary</a:t>
            </a:r>
          </a:p>
        </p:txBody>
      </p:sp>
      <p:sp>
        <p:nvSpPr>
          <p:cNvPr id="12" name="Google Shape;2296;p116">
            <a:extLst>
              <a:ext uri="{FF2B5EF4-FFF2-40B4-BE49-F238E27FC236}">
                <a16:creationId xmlns:a16="http://schemas.microsoft.com/office/drawing/2014/main" id="{C3DD6FC8-1E27-DE41-3BBF-02FCC1E9E545}"/>
              </a:ext>
            </a:extLst>
          </p:cNvPr>
          <p:cNvSpPr txBox="1"/>
          <p:nvPr/>
        </p:nvSpPr>
        <p:spPr>
          <a:xfrm>
            <a:off x="10684414" y="4833346"/>
            <a:ext cx="4673600" cy="147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600" i="1" dirty="0" err="1">
                <a:latin typeface="Lato"/>
                <a:ea typeface="Lato"/>
                <a:cs typeface="Lato"/>
                <a:sym typeface="Lato"/>
              </a:rPr>
              <a:t>store_value</a:t>
            </a:r>
            <a:r>
              <a:rPr lang="en-US" altLang="ko" sz="3600" i="1" dirty="0">
                <a:latin typeface="Lato"/>
                <a:ea typeface="Lato"/>
                <a:cs typeface="Lato"/>
                <a:sym typeface="Lato"/>
              </a:rPr>
              <a:t>(&amp;</a:t>
            </a:r>
            <a:r>
              <a:rPr lang="en-US" altLang="ko" sz="36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-US" altLang="ko" sz="3600" dirty="0">
                <a:latin typeface="Lato"/>
                <a:ea typeface="Lato"/>
                <a:cs typeface="Lato"/>
                <a:sym typeface="Lato"/>
              </a:rPr>
              <a:t>, 1);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600" dirty="0">
                <a:latin typeface="Lato"/>
                <a:ea typeface="Lato"/>
                <a:cs typeface="Lato"/>
                <a:sym typeface="Lato"/>
              </a:rPr>
              <a:t>r1 = </a:t>
            </a:r>
            <a:r>
              <a:rPr lang="en-US" altLang="ko" sz="3600" dirty="0" err="1">
                <a:latin typeface="Lato"/>
                <a:ea typeface="Lato"/>
                <a:cs typeface="Lato"/>
                <a:sym typeface="Lato"/>
              </a:rPr>
              <a:t>load_value</a:t>
            </a:r>
            <a:r>
              <a:rPr lang="en-US" altLang="ko" sz="3600" dirty="0">
                <a:latin typeface="Lato"/>
                <a:ea typeface="Lato"/>
                <a:cs typeface="Lato"/>
                <a:sym typeface="Lato"/>
              </a:rPr>
              <a:t>(&amp;</a:t>
            </a:r>
            <a:r>
              <a:rPr lang="en-US" altLang="ko" sz="36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US" altLang="ko" sz="3600" i="1" dirty="0"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ko" sz="3600" dirty="0">
                <a:latin typeface="Lato"/>
                <a:ea typeface="Lato"/>
                <a:cs typeface="Lato"/>
                <a:sym typeface="Lato"/>
              </a:rPr>
              <a:t>;</a:t>
            </a:r>
            <a:endParaRPr sz="36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2295;p116">
            <a:extLst>
              <a:ext uri="{FF2B5EF4-FFF2-40B4-BE49-F238E27FC236}">
                <a16:creationId xmlns:a16="http://schemas.microsoft.com/office/drawing/2014/main" id="{699FF794-939D-85BE-624A-B207C392B90B}"/>
              </a:ext>
            </a:extLst>
          </p:cNvPr>
          <p:cNvSpPr/>
          <p:nvPr/>
        </p:nvSpPr>
        <p:spPr>
          <a:xfrm>
            <a:off x="10325100" y="4764011"/>
            <a:ext cx="5212652" cy="1655339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8FF9027-F8FA-A6EA-3CAF-48AE52C4FE5A}"/>
              </a:ext>
            </a:extLst>
          </p:cNvPr>
          <p:cNvSpPr/>
          <p:nvPr/>
        </p:nvSpPr>
        <p:spPr>
          <a:xfrm>
            <a:off x="8384099" y="5122410"/>
            <a:ext cx="1082351" cy="897918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5266F-EF1D-2529-1FB6-EC69BCA99966}"/>
              </a:ext>
            </a:extLst>
          </p:cNvPr>
          <p:cNvSpPr txBox="1"/>
          <p:nvPr/>
        </p:nvSpPr>
        <p:spPr>
          <a:xfrm>
            <a:off x="8224601" y="6020328"/>
            <a:ext cx="1401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DCE4AE5-4F06-A375-4F37-E8AFF3ADE220}"/>
              </a:ext>
            </a:extLst>
          </p:cNvPr>
          <p:cNvSpPr txBox="1">
            <a:spLocks/>
          </p:cNvSpPr>
          <p:nvPr/>
        </p:nvSpPr>
        <p:spPr>
          <a:xfrm>
            <a:off x="1996068" y="7823521"/>
            <a:ext cx="10634082" cy="1843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Providing two primitive operations</a:t>
            </a:r>
            <a:endParaRPr lang="en-KR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Delayed store operation</a:t>
            </a: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Versioned load operation</a:t>
            </a:r>
          </a:p>
        </p:txBody>
      </p:sp>
    </p:spTree>
    <p:extLst>
      <p:ext uri="{BB962C8B-B14F-4D97-AF65-F5344CB8AC3E}">
        <p14:creationId xmlns:p14="http://schemas.microsoft.com/office/powerpoint/2010/main" val="43030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  <p:bldP spid="12" grpId="0"/>
      <p:bldP spid="13" grpId="0" animBg="1"/>
      <p:bldP spid="5" grpId="0" animBg="1"/>
      <p:bldP spid="6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74BEE-7FB7-7AD6-8BED-00CE3968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778C-4E11-B5A7-5CFF-EB2D29C3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Delayed store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FBB8-866F-A32F-0B3D-932E4B1E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13</a:t>
            </a:fld>
            <a:endParaRPr lang="en-K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B3CC88-6EB4-8170-55A0-A22C4839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132" y="3754553"/>
            <a:ext cx="8432681" cy="3619129"/>
          </a:xfrm>
        </p:spPr>
        <p:txBody>
          <a:bodyPr>
            <a:normAutofit/>
          </a:bodyPr>
          <a:lstStyle/>
          <a:p>
            <a:r>
              <a:rPr lang="en-US" b="1" dirty="0">
                <a:latin typeface="Lato" panose="020F0502020204030203" pitchFamily="34" charset="77"/>
              </a:rPr>
              <a:t>Store buffer</a:t>
            </a:r>
            <a:endParaRPr lang="en-KR" b="1" dirty="0">
              <a:latin typeface="Lato" panose="020F0502020204030203" pitchFamily="34" charset="77"/>
            </a:endParaRPr>
          </a:p>
          <a:p>
            <a:r>
              <a:rPr lang="en-KR" sz="2800" dirty="0">
                <a:latin typeface="Lato" panose="020F0502020204030203" pitchFamily="34" charset="77"/>
              </a:rPr>
              <a:t>      -   A small hardware component </a:t>
            </a:r>
            <a:r>
              <a:rPr lang="en-US" sz="2800" dirty="0">
                <a:latin typeface="Lato" panose="020F0502020204030203" pitchFamily="34" charset="77"/>
              </a:rPr>
              <a:t>that temporary </a:t>
            </a:r>
            <a:br>
              <a:rPr lang="en-US" sz="2800" dirty="0">
                <a:latin typeface="Lato" panose="020F0502020204030203" pitchFamily="34" charset="77"/>
              </a:rPr>
            </a:br>
            <a:r>
              <a:rPr lang="en-US" sz="2800" dirty="0">
                <a:latin typeface="Lato" panose="020F0502020204030203" pitchFamily="34" charset="77"/>
              </a:rPr>
              <a:t>           holds the results of store operations</a:t>
            </a:r>
            <a:endParaRPr lang="en-KR" sz="2800" dirty="0">
              <a:latin typeface="Lato" panose="020F0502020204030203" pitchFamily="34" charset="77"/>
            </a:endParaRPr>
          </a:p>
          <a:p>
            <a:r>
              <a:rPr lang="en-KR" sz="2800" dirty="0">
                <a:latin typeface="Lato" panose="020F0502020204030203" pitchFamily="34" charset="77"/>
              </a:rPr>
              <a:t>      -   </a:t>
            </a:r>
            <a:r>
              <a:rPr lang="en-KR" sz="2800" b="1" i="1" dirty="0">
                <a:latin typeface="Lato" panose="020F0502020204030203" pitchFamily="34" charset="77"/>
              </a:rPr>
              <a:t>It may </a:t>
            </a:r>
            <a:r>
              <a:rPr lang="en-US" sz="2800" b="1" i="1" dirty="0">
                <a:latin typeface="Lato" panose="020F0502020204030203" pitchFamily="34" charset="77"/>
              </a:rPr>
              <a:t>change the order </a:t>
            </a:r>
            <a:r>
              <a:rPr lang="en-US" sz="2800" dirty="0">
                <a:latin typeface="Lato" panose="020F0502020204030203" pitchFamily="34" charset="77"/>
              </a:rPr>
              <a:t>in which the results</a:t>
            </a:r>
            <a:br>
              <a:rPr lang="en-US" sz="2800" dirty="0">
                <a:latin typeface="Lato" panose="020F0502020204030203" pitchFamily="34" charset="77"/>
              </a:rPr>
            </a:br>
            <a:r>
              <a:rPr lang="en-US" sz="2800" dirty="0">
                <a:latin typeface="Lato" panose="020F0502020204030203" pitchFamily="34" charset="77"/>
              </a:rPr>
              <a:t>           of store operations are written to memory</a:t>
            </a:r>
            <a:endParaRPr lang="en-KR" sz="2800" dirty="0">
              <a:latin typeface="Lato" panose="020F050202020403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20D75-6DF9-DE5E-D6BE-72BDE8CE3D9E}"/>
              </a:ext>
            </a:extLst>
          </p:cNvPr>
          <p:cNvSpPr/>
          <p:nvPr/>
        </p:nvSpPr>
        <p:spPr>
          <a:xfrm>
            <a:off x="8985243" y="3866678"/>
            <a:ext cx="573437" cy="347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762A9-D6EF-A45A-0987-61473E9C8FC5}"/>
              </a:ext>
            </a:extLst>
          </p:cNvPr>
          <p:cNvSpPr txBox="1"/>
          <p:nvPr/>
        </p:nvSpPr>
        <p:spPr>
          <a:xfrm>
            <a:off x="8845672" y="7569086"/>
            <a:ext cx="7142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Lato" panose="020F0502020204030203" pitchFamily="34" charset="77"/>
              </a:rPr>
              <a:t> ➔</a:t>
            </a:r>
            <a:r>
              <a:rPr lang="ko-KR" altLang="en-US" sz="3600" dirty="0">
                <a:latin typeface="Lato" panose="020F0502020204030203" pitchFamily="34" charset="77"/>
              </a:rPr>
              <a:t> </a:t>
            </a:r>
            <a:r>
              <a:rPr lang="en-US" altLang="ko-KR" sz="3600" b="1" i="1" dirty="0">
                <a:latin typeface="Lato" panose="020F0502020204030203" pitchFamily="34" charset="77"/>
              </a:rPr>
              <a:t>OEMU emulates the store buffer!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CB413-F422-C6D5-6BC7-757CAC3696C8}"/>
              </a:ext>
            </a:extLst>
          </p:cNvPr>
          <p:cNvSpPr txBox="1"/>
          <p:nvPr/>
        </p:nvSpPr>
        <p:spPr>
          <a:xfrm>
            <a:off x="4868585" y="1917936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Emulating how hardware reorders </a:t>
            </a:r>
            <a:r>
              <a:rPr lang="en-US" altLang="ko" sz="3200" b="1" i="1" dirty="0">
                <a:latin typeface="Lato"/>
                <a:ea typeface="Lato"/>
                <a:cs typeface="Lato"/>
                <a:sym typeface="Lato"/>
              </a:rPr>
              <a:t>store</a:t>
            </a:r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 operations</a:t>
            </a:r>
            <a:endParaRPr lang="en-KR" sz="32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5BCECD-5F2E-ACBA-01C9-9216738DBFEA}"/>
              </a:ext>
            </a:extLst>
          </p:cNvPr>
          <p:cNvSpPr/>
          <p:nvPr/>
        </p:nvSpPr>
        <p:spPr>
          <a:xfrm>
            <a:off x="2074173" y="6957464"/>
            <a:ext cx="4945792" cy="813851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3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9ADBBF-BDEA-81BF-880B-A12B8DDABE72}"/>
              </a:ext>
            </a:extLst>
          </p:cNvPr>
          <p:cNvSpPr/>
          <p:nvPr/>
        </p:nvSpPr>
        <p:spPr>
          <a:xfrm>
            <a:off x="2074173" y="4629330"/>
            <a:ext cx="1856603" cy="813851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3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CPU0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BAA9C7-53C1-ADBE-3F4C-B9D208668F0E}"/>
              </a:ext>
            </a:extLst>
          </p:cNvPr>
          <p:cNvSpPr/>
          <p:nvPr/>
        </p:nvSpPr>
        <p:spPr>
          <a:xfrm>
            <a:off x="5163362" y="4629330"/>
            <a:ext cx="1856603" cy="813851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3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CPU1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C6D113-2757-FE9A-5604-D6337A61B21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002475" y="5443181"/>
            <a:ext cx="0" cy="15142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2704A7-88A6-4560-F8EB-5A189FF27737}"/>
              </a:ext>
            </a:extLst>
          </p:cNvPr>
          <p:cNvCxnSpPr>
            <a:cxnSpLocks/>
          </p:cNvCxnSpPr>
          <p:nvPr/>
        </p:nvCxnSpPr>
        <p:spPr>
          <a:xfrm>
            <a:off x="6091663" y="5443181"/>
            <a:ext cx="0" cy="15142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96244FA-3987-ACBD-7F93-F61C4123BAA9}"/>
              </a:ext>
            </a:extLst>
          </p:cNvPr>
          <p:cNvSpPr/>
          <p:nvPr/>
        </p:nvSpPr>
        <p:spPr>
          <a:xfrm>
            <a:off x="2096069" y="5625519"/>
            <a:ext cx="1856603" cy="8138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</a:t>
            </a:r>
            <a:b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buffer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A19832A-E649-8F39-964E-271BB9A789B9}"/>
              </a:ext>
            </a:extLst>
          </p:cNvPr>
          <p:cNvSpPr/>
          <p:nvPr/>
        </p:nvSpPr>
        <p:spPr>
          <a:xfrm>
            <a:off x="5185258" y="5625519"/>
            <a:ext cx="1856603" cy="81385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</a:t>
            </a:r>
            <a:b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buffer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9A3B4-1AB1-EFB2-ABE0-8B3D998CEF63}"/>
              </a:ext>
            </a:extLst>
          </p:cNvPr>
          <p:cNvSpPr/>
          <p:nvPr/>
        </p:nvSpPr>
        <p:spPr>
          <a:xfrm>
            <a:off x="2078068" y="5625519"/>
            <a:ext cx="4967688" cy="8138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47EBBB8-403C-625B-25AC-3879D0CC0EBF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7045756" y="4040496"/>
            <a:ext cx="1939487" cy="1991949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06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CFBA-621F-0163-37DC-6CF84778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775"/>
            <a:ext cx="15773400" cy="1988651"/>
          </a:xfrm>
        </p:spPr>
        <p:txBody>
          <a:bodyPr/>
          <a:lstStyle/>
          <a:p>
            <a:r>
              <a:rPr lang="en-KR"/>
              <a:t>Delayed store operation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EAC21-8594-E323-9A93-297B5664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77950" y="9721765"/>
            <a:ext cx="4114800" cy="547772"/>
          </a:xfrm>
        </p:spPr>
        <p:txBody>
          <a:bodyPr/>
          <a:lstStyle/>
          <a:p>
            <a:fld id="{BB466953-1B1C-644D-985E-1DBABDED2717}" type="slidenum">
              <a:rPr lang="en-KR" smtClean="0"/>
              <a:pPr/>
              <a:t>14</a:t>
            </a:fld>
            <a:endParaRPr lang="en-KR" dirty="0"/>
          </a:p>
        </p:txBody>
      </p:sp>
      <p:sp>
        <p:nvSpPr>
          <p:cNvPr id="14" name="Google Shape;2295;p116">
            <a:extLst>
              <a:ext uri="{FF2B5EF4-FFF2-40B4-BE49-F238E27FC236}">
                <a16:creationId xmlns:a16="http://schemas.microsoft.com/office/drawing/2014/main" id="{B9F6371B-FC12-4E46-27B7-396E2965198E}"/>
              </a:ext>
            </a:extLst>
          </p:cNvPr>
          <p:cNvSpPr/>
          <p:nvPr/>
        </p:nvSpPr>
        <p:spPr>
          <a:xfrm>
            <a:off x="5979100" y="3612777"/>
            <a:ext cx="6576600" cy="3900129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2296;p116">
            <a:extLst>
              <a:ext uri="{FF2B5EF4-FFF2-40B4-BE49-F238E27FC236}">
                <a16:creationId xmlns:a16="http://schemas.microsoft.com/office/drawing/2014/main" id="{5F15FF2A-412A-4E44-39A9-4747382247AB}"/>
              </a:ext>
            </a:extLst>
          </p:cNvPr>
          <p:cNvSpPr txBox="1"/>
          <p:nvPr/>
        </p:nvSpPr>
        <p:spPr>
          <a:xfrm>
            <a:off x="6055700" y="4457578"/>
            <a:ext cx="37098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A:  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B:  </a:t>
            </a: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2297;p116">
            <a:extLst>
              <a:ext uri="{FF2B5EF4-FFF2-40B4-BE49-F238E27FC236}">
                <a16:creationId xmlns:a16="http://schemas.microsoft.com/office/drawing/2014/main" id="{6EA64EE7-4B12-321D-9D85-C9DDF35D0CF9}"/>
              </a:ext>
            </a:extLst>
          </p:cNvPr>
          <p:cNvSpPr txBox="1"/>
          <p:nvPr/>
        </p:nvSpPr>
        <p:spPr>
          <a:xfrm>
            <a:off x="6587625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2298;p116">
            <a:extLst>
              <a:ext uri="{FF2B5EF4-FFF2-40B4-BE49-F238E27FC236}">
                <a16:creationId xmlns:a16="http://schemas.microsoft.com/office/drawing/2014/main" id="{79A95571-8F67-5A6D-A04B-99455EDF50F8}"/>
              </a:ext>
            </a:extLst>
          </p:cNvPr>
          <p:cNvSpPr txBox="1"/>
          <p:nvPr/>
        </p:nvSpPr>
        <p:spPr>
          <a:xfrm>
            <a:off x="10187450" y="361277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2300;p116">
            <a:extLst>
              <a:ext uri="{FF2B5EF4-FFF2-40B4-BE49-F238E27FC236}">
                <a16:creationId xmlns:a16="http://schemas.microsoft.com/office/drawing/2014/main" id="{2844C810-8996-4761-F362-5D6C179E1E41}"/>
              </a:ext>
            </a:extLst>
          </p:cNvPr>
          <p:cNvSpPr txBox="1"/>
          <p:nvPr/>
        </p:nvSpPr>
        <p:spPr>
          <a:xfrm>
            <a:off x="10187450" y="6181927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E84A48-0045-CCC7-D0AB-3B2CD57C5810}"/>
              </a:ext>
            </a:extLst>
          </p:cNvPr>
          <p:cNvCxnSpPr>
            <a:cxnSpLocks/>
          </p:cNvCxnSpPr>
          <p:nvPr/>
        </p:nvCxnSpPr>
        <p:spPr>
          <a:xfrm>
            <a:off x="6318422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A90154-0358-5D27-362A-C8BEAF2636B4}"/>
              </a:ext>
            </a:extLst>
          </p:cNvPr>
          <p:cNvCxnSpPr>
            <a:cxnSpLocks/>
          </p:cNvCxnSpPr>
          <p:nvPr/>
        </p:nvCxnSpPr>
        <p:spPr>
          <a:xfrm>
            <a:off x="7424022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7AB1B5-F813-6B22-2ECB-5E88DD178092}"/>
              </a:ext>
            </a:extLst>
          </p:cNvPr>
          <p:cNvCxnSpPr>
            <a:cxnSpLocks/>
          </p:cNvCxnSpPr>
          <p:nvPr/>
        </p:nvCxnSpPr>
        <p:spPr>
          <a:xfrm>
            <a:off x="8533083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BFCEF3-39BF-586C-4D04-EE8FEEC93910}"/>
              </a:ext>
            </a:extLst>
          </p:cNvPr>
          <p:cNvCxnSpPr>
            <a:cxnSpLocks/>
          </p:cNvCxnSpPr>
          <p:nvPr/>
        </p:nvCxnSpPr>
        <p:spPr>
          <a:xfrm>
            <a:off x="9643872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B204E1-EB2F-186E-0D32-45CF98110C38}"/>
              </a:ext>
            </a:extLst>
          </p:cNvPr>
          <p:cNvCxnSpPr>
            <a:cxnSpLocks/>
          </p:cNvCxnSpPr>
          <p:nvPr/>
        </p:nvCxnSpPr>
        <p:spPr>
          <a:xfrm>
            <a:off x="10735552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681634-24FB-150A-4B51-EFE755AC1C47}"/>
              </a:ext>
            </a:extLst>
          </p:cNvPr>
          <p:cNvCxnSpPr>
            <a:cxnSpLocks/>
          </p:cNvCxnSpPr>
          <p:nvPr/>
        </p:nvCxnSpPr>
        <p:spPr>
          <a:xfrm>
            <a:off x="11838335" y="8093677"/>
            <a:ext cx="0" cy="667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22D578-5B0E-4999-5B0B-B42971D43865}"/>
              </a:ext>
            </a:extLst>
          </p:cNvPr>
          <p:cNvGrpSpPr/>
          <p:nvPr/>
        </p:nvGrpSpPr>
        <p:grpSpPr>
          <a:xfrm>
            <a:off x="5465805" y="8093676"/>
            <a:ext cx="7360175" cy="667265"/>
            <a:chOff x="4856205" y="8093676"/>
            <a:chExt cx="7797114" cy="66726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2534EE-F916-E40C-A52F-EDAFFD56DC8F}"/>
                </a:ext>
              </a:extLst>
            </p:cNvPr>
            <p:cNvCxnSpPr>
              <a:cxnSpLocks/>
            </p:cNvCxnSpPr>
            <p:nvPr/>
          </p:nvCxnSpPr>
          <p:spPr>
            <a:xfrm>
              <a:off x="4856205" y="8093676"/>
              <a:ext cx="77971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44BCA2-8385-FA6D-DDE5-DFF9CD4F11F1}"/>
                </a:ext>
              </a:extLst>
            </p:cNvPr>
            <p:cNvCxnSpPr>
              <a:cxnSpLocks/>
            </p:cNvCxnSpPr>
            <p:nvPr/>
          </p:nvCxnSpPr>
          <p:spPr>
            <a:xfrm>
              <a:off x="4856205" y="8760941"/>
              <a:ext cx="77971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6BBC7F5-EBB8-796C-5FD5-A766FD5DBB5A}"/>
              </a:ext>
            </a:extLst>
          </p:cNvPr>
          <p:cNvSpPr/>
          <p:nvPr/>
        </p:nvSpPr>
        <p:spPr>
          <a:xfrm>
            <a:off x="9595104" y="3718560"/>
            <a:ext cx="2828544" cy="369456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6661D6-AA8D-0670-7AE2-EB883D782E40}"/>
              </a:ext>
            </a:extLst>
          </p:cNvPr>
          <p:cNvSpPr txBox="1"/>
          <p:nvPr/>
        </p:nvSpPr>
        <p:spPr>
          <a:xfrm>
            <a:off x="531628" y="4167058"/>
            <a:ext cx="4422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2800" i="1" dirty="0">
                <a:latin typeface="Lato" panose="020F0502020204030203" pitchFamily="34" charset="77"/>
              </a:rPr>
              <a:t>We want to reorder</a:t>
            </a:r>
            <a:br>
              <a:rPr lang="en-KR" sz="2800" i="1" dirty="0">
                <a:latin typeface="Lato" panose="020F0502020204030203" pitchFamily="34" charset="77"/>
              </a:rPr>
            </a:br>
            <a:r>
              <a:rPr lang="en-KR" sz="2800" i="1" dirty="0">
                <a:latin typeface="Lato" panose="020F0502020204030203" pitchFamily="34" charset="77"/>
              </a:rPr>
              <a:t>the exec. </a:t>
            </a:r>
            <a:r>
              <a:rPr lang="en-US" sz="2800" i="1" dirty="0">
                <a:latin typeface="Lato" panose="020F0502020204030203" pitchFamily="34" charset="77"/>
              </a:rPr>
              <a:t>o</a:t>
            </a:r>
            <a:r>
              <a:rPr lang="en-KR" sz="2800" i="1" dirty="0">
                <a:latin typeface="Lato" panose="020F0502020204030203" pitchFamily="34" charset="77"/>
              </a:rPr>
              <a:t>rder </a:t>
            </a:r>
            <a:r>
              <a:rPr lang="en-US" sz="2800" b="1" i="1" dirty="0">
                <a:solidFill>
                  <a:srgbClr val="C00000"/>
                </a:solidFill>
                <a:latin typeface="Lato" panose="020F0502020204030203" pitchFamily="34" charset="77"/>
                <a:ea typeface="Lato"/>
                <a:cs typeface="Consolas" panose="020B0609020204030204" pitchFamily="49" charset="0"/>
                <a:sym typeface="Lato"/>
              </a:rPr>
              <a:t>B </a:t>
            </a:r>
            <a:r>
              <a:rPr lang="en-US" altLang="ko-KR" sz="2800" i="1" dirty="0">
                <a:solidFill>
                  <a:srgbClr val="C00000"/>
                </a:solidFill>
                <a:latin typeface="Lato" panose="020F0502020204030203" pitchFamily="34" charset="77"/>
              </a:rPr>
              <a:t>➔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77"/>
                <a:ea typeface="Lato"/>
                <a:cs typeface="Consolas" panose="020B0609020204030204" pitchFamily="49" charset="0"/>
                <a:sym typeface="Lato"/>
              </a:rPr>
              <a:t>  </a:t>
            </a:r>
            <a:r>
              <a:rPr lang="en-US" sz="2800" b="1" i="1" dirty="0">
                <a:solidFill>
                  <a:srgbClr val="C00000"/>
                </a:solidFill>
                <a:latin typeface="Lato" panose="020F0502020204030203" pitchFamily="34" charset="77"/>
                <a:ea typeface="Lato"/>
                <a:cs typeface="Consolas" panose="020B0609020204030204" pitchFamily="49" charset="0"/>
                <a:sym typeface="Lato"/>
              </a:rPr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D75D4F-4F23-A9D9-B2EF-3A1ED0CFCA8A}"/>
              </a:ext>
            </a:extLst>
          </p:cNvPr>
          <p:cNvSpPr txBox="1"/>
          <p:nvPr/>
        </p:nvSpPr>
        <p:spPr>
          <a:xfrm>
            <a:off x="11170024" y="8798653"/>
            <a:ext cx="1655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KR" sz="2800" i="1" dirty="0">
                <a:latin typeface="Lato" panose="020F0502020204030203" pitchFamily="34" charset="77"/>
              </a:rPr>
              <a:t>Memory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AED9E9-2FF1-F912-6B48-7D0F2FB4C7C0}"/>
              </a:ext>
            </a:extLst>
          </p:cNvPr>
          <p:cNvSpPr txBox="1"/>
          <p:nvPr/>
        </p:nvSpPr>
        <p:spPr>
          <a:xfrm>
            <a:off x="7644661" y="7788771"/>
            <a:ext cx="62074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ko" sz="24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endParaRPr lang="en-KR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ACC18D-259A-A9F4-EF01-A28B77BF5757}"/>
              </a:ext>
            </a:extLst>
          </p:cNvPr>
          <p:cNvSpPr txBox="1"/>
          <p:nvPr/>
        </p:nvSpPr>
        <p:spPr>
          <a:xfrm>
            <a:off x="8651997" y="7785879"/>
            <a:ext cx="864956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" sz="24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400" dirty="0">
                <a:latin typeface="Lato"/>
                <a:ea typeface="Lato"/>
                <a:cs typeface="Lato"/>
                <a:sym typeface="Lato"/>
              </a:rPr>
              <a:t> </a:t>
            </a:r>
            <a:endParaRPr lang="en-KR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F611DF-06BB-B270-CC37-13BC7911A987}"/>
              </a:ext>
            </a:extLst>
          </p:cNvPr>
          <p:cNvSpPr txBox="1"/>
          <p:nvPr/>
        </p:nvSpPr>
        <p:spPr>
          <a:xfrm>
            <a:off x="8679947" y="8205790"/>
            <a:ext cx="8113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/>
              <a:t>false</a:t>
            </a:r>
            <a:endParaRPr lang="en-KR" sz="2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4AD69A-1AAA-4F53-998F-B66D23431C3C}"/>
              </a:ext>
            </a:extLst>
          </p:cNvPr>
          <p:cNvSpPr txBox="1"/>
          <p:nvPr/>
        </p:nvSpPr>
        <p:spPr>
          <a:xfrm>
            <a:off x="7457288" y="8204342"/>
            <a:ext cx="11075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 err="1">
                <a:latin typeface="Lato" panose="020F0502020204030203"/>
              </a:rPr>
              <a:t>uninit</a:t>
            </a:r>
            <a:r>
              <a:rPr lang="en-US" sz="2600" i="1" dirty="0">
                <a:latin typeface="Lato" panose="020F0502020204030203"/>
              </a:rPr>
              <a:t>.</a:t>
            </a:r>
            <a:endParaRPr lang="en-KR" sz="2600" i="1" dirty="0">
              <a:latin typeface="Lato" panose="020F0502020204030203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E3CCB01-C97B-B07B-7DA5-CCBFBC05F6AD}"/>
              </a:ext>
            </a:extLst>
          </p:cNvPr>
          <p:cNvCxnSpPr>
            <a:cxnSpLocks/>
          </p:cNvCxnSpPr>
          <p:nvPr/>
        </p:nvCxnSpPr>
        <p:spPr>
          <a:xfrm>
            <a:off x="5979100" y="6181927"/>
            <a:ext cx="316679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02FEAF-A1FC-C06F-5953-0FCF5063F8F2}"/>
              </a:ext>
            </a:extLst>
          </p:cNvPr>
          <p:cNvCxnSpPr>
            <a:cxnSpLocks/>
          </p:cNvCxnSpPr>
          <p:nvPr/>
        </p:nvCxnSpPr>
        <p:spPr>
          <a:xfrm>
            <a:off x="9145892" y="6181927"/>
            <a:ext cx="0" cy="135272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2296;p116">
            <a:extLst>
              <a:ext uri="{FF2B5EF4-FFF2-40B4-BE49-F238E27FC236}">
                <a16:creationId xmlns:a16="http://schemas.microsoft.com/office/drawing/2014/main" id="{21E0C23B-B7C2-0DB0-F4C6-C1762D1F0A52}"/>
              </a:ext>
            </a:extLst>
          </p:cNvPr>
          <p:cNvSpPr txBox="1"/>
          <p:nvPr/>
        </p:nvSpPr>
        <p:spPr>
          <a:xfrm>
            <a:off x="6461643" y="6088114"/>
            <a:ext cx="2727519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alt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 err="1">
                <a:latin typeface="Lato"/>
                <a:ea typeface="Lato"/>
                <a:cs typeface="Lato"/>
                <a:sym typeface="Lato"/>
              </a:rPr>
              <a:t>addr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&gt;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2296;p116">
            <a:extLst>
              <a:ext uri="{FF2B5EF4-FFF2-40B4-BE49-F238E27FC236}">
                <a16:creationId xmlns:a16="http://schemas.microsoft.com/office/drawing/2014/main" id="{315F451C-8958-E76B-8593-0D50AB6F0429}"/>
              </a:ext>
            </a:extLst>
          </p:cNvPr>
          <p:cNvSpPr txBox="1"/>
          <p:nvPr/>
        </p:nvSpPr>
        <p:spPr>
          <a:xfrm>
            <a:off x="6361351" y="6581264"/>
            <a:ext cx="2727519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n-US" altLang="ko" sz="2800" b="1" i="1" dirty="0">
                <a:solidFill>
                  <a:srgbClr val="A61B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alt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true&gt;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FE5DE8-1180-E5F8-A9DB-FF820BB6D7A7}"/>
              </a:ext>
            </a:extLst>
          </p:cNvPr>
          <p:cNvSpPr txBox="1"/>
          <p:nvPr/>
        </p:nvSpPr>
        <p:spPr>
          <a:xfrm>
            <a:off x="5510462" y="7283974"/>
            <a:ext cx="379213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i="1" dirty="0">
                <a:latin typeface="Lato" panose="020F0502020204030203" pitchFamily="34" charset="77"/>
              </a:rPr>
              <a:t>Per-core virtual  store buffer</a:t>
            </a:r>
            <a:endParaRPr lang="en-US" sz="2400" b="1" i="1" dirty="0">
              <a:solidFill>
                <a:srgbClr val="C00000"/>
              </a:solidFill>
              <a:latin typeface="Lato" panose="020F0502020204030203" pitchFamily="34" charset="77"/>
              <a:ea typeface="Lato"/>
              <a:cs typeface="Consolas" panose="020B0609020204030204" pitchFamily="49" charset="0"/>
              <a:sym typeface="Lato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9719DA3-D850-C0F8-BA12-23418685B5AE}"/>
              </a:ext>
            </a:extLst>
          </p:cNvPr>
          <p:cNvCxnSpPr>
            <a:cxnSpLocks/>
          </p:cNvCxnSpPr>
          <p:nvPr/>
        </p:nvCxnSpPr>
        <p:spPr>
          <a:xfrm>
            <a:off x="7545062" y="5094662"/>
            <a:ext cx="0" cy="12573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ED20D32-CFA5-E03F-DD04-7F29A6D1598F}"/>
              </a:ext>
            </a:extLst>
          </p:cNvPr>
          <p:cNvCxnSpPr>
            <a:cxnSpLocks/>
          </p:cNvCxnSpPr>
          <p:nvPr/>
        </p:nvCxnSpPr>
        <p:spPr>
          <a:xfrm>
            <a:off x="7545062" y="5511002"/>
            <a:ext cx="0" cy="134185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46C1F166-28D0-82F2-BD1F-00F6C201B66B}"/>
              </a:ext>
            </a:extLst>
          </p:cNvPr>
          <p:cNvCxnSpPr>
            <a:cxnSpLocks/>
            <a:stCxn id="70" idx="3"/>
            <a:endCxn id="47" idx="0"/>
          </p:cNvCxnSpPr>
          <p:nvPr/>
        </p:nvCxnSpPr>
        <p:spPr>
          <a:xfrm>
            <a:off x="8642012" y="7001303"/>
            <a:ext cx="442463" cy="78457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289E1DE-70E3-6E1C-B4AB-E7812AC96D09}"/>
              </a:ext>
            </a:extLst>
          </p:cNvPr>
          <p:cNvSpPr/>
          <p:nvPr/>
        </p:nvSpPr>
        <p:spPr>
          <a:xfrm>
            <a:off x="8343989" y="6852291"/>
            <a:ext cx="298023" cy="29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120BD0-F8C6-EF7E-39D1-818924C3B6BD}"/>
              </a:ext>
            </a:extLst>
          </p:cNvPr>
          <p:cNvSpPr txBox="1"/>
          <p:nvPr/>
        </p:nvSpPr>
        <p:spPr>
          <a:xfrm>
            <a:off x="8692794" y="8186505"/>
            <a:ext cx="8113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>
                <a:solidFill>
                  <a:srgbClr val="C00000"/>
                </a:solidFill>
              </a:rPr>
              <a:t>true</a:t>
            </a:r>
            <a:endParaRPr lang="en-KR" sz="2600" b="1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734480-D04F-41D1-A7A8-BD8D4D12017D}"/>
              </a:ext>
            </a:extLst>
          </p:cNvPr>
          <p:cNvSpPr txBox="1"/>
          <p:nvPr/>
        </p:nvSpPr>
        <p:spPr>
          <a:xfrm>
            <a:off x="531628" y="6149661"/>
            <a:ext cx="5315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2800" i="1" dirty="0">
                <a:latin typeface="Lato" panose="020F0502020204030203" pitchFamily="34" charset="77"/>
              </a:rPr>
              <a:t>We </a:t>
            </a:r>
            <a:r>
              <a:rPr lang="en-US" sz="2800" i="1" dirty="0">
                <a:latin typeface="Lato" panose="020F0502020204030203" pitchFamily="34" charset="77"/>
              </a:rPr>
              <a:t>instruct the store buffer to</a:t>
            </a:r>
            <a:br>
              <a:rPr lang="en-US" sz="2800" i="1" dirty="0">
                <a:latin typeface="Lato" panose="020F0502020204030203" pitchFamily="34" charset="77"/>
              </a:rPr>
            </a:br>
            <a:r>
              <a:rPr lang="en-US" sz="2800" i="1" dirty="0">
                <a:latin typeface="Lato" panose="020F0502020204030203" pitchFamily="34" charset="77"/>
              </a:rPr>
              <a:t>   1) hold the value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77"/>
              </a:rPr>
              <a:t>ptr</a:t>
            </a:r>
            <a:br>
              <a:rPr lang="en-US" sz="2800" i="1" dirty="0">
                <a:latin typeface="Lato" panose="020F0502020204030203" pitchFamily="34" charset="77"/>
                <a:sym typeface="Lato"/>
              </a:rPr>
            </a:br>
            <a:r>
              <a:rPr lang="en-US" sz="2800" i="1" dirty="0">
                <a:latin typeface="Lato" panose="020F0502020204030203" pitchFamily="34" charset="77"/>
                <a:sym typeface="Lato"/>
              </a:rPr>
              <a:t>   2) flush the value of </a:t>
            </a:r>
            <a:r>
              <a:rPr lang="en-US" sz="2800" b="1" i="1" dirty="0">
                <a:solidFill>
                  <a:srgbClr val="A61B00"/>
                </a:solidFill>
                <a:latin typeface="Lato" panose="020F0502020204030203" pitchFamily="34" charset="77"/>
                <a:sym typeface="Lato"/>
              </a:rPr>
              <a:t>ready</a:t>
            </a:r>
            <a:endParaRPr lang="en-US" sz="2800" b="1" i="1" dirty="0">
              <a:solidFill>
                <a:srgbClr val="A61B00"/>
              </a:solidFill>
              <a:latin typeface="Lato" panose="020F050202020403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DB634-49E1-48F1-B177-793011D2FAF8}"/>
              </a:ext>
            </a:extLst>
          </p:cNvPr>
          <p:cNvSpPr txBox="1"/>
          <p:nvPr/>
        </p:nvSpPr>
        <p:spPr>
          <a:xfrm>
            <a:off x="5976442" y="3004614"/>
            <a:ext cx="3120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i="1" dirty="0">
                <a:latin typeface="Lato" panose="020F0502020204030203"/>
              </a:rPr>
              <a:t>During runtime…</a:t>
            </a:r>
            <a:endParaRPr lang="ko-KR" altLang="en-US" sz="2800" b="1" i="1" dirty="0">
              <a:latin typeface="Lato" panose="020F0502020204030203"/>
            </a:endParaRPr>
          </a:p>
        </p:txBody>
      </p:sp>
      <p:sp>
        <p:nvSpPr>
          <p:cNvPr id="39" name="Google Shape;1120;p55">
            <a:extLst>
              <a:ext uri="{FF2B5EF4-FFF2-40B4-BE49-F238E27FC236}">
                <a16:creationId xmlns:a16="http://schemas.microsoft.com/office/drawing/2014/main" id="{C7F35990-6899-4A99-AEB7-F3205B1D6F2E}"/>
              </a:ext>
            </a:extLst>
          </p:cNvPr>
          <p:cNvSpPr txBox="1"/>
          <p:nvPr/>
        </p:nvSpPr>
        <p:spPr>
          <a:xfrm>
            <a:off x="9464028" y="7258021"/>
            <a:ext cx="4225160" cy="607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0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Uninitialized access!</a:t>
            </a:r>
            <a:endParaRPr sz="30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1121;p55">
            <a:extLst>
              <a:ext uri="{FF2B5EF4-FFF2-40B4-BE49-F238E27FC236}">
                <a16:creationId xmlns:a16="http://schemas.microsoft.com/office/drawing/2014/main" id="{705C4ECA-1F59-4122-8109-CFB19957B5C8}"/>
              </a:ext>
            </a:extLst>
          </p:cNvPr>
          <p:cNvSpPr/>
          <p:nvPr/>
        </p:nvSpPr>
        <p:spPr>
          <a:xfrm>
            <a:off x="10457509" y="6799511"/>
            <a:ext cx="1914688" cy="4775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103A1-B8AB-0FA8-5C9C-FC60ACD39CFD}"/>
              </a:ext>
            </a:extLst>
          </p:cNvPr>
          <p:cNvSpPr txBox="1"/>
          <p:nvPr/>
        </p:nvSpPr>
        <p:spPr>
          <a:xfrm>
            <a:off x="6103826" y="1917934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through emulating the store buffer</a:t>
            </a:r>
            <a:endParaRPr lang="en-KR" sz="3200" dirty="0"/>
          </a:p>
        </p:txBody>
      </p:sp>
    </p:spTree>
    <p:extLst>
      <p:ext uri="{BB962C8B-B14F-4D97-AF65-F5344CB8AC3E}">
        <p14:creationId xmlns:p14="http://schemas.microsoft.com/office/powerpoint/2010/main" val="176706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xit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3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800"/>
                            </p:stCondLst>
                            <p:childTnLst>
                              <p:par>
                                <p:cTn id="7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300"/>
                            </p:stCondLst>
                            <p:childTnLst>
                              <p:par>
                                <p:cTn id="7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800"/>
                            </p:stCondLst>
                            <p:childTnLst>
                              <p:par>
                                <p:cTn id="8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48" grpId="0"/>
      <p:bldP spid="55" grpId="0"/>
      <p:bldP spid="56" grpId="0" build="allAtOnce"/>
      <p:bldP spid="57" grpId="0" animBg="1"/>
      <p:bldP spid="86" grpId="0"/>
      <p:bldP spid="36" grpId="0"/>
      <p:bldP spid="3" grpId="0"/>
      <p:bldP spid="39" grpId="0" animBg="1"/>
      <p:bldP spid="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1CD7-C6EA-0C33-F156-BEAA699F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295;p116">
            <a:extLst>
              <a:ext uri="{FF2B5EF4-FFF2-40B4-BE49-F238E27FC236}">
                <a16:creationId xmlns:a16="http://schemas.microsoft.com/office/drawing/2014/main" id="{72AA150D-96F1-81E9-6B7D-29E2D57F6AEF}"/>
              </a:ext>
            </a:extLst>
          </p:cNvPr>
          <p:cNvSpPr/>
          <p:nvPr/>
        </p:nvSpPr>
        <p:spPr>
          <a:xfrm>
            <a:off x="783941" y="4166747"/>
            <a:ext cx="6576600" cy="4203906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2300;p116">
            <a:extLst>
              <a:ext uri="{FF2B5EF4-FFF2-40B4-BE49-F238E27FC236}">
                <a16:creationId xmlns:a16="http://schemas.microsoft.com/office/drawing/2014/main" id="{59580C4E-3880-9031-713A-8E0CA1978B2E}"/>
              </a:ext>
            </a:extLst>
          </p:cNvPr>
          <p:cNvSpPr txBox="1"/>
          <p:nvPr/>
        </p:nvSpPr>
        <p:spPr>
          <a:xfrm>
            <a:off x="4972782" y="6941158"/>
            <a:ext cx="3258600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    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B80B5-0DB4-5280-1901-E1F9FCD6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Versioned load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455F4-8BA1-4BF6-69E4-183CD1E70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141" y="4024380"/>
            <a:ext cx="10219759" cy="5473397"/>
          </a:xfrm>
        </p:spPr>
        <p:txBody>
          <a:bodyPr>
            <a:normAutofit/>
          </a:bodyPr>
          <a:lstStyle/>
          <a:p>
            <a: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processor may read memory </a:t>
            </a: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ahead of previous instructions</a:t>
            </a:r>
            <a:b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sz="5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sz="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i="1" dirty="0">
                <a:latin typeface="Lato" panose="020F0502020204030203" pitchFamily="34" charset="77"/>
              </a:rPr>
              <a:t> Ex) </a:t>
            </a:r>
            <a:r>
              <a:rPr lang="en-US" sz="2800" dirty="0">
                <a:latin typeface="Lato" panose="020F0502020204030203" pitchFamily="34" charset="77"/>
              </a:rPr>
              <a:t>reading the address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77"/>
              </a:rPr>
              <a:t>ptr</a:t>
            </a:r>
            <a:r>
              <a:rPr lang="en-US" sz="2800" b="1" dirty="0">
                <a:solidFill>
                  <a:srgbClr val="0070C0"/>
                </a:solidFill>
                <a:latin typeface="Lato" panose="020F0502020204030203" pitchFamily="34" charset="77"/>
                <a:sym typeface="Lato"/>
              </a:rPr>
              <a:t> 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before </a:t>
            </a:r>
            <a:r>
              <a:rPr lang="en-US" sz="2800" b="1" i="1" dirty="0">
                <a:solidFill>
                  <a:srgbClr val="A61B00"/>
                </a:solidFill>
                <a:latin typeface="Lato" panose="020F0502020204030203" pitchFamily="34" charset="77"/>
                <a:sym typeface="Lato"/>
              </a:rPr>
              <a:t>ready 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in </a:t>
            </a:r>
            <a:r>
              <a:rPr lang="en-US" sz="2800" dirty="0" err="1">
                <a:latin typeface="Lato" panose="020F0502020204030203" pitchFamily="34" charset="77"/>
                <a:sym typeface="Lato"/>
              </a:rPr>
              <a:t>Syscall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 B</a:t>
            </a:r>
            <a:endParaRPr lang="en-US" sz="2800" b="1" i="1" dirty="0">
              <a:latin typeface="Lato" panose="020F0502020204030203" pitchFamily="34" charset="77"/>
              <a:sym typeface="Lato"/>
            </a:endParaRPr>
          </a:p>
          <a:p>
            <a:b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784F9-704B-DD11-5CDB-E32D4639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15</a:t>
            </a:fld>
            <a:endParaRPr lang="en-KR" dirty="0"/>
          </a:p>
        </p:txBody>
      </p:sp>
      <p:sp>
        <p:nvSpPr>
          <p:cNvPr id="7" name="Google Shape;2296;p116">
            <a:extLst>
              <a:ext uri="{FF2B5EF4-FFF2-40B4-BE49-F238E27FC236}">
                <a16:creationId xmlns:a16="http://schemas.microsoft.com/office/drawing/2014/main" id="{6C191080-C899-EA39-BD1B-DDEFC85E6839}"/>
              </a:ext>
            </a:extLst>
          </p:cNvPr>
          <p:cNvSpPr txBox="1"/>
          <p:nvPr/>
        </p:nvSpPr>
        <p:spPr>
          <a:xfrm>
            <a:off x="860541" y="5309257"/>
            <a:ext cx="3709800" cy="16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lang="en-US" altLang="ko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Lato"/>
                <a:ea typeface="Lato"/>
                <a:cs typeface="Lato"/>
                <a:sym typeface="Lato"/>
              </a:rPr>
              <a:t>memory_barrier</a:t>
            </a:r>
            <a:r>
              <a:rPr lang="en-US" sz="2800" dirty="0">
                <a:latin typeface="Lato"/>
                <a:ea typeface="Lato"/>
                <a:cs typeface="Lato"/>
                <a:sym typeface="Lato"/>
              </a:rPr>
              <a:t>();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7;p116">
            <a:extLst>
              <a:ext uri="{FF2B5EF4-FFF2-40B4-BE49-F238E27FC236}">
                <a16:creationId xmlns:a16="http://schemas.microsoft.com/office/drawing/2014/main" id="{959A933D-5DDA-3712-3957-F65864B5BB7C}"/>
              </a:ext>
            </a:extLst>
          </p:cNvPr>
          <p:cNvSpPr txBox="1"/>
          <p:nvPr/>
        </p:nvSpPr>
        <p:spPr>
          <a:xfrm>
            <a:off x="1392466" y="4166745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2298;p116">
            <a:extLst>
              <a:ext uri="{FF2B5EF4-FFF2-40B4-BE49-F238E27FC236}">
                <a16:creationId xmlns:a16="http://schemas.microsoft.com/office/drawing/2014/main" id="{ED23D47E-B856-E1CE-BE51-86F80E7A0D88}"/>
              </a:ext>
            </a:extLst>
          </p:cNvPr>
          <p:cNvSpPr txBox="1"/>
          <p:nvPr/>
        </p:nvSpPr>
        <p:spPr>
          <a:xfrm>
            <a:off x="4992291" y="4166745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300;p116">
            <a:extLst>
              <a:ext uri="{FF2B5EF4-FFF2-40B4-BE49-F238E27FC236}">
                <a16:creationId xmlns:a16="http://schemas.microsoft.com/office/drawing/2014/main" id="{7BF395D2-3355-5F62-11AA-2DF2EB14D45F}"/>
              </a:ext>
            </a:extLst>
          </p:cNvPr>
          <p:cNvSpPr txBox="1"/>
          <p:nvPr/>
        </p:nvSpPr>
        <p:spPr>
          <a:xfrm>
            <a:off x="4992291" y="6946680"/>
            <a:ext cx="32586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120;p55">
            <a:extLst>
              <a:ext uri="{FF2B5EF4-FFF2-40B4-BE49-F238E27FC236}">
                <a16:creationId xmlns:a16="http://schemas.microsoft.com/office/drawing/2014/main" id="{9020927F-E618-2C51-CA7E-570DADEC1F7D}"/>
              </a:ext>
            </a:extLst>
          </p:cNvPr>
          <p:cNvSpPr txBox="1"/>
          <p:nvPr/>
        </p:nvSpPr>
        <p:spPr>
          <a:xfrm>
            <a:off x="4211676" y="8064168"/>
            <a:ext cx="3709800" cy="607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0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Uninitialized access!</a:t>
            </a:r>
            <a:endParaRPr sz="30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121;p55">
            <a:extLst>
              <a:ext uri="{FF2B5EF4-FFF2-40B4-BE49-F238E27FC236}">
                <a16:creationId xmlns:a16="http://schemas.microsoft.com/office/drawing/2014/main" id="{F02FC819-0423-6B69-89C5-E59FEAE89921}"/>
              </a:ext>
            </a:extLst>
          </p:cNvPr>
          <p:cNvSpPr/>
          <p:nvPr/>
        </p:nvSpPr>
        <p:spPr>
          <a:xfrm>
            <a:off x="5274733" y="7567531"/>
            <a:ext cx="1752600" cy="4775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BD47A-0720-B052-09BF-BD88DD5E6437}"/>
              </a:ext>
            </a:extLst>
          </p:cNvPr>
          <p:cNvSpPr txBox="1"/>
          <p:nvPr/>
        </p:nvSpPr>
        <p:spPr>
          <a:xfrm>
            <a:off x="4106256" y="4989311"/>
            <a:ext cx="434285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 the invalid addr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7F4306-006A-C577-8A51-0FAA7BE3F50F}"/>
              </a:ext>
            </a:extLst>
          </p:cNvPr>
          <p:cNvCxnSpPr/>
          <p:nvPr/>
        </p:nvCxnSpPr>
        <p:spPr>
          <a:xfrm>
            <a:off x="3390099" y="6799933"/>
            <a:ext cx="1337733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03A76A-6003-35AD-DF98-697C4958018E}"/>
              </a:ext>
            </a:extLst>
          </p:cNvPr>
          <p:cNvCxnSpPr>
            <a:cxnSpLocks/>
          </p:cNvCxnSpPr>
          <p:nvPr/>
        </p:nvCxnSpPr>
        <p:spPr>
          <a:xfrm flipH="1">
            <a:off x="3326304" y="5478639"/>
            <a:ext cx="860535" cy="163818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EFBC63E-9FA1-863D-5B10-67D669185460}"/>
              </a:ext>
            </a:extLst>
          </p:cNvPr>
          <p:cNvSpPr txBox="1"/>
          <p:nvPr/>
        </p:nvSpPr>
        <p:spPr>
          <a:xfrm>
            <a:off x="6420770" y="1917936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Genuine architectural behavior</a:t>
            </a:r>
            <a:endParaRPr lang="en-KR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53CA0-4917-1644-A1DB-6A308AC6BA42}"/>
              </a:ext>
            </a:extLst>
          </p:cNvPr>
          <p:cNvSpPr txBox="1"/>
          <p:nvPr/>
        </p:nvSpPr>
        <p:spPr>
          <a:xfrm>
            <a:off x="7875756" y="7268357"/>
            <a:ext cx="618470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Another memory barrier is needed here!</a:t>
            </a:r>
            <a:endParaRPr lang="en-KR" sz="28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C877F6-DEFF-AAF8-045F-9EA8A4E77641}"/>
              </a:ext>
            </a:extLst>
          </p:cNvPr>
          <p:cNvCxnSpPr>
            <a:cxnSpLocks/>
          </p:cNvCxnSpPr>
          <p:nvPr/>
        </p:nvCxnSpPr>
        <p:spPr>
          <a:xfrm flipH="1">
            <a:off x="6762291" y="7561593"/>
            <a:ext cx="104032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97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3" grpId="0" animBg="1"/>
      <p:bldP spid="22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6464-C337-304E-DD66-782E5D0E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295;p116">
            <a:extLst>
              <a:ext uri="{FF2B5EF4-FFF2-40B4-BE49-F238E27FC236}">
                <a16:creationId xmlns:a16="http://schemas.microsoft.com/office/drawing/2014/main" id="{517936FB-B7A0-316E-7F2E-9040C029F305}"/>
              </a:ext>
            </a:extLst>
          </p:cNvPr>
          <p:cNvSpPr/>
          <p:nvPr/>
        </p:nvSpPr>
        <p:spPr>
          <a:xfrm>
            <a:off x="783941" y="4166747"/>
            <a:ext cx="6576600" cy="4203906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BA765-9157-CA70-1FEE-CE61D366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Versioned load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A26E-9EF1-04D0-8571-95A34CA56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141" y="4024380"/>
            <a:ext cx="10219759" cy="5473397"/>
          </a:xfrm>
        </p:spPr>
        <p:txBody>
          <a:bodyPr>
            <a:normAutofit/>
          </a:bodyPr>
          <a:lstStyle/>
          <a:p>
            <a: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processor may read memory </a:t>
            </a: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ahead of previous instructions</a:t>
            </a:r>
            <a:b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sz="5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sz="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US" sz="2800" i="1" dirty="0">
                <a:latin typeface="Lato" panose="020F0502020204030203" pitchFamily="34" charset="77"/>
              </a:rPr>
              <a:t>   Ex) </a:t>
            </a:r>
            <a:r>
              <a:rPr lang="en-US" sz="2800" dirty="0">
                <a:latin typeface="Lato" panose="020F0502020204030203" pitchFamily="34" charset="77"/>
              </a:rPr>
              <a:t>reading the address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77"/>
              </a:rPr>
              <a:t>ptr</a:t>
            </a:r>
            <a:r>
              <a:rPr lang="en-US" sz="2800" b="1" dirty="0">
                <a:solidFill>
                  <a:srgbClr val="0070C0"/>
                </a:solidFill>
                <a:latin typeface="Lato" panose="020F0502020204030203" pitchFamily="34" charset="77"/>
                <a:sym typeface="Lato"/>
              </a:rPr>
              <a:t> 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before </a:t>
            </a:r>
            <a:r>
              <a:rPr lang="en-US" sz="2800" b="1" i="1" dirty="0">
                <a:solidFill>
                  <a:srgbClr val="A61B00"/>
                </a:solidFill>
                <a:latin typeface="Lato" panose="020F0502020204030203" pitchFamily="34" charset="77"/>
                <a:sym typeface="Lato"/>
              </a:rPr>
              <a:t>ready 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in </a:t>
            </a:r>
            <a:r>
              <a:rPr lang="en-US" sz="2800" dirty="0" err="1">
                <a:latin typeface="Lato" panose="020F0502020204030203" pitchFamily="34" charset="77"/>
                <a:sym typeface="Lato"/>
              </a:rPr>
              <a:t>Syscall</a:t>
            </a:r>
            <a:r>
              <a:rPr lang="en-US" sz="2800" dirty="0">
                <a:latin typeface="Lato" panose="020F0502020204030203" pitchFamily="34" charset="77"/>
                <a:sym typeface="Lato"/>
              </a:rPr>
              <a:t> B</a:t>
            </a:r>
            <a:endParaRPr lang="en-US" sz="2800" b="1" i="1" dirty="0">
              <a:latin typeface="Lato" panose="020F0502020204030203" pitchFamily="34" charset="77"/>
              <a:sym typeface="Lato"/>
            </a:endParaRPr>
          </a:p>
          <a:p>
            <a:b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versioned load operation emulates this hardware behavior</a:t>
            </a:r>
            <a:b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- It allows a load operation to read an </a:t>
            </a:r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old version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 the value</a:t>
            </a:r>
          </a:p>
          <a:p>
            <a:endParaRPr lang="en-US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61440-5DA5-E7E0-13DF-82EA0DA7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16</a:t>
            </a:fld>
            <a:endParaRPr lang="en-KR" dirty="0"/>
          </a:p>
        </p:txBody>
      </p:sp>
      <p:sp>
        <p:nvSpPr>
          <p:cNvPr id="7" name="Google Shape;2296;p116">
            <a:extLst>
              <a:ext uri="{FF2B5EF4-FFF2-40B4-BE49-F238E27FC236}">
                <a16:creationId xmlns:a16="http://schemas.microsoft.com/office/drawing/2014/main" id="{723C3539-2EC9-DCD1-9F74-249BAA52C700}"/>
              </a:ext>
            </a:extLst>
          </p:cNvPr>
          <p:cNvSpPr txBox="1"/>
          <p:nvPr/>
        </p:nvSpPr>
        <p:spPr>
          <a:xfrm>
            <a:off x="860541" y="5309257"/>
            <a:ext cx="3709800" cy="16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endParaRPr lang="en-US" altLang="ko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Lato"/>
                <a:ea typeface="Lato"/>
                <a:cs typeface="Lato"/>
                <a:sym typeface="Lato"/>
              </a:rPr>
              <a:t>memory_barrier</a:t>
            </a:r>
            <a:r>
              <a:rPr lang="en-US" sz="2800" dirty="0">
                <a:latin typeface="Lato"/>
                <a:ea typeface="Lato"/>
                <a:cs typeface="Lato"/>
                <a:sym typeface="Lato"/>
              </a:rPr>
              <a:t>();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7;p116">
            <a:extLst>
              <a:ext uri="{FF2B5EF4-FFF2-40B4-BE49-F238E27FC236}">
                <a16:creationId xmlns:a16="http://schemas.microsoft.com/office/drawing/2014/main" id="{4E461942-52EF-B825-5DF8-0035B8423B63}"/>
              </a:ext>
            </a:extLst>
          </p:cNvPr>
          <p:cNvSpPr txBox="1"/>
          <p:nvPr/>
        </p:nvSpPr>
        <p:spPr>
          <a:xfrm>
            <a:off x="1392466" y="4166745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2298;p116">
            <a:extLst>
              <a:ext uri="{FF2B5EF4-FFF2-40B4-BE49-F238E27FC236}">
                <a16:creationId xmlns:a16="http://schemas.microsoft.com/office/drawing/2014/main" id="{AE206ADD-C554-D233-E3CF-60F897D81E55}"/>
              </a:ext>
            </a:extLst>
          </p:cNvPr>
          <p:cNvSpPr txBox="1"/>
          <p:nvPr/>
        </p:nvSpPr>
        <p:spPr>
          <a:xfrm>
            <a:off x="4992291" y="4166745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300;p116">
            <a:extLst>
              <a:ext uri="{FF2B5EF4-FFF2-40B4-BE49-F238E27FC236}">
                <a16:creationId xmlns:a16="http://schemas.microsoft.com/office/drawing/2014/main" id="{C73E41FC-3065-2FF0-F9DA-CB68608EC46D}"/>
              </a:ext>
            </a:extLst>
          </p:cNvPr>
          <p:cNvSpPr txBox="1"/>
          <p:nvPr/>
        </p:nvSpPr>
        <p:spPr>
          <a:xfrm>
            <a:off x="4992291" y="6951937"/>
            <a:ext cx="32586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2300;p116">
            <a:extLst>
              <a:ext uri="{FF2B5EF4-FFF2-40B4-BE49-F238E27FC236}">
                <a16:creationId xmlns:a16="http://schemas.microsoft.com/office/drawing/2014/main" id="{2EE87C5C-1B91-9531-74B8-53CDDD4168E1}"/>
              </a:ext>
            </a:extLst>
          </p:cNvPr>
          <p:cNvSpPr txBox="1"/>
          <p:nvPr/>
        </p:nvSpPr>
        <p:spPr>
          <a:xfrm>
            <a:off x="4972782" y="6946415"/>
            <a:ext cx="3258600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    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CF619-E9BF-008D-430E-49E33399AC02}"/>
              </a:ext>
            </a:extLst>
          </p:cNvPr>
          <p:cNvSpPr txBox="1"/>
          <p:nvPr/>
        </p:nvSpPr>
        <p:spPr>
          <a:xfrm>
            <a:off x="4004704" y="8011852"/>
            <a:ext cx="4445448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</a:t>
            </a: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 read 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old and invalid</a:t>
            </a:r>
            <a:b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address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B881E3-C7D8-B4C3-D7EB-8ACA10123A41}"/>
              </a:ext>
            </a:extLst>
          </p:cNvPr>
          <p:cNvSpPr txBox="1"/>
          <p:nvPr/>
        </p:nvSpPr>
        <p:spPr>
          <a:xfrm>
            <a:off x="9640341" y="7633660"/>
            <a:ext cx="72006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OEMU manages multiple versions of a value</a:t>
            </a:r>
            <a:b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8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Please check the paper for detail!</a:t>
            </a:r>
            <a:endParaRPr lang="en-KR" sz="28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07507A-99AF-CD6B-A780-B95538C2664E}"/>
              </a:ext>
            </a:extLst>
          </p:cNvPr>
          <p:cNvCxnSpPr/>
          <p:nvPr/>
        </p:nvCxnSpPr>
        <p:spPr>
          <a:xfrm>
            <a:off x="3390099" y="6805190"/>
            <a:ext cx="1337733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55B129-3E8B-24C1-804C-A1584348652A}"/>
              </a:ext>
            </a:extLst>
          </p:cNvPr>
          <p:cNvCxnSpPr>
            <a:cxnSpLocks/>
          </p:cNvCxnSpPr>
          <p:nvPr/>
        </p:nvCxnSpPr>
        <p:spPr>
          <a:xfrm flipH="1">
            <a:off x="3326304" y="5478639"/>
            <a:ext cx="860535" cy="163818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C21850-5317-899C-FF57-6E371857E282}"/>
              </a:ext>
            </a:extLst>
          </p:cNvPr>
          <p:cNvSpPr txBox="1"/>
          <p:nvPr/>
        </p:nvSpPr>
        <p:spPr>
          <a:xfrm>
            <a:off x="3961878" y="4989311"/>
            <a:ext cx="472437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Record </a:t>
            </a: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invalid addr of </a:t>
            </a:r>
            <a:r>
              <a:rPr lang="en-US" sz="2800" b="1" i="1" dirty="0" err="1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42D755-910B-7A61-2C15-4FFF46A7BAD7}"/>
              </a:ext>
            </a:extLst>
          </p:cNvPr>
          <p:cNvSpPr txBox="1"/>
          <p:nvPr/>
        </p:nvSpPr>
        <p:spPr>
          <a:xfrm>
            <a:off x="5900151" y="1939201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Emulating the architectural behavior</a:t>
            </a:r>
            <a:endParaRPr lang="en-KR" sz="3200" dirty="0"/>
          </a:p>
        </p:txBody>
      </p:sp>
    </p:spTree>
    <p:extLst>
      <p:ext uri="{BB962C8B-B14F-4D97-AF65-F5344CB8AC3E}">
        <p14:creationId xmlns:p14="http://schemas.microsoft.com/office/powerpoint/2010/main" val="184168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9A66-FC43-6AD4-CAB2-3F9D00D2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D8AD-C24D-F27A-B546-27B12308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 this work, we introduce…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BD3E9-AE75-52CE-321F-D1030D0F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17</a:t>
            </a:fld>
            <a:endParaRPr lang="en-K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7B7F65-5310-5DE9-D5C1-D613ECC83BF1}"/>
              </a:ext>
            </a:extLst>
          </p:cNvPr>
          <p:cNvSpPr txBox="1">
            <a:spLocks/>
          </p:cNvSpPr>
          <p:nvPr/>
        </p:nvSpPr>
        <p:spPr>
          <a:xfrm>
            <a:off x="1996067" y="3104850"/>
            <a:ext cx="15583907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System Font Regular"/>
              <a:buChar char="-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3771899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71500"/>
            <a:r>
              <a:rPr lang="en-KR" b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OEMU</a:t>
            </a:r>
          </a:p>
          <a:p>
            <a:pPr marL="1600200" lvl="1" indent="-571500"/>
            <a: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mechanism to tame the non-deterministic behavior of out-of-order execution</a:t>
            </a:r>
            <a:b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during runtime</a:t>
            </a:r>
            <a:b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KR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dirty="0">
              <a:solidFill>
                <a:schemeClr val="bg1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Ozz</a:t>
            </a:r>
          </a:p>
          <a:p>
            <a:pPr marL="1600200" lvl="1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kernel fuzzer tailored to find OoO bugs by deterministically controlling</a:t>
            </a:r>
          </a:p>
          <a:p>
            <a:pPr marL="2286000" lvl="2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Out-of-order execution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through OEMU, and</a:t>
            </a:r>
          </a:p>
          <a:p>
            <a:pPr marL="2286000" lvl="2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Thread interleaving     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through a custom scheduler from a previous work</a:t>
            </a:r>
            <a:r>
              <a:rPr lang="en-KR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9E9F5-D99A-D475-61C5-25BC661736F1}"/>
              </a:ext>
            </a:extLst>
          </p:cNvPr>
          <p:cNvSpPr txBox="1"/>
          <p:nvPr/>
        </p:nvSpPr>
        <p:spPr>
          <a:xfrm>
            <a:off x="645404" y="9647269"/>
            <a:ext cx="1616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1: Jeong, Dae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Byoungyoung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Lee,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Insik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Shin,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Youngjin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Kwon.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 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Segfuzz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Segmentizing thread interleaving to discover kernel concurrency bugs through fuzzing."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2023 IEEE Symposium on Security and Privacy (SP).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532882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C69C3-352E-8AA6-4D62-AAC48A10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18C1-93FC-7DBC-B652-83A88AD1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Ozz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C07D3-E51F-4A90-BA02-150A9887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068" y="2738862"/>
            <a:ext cx="15034632" cy="1778654"/>
          </a:xfrm>
        </p:spPr>
        <p:txBody>
          <a:bodyPr/>
          <a:lstStyle/>
          <a:p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kernel fuzzer tailored to identify OoO bugs through two steps</a:t>
            </a:r>
          </a:p>
          <a:p>
            <a:pPr marL="1600200" lvl="1" indent="-57150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1: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Running single-threaded inputs to dynamically profile memory accesses</a:t>
            </a:r>
          </a:p>
          <a:p>
            <a:pPr marL="1600200" lvl="1" indent="-57150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2: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Running multi-threaded inputs to find </a:t>
            </a:r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OoO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27E7D-6E73-EB2D-E99F-13EDE5F9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18</a:t>
            </a:fld>
            <a:endParaRPr lang="en-KR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06D8481-A26C-3B76-297B-AB48480DEA45}"/>
              </a:ext>
            </a:extLst>
          </p:cNvPr>
          <p:cNvSpPr/>
          <p:nvPr/>
        </p:nvSpPr>
        <p:spPr>
          <a:xfrm>
            <a:off x="7742884" y="6934036"/>
            <a:ext cx="953422" cy="799438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013364-0B3E-8114-79DB-4E013ADA38B3}"/>
              </a:ext>
            </a:extLst>
          </p:cNvPr>
          <p:cNvSpPr/>
          <p:nvPr/>
        </p:nvSpPr>
        <p:spPr>
          <a:xfrm>
            <a:off x="3810469" y="5773991"/>
            <a:ext cx="2481943" cy="2331665"/>
          </a:xfrm>
          <a:prstGeom prst="roundRect">
            <a:avLst>
              <a:gd name="adj" fmla="val 5921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468E6F-69F1-EB0B-01AF-44B827E44D3C}"/>
              </a:ext>
            </a:extLst>
          </p:cNvPr>
          <p:cNvSpPr/>
          <p:nvPr/>
        </p:nvSpPr>
        <p:spPr>
          <a:xfrm>
            <a:off x="3402813" y="6216981"/>
            <a:ext cx="2481943" cy="2331665"/>
          </a:xfrm>
          <a:prstGeom prst="roundRect">
            <a:avLst>
              <a:gd name="adj" fmla="val 5921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CFE91F-D0C0-99C6-4725-247D7861A2BB}"/>
              </a:ext>
            </a:extLst>
          </p:cNvPr>
          <p:cNvSpPr/>
          <p:nvPr/>
        </p:nvSpPr>
        <p:spPr>
          <a:xfrm>
            <a:off x="3014207" y="6686142"/>
            <a:ext cx="2481943" cy="2331665"/>
          </a:xfrm>
          <a:prstGeom prst="roundRect">
            <a:avLst>
              <a:gd name="adj" fmla="val 5921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607F4-7137-8DB1-1853-4587C3E498C2}"/>
              </a:ext>
            </a:extLst>
          </p:cNvPr>
          <p:cNvSpPr txBox="1"/>
          <p:nvPr/>
        </p:nvSpPr>
        <p:spPr>
          <a:xfrm>
            <a:off x="3109989" y="7328691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/>
              <a:t>fd</a:t>
            </a:r>
            <a:r>
              <a:rPr lang="en-US" sz="2400" i="1" dirty="0"/>
              <a:t> = s</a:t>
            </a:r>
            <a:r>
              <a:rPr lang="en-KR" sz="2400" i="1" dirty="0"/>
              <a:t>yscall A(x, 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D4C10-BFD7-FF31-9AD5-9A9ABC37DA96}"/>
              </a:ext>
            </a:extLst>
          </p:cNvPr>
          <p:cNvSpPr txBox="1"/>
          <p:nvPr/>
        </p:nvSpPr>
        <p:spPr>
          <a:xfrm>
            <a:off x="3092072" y="7820109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</a:t>
            </a:r>
            <a:r>
              <a:rPr lang="en-KR" sz="2400" i="1" dirty="0"/>
              <a:t>yscall B(fd, z)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2CB02-A7D8-AB9D-E212-B62FDEBF908F}"/>
              </a:ext>
            </a:extLst>
          </p:cNvPr>
          <p:cNvSpPr txBox="1"/>
          <p:nvPr/>
        </p:nvSpPr>
        <p:spPr>
          <a:xfrm>
            <a:off x="2907560" y="6708431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Sequential Input</a:t>
            </a:r>
            <a:endParaRPr lang="en-KR" sz="2400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C84A96-E438-B6C0-97BD-0083C4F19424}"/>
              </a:ext>
            </a:extLst>
          </p:cNvPr>
          <p:cNvSpPr txBox="1"/>
          <p:nvPr/>
        </p:nvSpPr>
        <p:spPr>
          <a:xfrm>
            <a:off x="3293034" y="6224791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Sequential Input</a:t>
            </a:r>
            <a:endParaRPr lang="en-KR" sz="2400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3F879C-EA8C-2547-4359-F5F637820772}"/>
              </a:ext>
            </a:extLst>
          </p:cNvPr>
          <p:cNvSpPr txBox="1"/>
          <p:nvPr/>
        </p:nvSpPr>
        <p:spPr>
          <a:xfrm>
            <a:off x="3836038" y="5767999"/>
            <a:ext cx="2430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Sequential Input</a:t>
            </a:r>
            <a:endParaRPr lang="en-KR" sz="2400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CC0FC9-69EA-2894-F83F-D714753AC517}"/>
              </a:ext>
            </a:extLst>
          </p:cNvPr>
          <p:cNvSpPr txBox="1"/>
          <p:nvPr/>
        </p:nvSpPr>
        <p:spPr>
          <a:xfrm>
            <a:off x="3109989" y="8336174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</a:t>
            </a:r>
            <a:r>
              <a:rPr lang="en-KR" sz="2400" i="1" dirty="0"/>
              <a:t>yscall C(fd, w)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3A6844D-BB07-B306-6FEB-A88ADE03C520}"/>
              </a:ext>
            </a:extLst>
          </p:cNvPr>
          <p:cNvGrpSpPr/>
          <p:nvPr/>
        </p:nvGrpSpPr>
        <p:grpSpPr>
          <a:xfrm>
            <a:off x="10007485" y="6332947"/>
            <a:ext cx="1867556" cy="1467303"/>
            <a:chOff x="3285617" y="3060399"/>
            <a:chExt cx="1867556" cy="1467303"/>
          </a:xfrm>
        </p:grpSpPr>
        <p:sp>
          <p:nvSpPr>
            <p:cNvPr id="39" name="Google Shape;1874;p97">
              <a:extLst>
                <a:ext uri="{FF2B5EF4-FFF2-40B4-BE49-F238E27FC236}">
                  <a16:creationId xmlns:a16="http://schemas.microsoft.com/office/drawing/2014/main" id="{CD291853-E37A-78E4-0B85-EC1C52B13F6A}"/>
                </a:ext>
              </a:extLst>
            </p:cNvPr>
            <p:cNvSpPr/>
            <p:nvPr/>
          </p:nvSpPr>
          <p:spPr>
            <a:xfrm>
              <a:off x="3293594" y="3063828"/>
              <a:ext cx="468236" cy="468236"/>
            </a:xfrm>
            <a:prstGeom prst="ellipse">
              <a:avLst/>
            </a:prstGeom>
            <a:solidFill>
              <a:srgbClr val="B0D5C7"/>
            </a:solidFill>
            <a:ln w="9525" cap="flat" cmpd="sng">
              <a:solidFill>
                <a:srgbClr val="B0D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40" name="Google Shape;1875;p97">
              <a:extLst>
                <a:ext uri="{FF2B5EF4-FFF2-40B4-BE49-F238E27FC236}">
                  <a16:creationId xmlns:a16="http://schemas.microsoft.com/office/drawing/2014/main" id="{56146B09-C94C-5AC0-BCF2-1A313C0F97D9}"/>
                </a:ext>
              </a:extLst>
            </p:cNvPr>
            <p:cNvSpPr/>
            <p:nvPr/>
          </p:nvSpPr>
          <p:spPr>
            <a:xfrm>
              <a:off x="3293594" y="4059466"/>
              <a:ext cx="468236" cy="468236"/>
            </a:xfrm>
            <a:prstGeom prst="ellipse">
              <a:avLst/>
            </a:prstGeom>
            <a:solidFill>
              <a:srgbClr val="B0D5C7"/>
            </a:solidFill>
            <a:ln w="9525" cap="flat" cmpd="sng">
              <a:solidFill>
                <a:srgbClr val="B0D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41" name="Google Shape;1876;p97">
              <a:extLst>
                <a:ext uri="{FF2B5EF4-FFF2-40B4-BE49-F238E27FC236}">
                  <a16:creationId xmlns:a16="http://schemas.microsoft.com/office/drawing/2014/main" id="{F327529C-0A95-1A19-C609-A47B200923F8}"/>
                </a:ext>
              </a:extLst>
            </p:cNvPr>
            <p:cNvSpPr/>
            <p:nvPr/>
          </p:nvSpPr>
          <p:spPr>
            <a:xfrm>
              <a:off x="4684937" y="3557848"/>
              <a:ext cx="468236" cy="4682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A46879-2944-7C78-60E9-2683B2907E4F}"/>
                </a:ext>
              </a:extLst>
            </p:cNvPr>
            <p:cNvCxnSpPr>
              <a:cxnSpLocks/>
            </p:cNvCxnSpPr>
            <p:nvPr/>
          </p:nvCxnSpPr>
          <p:spPr>
            <a:xfrm>
              <a:off x="3769895" y="3400926"/>
              <a:ext cx="929105" cy="34134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A46D49B-5335-8567-3ECE-710ED106C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3853" y="3860800"/>
              <a:ext cx="936680" cy="342232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Google Shape;1875;p97">
              <a:extLst>
                <a:ext uri="{FF2B5EF4-FFF2-40B4-BE49-F238E27FC236}">
                  <a16:creationId xmlns:a16="http://schemas.microsoft.com/office/drawing/2014/main" id="{6DD56BAF-A7C7-EAD3-1C48-B555F50DF968}"/>
                </a:ext>
              </a:extLst>
            </p:cNvPr>
            <p:cNvSpPr/>
            <p:nvPr/>
          </p:nvSpPr>
          <p:spPr>
            <a:xfrm>
              <a:off x="3285617" y="4059466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45" name="Google Shape;1875;p97">
              <a:extLst>
                <a:ext uri="{FF2B5EF4-FFF2-40B4-BE49-F238E27FC236}">
                  <a16:creationId xmlns:a16="http://schemas.microsoft.com/office/drawing/2014/main" id="{18ACF593-0BC7-CBB6-883E-F5609920709E}"/>
                </a:ext>
              </a:extLst>
            </p:cNvPr>
            <p:cNvSpPr/>
            <p:nvPr/>
          </p:nvSpPr>
          <p:spPr>
            <a:xfrm>
              <a:off x="3285617" y="3060399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46" name="Google Shape;1875;p97">
              <a:extLst>
                <a:ext uri="{FF2B5EF4-FFF2-40B4-BE49-F238E27FC236}">
                  <a16:creationId xmlns:a16="http://schemas.microsoft.com/office/drawing/2014/main" id="{EEA05B8A-BA23-9677-D2A0-D8B203A2F812}"/>
                </a:ext>
              </a:extLst>
            </p:cNvPr>
            <p:cNvSpPr/>
            <p:nvPr/>
          </p:nvSpPr>
          <p:spPr>
            <a:xfrm>
              <a:off x="4682617" y="3568399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04CEC8-BDF5-B0F9-EEC4-5C7A57075C49}"/>
              </a:ext>
            </a:extLst>
          </p:cNvPr>
          <p:cNvGrpSpPr/>
          <p:nvPr/>
        </p:nvGrpSpPr>
        <p:grpSpPr>
          <a:xfrm>
            <a:off x="14022647" y="6258880"/>
            <a:ext cx="1867556" cy="1660944"/>
            <a:chOff x="8850302" y="8152635"/>
            <a:chExt cx="1867556" cy="1660944"/>
          </a:xfrm>
        </p:grpSpPr>
        <p:sp>
          <p:nvSpPr>
            <p:cNvPr id="49" name="Google Shape;1874;p97">
              <a:extLst>
                <a:ext uri="{FF2B5EF4-FFF2-40B4-BE49-F238E27FC236}">
                  <a16:creationId xmlns:a16="http://schemas.microsoft.com/office/drawing/2014/main" id="{D206796E-D090-AE98-E14C-7185598B67E3}"/>
                </a:ext>
              </a:extLst>
            </p:cNvPr>
            <p:cNvSpPr/>
            <p:nvPr/>
          </p:nvSpPr>
          <p:spPr>
            <a:xfrm>
              <a:off x="8858279" y="8156064"/>
              <a:ext cx="468236" cy="468236"/>
            </a:xfrm>
            <a:prstGeom prst="ellipse">
              <a:avLst/>
            </a:prstGeom>
            <a:solidFill>
              <a:srgbClr val="B0D5C7"/>
            </a:solidFill>
            <a:ln w="9525" cap="flat" cmpd="sng">
              <a:solidFill>
                <a:srgbClr val="B0D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50" name="Google Shape;1875;p97">
              <a:extLst>
                <a:ext uri="{FF2B5EF4-FFF2-40B4-BE49-F238E27FC236}">
                  <a16:creationId xmlns:a16="http://schemas.microsoft.com/office/drawing/2014/main" id="{364D5F1D-72CE-1D5D-39AA-944012279400}"/>
                </a:ext>
              </a:extLst>
            </p:cNvPr>
            <p:cNvSpPr/>
            <p:nvPr/>
          </p:nvSpPr>
          <p:spPr>
            <a:xfrm>
              <a:off x="8858279" y="8768648"/>
              <a:ext cx="468236" cy="468236"/>
            </a:xfrm>
            <a:prstGeom prst="ellipse">
              <a:avLst/>
            </a:prstGeom>
            <a:solidFill>
              <a:srgbClr val="B0D5C7"/>
            </a:solidFill>
            <a:ln w="9525" cap="flat" cmpd="sng">
              <a:solidFill>
                <a:srgbClr val="B0D5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51" name="Google Shape;1876;p97">
              <a:extLst>
                <a:ext uri="{FF2B5EF4-FFF2-40B4-BE49-F238E27FC236}">
                  <a16:creationId xmlns:a16="http://schemas.microsoft.com/office/drawing/2014/main" id="{49AD4560-114B-94F7-1B6D-CC8FEA281E59}"/>
                </a:ext>
              </a:extLst>
            </p:cNvPr>
            <p:cNvSpPr/>
            <p:nvPr/>
          </p:nvSpPr>
          <p:spPr>
            <a:xfrm>
              <a:off x="10249622" y="9345343"/>
              <a:ext cx="468236" cy="4682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5B958E0-52C3-321B-D9F5-321655947296}"/>
                </a:ext>
              </a:extLst>
            </p:cNvPr>
            <p:cNvCxnSpPr>
              <a:cxnSpLocks/>
            </p:cNvCxnSpPr>
            <p:nvPr/>
          </p:nvCxnSpPr>
          <p:spPr>
            <a:xfrm>
              <a:off x="9334580" y="9120878"/>
              <a:ext cx="929105" cy="341341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3" name="Google Shape;1875;p97">
              <a:extLst>
                <a:ext uri="{FF2B5EF4-FFF2-40B4-BE49-F238E27FC236}">
                  <a16:creationId xmlns:a16="http://schemas.microsoft.com/office/drawing/2014/main" id="{1C78B097-962B-452C-1BCC-DB67423602B9}"/>
                </a:ext>
              </a:extLst>
            </p:cNvPr>
            <p:cNvSpPr/>
            <p:nvPr/>
          </p:nvSpPr>
          <p:spPr>
            <a:xfrm>
              <a:off x="8850302" y="8768648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54" name="Google Shape;1875;p97">
              <a:extLst>
                <a:ext uri="{FF2B5EF4-FFF2-40B4-BE49-F238E27FC236}">
                  <a16:creationId xmlns:a16="http://schemas.microsoft.com/office/drawing/2014/main" id="{E79816C1-338D-CEF9-3318-DFFCDE52DAB8}"/>
                </a:ext>
              </a:extLst>
            </p:cNvPr>
            <p:cNvSpPr/>
            <p:nvPr/>
          </p:nvSpPr>
          <p:spPr>
            <a:xfrm>
              <a:off x="8850302" y="8152635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sp>
          <p:nvSpPr>
            <p:cNvPr id="55" name="Google Shape;1875;p97">
              <a:extLst>
                <a:ext uri="{FF2B5EF4-FFF2-40B4-BE49-F238E27FC236}">
                  <a16:creationId xmlns:a16="http://schemas.microsoft.com/office/drawing/2014/main" id="{FBD401BF-3EB4-311C-59E8-B4BC306902A3}"/>
                </a:ext>
              </a:extLst>
            </p:cNvPr>
            <p:cNvSpPr/>
            <p:nvPr/>
          </p:nvSpPr>
          <p:spPr>
            <a:xfrm>
              <a:off x="10247302" y="9345343"/>
              <a:ext cx="468236" cy="46823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2800"/>
            </a:p>
          </p:txBody>
        </p:sp>
        <p:cxnSp>
          <p:nvCxnSpPr>
            <p:cNvPr id="56" name="Curved Connector 55">
              <a:extLst>
                <a:ext uri="{FF2B5EF4-FFF2-40B4-BE49-F238E27FC236}">
                  <a16:creationId xmlns:a16="http://schemas.microsoft.com/office/drawing/2014/main" id="{B6FF5525-E1F9-7323-621B-4E959C2E0964}"/>
                </a:ext>
              </a:extLst>
            </p:cNvPr>
            <p:cNvCxnSpPr>
              <a:stCxn id="54" idx="2"/>
              <a:endCxn id="53" idx="2"/>
            </p:cNvCxnSpPr>
            <p:nvPr/>
          </p:nvCxnSpPr>
          <p:spPr>
            <a:xfrm rot="10800000" flipV="1">
              <a:off x="8850302" y="8386752"/>
              <a:ext cx="12700" cy="616013"/>
            </a:xfrm>
            <a:prstGeom prst="curvedConnector3">
              <a:avLst>
                <a:gd name="adj1" fmla="val 3318071"/>
              </a:avLst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407EEC78-BAFB-AD18-74F6-B7608F6366C6}"/>
                </a:ext>
              </a:extLst>
            </p:cNvPr>
            <p:cNvCxnSpPr>
              <a:cxnSpLocks/>
              <a:stCxn id="53" idx="6"/>
              <a:endCxn id="54" idx="6"/>
            </p:cNvCxnSpPr>
            <p:nvPr/>
          </p:nvCxnSpPr>
          <p:spPr>
            <a:xfrm flipV="1">
              <a:off x="9318538" y="8386753"/>
              <a:ext cx="12700" cy="616013"/>
            </a:xfrm>
            <a:prstGeom prst="curvedConnector3">
              <a:avLst>
                <a:gd name="adj1" fmla="val 3144583"/>
              </a:avLst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B612D81-DFA9-4045-7B3F-E0A01EF01437}"/>
              </a:ext>
            </a:extLst>
          </p:cNvPr>
          <p:cNvSpPr txBox="1"/>
          <p:nvPr/>
        </p:nvSpPr>
        <p:spPr>
          <a:xfrm>
            <a:off x="10065828" y="8175994"/>
            <a:ext cx="19335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Thread</a:t>
            </a:r>
            <a:b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interleaving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C71F86-2D0D-C89C-32B9-2EAF56C3448A}"/>
              </a:ext>
            </a:extLst>
          </p:cNvPr>
          <p:cNvSpPr txBox="1"/>
          <p:nvPr/>
        </p:nvSpPr>
        <p:spPr>
          <a:xfrm>
            <a:off x="13597307" y="8184437"/>
            <a:ext cx="2117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</a:t>
            </a: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ut-of-order</a:t>
            </a:r>
            <a:b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execution</a:t>
            </a:r>
          </a:p>
        </p:txBody>
      </p:sp>
      <p:sp>
        <p:nvSpPr>
          <p:cNvPr id="9" name="Google Shape;2295;p116">
            <a:extLst>
              <a:ext uri="{FF2B5EF4-FFF2-40B4-BE49-F238E27FC236}">
                <a16:creationId xmlns:a16="http://schemas.microsoft.com/office/drawing/2014/main" id="{2329F612-A81A-62A9-40C1-B2BE147C4CFA}"/>
              </a:ext>
            </a:extLst>
          </p:cNvPr>
          <p:cNvSpPr/>
          <p:nvPr/>
        </p:nvSpPr>
        <p:spPr>
          <a:xfrm>
            <a:off x="2488020" y="5489209"/>
            <a:ext cx="4331817" cy="3776925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245FB-E6C7-A680-5D93-D7C0F0C4A1CC}"/>
              </a:ext>
            </a:extLst>
          </p:cNvPr>
          <p:cNvSpPr txBox="1"/>
          <p:nvPr/>
        </p:nvSpPr>
        <p:spPr>
          <a:xfrm>
            <a:off x="3951160" y="5105331"/>
            <a:ext cx="137981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80000" tIns="0" rIns="180000" bIns="0" rtlCol="0">
            <a:spAutoFit/>
          </a:bodyPr>
          <a:lstStyle/>
          <a:p>
            <a:r>
              <a:rPr lang="en-KR" sz="30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</a:t>
            </a:r>
            <a:r>
              <a:rPr lang="en-KR" sz="3000" b="1" dirty="0"/>
              <a:t> 1</a:t>
            </a:r>
          </a:p>
        </p:txBody>
      </p:sp>
      <p:sp>
        <p:nvSpPr>
          <p:cNvPr id="20" name="Google Shape;2295;p116">
            <a:extLst>
              <a:ext uri="{FF2B5EF4-FFF2-40B4-BE49-F238E27FC236}">
                <a16:creationId xmlns:a16="http://schemas.microsoft.com/office/drawing/2014/main" id="{7910E836-5364-AC43-3015-E439ABBE7B05}"/>
              </a:ext>
            </a:extLst>
          </p:cNvPr>
          <p:cNvSpPr/>
          <p:nvPr/>
        </p:nvSpPr>
        <p:spPr>
          <a:xfrm>
            <a:off x="9572080" y="5489209"/>
            <a:ext cx="6738262" cy="3776925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D5836-8B27-9740-B79B-76D7C1804DC3}"/>
              </a:ext>
            </a:extLst>
          </p:cNvPr>
          <p:cNvSpPr txBox="1"/>
          <p:nvPr/>
        </p:nvSpPr>
        <p:spPr>
          <a:xfrm>
            <a:off x="12174958" y="5105331"/>
            <a:ext cx="1379819" cy="461665"/>
          </a:xfrm>
          <a:prstGeom prst="rect">
            <a:avLst/>
          </a:prstGeom>
          <a:solidFill>
            <a:schemeClr val="bg1"/>
          </a:solidFill>
        </p:spPr>
        <p:txBody>
          <a:bodyPr wrap="none" lIns="180000" tIns="0" rIns="180000" bIns="0" rtlCol="0">
            <a:spAutoFit/>
          </a:bodyPr>
          <a:lstStyle/>
          <a:p>
            <a:r>
              <a:rPr lang="en-KR" sz="30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</a:t>
            </a:r>
            <a:r>
              <a:rPr lang="en-KR" sz="3000" b="1" dirty="0"/>
              <a:t> 2</a:t>
            </a:r>
          </a:p>
        </p:txBody>
      </p:sp>
      <p:pic>
        <p:nvPicPr>
          <p:cNvPr id="2050" name="Picture 2" descr="Plus sign - Free signs icons">
            <a:extLst>
              <a:ext uri="{FF2B5EF4-FFF2-40B4-BE49-F238E27FC236}">
                <a16:creationId xmlns:a16="http://schemas.microsoft.com/office/drawing/2014/main" id="{7CFAA439-872B-C40C-7315-18AA9D722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2429321" y="6866298"/>
            <a:ext cx="815485" cy="81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88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4" grpId="0" animBg="1"/>
      <p:bldP spid="15" grpId="0"/>
      <p:bldP spid="16" grpId="0"/>
      <p:bldP spid="17" grpId="0"/>
      <p:bldP spid="18" grpId="0"/>
      <p:bldP spid="19" grpId="0"/>
      <p:bldP spid="21" grpId="0"/>
      <p:bldP spid="59" grpId="0"/>
      <p:bldP spid="60" grpId="0"/>
      <p:bldP spid="9" grpId="0" animBg="1"/>
      <p:bldP spid="12" grpId="0" animBg="1"/>
      <p:bldP spid="20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ADE60E-97CB-C58D-F26F-44D686867FAB}"/>
              </a:ext>
            </a:extLst>
          </p:cNvPr>
          <p:cNvSpPr/>
          <p:nvPr/>
        </p:nvSpPr>
        <p:spPr>
          <a:xfrm>
            <a:off x="1380256" y="8268150"/>
            <a:ext cx="2481943" cy="506116"/>
          </a:xfrm>
          <a:prstGeom prst="roundRect">
            <a:avLst>
              <a:gd name="adj" fmla="val 2060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3493476-3F09-8597-F015-86ECC365EFC0}"/>
              </a:ext>
            </a:extLst>
          </p:cNvPr>
          <p:cNvSpPr/>
          <p:nvPr/>
        </p:nvSpPr>
        <p:spPr>
          <a:xfrm>
            <a:off x="4276905" y="6650762"/>
            <a:ext cx="2481943" cy="506116"/>
          </a:xfrm>
          <a:prstGeom prst="roundRect">
            <a:avLst>
              <a:gd name="adj" fmla="val 2060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790890F-698E-345B-4609-98C98B3D386B}"/>
              </a:ext>
            </a:extLst>
          </p:cNvPr>
          <p:cNvSpPr/>
          <p:nvPr/>
        </p:nvSpPr>
        <p:spPr>
          <a:xfrm>
            <a:off x="4278057" y="7712524"/>
            <a:ext cx="2481943" cy="1035937"/>
          </a:xfrm>
          <a:prstGeom prst="roundRect">
            <a:avLst>
              <a:gd name="adj" fmla="val 206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5F9A3B5-A726-7B23-C02C-95C34D3644B2}"/>
              </a:ext>
            </a:extLst>
          </p:cNvPr>
          <p:cNvSpPr/>
          <p:nvPr/>
        </p:nvSpPr>
        <p:spPr>
          <a:xfrm>
            <a:off x="1363947" y="7200899"/>
            <a:ext cx="2481943" cy="1035937"/>
          </a:xfrm>
          <a:prstGeom prst="roundRect">
            <a:avLst>
              <a:gd name="adj" fmla="val 206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520C26D-849B-F7E3-1206-4715743D3CDD}"/>
              </a:ext>
            </a:extLst>
          </p:cNvPr>
          <p:cNvCxnSpPr>
            <a:cxnSpLocks/>
          </p:cNvCxnSpPr>
          <p:nvPr/>
        </p:nvCxnSpPr>
        <p:spPr>
          <a:xfrm flipV="1">
            <a:off x="5475912" y="6367293"/>
            <a:ext cx="0" cy="3066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EA2274-3C82-953E-763E-530A37D1FCE2}"/>
              </a:ext>
            </a:extLst>
          </p:cNvPr>
          <p:cNvCxnSpPr>
            <a:cxnSpLocks/>
          </p:cNvCxnSpPr>
          <p:nvPr/>
        </p:nvCxnSpPr>
        <p:spPr>
          <a:xfrm flipV="1">
            <a:off x="2612751" y="6431088"/>
            <a:ext cx="0" cy="3066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9B16B9-2D7D-3C0B-1231-18B87A74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Step 1: Profiling memory accesses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9F0C-0CB0-56AD-375A-FAA1FAC09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5604" y="4120705"/>
            <a:ext cx="9252655" cy="4373315"/>
          </a:xfrm>
        </p:spPr>
        <p:txBody>
          <a:bodyPr>
            <a:normAutofit/>
          </a:bodyPr>
          <a:lstStyle/>
          <a:p>
            <a: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Ozz utilizes fuzzing to generate sequential inputs</a:t>
            </a:r>
          </a:p>
          <a:p>
            <a:r>
              <a:rPr lang="en-KR" sz="2400" dirty="0">
                <a:latin typeface="Lato" panose="020F0502020204030203" pitchFamily="34" charset="77"/>
              </a:rPr>
              <a:t>      -   </a:t>
            </a:r>
            <a:r>
              <a:rPr lang="en-US" sz="2400" dirty="0">
                <a:latin typeface="Lato" panose="020F0502020204030203" pitchFamily="34" charset="77"/>
              </a:rPr>
              <a:t>Exploring execution paths as much as possible</a:t>
            </a:r>
            <a:endParaRPr lang="en-KR" sz="2400" dirty="0">
              <a:latin typeface="Lato" panose="020F0502020204030203" pitchFamily="34" charset="77"/>
            </a:endParaRPr>
          </a:p>
          <a:p>
            <a:r>
              <a:rPr lang="en-KR" sz="2400" dirty="0">
                <a:latin typeface="Lato" panose="020F0502020204030203" pitchFamily="34" charset="77"/>
              </a:rPr>
              <a:t>      -   Dynamically </a:t>
            </a:r>
            <a:r>
              <a:rPr lang="en-US" sz="2400" dirty="0">
                <a:latin typeface="Lato" panose="020F0502020204030203" pitchFamily="34" charset="77"/>
              </a:rPr>
              <a:t>tracing memory accesses of system calls</a:t>
            </a:r>
          </a:p>
          <a:p>
            <a:endParaRPr lang="en-K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K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KR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Select system call pairs accessing shared memory objects</a:t>
            </a:r>
          </a:p>
          <a:p>
            <a:r>
              <a:rPr lang="en-KR" sz="2800" dirty="0">
                <a:latin typeface="Lato" panose="020F0502020204030203" pitchFamily="34" charset="77"/>
              </a:rPr>
              <a:t> -   </a:t>
            </a:r>
            <a:r>
              <a:rPr lang="en-US" sz="2800" dirty="0">
                <a:latin typeface="Lato" panose="020F0502020204030203" pitchFamily="34" charset="77"/>
              </a:rPr>
              <a:t>Ozz will run them concurrently in Step 2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880ED-373B-4BAB-77E6-FCC8CA51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19</a:t>
            </a:fld>
            <a:endParaRPr lang="en-KR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3982F24-12F7-D746-7EAA-F1F7FBA7D3A5}"/>
              </a:ext>
            </a:extLst>
          </p:cNvPr>
          <p:cNvGrpSpPr/>
          <p:nvPr/>
        </p:nvGrpSpPr>
        <p:grpSpPr>
          <a:xfrm>
            <a:off x="3951464" y="2433600"/>
            <a:ext cx="2470472" cy="1573017"/>
            <a:chOff x="-179389" y="6945383"/>
            <a:chExt cx="2896593" cy="2331665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7EAEF380-1693-6DA1-E9E6-D3E9A76A2204}"/>
                </a:ext>
              </a:extLst>
            </p:cNvPr>
            <p:cNvSpPr/>
            <p:nvPr/>
          </p:nvSpPr>
          <p:spPr>
            <a:xfrm>
              <a:off x="-72742" y="6945383"/>
              <a:ext cx="2481943" cy="2331665"/>
            </a:xfrm>
            <a:prstGeom prst="roundRect">
              <a:avLst>
                <a:gd name="adj" fmla="val 5921"/>
              </a:avLst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09BEB9-B61D-7539-0083-216283BE6E39}"/>
                </a:ext>
              </a:extLst>
            </p:cNvPr>
            <p:cNvSpPr txBox="1"/>
            <p:nvPr/>
          </p:nvSpPr>
          <p:spPr>
            <a:xfrm>
              <a:off x="23039" y="7587931"/>
              <a:ext cx="2694165" cy="593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/>
                <a:t>fd</a:t>
              </a:r>
              <a:r>
                <a:rPr lang="en-US" sz="2000" i="1" dirty="0"/>
                <a:t> = s</a:t>
              </a:r>
              <a:r>
                <a:rPr lang="en-KR" sz="2000" i="1" dirty="0"/>
                <a:t>yscall Ay)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5D2CB5-E543-A95E-A51E-6D97DC2F7725}"/>
                </a:ext>
              </a:extLst>
            </p:cNvPr>
            <p:cNvSpPr txBox="1"/>
            <p:nvPr/>
          </p:nvSpPr>
          <p:spPr>
            <a:xfrm>
              <a:off x="5123" y="8079350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B(fd, z)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298A01-C18C-CB49-2980-B99305A3EDF0}"/>
                </a:ext>
              </a:extLst>
            </p:cNvPr>
            <p:cNvSpPr txBox="1"/>
            <p:nvPr/>
          </p:nvSpPr>
          <p:spPr>
            <a:xfrm>
              <a:off x="-179389" y="6967672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Sequential Input</a:t>
              </a:r>
              <a:endParaRPr lang="en-KR" sz="2000" b="1" i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B36BCB-3D9C-D310-9701-31079ABABE4A}"/>
                </a:ext>
              </a:extLst>
            </p:cNvPr>
            <p:cNvSpPr txBox="1"/>
            <p:nvPr/>
          </p:nvSpPr>
          <p:spPr>
            <a:xfrm>
              <a:off x="23039" y="8595415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C(fd, w)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1ED6FE-D043-0220-98C1-E72046B970AD}"/>
              </a:ext>
            </a:extLst>
          </p:cNvPr>
          <p:cNvSpPr/>
          <p:nvPr/>
        </p:nvSpPr>
        <p:spPr>
          <a:xfrm>
            <a:off x="1363947" y="5757578"/>
            <a:ext cx="2481943" cy="3971468"/>
          </a:xfrm>
          <a:prstGeom prst="roundRect">
            <a:avLst>
              <a:gd name="adj" fmla="val 5921"/>
            </a:avLst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31A3B1-0351-4EAC-AFAB-436AEE8B0E4F}"/>
              </a:ext>
            </a:extLst>
          </p:cNvPr>
          <p:cNvSpPr txBox="1"/>
          <p:nvPr/>
        </p:nvSpPr>
        <p:spPr>
          <a:xfrm>
            <a:off x="1257300" y="5779867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err="1"/>
              <a:t>fd</a:t>
            </a:r>
            <a:r>
              <a:rPr lang="en-US" sz="2400" b="1" i="1" dirty="0"/>
              <a:t> = </a:t>
            </a:r>
            <a:r>
              <a:rPr lang="en-US" sz="2400" b="1" i="1" dirty="0" err="1"/>
              <a:t>syscall</a:t>
            </a:r>
            <a:r>
              <a:rPr lang="en-US" sz="2400" b="1" i="1" dirty="0"/>
              <a:t> A(</a:t>
            </a:r>
            <a:r>
              <a:rPr lang="en-US" sz="2400" b="1" i="1" dirty="0" err="1"/>
              <a:t>x,y</a:t>
            </a:r>
            <a:r>
              <a:rPr lang="en-US" sz="2400" b="1" i="1" dirty="0"/>
              <a:t>)</a:t>
            </a:r>
            <a:endParaRPr lang="en-KR" sz="2400" b="1" i="1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8E604CF-35C3-567D-1901-CB5C1F2AB756}"/>
              </a:ext>
            </a:extLst>
          </p:cNvPr>
          <p:cNvSpPr/>
          <p:nvPr/>
        </p:nvSpPr>
        <p:spPr>
          <a:xfrm>
            <a:off x="4274206" y="5757578"/>
            <a:ext cx="2481943" cy="3971468"/>
          </a:xfrm>
          <a:prstGeom prst="roundRect">
            <a:avLst>
              <a:gd name="adj" fmla="val 5921"/>
            </a:avLst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57C7E7-3511-C0CF-5ECE-86D70890AEE8}"/>
              </a:ext>
            </a:extLst>
          </p:cNvPr>
          <p:cNvSpPr txBox="1"/>
          <p:nvPr/>
        </p:nvSpPr>
        <p:spPr>
          <a:xfrm>
            <a:off x="4167559" y="5779867"/>
            <a:ext cx="26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err="1"/>
              <a:t>syscall</a:t>
            </a:r>
            <a:r>
              <a:rPr lang="en-US" sz="2400" b="1" i="1" dirty="0"/>
              <a:t> B(</a:t>
            </a:r>
            <a:r>
              <a:rPr lang="en-US" sz="2400" b="1" i="1" dirty="0" err="1"/>
              <a:t>fd</a:t>
            </a:r>
            <a:r>
              <a:rPr lang="en-US" sz="2400" b="1" i="1" dirty="0"/>
              <a:t>, z)</a:t>
            </a:r>
            <a:endParaRPr lang="en-KR" sz="2400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11C6E9-EF06-A78E-37F7-5F276D7D9E5B}"/>
              </a:ext>
            </a:extLst>
          </p:cNvPr>
          <p:cNvSpPr txBox="1"/>
          <p:nvPr/>
        </p:nvSpPr>
        <p:spPr>
          <a:xfrm>
            <a:off x="7126802" y="7070393"/>
            <a:ext cx="5389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6000" dirty="0"/>
              <a:t>…</a:t>
            </a:r>
          </a:p>
        </p:txBody>
      </p:sp>
      <p:pic>
        <p:nvPicPr>
          <p:cNvPr id="1026" name="Picture 2" descr="Arrow Icons - Free SVG &amp; PNG Arrow Images - Noun Project">
            <a:extLst>
              <a:ext uri="{FF2B5EF4-FFF2-40B4-BE49-F238E27FC236}">
                <a16:creationId xmlns:a16="http://schemas.microsoft.com/office/drawing/2014/main" id="{8F5EB086-F075-FB34-81A6-9F7012E14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04623" y="4807126"/>
            <a:ext cx="772891" cy="77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oogle Shape;1956;p101">
            <a:extLst>
              <a:ext uri="{FF2B5EF4-FFF2-40B4-BE49-F238E27FC236}">
                <a16:creationId xmlns:a16="http://schemas.microsoft.com/office/drawing/2014/main" id="{573CD5BB-FDF0-2A57-40B4-5EDB342EEE7F}"/>
              </a:ext>
            </a:extLst>
          </p:cNvPr>
          <p:cNvSpPr/>
          <p:nvPr/>
        </p:nvSpPr>
        <p:spPr>
          <a:xfrm>
            <a:off x="2411186" y="6728452"/>
            <a:ext cx="360600" cy="360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37" name="Google Shape;1957;p101">
            <a:extLst>
              <a:ext uri="{FF2B5EF4-FFF2-40B4-BE49-F238E27FC236}">
                <a16:creationId xmlns:a16="http://schemas.microsoft.com/office/drawing/2014/main" id="{6D8A2092-714D-E35B-9E59-6E200C53EB8A}"/>
              </a:ext>
            </a:extLst>
          </p:cNvPr>
          <p:cNvSpPr/>
          <p:nvPr/>
        </p:nvSpPr>
        <p:spPr>
          <a:xfrm>
            <a:off x="2411186" y="7288602"/>
            <a:ext cx="360600" cy="360600"/>
          </a:xfrm>
          <a:prstGeom prst="ellipse">
            <a:avLst/>
          </a:prstGeom>
          <a:solidFill>
            <a:srgbClr val="B0D5C7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38" name="Google Shape;1875;p97">
            <a:extLst>
              <a:ext uri="{FF2B5EF4-FFF2-40B4-BE49-F238E27FC236}">
                <a16:creationId xmlns:a16="http://schemas.microsoft.com/office/drawing/2014/main" id="{B96B7AFD-B565-AA17-EC9F-BE74C3034745}"/>
              </a:ext>
            </a:extLst>
          </p:cNvPr>
          <p:cNvSpPr/>
          <p:nvPr/>
        </p:nvSpPr>
        <p:spPr>
          <a:xfrm>
            <a:off x="2427495" y="6728452"/>
            <a:ext cx="360600" cy="360600"/>
          </a:xfrm>
          <a:prstGeom prst="ellipse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39" name="Google Shape;1875;p97">
            <a:extLst>
              <a:ext uri="{FF2B5EF4-FFF2-40B4-BE49-F238E27FC236}">
                <a16:creationId xmlns:a16="http://schemas.microsoft.com/office/drawing/2014/main" id="{3D5D3A2E-FD4B-B3A3-9DF0-883994DFE168}"/>
              </a:ext>
            </a:extLst>
          </p:cNvPr>
          <p:cNvSpPr/>
          <p:nvPr/>
        </p:nvSpPr>
        <p:spPr>
          <a:xfrm>
            <a:off x="2427495" y="7270893"/>
            <a:ext cx="360600" cy="360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1" name="Google Shape;1956;p101">
            <a:extLst>
              <a:ext uri="{FF2B5EF4-FFF2-40B4-BE49-F238E27FC236}">
                <a16:creationId xmlns:a16="http://schemas.microsoft.com/office/drawing/2014/main" id="{D5FD56A8-7B36-C221-FCEE-A4E295C9C2A5}"/>
              </a:ext>
            </a:extLst>
          </p:cNvPr>
          <p:cNvSpPr/>
          <p:nvPr/>
        </p:nvSpPr>
        <p:spPr>
          <a:xfrm>
            <a:off x="2411186" y="7789646"/>
            <a:ext cx="360600" cy="360600"/>
          </a:xfrm>
          <a:prstGeom prst="ellipse">
            <a:avLst/>
          </a:prstGeom>
          <a:solidFill>
            <a:srgbClr val="B0D5C7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2" name="Google Shape;1957;p101">
            <a:extLst>
              <a:ext uri="{FF2B5EF4-FFF2-40B4-BE49-F238E27FC236}">
                <a16:creationId xmlns:a16="http://schemas.microsoft.com/office/drawing/2014/main" id="{ECB668D3-E400-542D-5A46-404FCD0512DF}"/>
              </a:ext>
            </a:extLst>
          </p:cNvPr>
          <p:cNvSpPr/>
          <p:nvPr/>
        </p:nvSpPr>
        <p:spPr>
          <a:xfrm>
            <a:off x="2411186" y="8349796"/>
            <a:ext cx="360600" cy="360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3" name="Google Shape;1875;p97">
            <a:extLst>
              <a:ext uri="{FF2B5EF4-FFF2-40B4-BE49-F238E27FC236}">
                <a16:creationId xmlns:a16="http://schemas.microsoft.com/office/drawing/2014/main" id="{C104B121-D035-3C2A-F077-7987139CA116}"/>
              </a:ext>
            </a:extLst>
          </p:cNvPr>
          <p:cNvSpPr/>
          <p:nvPr/>
        </p:nvSpPr>
        <p:spPr>
          <a:xfrm>
            <a:off x="2427495" y="7789646"/>
            <a:ext cx="360600" cy="360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4" name="Google Shape;1875;p97">
            <a:extLst>
              <a:ext uri="{FF2B5EF4-FFF2-40B4-BE49-F238E27FC236}">
                <a16:creationId xmlns:a16="http://schemas.microsoft.com/office/drawing/2014/main" id="{CAD2644D-2FD5-7C7B-0148-BBE6BDFF5B0A}"/>
              </a:ext>
            </a:extLst>
          </p:cNvPr>
          <p:cNvSpPr/>
          <p:nvPr/>
        </p:nvSpPr>
        <p:spPr>
          <a:xfrm>
            <a:off x="2427495" y="8332087"/>
            <a:ext cx="360600" cy="360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5" name="Google Shape;1957;p101">
            <a:extLst>
              <a:ext uri="{FF2B5EF4-FFF2-40B4-BE49-F238E27FC236}">
                <a16:creationId xmlns:a16="http://schemas.microsoft.com/office/drawing/2014/main" id="{BDADE4FF-376F-18F3-4BFD-10AAB63383CF}"/>
              </a:ext>
            </a:extLst>
          </p:cNvPr>
          <p:cNvSpPr/>
          <p:nvPr/>
        </p:nvSpPr>
        <p:spPr>
          <a:xfrm>
            <a:off x="2411186" y="8881526"/>
            <a:ext cx="360600" cy="360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6" name="Google Shape;1875;p97">
            <a:extLst>
              <a:ext uri="{FF2B5EF4-FFF2-40B4-BE49-F238E27FC236}">
                <a16:creationId xmlns:a16="http://schemas.microsoft.com/office/drawing/2014/main" id="{888820BB-1549-E2C7-ABB9-E34B681454E8}"/>
              </a:ext>
            </a:extLst>
          </p:cNvPr>
          <p:cNvSpPr/>
          <p:nvPr/>
        </p:nvSpPr>
        <p:spPr>
          <a:xfrm>
            <a:off x="2427495" y="8863817"/>
            <a:ext cx="360600" cy="360600"/>
          </a:xfrm>
          <a:prstGeom prst="ellipse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7" name="Google Shape;1956;p101">
            <a:extLst>
              <a:ext uri="{FF2B5EF4-FFF2-40B4-BE49-F238E27FC236}">
                <a16:creationId xmlns:a16="http://schemas.microsoft.com/office/drawing/2014/main" id="{299FA6D6-01E8-58BD-698C-5857E381675A}"/>
              </a:ext>
            </a:extLst>
          </p:cNvPr>
          <p:cNvSpPr/>
          <p:nvPr/>
        </p:nvSpPr>
        <p:spPr>
          <a:xfrm>
            <a:off x="5303370" y="6728452"/>
            <a:ext cx="360600" cy="360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8" name="Google Shape;1957;p101">
            <a:extLst>
              <a:ext uri="{FF2B5EF4-FFF2-40B4-BE49-F238E27FC236}">
                <a16:creationId xmlns:a16="http://schemas.microsoft.com/office/drawing/2014/main" id="{954CD691-3F75-1403-0DB1-3256D8B71A9E}"/>
              </a:ext>
            </a:extLst>
          </p:cNvPr>
          <p:cNvSpPr/>
          <p:nvPr/>
        </p:nvSpPr>
        <p:spPr>
          <a:xfrm>
            <a:off x="5303370" y="7288602"/>
            <a:ext cx="360600" cy="360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49" name="Google Shape;1875;p97">
            <a:extLst>
              <a:ext uri="{FF2B5EF4-FFF2-40B4-BE49-F238E27FC236}">
                <a16:creationId xmlns:a16="http://schemas.microsoft.com/office/drawing/2014/main" id="{270662CD-33C9-C7BD-72EA-6EBC9F1F5FC7}"/>
              </a:ext>
            </a:extLst>
          </p:cNvPr>
          <p:cNvSpPr/>
          <p:nvPr/>
        </p:nvSpPr>
        <p:spPr>
          <a:xfrm>
            <a:off x="5319679" y="6728452"/>
            <a:ext cx="360600" cy="360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0" name="Google Shape;1875;p97">
            <a:extLst>
              <a:ext uri="{FF2B5EF4-FFF2-40B4-BE49-F238E27FC236}">
                <a16:creationId xmlns:a16="http://schemas.microsoft.com/office/drawing/2014/main" id="{F9F6D276-B7CD-D567-BC21-C081279A12B9}"/>
              </a:ext>
            </a:extLst>
          </p:cNvPr>
          <p:cNvSpPr/>
          <p:nvPr/>
        </p:nvSpPr>
        <p:spPr>
          <a:xfrm>
            <a:off x="5319679" y="7270893"/>
            <a:ext cx="360600" cy="360600"/>
          </a:xfrm>
          <a:prstGeom prst="ellipse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1" name="Google Shape;1956;p101">
            <a:extLst>
              <a:ext uri="{FF2B5EF4-FFF2-40B4-BE49-F238E27FC236}">
                <a16:creationId xmlns:a16="http://schemas.microsoft.com/office/drawing/2014/main" id="{0181D1FE-FBB1-1D47-CEBB-3F4AB307DA74}"/>
              </a:ext>
            </a:extLst>
          </p:cNvPr>
          <p:cNvSpPr/>
          <p:nvPr/>
        </p:nvSpPr>
        <p:spPr>
          <a:xfrm>
            <a:off x="5303370" y="7789646"/>
            <a:ext cx="360600" cy="360600"/>
          </a:xfrm>
          <a:prstGeom prst="ellipse">
            <a:avLst/>
          </a:prstGeom>
          <a:solidFill>
            <a:srgbClr val="B0D5C7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2" name="Google Shape;1957;p101">
            <a:extLst>
              <a:ext uri="{FF2B5EF4-FFF2-40B4-BE49-F238E27FC236}">
                <a16:creationId xmlns:a16="http://schemas.microsoft.com/office/drawing/2014/main" id="{D1608095-ABB4-9A5F-1D87-479174E31AC0}"/>
              </a:ext>
            </a:extLst>
          </p:cNvPr>
          <p:cNvSpPr/>
          <p:nvPr/>
        </p:nvSpPr>
        <p:spPr>
          <a:xfrm>
            <a:off x="5303370" y="8349796"/>
            <a:ext cx="360600" cy="360600"/>
          </a:xfrm>
          <a:prstGeom prst="ellipse">
            <a:avLst/>
          </a:prstGeom>
          <a:solidFill>
            <a:srgbClr val="B0D5C7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3" name="Google Shape;1875;p97">
            <a:extLst>
              <a:ext uri="{FF2B5EF4-FFF2-40B4-BE49-F238E27FC236}">
                <a16:creationId xmlns:a16="http://schemas.microsoft.com/office/drawing/2014/main" id="{7D4EC03C-B4AE-4B6E-EF43-A3E2C76FB84A}"/>
              </a:ext>
            </a:extLst>
          </p:cNvPr>
          <p:cNvSpPr/>
          <p:nvPr/>
        </p:nvSpPr>
        <p:spPr>
          <a:xfrm>
            <a:off x="5319679" y="7789646"/>
            <a:ext cx="360600" cy="360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4" name="Google Shape;1875;p97">
            <a:extLst>
              <a:ext uri="{FF2B5EF4-FFF2-40B4-BE49-F238E27FC236}">
                <a16:creationId xmlns:a16="http://schemas.microsoft.com/office/drawing/2014/main" id="{2CC1153D-94E1-0853-BD40-19AB1CA7F10D}"/>
              </a:ext>
            </a:extLst>
          </p:cNvPr>
          <p:cNvSpPr/>
          <p:nvPr/>
        </p:nvSpPr>
        <p:spPr>
          <a:xfrm>
            <a:off x="5319679" y="8332087"/>
            <a:ext cx="360600" cy="360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sp>
        <p:nvSpPr>
          <p:cNvPr id="55" name="Google Shape;1957;p101">
            <a:extLst>
              <a:ext uri="{FF2B5EF4-FFF2-40B4-BE49-F238E27FC236}">
                <a16:creationId xmlns:a16="http://schemas.microsoft.com/office/drawing/2014/main" id="{87C3C649-06CF-2C46-70EE-FEB6D9BF3A97}"/>
              </a:ext>
            </a:extLst>
          </p:cNvPr>
          <p:cNvSpPr/>
          <p:nvPr/>
        </p:nvSpPr>
        <p:spPr>
          <a:xfrm>
            <a:off x="5303370" y="8881526"/>
            <a:ext cx="360600" cy="360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B0D5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dirty="0"/>
          </a:p>
        </p:txBody>
      </p:sp>
      <p:sp>
        <p:nvSpPr>
          <p:cNvPr id="56" name="Google Shape;1875;p97">
            <a:extLst>
              <a:ext uri="{FF2B5EF4-FFF2-40B4-BE49-F238E27FC236}">
                <a16:creationId xmlns:a16="http://schemas.microsoft.com/office/drawing/2014/main" id="{4921107D-0F34-F29A-A9AF-01FAEF2C524B}"/>
              </a:ext>
            </a:extLst>
          </p:cNvPr>
          <p:cNvSpPr/>
          <p:nvPr/>
        </p:nvSpPr>
        <p:spPr>
          <a:xfrm>
            <a:off x="5319679" y="8863817"/>
            <a:ext cx="360600" cy="360600"/>
          </a:xfrm>
          <a:prstGeom prst="ellipse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7D1A50-64CB-3500-AD85-6D4E8BF4E6D9}"/>
              </a:ext>
            </a:extLst>
          </p:cNvPr>
          <p:cNvGrpSpPr/>
          <p:nvPr/>
        </p:nvGrpSpPr>
        <p:grpSpPr>
          <a:xfrm>
            <a:off x="3519507" y="2791486"/>
            <a:ext cx="2470472" cy="1573017"/>
            <a:chOff x="-179389" y="6945383"/>
            <a:chExt cx="2896593" cy="233166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8D9BD20-2E01-77E2-4936-B26B8F3994B5}"/>
                </a:ext>
              </a:extLst>
            </p:cNvPr>
            <p:cNvSpPr/>
            <p:nvPr/>
          </p:nvSpPr>
          <p:spPr>
            <a:xfrm>
              <a:off x="-72742" y="6945383"/>
              <a:ext cx="2481943" cy="2331665"/>
            </a:xfrm>
            <a:prstGeom prst="roundRect">
              <a:avLst>
                <a:gd name="adj" fmla="val 5921"/>
              </a:avLst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63107F-B8EA-23DC-FB34-0C03B58745F4}"/>
                </a:ext>
              </a:extLst>
            </p:cNvPr>
            <p:cNvSpPr txBox="1"/>
            <p:nvPr/>
          </p:nvSpPr>
          <p:spPr>
            <a:xfrm>
              <a:off x="23039" y="7587931"/>
              <a:ext cx="2694165" cy="593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/>
                <a:t>fd</a:t>
              </a:r>
              <a:r>
                <a:rPr lang="en-US" sz="2000" i="1" dirty="0"/>
                <a:t> = s</a:t>
              </a:r>
              <a:r>
                <a:rPr lang="en-KR" sz="2000" i="1" dirty="0"/>
                <a:t>yscall A()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5AC95B-1A04-AC60-2E43-7FADA49F34A9}"/>
                </a:ext>
              </a:extLst>
            </p:cNvPr>
            <p:cNvSpPr txBox="1"/>
            <p:nvPr/>
          </p:nvSpPr>
          <p:spPr>
            <a:xfrm>
              <a:off x="5123" y="8079350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B(fd, z)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CB2C2D-AE37-3962-D234-63FBCD3A6B71}"/>
                </a:ext>
              </a:extLst>
            </p:cNvPr>
            <p:cNvSpPr txBox="1"/>
            <p:nvPr/>
          </p:nvSpPr>
          <p:spPr>
            <a:xfrm>
              <a:off x="-179389" y="6967672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Sequential Input</a:t>
              </a:r>
              <a:endParaRPr lang="en-KR" sz="2000" b="1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681524-791F-7B62-C002-DEFD432D3D5D}"/>
                </a:ext>
              </a:extLst>
            </p:cNvPr>
            <p:cNvSpPr txBox="1"/>
            <p:nvPr/>
          </p:nvSpPr>
          <p:spPr>
            <a:xfrm>
              <a:off x="23039" y="8595415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C(fd, w)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E56154-98DC-F4A8-629A-153142BCCB45}"/>
              </a:ext>
            </a:extLst>
          </p:cNvPr>
          <p:cNvGrpSpPr/>
          <p:nvPr/>
        </p:nvGrpSpPr>
        <p:grpSpPr>
          <a:xfrm>
            <a:off x="3097541" y="3153767"/>
            <a:ext cx="2470472" cy="1573017"/>
            <a:chOff x="-179389" y="6945383"/>
            <a:chExt cx="2896593" cy="233166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B7AB81B-677D-026E-B301-982AC727DDBC}"/>
                </a:ext>
              </a:extLst>
            </p:cNvPr>
            <p:cNvSpPr/>
            <p:nvPr/>
          </p:nvSpPr>
          <p:spPr>
            <a:xfrm>
              <a:off x="-72742" y="6945383"/>
              <a:ext cx="2481943" cy="2331665"/>
            </a:xfrm>
            <a:prstGeom prst="roundRect">
              <a:avLst>
                <a:gd name="adj" fmla="val 5921"/>
              </a:avLst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1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1CA323-63AD-4118-8E9B-2F1E29396F26}"/>
                </a:ext>
              </a:extLst>
            </p:cNvPr>
            <p:cNvSpPr txBox="1"/>
            <p:nvPr/>
          </p:nvSpPr>
          <p:spPr>
            <a:xfrm>
              <a:off x="23039" y="7587932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/>
                <a:t>fd</a:t>
              </a:r>
              <a:r>
                <a:rPr lang="en-US" sz="2000" i="1" dirty="0"/>
                <a:t> = s</a:t>
              </a:r>
              <a:r>
                <a:rPr lang="en-KR" sz="2000" i="1" dirty="0"/>
                <a:t>yscall A(x, y)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58210E-491F-1735-64D1-7AC44999FAD9}"/>
                </a:ext>
              </a:extLst>
            </p:cNvPr>
            <p:cNvSpPr txBox="1"/>
            <p:nvPr/>
          </p:nvSpPr>
          <p:spPr>
            <a:xfrm>
              <a:off x="5123" y="8079350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B(fd, z)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17E7D5D-6756-3F5E-85F5-F1B9AF54BAB5}"/>
                </a:ext>
              </a:extLst>
            </p:cNvPr>
            <p:cNvSpPr txBox="1"/>
            <p:nvPr/>
          </p:nvSpPr>
          <p:spPr>
            <a:xfrm>
              <a:off x="-179389" y="6967672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Sequential Input</a:t>
              </a:r>
              <a:endParaRPr lang="en-KR" sz="2000" b="1" i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D71676-7DFD-E311-912C-280FAE0EE01C}"/>
                </a:ext>
              </a:extLst>
            </p:cNvPr>
            <p:cNvSpPr txBox="1"/>
            <p:nvPr/>
          </p:nvSpPr>
          <p:spPr>
            <a:xfrm>
              <a:off x="23039" y="8595415"/>
              <a:ext cx="2694165" cy="469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s</a:t>
              </a:r>
              <a:r>
                <a:rPr lang="en-KR" sz="2000" i="1" dirty="0"/>
                <a:t>yscall C(fd, w)</a:t>
              </a:r>
            </a:p>
          </p:txBody>
        </p:sp>
      </p:grpSp>
      <p:sp>
        <p:nvSpPr>
          <p:cNvPr id="18" name="Google Shape;2295;p116">
            <a:extLst>
              <a:ext uri="{FF2B5EF4-FFF2-40B4-BE49-F238E27FC236}">
                <a16:creationId xmlns:a16="http://schemas.microsoft.com/office/drawing/2014/main" id="{258EB886-7248-6DA0-413B-EDCDAF07D525}"/>
              </a:ext>
            </a:extLst>
          </p:cNvPr>
          <p:cNvSpPr/>
          <p:nvPr/>
        </p:nvSpPr>
        <p:spPr>
          <a:xfrm>
            <a:off x="994092" y="5543058"/>
            <a:ext cx="7159308" cy="4373314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3400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1" grpId="0" animBg="1"/>
      <p:bldP spid="20" grpId="0" animBg="1"/>
      <p:bldP spid="5" grpId="0" animBg="1"/>
      <p:bldP spid="24" grpId="0"/>
      <p:bldP spid="33" grpId="0" animBg="1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B444-8801-FC15-2541-78E5D3DC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Step 2: Finding OoO bugs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17E9-5E84-867B-0AC8-6965363B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20</a:t>
            </a:fld>
            <a:endParaRPr lang="en-KR" dirty="0"/>
          </a:p>
        </p:txBody>
      </p:sp>
      <p:sp>
        <p:nvSpPr>
          <p:cNvPr id="5" name="Google Shape;2295;p116">
            <a:extLst>
              <a:ext uri="{FF2B5EF4-FFF2-40B4-BE49-F238E27FC236}">
                <a16:creationId xmlns:a16="http://schemas.microsoft.com/office/drawing/2014/main" id="{6C0840C8-A5A1-4E6D-DF14-F91D83B36E24}"/>
              </a:ext>
            </a:extLst>
          </p:cNvPr>
          <p:cNvSpPr/>
          <p:nvPr/>
        </p:nvSpPr>
        <p:spPr>
          <a:xfrm>
            <a:off x="1787241" y="3994637"/>
            <a:ext cx="6576600" cy="3906717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2296;p116">
            <a:extLst>
              <a:ext uri="{FF2B5EF4-FFF2-40B4-BE49-F238E27FC236}">
                <a16:creationId xmlns:a16="http://schemas.microsoft.com/office/drawing/2014/main" id="{6F6CAE1E-7795-154A-CEEB-6E6E65E6AED0}"/>
              </a:ext>
            </a:extLst>
          </p:cNvPr>
          <p:cNvSpPr txBox="1"/>
          <p:nvPr/>
        </p:nvSpPr>
        <p:spPr>
          <a:xfrm>
            <a:off x="1863841" y="4839438"/>
            <a:ext cx="3709800" cy="16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malloc();</a:t>
            </a:r>
            <a:br>
              <a:rPr lang="en-US" altLang="ko" sz="2800" dirty="0">
                <a:latin typeface="Lato"/>
                <a:ea typeface="Lato"/>
                <a:cs typeface="Lato"/>
                <a:sym typeface="Lato"/>
              </a:rPr>
            </a:b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solidFill>
                  <a:srgbClr val="A61C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= true;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297;p116">
            <a:extLst>
              <a:ext uri="{FF2B5EF4-FFF2-40B4-BE49-F238E27FC236}">
                <a16:creationId xmlns:a16="http://schemas.microsoft.com/office/drawing/2014/main" id="{0A762796-A6D4-6D3C-B355-57D765AC39CD}"/>
              </a:ext>
            </a:extLst>
          </p:cNvPr>
          <p:cNvSpPr txBox="1"/>
          <p:nvPr/>
        </p:nvSpPr>
        <p:spPr>
          <a:xfrm>
            <a:off x="2395766" y="399463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Syscall A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298;p116">
            <a:extLst>
              <a:ext uri="{FF2B5EF4-FFF2-40B4-BE49-F238E27FC236}">
                <a16:creationId xmlns:a16="http://schemas.microsoft.com/office/drawing/2014/main" id="{7B30A14F-5252-4644-8CB4-17F63B9CE8D3}"/>
              </a:ext>
            </a:extLst>
          </p:cNvPr>
          <p:cNvSpPr txBox="1"/>
          <p:nvPr/>
        </p:nvSpPr>
        <p:spPr>
          <a:xfrm>
            <a:off x="5995591" y="3994636"/>
            <a:ext cx="177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latin typeface="Lato"/>
                <a:ea typeface="Lato"/>
                <a:cs typeface="Lato"/>
                <a:sym typeface="Lato"/>
              </a:rPr>
              <a:t>Syscall B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2300;p116">
            <a:extLst>
              <a:ext uri="{FF2B5EF4-FFF2-40B4-BE49-F238E27FC236}">
                <a16:creationId xmlns:a16="http://schemas.microsoft.com/office/drawing/2014/main" id="{AAAC6BCD-F5DA-E495-59B0-2F08EE3434D7}"/>
              </a:ext>
            </a:extLst>
          </p:cNvPr>
          <p:cNvSpPr txBox="1"/>
          <p:nvPr/>
        </p:nvSpPr>
        <p:spPr>
          <a:xfrm>
            <a:off x="5995591" y="6471777"/>
            <a:ext cx="32586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if (</a:t>
            </a:r>
            <a:r>
              <a:rPr lang="en-US" altLang="ko" sz="2800" b="1" i="1" dirty="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r>
              <a:rPr lang="ko" sz="2800" dirty="0">
                <a:latin typeface="Lato"/>
                <a:ea typeface="Lato"/>
                <a:cs typeface="Lato"/>
                <a:sym typeface="Lato"/>
              </a:rPr>
              <a:t>)</a:t>
            </a:r>
            <a:endParaRPr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dirty="0"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ko" sz="2800" b="1" i="1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en-US" altLang="ko" sz="28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ko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"/>
                <a:ea typeface="Lato"/>
                <a:cs typeface="Lato"/>
                <a:sym typeface="Lato"/>
              </a:rPr>
              <a:t>= 1</a:t>
            </a:r>
            <a:endParaRPr sz="2800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120;p55">
            <a:extLst>
              <a:ext uri="{FF2B5EF4-FFF2-40B4-BE49-F238E27FC236}">
                <a16:creationId xmlns:a16="http://schemas.microsoft.com/office/drawing/2014/main" id="{A1F87903-6B7A-1904-98ED-88F16A6B989C}"/>
              </a:ext>
            </a:extLst>
          </p:cNvPr>
          <p:cNvSpPr txBox="1"/>
          <p:nvPr/>
        </p:nvSpPr>
        <p:spPr>
          <a:xfrm>
            <a:off x="5214976" y="7589265"/>
            <a:ext cx="4291874" cy="6070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0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Uninitialized access!</a:t>
            </a:r>
            <a:endParaRPr sz="30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121;p55">
            <a:extLst>
              <a:ext uri="{FF2B5EF4-FFF2-40B4-BE49-F238E27FC236}">
                <a16:creationId xmlns:a16="http://schemas.microsoft.com/office/drawing/2014/main" id="{506A0A05-CF37-BEF4-2062-6AD7EDC138EC}"/>
              </a:ext>
            </a:extLst>
          </p:cNvPr>
          <p:cNvSpPr/>
          <p:nvPr/>
        </p:nvSpPr>
        <p:spPr>
          <a:xfrm>
            <a:off x="6188087" y="7087212"/>
            <a:ext cx="1914688" cy="47758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2800" b="1" dirty="0"/>
          </a:p>
        </p:txBody>
      </p:sp>
      <p:sp>
        <p:nvSpPr>
          <p:cNvPr id="12" name="Google Shape;2299;p116">
            <a:extLst>
              <a:ext uri="{FF2B5EF4-FFF2-40B4-BE49-F238E27FC236}">
                <a16:creationId xmlns:a16="http://schemas.microsoft.com/office/drawing/2014/main" id="{8122B1D7-76FA-2710-5B0D-667A2E3018EC}"/>
              </a:ext>
            </a:extLst>
          </p:cNvPr>
          <p:cNvSpPr txBox="1"/>
          <p:nvPr/>
        </p:nvSpPr>
        <p:spPr>
          <a:xfrm>
            <a:off x="9395783" y="3489490"/>
            <a:ext cx="7104976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Guess where a memory barrier is missing</a:t>
            </a:r>
          </a:p>
        </p:txBody>
      </p:sp>
      <p:sp>
        <p:nvSpPr>
          <p:cNvPr id="13" name="Google Shape;2299;p116">
            <a:extLst>
              <a:ext uri="{FF2B5EF4-FFF2-40B4-BE49-F238E27FC236}">
                <a16:creationId xmlns:a16="http://schemas.microsoft.com/office/drawing/2014/main" id="{68012069-7F08-3A8E-EF74-D29D0EC6132F}"/>
              </a:ext>
            </a:extLst>
          </p:cNvPr>
          <p:cNvSpPr txBox="1"/>
          <p:nvPr/>
        </p:nvSpPr>
        <p:spPr>
          <a:xfrm>
            <a:off x="9395783" y="5341606"/>
            <a:ext cx="7104976" cy="123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Execute instructions in a way that would </a:t>
            </a:r>
            <a:br>
              <a:rPr lang="en-US" altLang="ko" sz="2800" i="1" dirty="0">
                <a:latin typeface="Lato"/>
                <a:ea typeface="Lato"/>
                <a:cs typeface="Lato"/>
                <a:sym typeface="Lato"/>
              </a:rPr>
            </a:b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    not happen 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if the memory barrier existed</a:t>
            </a:r>
          </a:p>
        </p:txBody>
      </p:sp>
      <p:sp>
        <p:nvSpPr>
          <p:cNvPr id="14" name="Google Shape;2299;p116">
            <a:extLst>
              <a:ext uri="{FF2B5EF4-FFF2-40B4-BE49-F238E27FC236}">
                <a16:creationId xmlns:a16="http://schemas.microsoft.com/office/drawing/2014/main" id="{68C6398A-F4D0-87E9-55A5-EB30AD4684E9}"/>
              </a:ext>
            </a:extLst>
          </p:cNvPr>
          <p:cNvSpPr txBox="1"/>
          <p:nvPr/>
        </p:nvSpPr>
        <p:spPr>
          <a:xfrm>
            <a:off x="9395783" y="7451064"/>
            <a:ext cx="8044776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n-US" altLang="ko" sz="2800" i="1" dirty="0">
                <a:latin typeface="Lato"/>
                <a:ea typeface="Lato"/>
                <a:cs typeface="Lato"/>
                <a:sym typeface="Lato"/>
              </a:rPr>
              <a:t>Observe whether the kernel malfunctions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7CA85E-B89D-0D24-4747-B05BBD5230E7}"/>
              </a:ext>
            </a:extLst>
          </p:cNvPr>
          <p:cNvSpPr/>
          <p:nvPr/>
        </p:nvSpPr>
        <p:spPr>
          <a:xfrm>
            <a:off x="9254191" y="3489490"/>
            <a:ext cx="7104976" cy="80015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Google Shape;1120;p55">
            <a:extLst>
              <a:ext uri="{FF2B5EF4-FFF2-40B4-BE49-F238E27FC236}">
                <a16:creationId xmlns:a16="http://schemas.microsoft.com/office/drawing/2014/main" id="{A0FC605D-FA7C-59D5-C484-CC9C9E30C04B}"/>
              </a:ext>
            </a:extLst>
          </p:cNvPr>
          <p:cNvSpPr txBox="1"/>
          <p:nvPr/>
        </p:nvSpPr>
        <p:spPr>
          <a:xfrm>
            <a:off x="11843476" y="4387070"/>
            <a:ext cx="4291874" cy="63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72000" rIns="182850" bIns="72000" anchor="t" anchorCtr="0">
            <a:spAutoFit/>
          </a:bodyPr>
          <a:lstStyle/>
          <a:p>
            <a:r>
              <a:rPr lang="en-US" altLang="ko" sz="3200" b="1" i="1" dirty="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How?</a:t>
            </a:r>
            <a:endParaRPr sz="3200" b="1" i="1" dirty="0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2296;p116">
            <a:extLst>
              <a:ext uri="{FF2B5EF4-FFF2-40B4-BE49-F238E27FC236}">
                <a16:creationId xmlns:a16="http://schemas.microsoft.com/office/drawing/2014/main" id="{4D48CF13-F811-3788-22D9-48C298B3D77E}"/>
              </a:ext>
            </a:extLst>
          </p:cNvPr>
          <p:cNvSpPr txBox="1"/>
          <p:nvPr/>
        </p:nvSpPr>
        <p:spPr>
          <a:xfrm>
            <a:off x="1863841" y="4838552"/>
            <a:ext cx="37098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 b="1" i="1" dirty="0">
                <a:solidFill>
                  <a:schemeClr val="bg1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ptr</a:t>
            </a:r>
            <a:r>
              <a:rPr lang="ko" sz="2800" dirty="0">
                <a:solidFill>
                  <a:schemeClr val="bg1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 = malloc();</a:t>
            </a:r>
            <a:endParaRPr sz="2800" dirty="0">
              <a:solidFill>
                <a:schemeClr val="bg1">
                  <a:lumMod val="75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8" name="Picture 4" descr="Right arrow Generic gradient fill icon | Freepik">
            <a:extLst>
              <a:ext uri="{FF2B5EF4-FFF2-40B4-BE49-F238E27FC236}">
                <a16:creationId xmlns:a16="http://schemas.microsoft.com/office/drawing/2014/main" id="{CF416BB0-4F0C-A219-61E0-3C4725888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5417548"/>
            <a:ext cx="634744" cy="6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5CEE36-7D8F-DE99-1EFE-21B2ADC4702B}"/>
              </a:ext>
            </a:extLst>
          </p:cNvPr>
          <p:cNvCxnSpPr/>
          <p:nvPr/>
        </p:nvCxnSpPr>
        <p:spPr>
          <a:xfrm>
            <a:off x="4182894" y="6212874"/>
            <a:ext cx="1770434" cy="505838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58D5BD-1C0D-D2BF-78A2-37E6CB45C58C}"/>
              </a:ext>
            </a:extLst>
          </p:cNvPr>
          <p:cNvSpPr txBox="1"/>
          <p:nvPr/>
        </p:nvSpPr>
        <p:spPr>
          <a:xfrm>
            <a:off x="807477" y="6519512"/>
            <a:ext cx="4923143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a memory barrier existed,</a:t>
            </a:r>
            <a:br>
              <a:rPr lang="en-US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store to </a:t>
            </a:r>
            <a:r>
              <a:rPr lang="en-US" sz="2400" b="1" i="1" dirty="0" err="1">
                <a:solidFill>
                  <a:srgbClr val="045A9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400" b="1" i="1" dirty="0">
                <a:solidFill>
                  <a:srgbClr val="045A9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would not be delayed</a:t>
            </a:r>
            <a:endParaRPr lang="en-KR" sz="24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7F4DEC-BED0-7F28-1C5D-6FE967259AAA}"/>
              </a:ext>
            </a:extLst>
          </p:cNvPr>
          <p:cNvSpPr txBox="1"/>
          <p:nvPr/>
        </p:nvSpPr>
        <p:spPr>
          <a:xfrm>
            <a:off x="1942153" y="5413313"/>
            <a:ext cx="3258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2800" dirty="0" err="1">
                <a:latin typeface="Lato"/>
                <a:ea typeface="Lato"/>
                <a:cs typeface="Lato"/>
                <a:sym typeface="Lato"/>
              </a:rPr>
              <a:t>memory_barrier</a:t>
            </a:r>
            <a:r>
              <a:rPr lang="en-US" altLang="ko" sz="2800" dirty="0">
                <a:latin typeface="Lato"/>
                <a:ea typeface="Lato"/>
                <a:cs typeface="Lato"/>
                <a:sym typeface="Lato"/>
              </a:rPr>
              <a:t>();</a:t>
            </a:r>
            <a:endParaRPr lang="en-KR" sz="2800" dirty="0"/>
          </a:p>
        </p:txBody>
      </p:sp>
    </p:spTree>
    <p:extLst>
      <p:ext uri="{BB962C8B-B14F-4D97-AF65-F5344CB8AC3E}">
        <p14:creationId xmlns:p14="http://schemas.microsoft.com/office/powerpoint/2010/main" val="388463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3" grpId="0" animBg="1"/>
      <p:bldP spid="15" grpId="0" animBg="1"/>
      <p:bldP spid="19" grpId="0"/>
      <p:bldP spid="21" grpId="0" animBg="1"/>
      <p:bldP spid="21" grpId="1" animBg="1"/>
      <p:bldP spid="23" grpId="0"/>
      <p:bldP spid="2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4C84-73D5-6615-1954-08F13993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5030-60B9-87AB-1104-00083B14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Step 2: Finding OoO 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EC4B-77E9-1162-6F57-9663D109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4217" y="3114921"/>
            <a:ext cx="8299565" cy="800400"/>
          </a:xfrm>
        </p:spPr>
        <p:txBody>
          <a:bodyPr>
            <a:normAutofit/>
          </a:bodyPr>
          <a:lstStyle/>
          <a:p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Maximizing the number of reordered memory accesses</a:t>
            </a:r>
          </a:p>
          <a:p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1B8C3-9EA6-5FB0-7C9D-123B4E6D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AA001-A02A-61E4-A7D0-F3226D6EC03B}"/>
              </a:ext>
            </a:extLst>
          </p:cNvPr>
          <p:cNvSpPr txBox="1"/>
          <p:nvPr/>
        </p:nvSpPr>
        <p:spPr>
          <a:xfrm>
            <a:off x="5699105" y="1909531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Guess where a memory barrier is missing</a:t>
            </a:r>
            <a:endParaRPr lang="en-KR" sz="3200" dirty="0"/>
          </a:p>
        </p:txBody>
      </p:sp>
      <p:sp>
        <p:nvSpPr>
          <p:cNvPr id="57" name="Google Shape;1965;p101">
            <a:extLst>
              <a:ext uri="{FF2B5EF4-FFF2-40B4-BE49-F238E27FC236}">
                <a16:creationId xmlns:a16="http://schemas.microsoft.com/office/drawing/2014/main" id="{E3ED4F4F-4D41-7073-A8FA-55DAD3B781BA}"/>
              </a:ext>
            </a:extLst>
          </p:cNvPr>
          <p:cNvSpPr txBox="1"/>
          <p:nvPr/>
        </p:nvSpPr>
        <p:spPr>
          <a:xfrm>
            <a:off x="5784213" y="3757742"/>
            <a:ext cx="192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A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1966;p101">
            <a:extLst>
              <a:ext uri="{FF2B5EF4-FFF2-40B4-BE49-F238E27FC236}">
                <a16:creationId xmlns:a16="http://schemas.microsoft.com/office/drawing/2014/main" id="{5FF7175A-AC34-B2C2-4194-66324B18695C}"/>
              </a:ext>
            </a:extLst>
          </p:cNvPr>
          <p:cNvSpPr txBox="1"/>
          <p:nvPr/>
        </p:nvSpPr>
        <p:spPr>
          <a:xfrm>
            <a:off x="11079541" y="3765907"/>
            <a:ext cx="1875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B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B0E0D6-E1BE-5784-235D-FFF86F296F87}"/>
              </a:ext>
            </a:extLst>
          </p:cNvPr>
          <p:cNvSpPr txBox="1"/>
          <p:nvPr/>
        </p:nvSpPr>
        <p:spPr>
          <a:xfrm>
            <a:off x="4644050" y="4660864"/>
            <a:ext cx="286328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</a:p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&amp;ops; </a:t>
            </a:r>
          </a:p>
          <a:p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true;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762FDC-3AD3-444B-D886-5B20E36F1245}"/>
              </a:ext>
            </a:extLst>
          </p:cNvPr>
          <p:cNvSpPr txBox="1"/>
          <p:nvPr/>
        </p:nvSpPr>
        <p:spPr>
          <a:xfrm>
            <a:off x="9767466" y="6118885"/>
            <a:ext cx="43104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(</a:t>
            </a:r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{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-&gt;ops-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&gt;confirm(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);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}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Google Shape;2295;p116">
            <a:extLst>
              <a:ext uri="{FF2B5EF4-FFF2-40B4-BE49-F238E27FC236}">
                <a16:creationId xmlns:a16="http://schemas.microsoft.com/office/drawing/2014/main" id="{E891048D-162D-24BF-1452-AF6B07269FBC}"/>
              </a:ext>
            </a:extLst>
          </p:cNvPr>
          <p:cNvSpPr/>
          <p:nvPr/>
        </p:nvSpPr>
        <p:spPr>
          <a:xfrm>
            <a:off x="4419713" y="3840857"/>
            <a:ext cx="9658237" cy="4232632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Picture 4" descr="Right arrow Generic gradient fill icon | Freepik">
            <a:extLst>
              <a:ext uri="{FF2B5EF4-FFF2-40B4-BE49-F238E27FC236}">
                <a16:creationId xmlns:a16="http://schemas.microsoft.com/office/drawing/2014/main" id="{509657C2-237E-2FAE-A3AA-77B700696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168" y="4874884"/>
            <a:ext cx="1018882" cy="6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ight arrow Generic gradient fill icon | Freepik">
            <a:extLst>
              <a:ext uri="{FF2B5EF4-FFF2-40B4-BE49-F238E27FC236}">
                <a16:creationId xmlns:a16="http://schemas.microsoft.com/office/drawing/2014/main" id="{6B18418B-DF9A-D169-6B05-F356118C8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168" y="5311604"/>
            <a:ext cx="1018882" cy="6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669DB9-8BF2-11D0-41F4-5E0F98DA85F1}"/>
              </a:ext>
            </a:extLst>
          </p:cNvPr>
          <p:cNvSpPr txBox="1"/>
          <p:nvPr/>
        </p:nvSpPr>
        <p:spPr>
          <a:xfrm>
            <a:off x="2482089" y="4922277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CEF6D-6B12-696B-8F4F-389645AFA087}"/>
              </a:ext>
            </a:extLst>
          </p:cNvPr>
          <p:cNvSpPr txBox="1"/>
          <p:nvPr/>
        </p:nvSpPr>
        <p:spPr>
          <a:xfrm>
            <a:off x="2482089" y="5358997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ase 2</a:t>
            </a:r>
          </a:p>
        </p:txBody>
      </p:sp>
      <p:sp>
        <p:nvSpPr>
          <p:cNvPr id="12" name="Google Shape;1593;p85">
            <a:extLst>
              <a:ext uri="{FF2B5EF4-FFF2-40B4-BE49-F238E27FC236}">
                <a16:creationId xmlns:a16="http://schemas.microsoft.com/office/drawing/2014/main" id="{96978850-9E01-8552-C830-D7BDAA6B5015}"/>
              </a:ext>
            </a:extLst>
          </p:cNvPr>
          <p:cNvSpPr/>
          <p:nvPr/>
        </p:nvSpPr>
        <p:spPr>
          <a:xfrm>
            <a:off x="1500506" y="8194338"/>
            <a:ext cx="15587662" cy="1543240"/>
          </a:xfrm>
          <a:prstGeom prst="roundRect">
            <a:avLst>
              <a:gd name="adj" fmla="val 15286"/>
            </a:avLst>
          </a:prstGeom>
          <a:solidFill>
            <a:srgbClr val="00377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more execution deviates from a sequential order,</a:t>
            </a:r>
            <a:b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harder it becomes to reason about</a:t>
            </a:r>
          </a:p>
        </p:txBody>
      </p:sp>
    </p:spTree>
    <p:extLst>
      <p:ext uri="{BB962C8B-B14F-4D97-AF65-F5344CB8AC3E}">
        <p14:creationId xmlns:p14="http://schemas.microsoft.com/office/powerpoint/2010/main" val="335889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build="allAtOnce" animBg="1"/>
      <p:bldP spid="12" grpId="1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D5CD-A269-05F1-4BCD-171D4A39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EB2C-8E1B-3973-B344-7110272B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Step 2: Finding OoO 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9158-4EAE-97B1-BF14-E6A0C2B85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4217" y="3114921"/>
            <a:ext cx="8299565" cy="800400"/>
          </a:xfrm>
        </p:spPr>
        <p:txBody>
          <a:bodyPr>
            <a:normAutofit/>
          </a:bodyPr>
          <a:lstStyle/>
          <a:p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Maximizing the number of reordered memory accesses</a:t>
            </a:r>
          </a:p>
          <a:p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0121-CA01-635A-D604-2B6D47CC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47088-CB20-6110-4430-363BD2C0F4F7}"/>
              </a:ext>
            </a:extLst>
          </p:cNvPr>
          <p:cNvSpPr txBox="1"/>
          <p:nvPr/>
        </p:nvSpPr>
        <p:spPr>
          <a:xfrm>
            <a:off x="5699105" y="1909531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Guess where a memory barrier is missing</a:t>
            </a:r>
            <a:endParaRPr lang="en-KR" sz="3200" dirty="0"/>
          </a:p>
        </p:txBody>
      </p:sp>
      <p:sp>
        <p:nvSpPr>
          <p:cNvPr id="8" name="Google Shape;1965;p101">
            <a:extLst>
              <a:ext uri="{FF2B5EF4-FFF2-40B4-BE49-F238E27FC236}">
                <a16:creationId xmlns:a16="http://schemas.microsoft.com/office/drawing/2014/main" id="{B5219CED-630D-3EA9-6A72-4F1681F99194}"/>
              </a:ext>
            </a:extLst>
          </p:cNvPr>
          <p:cNvSpPr txBox="1"/>
          <p:nvPr/>
        </p:nvSpPr>
        <p:spPr>
          <a:xfrm>
            <a:off x="5784213" y="3757742"/>
            <a:ext cx="192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A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1966;p101">
            <a:extLst>
              <a:ext uri="{FF2B5EF4-FFF2-40B4-BE49-F238E27FC236}">
                <a16:creationId xmlns:a16="http://schemas.microsoft.com/office/drawing/2014/main" id="{2120C576-1952-7312-135C-768791FDA950}"/>
              </a:ext>
            </a:extLst>
          </p:cNvPr>
          <p:cNvSpPr txBox="1"/>
          <p:nvPr/>
        </p:nvSpPr>
        <p:spPr>
          <a:xfrm>
            <a:off x="11079541" y="3765907"/>
            <a:ext cx="1875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B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8955D-43AC-4861-C8DE-4816C09D182D}"/>
              </a:ext>
            </a:extLst>
          </p:cNvPr>
          <p:cNvSpPr txBox="1"/>
          <p:nvPr/>
        </p:nvSpPr>
        <p:spPr>
          <a:xfrm>
            <a:off x="4644050" y="4660864"/>
            <a:ext cx="286328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i="1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&amp;ops; </a:t>
            </a:r>
          </a:p>
          <a:p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true;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4FD485-4159-FEB7-6EB0-82E66401A9E2}"/>
              </a:ext>
            </a:extLst>
          </p:cNvPr>
          <p:cNvSpPr txBox="1"/>
          <p:nvPr/>
        </p:nvSpPr>
        <p:spPr>
          <a:xfrm>
            <a:off x="9767466" y="6118885"/>
            <a:ext cx="43104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(</a:t>
            </a:r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{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-&gt;ops-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&gt;confirm(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);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}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Google Shape;2295;p116">
            <a:extLst>
              <a:ext uri="{FF2B5EF4-FFF2-40B4-BE49-F238E27FC236}">
                <a16:creationId xmlns:a16="http://schemas.microsoft.com/office/drawing/2014/main" id="{54F96CA3-C599-DFFA-9D9A-C92BC67A1FE9}"/>
              </a:ext>
            </a:extLst>
          </p:cNvPr>
          <p:cNvSpPr/>
          <p:nvPr/>
        </p:nvSpPr>
        <p:spPr>
          <a:xfrm>
            <a:off x="4419713" y="3840857"/>
            <a:ext cx="9658237" cy="4232632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" name="Picture 4" descr="Right arrow Generic gradient fill icon | Freepik">
            <a:extLst>
              <a:ext uri="{FF2B5EF4-FFF2-40B4-BE49-F238E27FC236}">
                <a16:creationId xmlns:a16="http://schemas.microsoft.com/office/drawing/2014/main" id="{ED8D996F-FE4B-FD9E-19A3-1092E1765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168" y="4874884"/>
            <a:ext cx="1018882" cy="6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33365D-E03F-5300-D8A9-14A8EDFC282C}"/>
              </a:ext>
            </a:extLst>
          </p:cNvPr>
          <p:cNvSpPr txBox="1"/>
          <p:nvPr/>
        </p:nvSpPr>
        <p:spPr>
          <a:xfrm>
            <a:off x="2482089" y="4922277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ase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9A8943-4444-7C04-2D99-C69DC006A76A}"/>
              </a:ext>
            </a:extLst>
          </p:cNvPr>
          <p:cNvSpPr txBox="1"/>
          <p:nvPr/>
        </p:nvSpPr>
        <p:spPr>
          <a:xfrm>
            <a:off x="7714392" y="4682293"/>
            <a:ext cx="5289698" cy="5232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elayed by OEMU</a:t>
            </a:r>
            <a:endParaRPr lang="en-KR" sz="2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CA92C3-8B09-9654-A418-2B498FC9DB40}"/>
              </a:ext>
            </a:extLst>
          </p:cNvPr>
          <p:cNvSpPr txBox="1"/>
          <p:nvPr/>
        </p:nvSpPr>
        <p:spPr>
          <a:xfrm>
            <a:off x="3643126" y="6253938"/>
            <a:ext cx="5289698" cy="5232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nforced by the custom scheduler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81E9A1-B214-46AB-771A-6AB3B8FFA4F5}"/>
              </a:ext>
            </a:extLst>
          </p:cNvPr>
          <p:cNvCxnSpPr>
            <a:cxnSpLocks/>
          </p:cNvCxnSpPr>
          <p:nvPr/>
        </p:nvCxnSpPr>
        <p:spPr>
          <a:xfrm>
            <a:off x="7708013" y="5940956"/>
            <a:ext cx="1811125" cy="3075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58D77F6-74A3-CBB4-891E-6D176FBFFA3B}"/>
              </a:ext>
            </a:extLst>
          </p:cNvPr>
          <p:cNvSpPr txBox="1"/>
          <p:nvPr/>
        </p:nvSpPr>
        <p:spPr>
          <a:xfrm>
            <a:off x="4654061" y="4675554"/>
            <a:ext cx="9167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557A2F-0238-80F8-DA29-BABBCF503449}"/>
              </a:ext>
            </a:extLst>
          </p:cNvPr>
          <p:cNvSpPr txBox="1"/>
          <p:nvPr/>
        </p:nvSpPr>
        <p:spPr>
          <a:xfrm>
            <a:off x="4644050" y="4666396"/>
            <a:ext cx="9167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6054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0" grpId="0" animBg="1"/>
      <p:bldP spid="34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9D0CD-DB25-E715-DFFA-0D096E18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5230-6EFF-A265-4CAE-AE515747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Step 2: Finding OoO 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92B7-E9E1-43A3-76DD-4B3DF81C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4217" y="3114921"/>
            <a:ext cx="8299565" cy="800400"/>
          </a:xfrm>
        </p:spPr>
        <p:txBody>
          <a:bodyPr>
            <a:normAutofit/>
          </a:bodyPr>
          <a:lstStyle/>
          <a:p>
            <a:r>
              <a:rPr lang="en-KR" sz="2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Maximizing the number of reordered memory accesses</a:t>
            </a:r>
          </a:p>
          <a:p>
            <a:endParaRPr lang="en-KR" sz="28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CD028-DADC-BDEC-4E50-54607013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9BDE9-F48B-3583-5632-A36B2219654E}"/>
              </a:ext>
            </a:extLst>
          </p:cNvPr>
          <p:cNvSpPr txBox="1"/>
          <p:nvPr/>
        </p:nvSpPr>
        <p:spPr>
          <a:xfrm>
            <a:off x="5699105" y="1909531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3200" i="1" dirty="0">
                <a:latin typeface="Lato"/>
                <a:ea typeface="Lato"/>
                <a:cs typeface="Lato"/>
                <a:sym typeface="Lato"/>
              </a:rPr>
              <a:t>Guess where a memory barrier is missing</a:t>
            </a:r>
            <a:endParaRPr lang="en-KR" sz="3200" dirty="0"/>
          </a:p>
        </p:txBody>
      </p:sp>
      <p:sp>
        <p:nvSpPr>
          <p:cNvPr id="9" name="Google Shape;1965;p101">
            <a:extLst>
              <a:ext uri="{FF2B5EF4-FFF2-40B4-BE49-F238E27FC236}">
                <a16:creationId xmlns:a16="http://schemas.microsoft.com/office/drawing/2014/main" id="{A0FE31BE-6F00-DB4B-ABED-D177221F3F51}"/>
              </a:ext>
            </a:extLst>
          </p:cNvPr>
          <p:cNvSpPr txBox="1"/>
          <p:nvPr/>
        </p:nvSpPr>
        <p:spPr>
          <a:xfrm>
            <a:off x="5784213" y="3757742"/>
            <a:ext cx="192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 dirty="0" err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A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966;p101">
            <a:extLst>
              <a:ext uri="{FF2B5EF4-FFF2-40B4-BE49-F238E27FC236}">
                <a16:creationId xmlns:a16="http://schemas.microsoft.com/office/drawing/2014/main" id="{A7407D33-28DE-D935-85EB-CCDE2BA30BA6}"/>
              </a:ext>
            </a:extLst>
          </p:cNvPr>
          <p:cNvSpPr txBox="1"/>
          <p:nvPr/>
        </p:nvSpPr>
        <p:spPr>
          <a:xfrm>
            <a:off x="11079541" y="3765907"/>
            <a:ext cx="1875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US" altLang="ko" sz="2800" b="1" i="1">
                <a:latin typeface="Lato"/>
                <a:ea typeface="Lato"/>
                <a:cs typeface="Lato"/>
                <a:sym typeface="Lato"/>
              </a:rPr>
              <a:t>Syscall</a:t>
            </a:r>
            <a:r>
              <a:rPr lang="en-US" altLang="ko" sz="2800" b="1" i="1" dirty="0">
                <a:latin typeface="Lato"/>
                <a:ea typeface="Lato"/>
                <a:cs typeface="Lato"/>
                <a:sym typeface="Lato"/>
              </a:rPr>
              <a:t> B</a:t>
            </a:r>
            <a:endParaRPr sz="2800" b="1" i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EB0ABC-BFC3-3B64-2F74-B6A64E460087}"/>
              </a:ext>
            </a:extLst>
          </p:cNvPr>
          <p:cNvSpPr txBox="1"/>
          <p:nvPr/>
        </p:nvSpPr>
        <p:spPr>
          <a:xfrm>
            <a:off x="4644050" y="4660864"/>
            <a:ext cx="286328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</a:p>
          <a:p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 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&amp;ops; </a:t>
            </a:r>
          </a:p>
          <a:p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true;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5300C-94E9-4632-1F7A-BCF6991B8D6E}"/>
              </a:ext>
            </a:extLst>
          </p:cNvPr>
          <p:cNvSpPr txBox="1"/>
          <p:nvPr/>
        </p:nvSpPr>
        <p:spPr>
          <a:xfrm>
            <a:off x="9767466" y="6118885"/>
            <a:ext cx="43104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(</a:t>
            </a:r>
            <a:r>
              <a:rPr lang="en-US" sz="28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{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sz="2800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-&gt;ops-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&gt;confirm(</a:t>
            </a:r>
            <a:r>
              <a:rPr lang="en-US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);</a:t>
            </a:r>
          </a:p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}</a:t>
            </a:r>
            <a:endParaRPr lang="en-KR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Google Shape;2295;p116">
            <a:extLst>
              <a:ext uri="{FF2B5EF4-FFF2-40B4-BE49-F238E27FC236}">
                <a16:creationId xmlns:a16="http://schemas.microsoft.com/office/drawing/2014/main" id="{45152272-8EC5-60D2-E7BF-C9F12631EAD8}"/>
              </a:ext>
            </a:extLst>
          </p:cNvPr>
          <p:cNvSpPr/>
          <p:nvPr/>
        </p:nvSpPr>
        <p:spPr>
          <a:xfrm>
            <a:off x="4419713" y="3840857"/>
            <a:ext cx="9658237" cy="4232632"/>
          </a:xfrm>
          <a:prstGeom prst="roundRect">
            <a:avLst>
              <a:gd name="adj" fmla="val 5151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" name="Picture 4" descr="Right arrow Generic gradient fill icon | Freepik">
            <a:extLst>
              <a:ext uri="{FF2B5EF4-FFF2-40B4-BE49-F238E27FC236}">
                <a16:creationId xmlns:a16="http://schemas.microsoft.com/office/drawing/2014/main" id="{7831FE3B-5E14-08D4-BA47-7B377B477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168" y="5333906"/>
            <a:ext cx="1018882" cy="6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6CDCB95-FF43-0714-0587-26CE46E5168B}"/>
              </a:ext>
            </a:extLst>
          </p:cNvPr>
          <p:cNvSpPr txBox="1"/>
          <p:nvPr/>
        </p:nvSpPr>
        <p:spPr>
          <a:xfrm>
            <a:off x="2482089" y="5381299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ase 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08F8BA-F500-981F-5775-6C0E83EB33D5}"/>
              </a:ext>
            </a:extLst>
          </p:cNvPr>
          <p:cNvCxnSpPr>
            <a:cxnSpLocks/>
          </p:cNvCxnSpPr>
          <p:nvPr/>
        </p:nvCxnSpPr>
        <p:spPr>
          <a:xfrm>
            <a:off x="7708013" y="5940956"/>
            <a:ext cx="1811125" cy="3075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0B85C1-9212-9727-2854-2D8068251929}"/>
              </a:ext>
            </a:extLst>
          </p:cNvPr>
          <p:cNvSpPr txBox="1"/>
          <p:nvPr/>
        </p:nvSpPr>
        <p:spPr>
          <a:xfrm>
            <a:off x="4644050" y="4680642"/>
            <a:ext cx="5896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</a:t>
            </a:r>
            <a:r>
              <a:rPr lang="en-US" sz="2800" i="1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</a:t>
            </a:r>
          </a:p>
          <a:p>
            <a:r>
              <a:rPr lang="en-US" sz="2800" i="1" dirty="0" err="1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ptr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-&gt;ops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&amp;ops;</a:t>
            </a:r>
            <a:endParaRPr lang="en-KR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3D0C35-6A48-10BB-0140-5515E2F3079D}"/>
              </a:ext>
            </a:extLst>
          </p:cNvPr>
          <p:cNvSpPr txBox="1"/>
          <p:nvPr/>
        </p:nvSpPr>
        <p:spPr>
          <a:xfrm>
            <a:off x="7714392" y="5195247"/>
            <a:ext cx="5289698" cy="5232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elayed by OEMU</a:t>
            </a:r>
            <a:endParaRPr lang="en-KR" sz="2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DC51D3-D7BF-641B-A8A9-5BD3EFA4CD2E}"/>
              </a:ext>
            </a:extLst>
          </p:cNvPr>
          <p:cNvSpPr txBox="1"/>
          <p:nvPr/>
        </p:nvSpPr>
        <p:spPr>
          <a:xfrm>
            <a:off x="3687730" y="6298542"/>
            <a:ext cx="5289698" cy="5232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</a:t>
            </a:r>
            <a:r>
              <a:rPr lang="en-KR" sz="2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nforced by the custom scheduler</a:t>
            </a:r>
          </a:p>
        </p:txBody>
      </p:sp>
      <p:sp>
        <p:nvSpPr>
          <p:cNvPr id="11" name="Google Shape;1593;p85">
            <a:extLst>
              <a:ext uri="{FF2B5EF4-FFF2-40B4-BE49-F238E27FC236}">
                <a16:creationId xmlns:a16="http://schemas.microsoft.com/office/drawing/2014/main" id="{432370D8-5131-33BA-D61F-6BDAA87827FC}"/>
              </a:ext>
            </a:extLst>
          </p:cNvPr>
          <p:cNvSpPr/>
          <p:nvPr/>
        </p:nvSpPr>
        <p:spPr>
          <a:xfrm>
            <a:off x="918194" y="8216640"/>
            <a:ext cx="16451609" cy="1543240"/>
          </a:xfrm>
          <a:prstGeom prst="roundRect">
            <a:avLst>
              <a:gd name="adj" fmla="val 15286"/>
            </a:avLst>
          </a:prstGeom>
          <a:solidFill>
            <a:srgbClr val="00377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Case2, more memory accesses are reordered than in Case 1</a:t>
            </a:r>
          </a:p>
          <a:p>
            <a:pPr algn="ctr"/>
            <a:r>
              <a:rPr lang="en-US" sz="4200" b="1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Ozz prioritizes Case 2 as it is harder for developers to reason about</a:t>
            </a:r>
          </a:p>
        </p:txBody>
      </p:sp>
    </p:spTree>
    <p:extLst>
      <p:ext uri="{BB962C8B-B14F-4D97-AF65-F5344CB8AC3E}">
        <p14:creationId xmlns:p14="http://schemas.microsoft.com/office/powerpoint/2010/main" val="294011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7" grpId="0" animBg="1"/>
      <p:bldP spid="11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D3A0-B22F-A2B0-8308-1DA91F51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E0D97-8199-9652-3922-762DE5C42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728" y="3238989"/>
            <a:ext cx="16814072" cy="4951896"/>
          </a:xfrm>
        </p:spPr>
        <p:txBody>
          <a:bodyPr>
            <a:noAutofit/>
          </a:bodyPr>
          <a:lstStyle/>
          <a:p>
            <a:r>
              <a:rPr lang="en-US" altLang="ko" dirty="0">
                <a:latin typeface="Lato" panose="020F0502020204030203" pitchFamily="34" charset="77"/>
              </a:rPr>
              <a:t>We found 11 new </a:t>
            </a:r>
            <a:r>
              <a:rPr lang="en-US" altLang="ko" dirty="0" err="1">
                <a:latin typeface="Lato" panose="020F0502020204030203" pitchFamily="34" charset="77"/>
              </a:rPr>
              <a:t>OoO</a:t>
            </a:r>
            <a:r>
              <a:rPr lang="en-US" altLang="ko" dirty="0">
                <a:latin typeface="Lato" panose="020F0502020204030203" pitchFamily="34" charset="77"/>
              </a:rPr>
              <a:t> bugs in the Linux kernel</a:t>
            </a:r>
          </a:p>
          <a:p>
            <a:pPr marL="1600200" lvl="1" indent="-571500"/>
            <a: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Some were found in popular </a:t>
            </a:r>
            <a:r>
              <a:rPr lang="en-US" altLang="ko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subsystemssuch</a:t>
            </a:r>
            <a: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as TLS or </a:t>
            </a:r>
            <a:r>
              <a:rPr lang="en-US" altLang="ko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eBPF</a:t>
            </a:r>
            <a:endParaRPr lang="en-US" altLang="ko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600200" lvl="1" indent="-571500"/>
            <a:r>
              <a:rPr lang="en-US" dirty="0">
                <a:solidFill>
                  <a:srgbClr val="0E0E0E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reported all of them, and they were accordingly patched by the kernel developers</a:t>
            </a:r>
            <a:b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US" altLang="ko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altLang="ko" dirty="0">
              <a:latin typeface="Lato" panose="020F0502020204030203" pitchFamily="34" charset="77"/>
            </a:endParaRPr>
          </a:p>
          <a:p>
            <a:r>
              <a:rPr lang="en-US" altLang="ko" dirty="0">
                <a:latin typeface="Lato" panose="020F0502020204030203" pitchFamily="34" charset="77"/>
              </a:rPr>
              <a:t>We show OMEU/Ozz can reproduce 8 out of 9 known </a:t>
            </a:r>
            <a:r>
              <a:rPr lang="en-US" altLang="ko" dirty="0" err="1">
                <a:latin typeface="Lato" panose="020F0502020204030203" pitchFamily="34" charset="77"/>
              </a:rPr>
              <a:t>OoO</a:t>
            </a:r>
            <a:r>
              <a:rPr lang="en-US" altLang="ko" dirty="0">
                <a:latin typeface="Lato" panose="020F0502020204030203" pitchFamily="34" charset="77"/>
              </a:rPr>
              <a:t> bugs</a:t>
            </a:r>
          </a:p>
          <a:p>
            <a:pPr marL="1600200" lvl="1" indent="-571500"/>
            <a:r>
              <a:rPr lang="en-US" altLang="ko" dirty="0">
                <a:latin typeface="Lato" panose="020F0502020204030203" pitchFamily="34" charset="77"/>
              </a:rPr>
              <a:t>The one failing case involves another non-deterministic behavior, </a:t>
            </a:r>
            <a:r>
              <a:rPr lang="en-US" altLang="ko" i="1" dirty="0">
                <a:latin typeface="Lato" panose="020F0502020204030203" pitchFamily="34" charset="77"/>
              </a:rPr>
              <a:t>thread migration</a:t>
            </a:r>
          </a:p>
          <a:p>
            <a:pPr marL="571500" indent="-571500"/>
            <a:endParaRPr lang="en-US" altLang="ko" b="1" i="1" dirty="0">
              <a:latin typeface="Lato" panose="020F0502020204030203" pitchFamily="34" charset="77"/>
            </a:endParaRPr>
          </a:p>
          <a:p>
            <a:pPr marL="571500" indent="-571500"/>
            <a:r>
              <a:rPr lang="en-US" altLang="ko" b="1" i="1" dirty="0">
                <a:latin typeface="Lato" panose="020F0502020204030203" pitchFamily="34" charset="77"/>
              </a:rPr>
              <a:t>Please check our paper for more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338C2-1900-1C96-D8EB-B17AF7F8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24</a:t>
            </a:fld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B0EB4-21C6-F27D-7874-BB81E9DEB098}"/>
              </a:ext>
            </a:extLst>
          </p:cNvPr>
          <p:cNvSpPr txBox="1"/>
          <p:nvPr/>
        </p:nvSpPr>
        <p:spPr>
          <a:xfrm>
            <a:off x="5103680" y="1842433"/>
            <a:ext cx="9363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3200" dirty="0"/>
              <a:t>Finding unknown bugs / reproducing known bugs</a:t>
            </a:r>
          </a:p>
        </p:txBody>
      </p:sp>
      <p:pic>
        <p:nvPicPr>
          <p:cNvPr id="14" name="Picture 13" descr="A black and white text on a white background&#10;&#10;Description automatically generated">
            <a:extLst>
              <a:ext uri="{FF2B5EF4-FFF2-40B4-BE49-F238E27FC236}">
                <a16:creationId xmlns:a16="http://schemas.microsoft.com/office/drawing/2014/main" id="{70C393E0-F79A-6081-6F62-B5C481F7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0"/>
          <a:stretch/>
        </p:blipFill>
        <p:spPr>
          <a:xfrm>
            <a:off x="3825011" y="5144294"/>
            <a:ext cx="10637977" cy="39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5B38-4A83-5F06-6A8A-68ADAE4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B7A9-659F-B662-18DA-160F86393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067" y="2738861"/>
            <a:ext cx="15773399" cy="6528015"/>
          </a:xfrm>
        </p:spPr>
        <p:txBody>
          <a:bodyPr/>
          <a:lstStyle/>
          <a:p>
            <a:pPr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work introduces</a:t>
            </a:r>
          </a:p>
          <a:p>
            <a:pPr marL="1600200" lvl="1"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OEMU</a:t>
            </a:r>
          </a:p>
          <a:p>
            <a:pPr marL="2286000" lvl="2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mechanism to tame the non-deterministic behavior of out-of-order execution during runtime</a:t>
            </a:r>
            <a:b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KR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600200" lvl="1" indent="-571500"/>
            <a:r>
              <a:rPr lang="en-KR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Ozz</a:t>
            </a:r>
          </a:p>
          <a:p>
            <a:pPr marL="2286000" lvl="2" indent="-571500"/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kernel fuzzer tailored to find OoO bugs by deterministically controlling</a:t>
            </a:r>
          </a:p>
          <a:p>
            <a:pPr marL="2971800" lvl="3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Out-of-order execution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 through OEMU, and</a:t>
            </a:r>
          </a:p>
          <a:p>
            <a:pPr marL="2971800" lvl="3" indent="-571500"/>
            <a:r>
              <a:rPr lang="en-KR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Thread interleaving     </a:t>
            </a:r>
            <a:r>
              <a:rPr lang="en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 through a custom scheduler from a previous work</a:t>
            </a:r>
          </a:p>
          <a:p>
            <a:br>
              <a:rPr lang="en-KR" dirty="0"/>
            </a:br>
            <a:endParaRPr lang="en-KR" dirty="0"/>
          </a:p>
          <a:p>
            <a:r>
              <a:rPr lang="en-KR" i="1" dirty="0"/>
              <a:t>Ozz</a:t>
            </a:r>
            <a:r>
              <a:rPr lang="en-KR" dirty="0"/>
              <a:t> finds 11 new out-of-order concurrency bugs in the Linux kernel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4FBD-1FB6-60AE-74A1-BAE1CC29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953-1B1C-644D-985E-1DBABDED2717}" type="slidenum">
              <a:rPr lang="en-KR" smtClean="0"/>
              <a:pPr/>
              <a:t>25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956594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E7C3-2E09-6EB9-9DCD-446ADF86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004"/>
            <a:ext cx="16165286" cy="4279766"/>
          </a:xfrm>
        </p:spPr>
        <p:txBody>
          <a:bodyPr>
            <a:normAutofit/>
          </a:bodyPr>
          <a:lstStyle/>
          <a:p>
            <a:r>
              <a:rPr lang="en-US" sz="5400" b="1" dirty="0"/>
              <a:t>Ozz: Identifying Kernel Out-of-Order Concurrency Bugs with In-Vivo Memory Access Reordering</a:t>
            </a:r>
            <a:endParaRPr lang="en-KR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8668D-2EFC-ECC5-C495-462354ABA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9661" y="7309801"/>
            <a:ext cx="15773400" cy="2250628"/>
          </a:xfrm>
        </p:spPr>
        <p:txBody>
          <a:bodyPr>
            <a:normAutofit/>
          </a:bodyPr>
          <a:lstStyle/>
          <a:p>
            <a:r>
              <a:rPr lang="en-KR" sz="54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64068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{CC4EAEE2-32A3-5240-BF7A-622A12BA7CD0}tf10001120</Template>
  <TotalTime>47458</TotalTime>
  <Words>4320</Words>
  <Application>Microsoft Macintosh PowerPoint</Application>
  <PresentationFormat>Custom</PresentationFormat>
  <Paragraphs>508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.SF NS</vt:lpstr>
      <vt:lpstr>System Font Regular</vt:lpstr>
      <vt:lpstr>Arial</vt:lpstr>
      <vt:lpstr>Calibri</vt:lpstr>
      <vt:lpstr>Calibri Light</vt:lpstr>
      <vt:lpstr>Lato</vt:lpstr>
      <vt:lpstr>Office Theme</vt:lpstr>
      <vt:lpstr>Ozz: Identifying Kernel Out-of-Order Concurrency Bugs with In-Vivo Memory Access Reordering</vt:lpstr>
      <vt:lpstr>Ozz: Identifying Kernel Out-of-Order Concurrency Bugs with In-Vivo Memory Access Reordering</vt:lpstr>
      <vt:lpstr>Concurrency bugs caused by Out-of-order execution</vt:lpstr>
      <vt:lpstr>Concurrency bugs caused by Out-of-order execution</vt:lpstr>
      <vt:lpstr>Memory barrier to prevent out-of-order execution</vt:lpstr>
      <vt:lpstr>Machines exhibiting this behavior</vt:lpstr>
      <vt:lpstr>Challenges in identifying out-of-order bugs</vt:lpstr>
      <vt:lpstr>Challenges in identifying out-of-order bugs</vt:lpstr>
      <vt:lpstr>Challenges in identifying out-of-order bugs</vt:lpstr>
      <vt:lpstr>In this work, we introduce…</vt:lpstr>
      <vt:lpstr>In this work, we introduce…</vt:lpstr>
      <vt:lpstr>OEMU</vt:lpstr>
      <vt:lpstr>Delayed store operation</vt:lpstr>
      <vt:lpstr>Delayed store operation</vt:lpstr>
      <vt:lpstr>Versioned load operation</vt:lpstr>
      <vt:lpstr>Versioned load operation</vt:lpstr>
      <vt:lpstr>In this work, we introduce…</vt:lpstr>
      <vt:lpstr>Ozz</vt:lpstr>
      <vt:lpstr>Step 1: Profiling memory accesses</vt:lpstr>
      <vt:lpstr>Step 2: Finding OoO bugs</vt:lpstr>
      <vt:lpstr>Step 2: Finding OoO bugs</vt:lpstr>
      <vt:lpstr>Step 2: Finding OoO bugs</vt:lpstr>
      <vt:lpstr>Step 2: Finding OoO bugs</vt:lpstr>
      <vt:lpstr>Evaluation</vt:lpstr>
      <vt:lpstr>Conclusion</vt:lpstr>
      <vt:lpstr>Ozz: Identifying Kernel Out-of-Order Concurrency Bugs with In-Vivo Memory Access Reordering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kernel concurrency bugs through fuzzing</dc:title>
  <dc:creator>JeongDae R.</dc:creator>
  <cp:lastModifiedBy>JeongDae R.</cp:lastModifiedBy>
  <cp:revision>3985</cp:revision>
  <dcterms:created xsi:type="dcterms:W3CDTF">2023-10-24T01:07:43Z</dcterms:created>
  <dcterms:modified xsi:type="dcterms:W3CDTF">2024-11-22T06:40:41Z</dcterms:modified>
</cp:coreProperties>
</file>